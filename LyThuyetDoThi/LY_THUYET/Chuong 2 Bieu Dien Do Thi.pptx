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1"/>
  </p:notesMasterIdLst>
  <p:sldIdLst>
    <p:sldId id="256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595" r:id="rId29"/>
    <p:sldId id="347" r:id="rId30"/>
    <p:sldId id="348" r:id="rId31"/>
    <p:sldId id="349" r:id="rId32"/>
    <p:sldId id="350" r:id="rId33"/>
    <p:sldId id="351" r:id="rId34"/>
    <p:sldId id="352" r:id="rId35"/>
    <p:sldId id="353" r:id="rId36"/>
    <p:sldId id="354" r:id="rId37"/>
    <p:sldId id="355" r:id="rId38"/>
    <p:sldId id="356" r:id="rId39"/>
    <p:sldId id="357" r:id="rId40"/>
    <p:sldId id="358" r:id="rId41"/>
    <p:sldId id="359" r:id="rId42"/>
    <p:sldId id="360" r:id="rId43"/>
    <p:sldId id="361" r:id="rId44"/>
    <p:sldId id="362" r:id="rId45"/>
    <p:sldId id="363" r:id="rId46"/>
    <p:sldId id="364" r:id="rId47"/>
    <p:sldId id="596" r:id="rId48"/>
    <p:sldId id="597" r:id="rId49"/>
    <p:sldId id="598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0" d="100"/>
          <a:sy n="50" d="100"/>
        </p:scale>
        <p:origin x="56" y="5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E59E9-398E-4CDE-B8A8-9783769AE3B1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AE73C4-1514-45ED-9211-6EAFD7C99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32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D774-EE1B-2B11-22C1-6F594E1BC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BF6D9-B1AF-8033-687A-B967CDFDF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7DF9A-4B8A-6C27-6C5D-BD22A01CD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EA562-258F-D32D-9BAB-1EAF64E6D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C715D-2751-8742-3ADF-8EE71B4A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7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FFBB9-4646-A697-A5C4-A355D081A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3D36C-95A2-A52C-B4C9-75B5F0D69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24790-4794-805C-5F87-B3A9FA0F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5C3E4-32D6-BA68-67D9-F4FD4867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BE7F-9FEC-ACDC-63C1-1D201626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44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8FC70-2979-328F-D1D4-FA847F610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D9CDB-BE36-772C-3D8E-D195849A9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B8265-E3FB-A6D0-7EF3-12931F1C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05932-9CB9-E11D-A00E-C8A16DEAD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44320-C29E-C8A1-E478-75AB3513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8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08673-C533-92B8-5159-480F4C63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C7B0-CB30-3F37-0027-98050A43E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9E238-9774-8622-9833-1FFB0144B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ADAE5-39EF-EEC4-83C2-D1690D798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FDA40-EA20-0EF1-9E55-E118BDECE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3E78D-16AB-0B02-E0F9-85B5C8E1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22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98E7D-7329-D77D-BFFF-32FACF0E4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4A029-C003-DF2E-B676-47BFA6371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55257-2BD1-F15E-EED2-EE8480AC8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7FCE09-E7D0-A9B3-7FD7-832DAF017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436A70-DC5C-FD26-BBAE-699ED1BF04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E4F872-59ED-8EE7-0BF4-3B7102CA7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B08AE5-E413-A5A7-CCBF-BCF51D03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A35D4A-19C9-FFA0-D320-54E1DF93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87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39FD-F2BE-7E87-65CF-0DD8EFFE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4AC8F-F839-D8DE-8E2E-41760CB29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7464B-42CF-2E02-4971-5020050BE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1C7DF-4C77-235D-9F48-2C0A5DA1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2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4EB561-A15B-829A-FFE5-EE98E7C43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118A1-0551-9123-856F-31EE8115B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C044E-A160-F18E-17BB-18185141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9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72D0B-75EB-71F7-B80A-9C504658A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AF00F-D956-8B12-EB86-4693190C8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6A545-C338-C9B8-9311-A85BE60C9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9101B-526A-2609-14E1-E4B2C6B72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C3438-B3A8-D6A2-DFFA-18DF1A7A1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2D607-1A76-65B2-3216-67FBFAAA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22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8E7F-C3D1-86E5-1D6A-7E32766E1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CBA471-B97F-6445-B117-D51B56ADC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D7723-5F8F-7447-3180-06319D56D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DDEB8-84FD-94B5-AF3D-81402F627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7D01F-0747-5F99-9FA1-1392CDC57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0CFB9-F96E-7880-A872-83EBB9D6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1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BA1D-5730-45A9-3DEB-9868D5E7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CD204-6861-6158-7238-42DB3999A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FD915-B7E1-0126-1ECB-9AC2571D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88074-217D-0866-6D21-94EC50A5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D1F2-F3E2-06FD-2D0B-96677CF3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08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2795E-3605-FF4E-9AD5-E4E22157D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220CB-2046-0BBE-1586-CABCA0239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7238D-8DE3-CBAB-3381-5EF859858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A5B1D-F0D2-CAFF-20FB-5EE05D781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29B2C-CC02-96AE-9DE2-4D9C4E54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05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54182" cy="1149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00615" y="1459810"/>
            <a:ext cx="9066739" cy="4324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1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637034"/>
            <a:ext cx="8534400" cy="3707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9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4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241">
              <a:spcBef>
                <a:spcPts val="105"/>
              </a:spcBef>
            </a:pPr>
            <a:fld id="{81D60167-4931-47E6-BA6A-407CBD079E47}" type="slidenum">
              <a:rPr lang="en-US" spc="-25" smtClean="0"/>
              <a:pPr marL="38241">
                <a:spcBef>
                  <a:spcPts val="105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927906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1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9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4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241">
              <a:spcBef>
                <a:spcPts val="105"/>
              </a:spcBef>
            </a:pPr>
            <a:fld id="{81D60167-4931-47E6-BA6A-407CBD079E47}" type="slidenum">
              <a:rPr lang="en-US" spc="-25" smtClean="0"/>
              <a:pPr marL="38241">
                <a:spcBef>
                  <a:spcPts val="105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4394754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1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1" y="1493782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1" y="1493782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4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241">
              <a:spcBef>
                <a:spcPts val="105"/>
              </a:spcBef>
            </a:pPr>
            <a:fld id="{81D60167-4931-47E6-BA6A-407CBD079E47}" type="slidenum">
              <a:rPr lang="en-US" spc="-25" smtClean="0"/>
              <a:pPr marL="38241">
                <a:spcBef>
                  <a:spcPts val="105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87134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04254" y="512830"/>
            <a:ext cx="9389368" cy="529647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1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4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241">
              <a:spcBef>
                <a:spcPts val="105"/>
              </a:spcBef>
            </a:pPr>
            <a:fld id="{81D60167-4931-47E6-BA6A-407CBD079E47}" type="slidenum">
              <a:rPr lang="en-US" spc="-25" smtClean="0"/>
              <a:pPr marL="38241">
                <a:spcBef>
                  <a:spcPts val="105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160681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04254" y="512830"/>
            <a:ext cx="9389368" cy="529647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4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241">
              <a:spcBef>
                <a:spcPts val="105"/>
              </a:spcBef>
            </a:pPr>
            <a:fld id="{81D60167-4931-47E6-BA6A-407CBD079E47}" type="slidenum">
              <a:rPr lang="en-US" spc="-25" smtClean="0"/>
              <a:pPr marL="38241">
                <a:spcBef>
                  <a:spcPts val="105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852684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C350F9-9368-54FE-209A-2B465FC26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B19F1-D5AB-4AEB-6862-AED4C02B8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8D765-FC1A-1ADF-0619-14F9B21B72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75E94-CB89-4173-B66A-4A547A6B34DC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68842-042E-40DA-EDFD-1744BF424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208E3-BBC5-0E2E-4BEF-7CE8889A19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91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36516"/>
            <a:ext cx="12192000" cy="321867"/>
          </a:xfrm>
          <a:custGeom>
            <a:avLst/>
            <a:gdLst/>
            <a:ahLst/>
            <a:cxnLst/>
            <a:rect l="l" t="t" r="r" b="b"/>
            <a:pathLst>
              <a:path w="9118600" h="320675">
                <a:moveTo>
                  <a:pt x="0" y="320294"/>
                </a:moveTo>
                <a:lnTo>
                  <a:pt x="9118600" y="320294"/>
                </a:lnTo>
                <a:lnTo>
                  <a:pt x="9118600" y="0"/>
                </a:lnTo>
                <a:lnTo>
                  <a:pt x="0" y="0"/>
                </a:lnTo>
                <a:lnTo>
                  <a:pt x="0" y="32029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807"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6931"/>
            <a:ext cx="12192000" cy="7954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22970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54183" cy="1149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0614" y="330153"/>
            <a:ext cx="10790769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8540" y="1000909"/>
            <a:ext cx="10724885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040075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040075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821933" y="6580443"/>
            <a:ext cx="361685" cy="154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4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241">
              <a:spcBef>
                <a:spcPts val="105"/>
              </a:spcBef>
            </a:pPr>
            <a:fld id="{81D60167-4931-47E6-BA6A-407CBD079E47}" type="slidenum">
              <a:rPr lang="en-US" spc="-25" smtClean="0"/>
              <a:pPr marL="38241">
                <a:spcBef>
                  <a:spcPts val="105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083439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8892">
        <a:defRPr>
          <a:latin typeface="+mn-lt"/>
          <a:ea typeface="+mn-ea"/>
          <a:cs typeface="+mn-cs"/>
        </a:defRPr>
      </a:lvl2pPr>
      <a:lvl3pPr marL="917783">
        <a:defRPr>
          <a:latin typeface="+mn-lt"/>
          <a:ea typeface="+mn-ea"/>
          <a:cs typeface="+mn-cs"/>
        </a:defRPr>
      </a:lvl3pPr>
      <a:lvl4pPr marL="1376675">
        <a:defRPr>
          <a:latin typeface="+mn-lt"/>
          <a:ea typeface="+mn-ea"/>
          <a:cs typeface="+mn-cs"/>
        </a:defRPr>
      </a:lvl4pPr>
      <a:lvl5pPr marL="1835567">
        <a:defRPr>
          <a:latin typeface="+mn-lt"/>
          <a:ea typeface="+mn-ea"/>
          <a:cs typeface="+mn-cs"/>
        </a:defRPr>
      </a:lvl5pPr>
      <a:lvl6pPr marL="2294458">
        <a:defRPr>
          <a:latin typeface="+mn-lt"/>
          <a:ea typeface="+mn-ea"/>
          <a:cs typeface="+mn-cs"/>
        </a:defRPr>
      </a:lvl6pPr>
      <a:lvl7pPr marL="2753350">
        <a:defRPr>
          <a:latin typeface="+mn-lt"/>
          <a:ea typeface="+mn-ea"/>
          <a:cs typeface="+mn-cs"/>
        </a:defRPr>
      </a:lvl7pPr>
      <a:lvl8pPr marL="3212241">
        <a:defRPr>
          <a:latin typeface="+mn-lt"/>
          <a:ea typeface="+mn-ea"/>
          <a:cs typeface="+mn-cs"/>
        </a:defRPr>
      </a:lvl8pPr>
      <a:lvl9pPr marL="367113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8892">
        <a:defRPr>
          <a:latin typeface="+mn-lt"/>
          <a:ea typeface="+mn-ea"/>
          <a:cs typeface="+mn-cs"/>
        </a:defRPr>
      </a:lvl2pPr>
      <a:lvl3pPr marL="917783">
        <a:defRPr>
          <a:latin typeface="+mn-lt"/>
          <a:ea typeface="+mn-ea"/>
          <a:cs typeface="+mn-cs"/>
        </a:defRPr>
      </a:lvl3pPr>
      <a:lvl4pPr marL="1376675">
        <a:defRPr>
          <a:latin typeface="+mn-lt"/>
          <a:ea typeface="+mn-ea"/>
          <a:cs typeface="+mn-cs"/>
        </a:defRPr>
      </a:lvl4pPr>
      <a:lvl5pPr marL="1835567">
        <a:defRPr>
          <a:latin typeface="+mn-lt"/>
          <a:ea typeface="+mn-ea"/>
          <a:cs typeface="+mn-cs"/>
        </a:defRPr>
      </a:lvl5pPr>
      <a:lvl6pPr marL="2294458">
        <a:defRPr>
          <a:latin typeface="+mn-lt"/>
          <a:ea typeface="+mn-ea"/>
          <a:cs typeface="+mn-cs"/>
        </a:defRPr>
      </a:lvl6pPr>
      <a:lvl7pPr marL="2753350">
        <a:defRPr>
          <a:latin typeface="+mn-lt"/>
          <a:ea typeface="+mn-ea"/>
          <a:cs typeface="+mn-cs"/>
        </a:defRPr>
      </a:lvl7pPr>
      <a:lvl8pPr marL="3212241">
        <a:defRPr>
          <a:latin typeface="+mn-lt"/>
          <a:ea typeface="+mn-ea"/>
          <a:cs typeface="+mn-cs"/>
        </a:defRPr>
      </a:lvl8pPr>
      <a:lvl9pPr marL="367113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1_hgCyJelVbLzD_zCxGAnXyTFTfksWVc?usp=sharing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A549-9C61-B1A4-0431-97B9E2394E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rgbClr val="0070C0"/>
                </a:solidFill>
              </a:rPr>
              <a:t>Chương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D7334-B492-2309-0783-D7D68B95C0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b="1">
                <a:solidFill>
                  <a:srgbClr val="C00000"/>
                </a:solidFill>
              </a:rPr>
              <a:t>BIỂU DIỄN ĐỒ THỊ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4F11E-47CC-81AC-8FEC-774B8565F950}"/>
              </a:ext>
            </a:extLst>
          </p:cNvPr>
          <p:cNvSpPr txBox="1"/>
          <p:nvPr/>
        </p:nvSpPr>
        <p:spPr>
          <a:xfrm>
            <a:off x="635727" y="209006"/>
            <a:ext cx="2292408" cy="2246811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2E34A-2F10-515C-34FE-A89D485E8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26" y="286161"/>
            <a:ext cx="2141200" cy="2169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80F402-5B82-6329-4389-FC0D591336E1}"/>
              </a:ext>
            </a:extLst>
          </p:cNvPr>
          <p:cNvSpPr txBox="1"/>
          <p:nvPr/>
        </p:nvSpPr>
        <p:spPr>
          <a:xfrm>
            <a:off x="2984883" y="286161"/>
            <a:ext cx="7839867" cy="2169656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lang="en-US" sz="2800" b="1"/>
              <a:t>TRƯỜNG ĐẠI HỌC TÀI NGUYÊN VÀ MÔI TRƯỜNG 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lang="en-US" sz="2800" b="1"/>
              <a:t>TP. HỒ CHÍ MINH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lang="en-US" sz="2800" b="1"/>
              <a:t>KHOA CÔNG NGHỆ THÔNG TIN </a:t>
            </a:r>
          </a:p>
        </p:txBody>
      </p:sp>
    </p:spTree>
    <p:extLst>
      <p:ext uri="{BB962C8B-B14F-4D97-AF65-F5344CB8AC3E}">
        <p14:creationId xmlns:p14="http://schemas.microsoft.com/office/powerpoint/2010/main" val="178791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1"/>
            <a:ext cx="10830883" cy="50836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>
              <a:spcBef>
                <a:spcPts val="95"/>
              </a:spcBef>
            </a:pPr>
            <a:r>
              <a:rPr sz="3212" dirty="0"/>
              <a:t>Nội</a:t>
            </a:r>
            <a:r>
              <a:rPr sz="3212" spc="-25" dirty="0"/>
              <a:t> </a:t>
            </a:r>
            <a:r>
              <a:rPr sz="3212" spc="-20" dirty="0"/>
              <a:t>dung</a:t>
            </a:r>
            <a:endParaRPr sz="3212"/>
          </a:p>
        </p:txBody>
      </p:sp>
      <p:grpSp>
        <p:nvGrpSpPr>
          <p:cNvPr id="3" name="object 3"/>
          <p:cNvGrpSpPr/>
          <p:nvPr/>
        </p:nvGrpSpPr>
        <p:grpSpPr>
          <a:xfrm>
            <a:off x="2869362" y="1732027"/>
            <a:ext cx="4910863" cy="1131952"/>
            <a:chOff x="1344612" y="1725612"/>
            <a:chExt cx="4892675" cy="1127760"/>
          </a:xfrm>
        </p:grpSpPr>
        <p:sp>
          <p:nvSpPr>
            <p:cNvPr id="4" name="object 4"/>
            <p:cNvSpPr/>
            <p:nvPr/>
          </p:nvSpPr>
          <p:spPr>
            <a:xfrm>
              <a:off x="1358900" y="17399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8693"/>
                  </a:move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358900" y="17399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358900" y="24066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23922" y="2461741"/>
            <a:ext cx="3340407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Sự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đẳng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cấu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83703" y="1746368"/>
            <a:ext cx="4882182" cy="439779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25452" y="1796336"/>
            <a:ext cx="3098847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cách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biểu</a:t>
            </a:r>
            <a:r>
              <a:rPr sz="2007" b="1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diễn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007" b="1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39054" y="1569011"/>
            <a:ext cx="5641279" cy="1983466"/>
            <a:chOff x="617009" y="1563200"/>
            <a:chExt cx="5620385" cy="19761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58900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23922" y="3150091"/>
            <a:ext cx="2290674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Hướng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dẫn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cài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đặt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139054" y="2945710"/>
            <a:ext cx="766107" cy="669229"/>
            <a:chOff x="617009" y="2934800"/>
            <a:chExt cx="763270" cy="66675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934800"/>
              <a:ext cx="763250" cy="66619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995676"/>
              <a:ext cx="352806" cy="33680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316452" y="1462564"/>
            <a:ext cx="478657" cy="2090543"/>
          </a:xfrm>
          <a:prstGeom prst="rect">
            <a:avLst/>
          </a:prstGeom>
        </p:spPr>
        <p:txBody>
          <a:bodyPr vert="horz" wrap="square" lIns="0" tIns="211604" rIns="0" bIns="0" rtlCol="0">
            <a:spAutoFit/>
          </a:bodyPr>
          <a:lstStyle/>
          <a:p>
            <a:pPr marL="124283" defTabSz="917783">
              <a:spcBef>
                <a:spcPts val="1666"/>
              </a:spcBef>
            </a:pPr>
            <a:r>
              <a:rPr sz="3212" b="1" kern="0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12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marR="5099" indent="55448" defTabSz="917783">
              <a:lnSpc>
                <a:spcPct val="140600"/>
              </a:lnSpc>
            </a:pPr>
            <a:r>
              <a:rPr sz="3212" b="1" kern="0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12" b="1" kern="0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1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52712" y="6551109"/>
            <a:ext cx="1446809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1"/>
            <a:ext cx="10830883" cy="50836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>
              <a:spcBef>
                <a:spcPts val="95"/>
              </a:spcBef>
            </a:pPr>
            <a:r>
              <a:rPr sz="3212" dirty="0"/>
              <a:t>I.</a:t>
            </a:r>
            <a:r>
              <a:rPr sz="3212" spc="-45" dirty="0"/>
              <a:t> </a:t>
            </a:r>
            <a:r>
              <a:rPr sz="3212" dirty="0"/>
              <a:t>Các</a:t>
            </a:r>
            <a:r>
              <a:rPr sz="3212" spc="-45" dirty="0"/>
              <a:t> </a:t>
            </a:r>
            <a:r>
              <a:rPr sz="3212" dirty="0"/>
              <a:t>cách</a:t>
            </a:r>
            <a:r>
              <a:rPr sz="3212" spc="-45" dirty="0"/>
              <a:t> </a:t>
            </a:r>
            <a:r>
              <a:rPr sz="3212" dirty="0"/>
              <a:t>biểu</a:t>
            </a:r>
            <a:r>
              <a:rPr sz="3212" spc="-40" dirty="0"/>
              <a:t> </a:t>
            </a:r>
            <a:r>
              <a:rPr sz="3212" dirty="0"/>
              <a:t>diễn</a:t>
            </a:r>
            <a:r>
              <a:rPr sz="3212" spc="-45" dirty="0"/>
              <a:t> </a:t>
            </a:r>
            <a:r>
              <a:rPr sz="3212" dirty="0"/>
              <a:t>đồ</a:t>
            </a:r>
            <a:r>
              <a:rPr sz="3212" spc="-45" dirty="0"/>
              <a:t> </a:t>
            </a:r>
            <a:r>
              <a:rPr sz="3212" spc="-25" dirty="0"/>
              <a:t>thị</a:t>
            </a:r>
            <a:endParaRPr sz="3212"/>
          </a:p>
        </p:txBody>
      </p:sp>
      <p:grpSp>
        <p:nvGrpSpPr>
          <p:cNvPr id="3" name="object 3"/>
          <p:cNvGrpSpPr/>
          <p:nvPr/>
        </p:nvGrpSpPr>
        <p:grpSpPr>
          <a:xfrm>
            <a:off x="2789820" y="2085762"/>
            <a:ext cx="6689099" cy="2471684"/>
            <a:chOff x="1265364" y="2078037"/>
            <a:chExt cx="6664325" cy="2462530"/>
          </a:xfrm>
        </p:grpSpPr>
        <p:sp>
          <p:nvSpPr>
            <p:cNvPr id="4" name="object 4"/>
            <p:cNvSpPr/>
            <p:nvPr/>
          </p:nvSpPr>
          <p:spPr>
            <a:xfrm>
              <a:off x="3490975" y="4119626"/>
              <a:ext cx="1905" cy="406400"/>
            </a:xfrm>
            <a:custGeom>
              <a:avLst/>
              <a:gdLst/>
              <a:ahLst/>
              <a:cxnLst/>
              <a:rect l="l" t="t" r="r" b="b"/>
              <a:pathLst>
                <a:path w="1904" h="406400">
                  <a:moveTo>
                    <a:pt x="1524" y="406146"/>
                  </a:moveTo>
                  <a:lnTo>
                    <a:pt x="1524" y="203454"/>
                  </a:lnTo>
                  <a:lnTo>
                    <a:pt x="0" y="203454"/>
                  </a:lnTo>
                  <a:lnTo>
                    <a:pt x="0" y="0"/>
                  </a:lnTo>
                </a:path>
              </a:pathLst>
            </a:custGeom>
            <a:ln w="28574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279652" y="4119626"/>
              <a:ext cx="1905" cy="406400"/>
            </a:xfrm>
            <a:custGeom>
              <a:avLst/>
              <a:gdLst/>
              <a:ahLst/>
              <a:cxnLst/>
              <a:rect l="l" t="t" r="r" b="b"/>
              <a:pathLst>
                <a:path w="1905" h="406400">
                  <a:moveTo>
                    <a:pt x="0" y="406146"/>
                  </a:moveTo>
                  <a:lnTo>
                    <a:pt x="1523" y="0"/>
                  </a:lnTo>
                </a:path>
              </a:pathLst>
            </a:custGeom>
            <a:ln w="28574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279652" y="2897377"/>
              <a:ext cx="6635750" cy="407670"/>
            </a:xfrm>
            <a:custGeom>
              <a:avLst/>
              <a:gdLst/>
              <a:ahLst/>
              <a:cxnLst/>
              <a:rect l="l" t="t" r="r" b="b"/>
              <a:pathLst>
                <a:path w="6635750" h="407670">
                  <a:moveTo>
                    <a:pt x="6635496" y="407669"/>
                  </a:moveTo>
                  <a:lnTo>
                    <a:pt x="6635496" y="203453"/>
                  </a:lnTo>
                  <a:lnTo>
                    <a:pt x="3319272" y="203453"/>
                  </a:lnTo>
                  <a:lnTo>
                    <a:pt x="3319272" y="0"/>
                  </a:lnTo>
                </a:path>
                <a:path w="6635750" h="407670">
                  <a:moveTo>
                    <a:pt x="4424172" y="407669"/>
                  </a:moveTo>
                  <a:lnTo>
                    <a:pt x="4424172" y="203453"/>
                  </a:lnTo>
                  <a:lnTo>
                    <a:pt x="3319272" y="203453"/>
                  </a:lnTo>
                  <a:lnTo>
                    <a:pt x="3319272" y="0"/>
                  </a:lnTo>
                </a:path>
                <a:path w="6635750" h="407670">
                  <a:moveTo>
                    <a:pt x="2211324" y="407669"/>
                  </a:moveTo>
                  <a:lnTo>
                    <a:pt x="2211324" y="203453"/>
                  </a:lnTo>
                  <a:lnTo>
                    <a:pt x="3319272" y="203453"/>
                  </a:lnTo>
                  <a:lnTo>
                    <a:pt x="3319272" y="0"/>
                  </a:lnTo>
                </a:path>
                <a:path w="6635750" h="407670">
                  <a:moveTo>
                    <a:pt x="0" y="407670"/>
                  </a:moveTo>
                  <a:lnTo>
                    <a:pt x="0" y="203454"/>
                  </a:lnTo>
                  <a:lnTo>
                    <a:pt x="3319272" y="203453"/>
                  </a:lnTo>
                  <a:lnTo>
                    <a:pt x="3319272" y="0"/>
                  </a:lnTo>
                </a:path>
              </a:pathLst>
            </a:custGeom>
            <a:ln w="285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856230" y="2082800"/>
              <a:ext cx="3484245" cy="814705"/>
            </a:xfrm>
            <a:custGeom>
              <a:avLst/>
              <a:gdLst/>
              <a:ahLst/>
              <a:cxnLst/>
              <a:rect l="l" t="t" r="r" b="b"/>
              <a:pathLst>
                <a:path w="3484245" h="814705">
                  <a:moveTo>
                    <a:pt x="3483864" y="678941"/>
                  </a:moveTo>
                  <a:lnTo>
                    <a:pt x="3483864" y="135635"/>
                  </a:lnTo>
                  <a:lnTo>
                    <a:pt x="3476999" y="92854"/>
                  </a:lnTo>
                  <a:lnTo>
                    <a:pt x="3457846" y="55632"/>
                  </a:lnTo>
                  <a:lnTo>
                    <a:pt x="3428561" y="26237"/>
                  </a:lnTo>
                  <a:lnTo>
                    <a:pt x="3391302" y="6937"/>
                  </a:lnTo>
                  <a:lnTo>
                    <a:pt x="3348228" y="0"/>
                  </a:lnTo>
                  <a:lnTo>
                    <a:pt x="135636" y="0"/>
                  </a:lnTo>
                  <a:lnTo>
                    <a:pt x="92561" y="6937"/>
                  </a:lnTo>
                  <a:lnTo>
                    <a:pt x="55302" y="26237"/>
                  </a:lnTo>
                  <a:lnTo>
                    <a:pt x="26017" y="55632"/>
                  </a:lnTo>
                  <a:lnTo>
                    <a:pt x="6864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864" y="721723"/>
                  </a:lnTo>
                  <a:lnTo>
                    <a:pt x="26017" y="758945"/>
                  </a:lnTo>
                  <a:lnTo>
                    <a:pt x="55302" y="788340"/>
                  </a:lnTo>
                  <a:lnTo>
                    <a:pt x="92561" y="807640"/>
                  </a:lnTo>
                  <a:lnTo>
                    <a:pt x="135636" y="814578"/>
                  </a:lnTo>
                  <a:lnTo>
                    <a:pt x="3348228" y="814577"/>
                  </a:lnTo>
                  <a:lnTo>
                    <a:pt x="3391302" y="807640"/>
                  </a:lnTo>
                  <a:lnTo>
                    <a:pt x="3428561" y="788340"/>
                  </a:lnTo>
                  <a:lnTo>
                    <a:pt x="3457846" y="758945"/>
                  </a:lnTo>
                  <a:lnTo>
                    <a:pt x="3476999" y="721723"/>
                  </a:lnTo>
                  <a:lnTo>
                    <a:pt x="3483864" y="67894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856230" y="2082800"/>
              <a:ext cx="3484245" cy="814705"/>
            </a:xfrm>
            <a:custGeom>
              <a:avLst/>
              <a:gdLst/>
              <a:ahLst/>
              <a:cxnLst/>
              <a:rect l="l" t="t" r="r" b="b"/>
              <a:pathLst>
                <a:path w="3484245" h="814705">
                  <a:moveTo>
                    <a:pt x="135636" y="0"/>
                  </a:moveTo>
                  <a:lnTo>
                    <a:pt x="92561" y="6937"/>
                  </a:lnTo>
                  <a:lnTo>
                    <a:pt x="55302" y="26237"/>
                  </a:lnTo>
                  <a:lnTo>
                    <a:pt x="26017" y="55632"/>
                  </a:lnTo>
                  <a:lnTo>
                    <a:pt x="6864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864" y="721723"/>
                  </a:lnTo>
                  <a:lnTo>
                    <a:pt x="26017" y="758945"/>
                  </a:lnTo>
                  <a:lnTo>
                    <a:pt x="55302" y="788340"/>
                  </a:lnTo>
                  <a:lnTo>
                    <a:pt x="92561" y="807640"/>
                  </a:lnTo>
                  <a:lnTo>
                    <a:pt x="135636" y="814578"/>
                  </a:lnTo>
                  <a:lnTo>
                    <a:pt x="3348228" y="814577"/>
                  </a:lnTo>
                  <a:lnTo>
                    <a:pt x="3391302" y="807640"/>
                  </a:lnTo>
                  <a:lnTo>
                    <a:pt x="3428561" y="788340"/>
                  </a:lnTo>
                  <a:lnTo>
                    <a:pt x="3457846" y="758945"/>
                  </a:lnTo>
                  <a:lnTo>
                    <a:pt x="3476999" y="721723"/>
                  </a:lnTo>
                  <a:lnTo>
                    <a:pt x="3483864" y="678941"/>
                  </a:lnTo>
                  <a:lnTo>
                    <a:pt x="3483864" y="135635"/>
                  </a:lnTo>
                  <a:lnTo>
                    <a:pt x="3476999" y="92854"/>
                  </a:lnTo>
                  <a:lnTo>
                    <a:pt x="3457846" y="55632"/>
                  </a:lnTo>
                  <a:lnTo>
                    <a:pt x="3428561" y="26237"/>
                  </a:lnTo>
                  <a:lnTo>
                    <a:pt x="3391302" y="6937"/>
                  </a:lnTo>
                  <a:lnTo>
                    <a:pt x="3348228" y="0"/>
                  </a:lnTo>
                  <a:lnTo>
                    <a:pt x="135636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738677" y="2342428"/>
            <a:ext cx="2792277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Các</a:t>
            </a:r>
            <a:r>
              <a:rPr sz="1807" b="1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cách</a:t>
            </a:r>
            <a:r>
              <a:rPr sz="1807" b="1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biểu</a:t>
            </a:r>
            <a:r>
              <a:rPr sz="1807" b="1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diễn</a:t>
            </a:r>
            <a:r>
              <a:rPr sz="1807" b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807" b="1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b="1" kern="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08156" y="3312554"/>
            <a:ext cx="1992389" cy="827294"/>
            <a:chOff x="287337" y="3300285"/>
            <a:chExt cx="1985010" cy="824230"/>
          </a:xfrm>
        </p:grpSpPr>
        <p:sp>
          <p:nvSpPr>
            <p:cNvPr id="11" name="object 11"/>
            <p:cNvSpPr/>
            <p:nvPr/>
          </p:nvSpPr>
          <p:spPr>
            <a:xfrm>
              <a:off x="292100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5" h="814704">
                  <a:moveTo>
                    <a:pt x="1975104" y="678941"/>
                  </a:moveTo>
                  <a:lnTo>
                    <a:pt x="1975104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8" y="0"/>
                  </a:lnTo>
                  <a:lnTo>
                    <a:pt x="135636" y="0"/>
                  </a:ln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6" y="814578"/>
                  </a:lnTo>
                  <a:lnTo>
                    <a:pt x="1839468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4" y="67894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92100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5" h="814704">
                  <a:moveTo>
                    <a:pt x="135636" y="0"/>
                  </a:move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6" y="814578"/>
                  </a:lnTo>
                  <a:lnTo>
                    <a:pt x="1839468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4" y="678941"/>
                  </a:lnTo>
                  <a:lnTo>
                    <a:pt x="1975104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8" y="0"/>
                  </a:lnTo>
                  <a:lnTo>
                    <a:pt x="135636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49911" y="3569219"/>
            <a:ext cx="1109645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Ma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trận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kề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027701" y="3312554"/>
            <a:ext cx="1992389" cy="827294"/>
            <a:chOff x="2498661" y="3300285"/>
            <a:chExt cx="1985010" cy="824230"/>
          </a:xfrm>
        </p:grpSpPr>
        <p:sp>
          <p:nvSpPr>
            <p:cNvPr id="15" name="object 15"/>
            <p:cNvSpPr/>
            <p:nvPr/>
          </p:nvSpPr>
          <p:spPr>
            <a:xfrm>
              <a:off x="2503423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5" h="814704">
                  <a:moveTo>
                    <a:pt x="1975104" y="678941"/>
                  </a:moveTo>
                  <a:lnTo>
                    <a:pt x="1975104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8" y="0"/>
                  </a:lnTo>
                  <a:lnTo>
                    <a:pt x="135636" y="0"/>
                  </a:ln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6" y="814578"/>
                  </a:lnTo>
                  <a:lnTo>
                    <a:pt x="1839468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4" y="67894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503423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5" h="814704">
                  <a:moveTo>
                    <a:pt x="135636" y="0"/>
                  </a:move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6" y="814578"/>
                  </a:lnTo>
                  <a:lnTo>
                    <a:pt x="1839468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4" y="678941"/>
                  </a:lnTo>
                  <a:lnTo>
                    <a:pt x="1975104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8" y="0"/>
                  </a:lnTo>
                  <a:lnTo>
                    <a:pt x="135636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82643" y="3569219"/>
            <a:ext cx="1683269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Danh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sách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cạnh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48775" y="3312554"/>
            <a:ext cx="1992389" cy="827294"/>
            <a:chOff x="4711509" y="3300285"/>
            <a:chExt cx="1985010" cy="824230"/>
          </a:xfrm>
        </p:grpSpPr>
        <p:sp>
          <p:nvSpPr>
            <p:cNvPr id="19" name="object 19"/>
            <p:cNvSpPr/>
            <p:nvPr/>
          </p:nvSpPr>
          <p:spPr>
            <a:xfrm>
              <a:off x="4716271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4" h="814704">
                  <a:moveTo>
                    <a:pt x="1975104" y="678941"/>
                  </a:moveTo>
                  <a:lnTo>
                    <a:pt x="1975104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8" y="0"/>
                  </a:lnTo>
                  <a:lnTo>
                    <a:pt x="135636" y="0"/>
                  </a:ln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6" y="814578"/>
                  </a:lnTo>
                  <a:lnTo>
                    <a:pt x="1839468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4" y="67894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4716271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4" h="814704">
                  <a:moveTo>
                    <a:pt x="135636" y="0"/>
                  </a:move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6" y="814578"/>
                  </a:lnTo>
                  <a:lnTo>
                    <a:pt x="1839468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4" y="678941"/>
                  </a:lnTo>
                  <a:lnTo>
                    <a:pt x="1975104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8" y="0"/>
                  </a:lnTo>
                  <a:lnTo>
                    <a:pt x="135636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530680" y="3569219"/>
            <a:ext cx="1428325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Danh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sách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kề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468319" y="3312554"/>
            <a:ext cx="1992389" cy="827294"/>
            <a:chOff x="6922833" y="3300285"/>
            <a:chExt cx="1985010" cy="824230"/>
          </a:xfrm>
        </p:grpSpPr>
        <p:sp>
          <p:nvSpPr>
            <p:cNvPr id="23" name="object 23"/>
            <p:cNvSpPr/>
            <p:nvPr/>
          </p:nvSpPr>
          <p:spPr>
            <a:xfrm>
              <a:off x="6927595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4" h="814704">
                  <a:moveTo>
                    <a:pt x="1975103" y="678941"/>
                  </a:moveTo>
                  <a:lnTo>
                    <a:pt x="1975103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7" y="0"/>
                  </a:lnTo>
                  <a:lnTo>
                    <a:pt x="135635" y="0"/>
                  </a:ln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5" y="814578"/>
                  </a:lnTo>
                  <a:lnTo>
                    <a:pt x="1839467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3" y="67894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6927595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4" h="814704">
                  <a:moveTo>
                    <a:pt x="135635" y="0"/>
                  </a:move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5" y="814578"/>
                  </a:lnTo>
                  <a:lnTo>
                    <a:pt x="1839467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3" y="678941"/>
                  </a:lnTo>
                  <a:lnTo>
                    <a:pt x="1975103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7" y="0"/>
                  </a:lnTo>
                  <a:lnTo>
                    <a:pt x="135635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540661" y="3569219"/>
            <a:ext cx="1848983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Ma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trận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liên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thuộc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889228" y="4537816"/>
            <a:ext cx="4051064" cy="821558"/>
            <a:chOff x="368109" y="4521009"/>
            <a:chExt cx="4036060" cy="818515"/>
          </a:xfrm>
        </p:grpSpPr>
        <p:sp>
          <p:nvSpPr>
            <p:cNvPr id="27" name="object 27"/>
            <p:cNvSpPr/>
            <p:nvPr/>
          </p:nvSpPr>
          <p:spPr>
            <a:xfrm>
              <a:off x="372872" y="4525771"/>
              <a:ext cx="1814830" cy="808990"/>
            </a:xfrm>
            <a:custGeom>
              <a:avLst/>
              <a:gdLst/>
              <a:ahLst/>
              <a:cxnLst/>
              <a:rect l="l" t="t" r="r" b="b"/>
              <a:pathLst>
                <a:path w="1814830" h="808989">
                  <a:moveTo>
                    <a:pt x="1814322" y="673607"/>
                  </a:moveTo>
                  <a:lnTo>
                    <a:pt x="1814322" y="134873"/>
                  </a:lnTo>
                  <a:lnTo>
                    <a:pt x="1807470" y="92171"/>
                  </a:lnTo>
                  <a:lnTo>
                    <a:pt x="1788401" y="55138"/>
                  </a:lnTo>
                  <a:lnTo>
                    <a:pt x="1759348" y="25968"/>
                  </a:lnTo>
                  <a:lnTo>
                    <a:pt x="1722540" y="6857"/>
                  </a:lnTo>
                  <a:lnTo>
                    <a:pt x="1680210" y="0"/>
                  </a:lnTo>
                  <a:lnTo>
                    <a:pt x="134873" y="0"/>
                  </a:lnTo>
                  <a:lnTo>
                    <a:pt x="92171" y="6858"/>
                  </a:lnTo>
                  <a:lnTo>
                    <a:pt x="55138" y="25968"/>
                  </a:lnTo>
                  <a:lnTo>
                    <a:pt x="25968" y="55138"/>
                  </a:lnTo>
                  <a:lnTo>
                    <a:pt x="6857" y="92171"/>
                  </a:lnTo>
                  <a:lnTo>
                    <a:pt x="0" y="134874"/>
                  </a:lnTo>
                  <a:lnTo>
                    <a:pt x="0" y="673608"/>
                  </a:lnTo>
                  <a:lnTo>
                    <a:pt x="6858" y="716017"/>
                  </a:lnTo>
                  <a:lnTo>
                    <a:pt x="25968" y="753014"/>
                  </a:lnTo>
                  <a:lnTo>
                    <a:pt x="55138" y="782293"/>
                  </a:lnTo>
                  <a:lnTo>
                    <a:pt x="92171" y="801550"/>
                  </a:lnTo>
                  <a:lnTo>
                    <a:pt x="134874" y="808482"/>
                  </a:lnTo>
                  <a:lnTo>
                    <a:pt x="1680210" y="808481"/>
                  </a:lnTo>
                  <a:lnTo>
                    <a:pt x="1722540" y="801550"/>
                  </a:lnTo>
                  <a:lnTo>
                    <a:pt x="1759348" y="782293"/>
                  </a:lnTo>
                  <a:lnTo>
                    <a:pt x="1788401" y="753014"/>
                  </a:lnTo>
                  <a:lnTo>
                    <a:pt x="1807470" y="716017"/>
                  </a:lnTo>
                  <a:lnTo>
                    <a:pt x="1814322" y="673607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72872" y="4525771"/>
              <a:ext cx="1814830" cy="808990"/>
            </a:xfrm>
            <a:custGeom>
              <a:avLst/>
              <a:gdLst/>
              <a:ahLst/>
              <a:cxnLst/>
              <a:rect l="l" t="t" r="r" b="b"/>
              <a:pathLst>
                <a:path w="1814830" h="808989">
                  <a:moveTo>
                    <a:pt x="134873" y="0"/>
                  </a:moveTo>
                  <a:lnTo>
                    <a:pt x="92171" y="6858"/>
                  </a:lnTo>
                  <a:lnTo>
                    <a:pt x="55138" y="25968"/>
                  </a:lnTo>
                  <a:lnTo>
                    <a:pt x="25968" y="55138"/>
                  </a:lnTo>
                  <a:lnTo>
                    <a:pt x="6857" y="92171"/>
                  </a:lnTo>
                  <a:lnTo>
                    <a:pt x="0" y="134874"/>
                  </a:lnTo>
                  <a:lnTo>
                    <a:pt x="0" y="673608"/>
                  </a:lnTo>
                  <a:lnTo>
                    <a:pt x="6858" y="716017"/>
                  </a:lnTo>
                  <a:lnTo>
                    <a:pt x="25968" y="753014"/>
                  </a:lnTo>
                  <a:lnTo>
                    <a:pt x="55138" y="782293"/>
                  </a:lnTo>
                  <a:lnTo>
                    <a:pt x="92171" y="801550"/>
                  </a:lnTo>
                  <a:lnTo>
                    <a:pt x="134874" y="808482"/>
                  </a:lnTo>
                  <a:lnTo>
                    <a:pt x="1680210" y="808481"/>
                  </a:lnTo>
                  <a:lnTo>
                    <a:pt x="1722540" y="801550"/>
                  </a:lnTo>
                  <a:lnTo>
                    <a:pt x="1759348" y="782293"/>
                  </a:lnTo>
                  <a:lnTo>
                    <a:pt x="1788401" y="753014"/>
                  </a:lnTo>
                  <a:lnTo>
                    <a:pt x="1807470" y="716017"/>
                  </a:lnTo>
                  <a:lnTo>
                    <a:pt x="1814322" y="673607"/>
                  </a:lnTo>
                  <a:lnTo>
                    <a:pt x="1814322" y="134873"/>
                  </a:lnTo>
                  <a:lnTo>
                    <a:pt x="1807470" y="92171"/>
                  </a:lnTo>
                  <a:lnTo>
                    <a:pt x="1788401" y="55138"/>
                  </a:lnTo>
                  <a:lnTo>
                    <a:pt x="1759348" y="25968"/>
                  </a:lnTo>
                  <a:lnTo>
                    <a:pt x="1722540" y="6857"/>
                  </a:lnTo>
                  <a:lnTo>
                    <a:pt x="1680210" y="0"/>
                  </a:lnTo>
                  <a:lnTo>
                    <a:pt x="134873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2585720" y="4525771"/>
              <a:ext cx="1813560" cy="808990"/>
            </a:xfrm>
            <a:custGeom>
              <a:avLst/>
              <a:gdLst/>
              <a:ahLst/>
              <a:cxnLst/>
              <a:rect l="l" t="t" r="r" b="b"/>
              <a:pathLst>
                <a:path w="1813560" h="808989">
                  <a:moveTo>
                    <a:pt x="1813560" y="673607"/>
                  </a:moveTo>
                  <a:lnTo>
                    <a:pt x="1813560" y="134873"/>
                  </a:lnTo>
                  <a:lnTo>
                    <a:pt x="1806628" y="92171"/>
                  </a:lnTo>
                  <a:lnTo>
                    <a:pt x="1787371" y="55138"/>
                  </a:lnTo>
                  <a:lnTo>
                    <a:pt x="1758092" y="25968"/>
                  </a:lnTo>
                  <a:lnTo>
                    <a:pt x="1721095" y="6857"/>
                  </a:lnTo>
                  <a:lnTo>
                    <a:pt x="1678686" y="0"/>
                  </a:lnTo>
                  <a:lnTo>
                    <a:pt x="134874" y="0"/>
                  </a:lnTo>
                  <a:lnTo>
                    <a:pt x="92464" y="6858"/>
                  </a:lnTo>
                  <a:lnTo>
                    <a:pt x="55467" y="25968"/>
                  </a:lnTo>
                  <a:lnTo>
                    <a:pt x="26188" y="55138"/>
                  </a:lnTo>
                  <a:lnTo>
                    <a:pt x="6931" y="92171"/>
                  </a:lnTo>
                  <a:lnTo>
                    <a:pt x="0" y="134874"/>
                  </a:lnTo>
                  <a:lnTo>
                    <a:pt x="0" y="673608"/>
                  </a:lnTo>
                  <a:lnTo>
                    <a:pt x="6931" y="716017"/>
                  </a:lnTo>
                  <a:lnTo>
                    <a:pt x="26188" y="753014"/>
                  </a:lnTo>
                  <a:lnTo>
                    <a:pt x="55467" y="782293"/>
                  </a:lnTo>
                  <a:lnTo>
                    <a:pt x="92464" y="801550"/>
                  </a:lnTo>
                  <a:lnTo>
                    <a:pt x="134874" y="808482"/>
                  </a:lnTo>
                  <a:lnTo>
                    <a:pt x="1678686" y="808481"/>
                  </a:lnTo>
                  <a:lnTo>
                    <a:pt x="1721095" y="801550"/>
                  </a:lnTo>
                  <a:lnTo>
                    <a:pt x="1758092" y="782293"/>
                  </a:lnTo>
                  <a:lnTo>
                    <a:pt x="1787371" y="753014"/>
                  </a:lnTo>
                  <a:lnTo>
                    <a:pt x="1806628" y="716017"/>
                  </a:lnTo>
                  <a:lnTo>
                    <a:pt x="1813560" y="673607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585720" y="4525771"/>
              <a:ext cx="1813560" cy="808990"/>
            </a:xfrm>
            <a:custGeom>
              <a:avLst/>
              <a:gdLst/>
              <a:ahLst/>
              <a:cxnLst/>
              <a:rect l="l" t="t" r="r" b="b"/>
              <a:pathLst>
                <a:path w="1813560" h="808989">
                  <a:moveTo>
                    <a:pt x="134874" y="0"/>
                  </a:moveTo>
                  <a:lnTo>
                    <a:pt x="92464" y="6858"/>
                  </a:lnTo>
                  <a:lnTo>
                    <a:pt x="55467" y="25968"/>
                  </a:lnTo>
                  <a:lnTo>
                    <a:pt x="26188" y="55138"/>
                  </a:lnTo>
                  <a:lnTo>
                    <a:pt x="6931" y="92171"/>
                  </a:lnTo>
                  <a:lnTo>
                    <a:pt x="0" y="134874"/>
                  </a:lnTo>
                  <a:lnTo>
                    <a:pt x="0" y="673608"/>
                  </a:lnTo>
                  <a:lnTo>
                    <a:pt x="6931" y="716017"/>
                  </a:lnTo>
                  <a:lnTo>
                    <a:pt x="26188" y="753014"/>
                  </a:lnTo>
                  <a:lnTo>
                    <a:pt x="55467" y="782293"/>
                  </a:lnTo>
                  <a:lnTo>
                    <a:pt x="92464" y="801550"/>
                  </a:lnTo>
                  <a:lnTo>
                    <a:pt x="134874" y="808482"/>
                  </a:lnTo>
                  <a:lnTo>
                    <a:pt x="1678686" y="808481"/>
                  </a:lnTo>
                  <a:lnTo>
                    <a:pt x="1721095" y="801550"/>
                  </a:lnTo>
                  <a:lnTo>
                    <a:pt x="1758092" y="782293"/>
                  </a:lnTo>
                  <a:lnTo>
                    <a:pt x="1787371" y="753014"/>
                  </a:lnTo>
                  <a:lnTo>
                    <a:pt x="1806628" y="716017"/>
                  </a:lnTo>
                  <a:lnTo>
                    <a:pt x="1813560" y="673607"/>
                  </a:lnTo>
                  <a:lnTo>
                    <a:pt x="1813560" y="134873"/>
                  </a:lnTo>
                  <a:lnTo>
                    <a:pt x="1806628" y="92171"/>
                  </a:lnTo>
                  <a:lnTo>
                    <a:pt x="1787371" y="55138"/>
                  </a:lnTo>
                  <a:lnTo>
                    <a:pt x="1758092" y="25968"/>
                  </a:lnTo>
                  <a:lnTo>
                    <a:pt x="1721095" y="6857"/>
                  </a:lnTo>
                  <a:lnTo>
                    <a:pt x="1678686" y="0"/>
                  </a:lnTo>
                  <a:lnTo>
                    <a:pt x="134874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185702" y="4791422"/>
            <a:ext cx="1682632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Danh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sách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cung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852712" y="6551109"/>
            <a:ext cx="1446809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3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957745" y="4791422"/>
            <a:ext cx="1696017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Ma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trận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trọng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số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I.1.</a:t>
            </a:r>
            <a:r>
              <a:rPr spc="-40" dirty="0"/>
              <a:t> </a:t>
            </a:r>
            <a:r>
              <a:rPr dirty="0"/>
              <a:t>Ma</a:t>
            </a:r>
            <a:r>
              <a:rPr spc="-40" dirty="0"/>
              <a:t> </a:t>
            </a:r>
            <a:r>
              <a:rPr dirty="0"/>
              <a:t>trận</a:t>
            </a:r>
            <a:r>
              <a:rPr spc="-20" dirty="0"/>
              <a:t> </a:t>
            </a:r>
            <a:r>
              <a:rPr dirty="0"/>
              <a:t>kề</a:t>
            </a:r>
            <a:r>
              <a:rPr spc="-40" dirty="0"/>
              <a:t> </a:t>
            </a:r>
            <a:r>
              <a:rPr dirty="0"/>
              <a:t>(đơn</a:t>
            </a:r>
            <a:r>
              <a:rPr spc="-25" dirty="0"/>
              <a:t> </a:t>
            </a:r>
            <a:r>
              <a:rPr dirty="0"/>
              <a:t>đồ</a:t>
            </a:r>
            <a:r>
              <a:rPr spc="-30" dirty="0"/>
              <a:t> </a:t>
            </a:r>
            <a:r>
              <a:rPr dirty="0"/>
              <a:t>thị</a:t>
            </a:r>
            <a:r>
              <a:rPr spc="-40" dirty="0"/>
              <a:t> </a:t>
            </a:r>
            <a:r>
              <a:rPr dirty="0"/>
              <a:t>vô</a:t>
            </a:r>
            <a:r>
              <a:rPr spc="-25" dirty="0"/>
              <a:t> </a:t>
            </a:r>
            <a:r>
              <a:rPr spc="-10" dirty="0"/>
              <a:t>hướng)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6470" y="949666"/>
            <a:ext cx="7791733" cy="1694741"/>
          </a:xfrm>
          <a:prstGeom prst="rect">
            <a:avLst/>
          </a:prstGeom>
        </p:spPr>
        <p:txBody>
          <a:bodyPr vert="horz" wrap="square" lIns="0" tIns="77121" rIns="0" bIns="0" rtlCol="0">
            <a:spAutoFit/>
          </a:bodyPr>
          <a:lstStyle/>
          <a:p>
            <a:pPr marL="369025" indent="-343531" defTabSz="917783">
              <a:spcBef>
                <a:spcPts val="607"/>
              </a:spcBef>
              <a:buClr>
                <a:srgbClr val="65CCFF"/>
              </a:buClr>
              <a:buFont typeface="Wingdings"/>
              <a:buChar char=""/>
              <a:tabLst>
                <a:tab pos="369025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Định</a:t>
            </a:r>
            <a:r>
              <a:rPr sz="2409" kern="0" spc="-4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71193" marR="17846" lvl="1" indent="-318675" defTabSz="917783">
              <a:spcBef>
                <a:spcPts val="502"/>
              </a:spcBef>
              <a:buClr>
                <a:srgbClr val="1B9AD9"/>
              </a:buClr>
              <a:buFont typeface="Wingdings"/>
              <a:buChar char="■"/>
              <a:tabLst>
                <a:tab pos="771193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Đơn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(V,E)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{0,…,n-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1},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tập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{e</a:t>
            </a:r>
            <a:r>
              <a:rPr sz="2409" kern="0" spc="-15" baseline="-24305" dirty="0">
                <a:solidFill>
                  <a:sysClr val="windowText" lastClr="000000"/>
                </a:solidFill>
                <a:latin typeface="Arial"/>
                <a:cs typeface="Arial"/>
              </a:rPr>
              <a:t>0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,e</a:t>
            </a:r>
            <a:r>
              <a:rPr sz="2409" kern="0" spc="-15" baseline="-24305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,…e</a:t>
            </a:r>
            <a:r>
              <a:rPr sz="2409" kern="0" spc="-15" baseline="-24305" dirty="0">
                <a:solidFill>
                  <a:sysClr val="windowText" lastClr="000000"/>
                </a:solidFill>
                <a:latin typeface="Arial"/>
                <a:cs typeface="Arial"/>
              </a:rPr>
              <a:t>m-</a:t>
            </a:r>
            <a:r>
              <a:rPr sz="2409" kern="0" baseline="-24305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}.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Ta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gọi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ma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trận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70556" lvl="1" indent="-318675" defTabSz="917783">
              <a:spcBef>
                <a:spcPts val="567"/>
              </a:spcBef>
              <a:buClr>
                <a:srgbClr val="1B9AD9"/>
              </a:buClr>
              <a:buFont typeface="Wingdings"/>
              <a:buChar char="■"/>
              <a:tabLst>
                <a:tab pos="770556" algn="l"/>
                <a:tab pos="3981522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A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{a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2409" kern="0" spc="-7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0,…,n-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1},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	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với: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3266" y="3581966"/>
            <a:ext cx="3384384" cy="28298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51301" y="3386171"/>
            <a:ext cx="189296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2610" kern="0" spc="-50" dirty="0">
                <a:solidFill>
                  <a:sysClr val="windowText" lastClr="000000"/>
                </a:solidFill>
                <a:latin typeface="Symbol"/>
                <a:cs typeface="Symbol"/>
              </a:rPr>
              <a:t></a:t>
            </a:r>
            <a:endParaRPr sz="2610" kern="0">
              <a:solidFill>
                <a:sysClr val="windowText" lastClr="000000"/>
              </a:solidFill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25806" y="3306628"/>
            <a:ext cx="2457025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8241" defTabSz="917783">
              <a:spcBef>
                <a:spcPts val="100"/>
              </a:spcBef>
              <a:tabLst>
                <a:tab pos="704909" algn="l"/>
                <a:tab pos="1035693" algn="l"/>
                <a:tab pos="1527727" algn="l"/>
              </a:tabLst>
            </a:pPr>
            <a:r>
              <a:rPr sz="3914" kern="0" baseline="33119" dirty="0">
                <a:solidFill>
                  <a:sysClr val="windowText" lastClr="000000"/>
                </a:solidFill>
                <a:latin typeface="Symbol"/>
                <a:cs typeface="Symbol"/>
              </a:rPr>
              <a:t></a:t>
            </a:r>
            <a:r>
              <a:rPr sz="3914" kern="0" spc="-104" baseline="33119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1,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if</a:t>
            </a:r>
            <a:r>
              <a:rPr sz="2610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kern="0" spc="9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</a:t>
            </a:r>
            <a:r>
              <a:rPr sz="2610" i="1" kern="0" spc="9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610" i="1" kern="0" spc="-40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r>
              <a:rPr sz="2610" i="1" kern="0" spc="-30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)</a:t>
            </a:r>
            <a:r>
              <a:rPr sz="2610" kern="0" spc="-4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Symbol"/>
                <a:cs typeface="Symbol"/>
              </a:rPr>
              <a:t></a:t>
            </a:r>
            <a:r>
              <a:rPr sz="2610" kern="0" spc="34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</a:t>
            </a:r>
            <a:endParaRPr sz="261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02002" y="2809489"/>
            <a:ext cx="2857925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8241" defTabSz="917783">
              <a:spcBef>
                <a:spcPts val="100"/>
              </a:spcBef>
              <a:tabLst>
                <a:tab pos="361377" algn="l"/>
                <a:tab pos="1022946" algn="l"/>
                <a:tab pos="1437860" algn="l"/>
                <a:tab pos="1929894" algn="l"/>
              </a:tabLst>
            </a:pPr>
            <a:r>
              <a:rPr sz="3914" kern="0" spc="-75" baseline="-40598" dirty="0">
                <a:solidFill>
                  <a:sysClr val="windowText" lastClr="000000"/>
                </a:solidFill>
                <a:latin typeface="Symbol"/>
                <a:cs typeface="Symbol"/>
              </a:rPr>
              <a:t></a:t>
            </a:r>
            <a:r>
              <a:rPr sz="3914" kern="0" baseline="-40598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3914" kern="0" spc="-30" baseline="-4273" dirty="0">
                <a:solidFill>
                  <a:sysClr val="windowText" lastClr="000000"/>
                </a:solidFill>
                <a:latin typeface="Symbol"/>
                <a:cs typeface="Symbol"/>
              </a:rPr>
              <a:t></a:t>
            </a:r>
            <a:r>
              <a:rPr sz="3914" kern="0" spc="-542" baseline="-427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0</a:t>
            </a:r>
            <a:r>
              <a:rPr sz="2610" kern="0" spc="-37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if</a:t>
            </a:r>
            <a:r>
              <a:rPr sz="2610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kern="0" spc="9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</a:t>
            </a:r>
            <a:r>
              <a:rPr sz="2610" i="1" kern="0" spc="9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610" i="1" kern="0" spc="-41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r>
              <a:rPr sz="2610" i="1" kern="0" spc="-30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)</a:t>
            </a:r>
            <a:r>
              <a:rPr sz="2610" kern="0" spc="-4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Symbol"/>
                <a:cs typeface="Symbol"/>
              </a:rPr>
              <a:t></a:t>
            </a:r>
            <a:r>
              <a:rPr sz="2610" kern="0" spc="33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</a:t>
            </a:r>
            <a:endParaRPr sz="261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4084" y="3052756"/>
            <a:ext cx="191208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2610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a</a:t>
            </a:r>
            <a:endParaRPr sz="261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09466" y="3274165"/>
            <a:ext cx="280439" cy="247393"/>
          </a:xfrm>
          <a:prstGeom prst="rect">
            <a:avLst/>
          </a:prstGeom>
        </p:spPr>
        <p:txBody>
          <a:bodyPr vert="horz" wrap="square" lIns="0" tIns="14658" rIns="0" bIns="0" rtlCol="0">
            <a:spAutoFit/>
          </a:bodyPr>
          <a:lstStyle/>
          <a:p>
            <a:pPr marL="12747" defTabSz="917783">
              <a:spcBef>
                <a:spcPts val="114"/>
              </a:spcBef>
            </a:pPr>
            <a:r>
              <a:rPr sz="1506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1506" i="1" kern="0" spc="-1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506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1506" kern="0" spc="16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506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endParaRPr sz="1506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8291" y="4297340"/>
            <a:ext cx="2319355" cy="167944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R="5099" algn="r" defTabSz="917783">
              <a:spcBef>
                <a:spcPts val="100"/>
              </a:spcBef>
              <a:tabLst>
                <a:tab pos="381772" algn="l"/>
                <a:tab pos="827917" algn="l"/>
                <a:tab pos="1337797" algn="l"/>
                <a:tab pos="178394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5099" algn="r" defTabSz="917783">
              <a:tabLst>
                <a:tab pos="381135" algn="l"/>
                <a:tab pos="763545" algn="l"/>
                <a:tab pos="1209689" algn="l"/>
                <a:tab pos="1719569" algn="l"/>
                <a:tab pos="2165714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5099" algn="r" defTabSz="917783">
              <a:spcBef>
                <a:spcPts val="5"/>
              </a:spcBef>
              <a:tabLst>
                <a:tab pos="381135" algn="l"/>
                <a:tab pos="763545" algn="l"/>
                <a:tab pos="1209689" algn="l"/>
                <a:tab pos="1719569" algn="l"/>
                <a:tab pos="2165714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5099" algn="r" defTabSz="917783">
              <a:tabLst>
                <a:tab pos="381135" algn="l"/>
                <a:tab pos="763545" algn="l"/>
                <a:tab pos="1209689" algn="l"/>
                <a:tab pos="1719569" algn="l"/>
                <a:tab pos="2165714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5099" algn="r" defTabSz="917783">
              <a:spcBef>
                <a:spcPts val="5"/>
              </a:spcBef>
              <a:tabLst>
                <a:tab pos="381135" algn="l"/>
                <a:tab pos="763545" algn="l"/>
                <a:tab pos="1209689" algn="l"/>
                <a:tab pos="1719569" algn="l"/>
                <a:tab pos="2165714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5099" algn="r" defTabSz="917783">
              <a:tabLst>
                <a:tab pos="381135" algn="l"/>
                <a:tab pos="763545" algn="l"/>
                <a:tab pos="1209689" algn="l"/>
                <a:tab pos="1719569" algn="l"/>
                <a:tab pos="2165714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35593" y="4574720"/>
            <a:ext cx="2112850" cy="1506083"/>
          </a:xfrm>
          <a:custGeom>
            <a:avLst/>
            <a:gdLst/>
            <a:ahLst/>
            <a:cxnLst/>
            <a:rect l="l" t="t" r="r" b="b"/>
            <a:pathLst>
              <a:path w="2105025" h="1500504">
                <a:moveTo>
                  <a:pt x="0" y="0"/>
                </a:moveTo>
                <a:lnTo>
                  <a:pt x="0" y="1500378"/>
                </a:lnTo>
                <a:lnTo>
                  <a:pt x="2104644" y="1500378"/>
                </a:lnTo>
                <a:lnTo>
                  <a:pt x="210464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I.1.</a:t>
            </a:r>
            <a:r>
              <a:rPr spc="-40" dirty="0"/>
              <a:t> </a:t>
            </a:r>
            <a:r>
              <a:rPr dirty="0"/>
              <a:t>Ma</a:t>
            </a:r>
            <a:r>
              <a:rPr spc="-40" dirty="0"/>
              <a:t> </a:t>
            </a:r>
            <a:r>
              <a:rPr dirty="0"/>
              <a:t>trận</a:t>
            </a:r>
            <a:r>
              <a:rPr spc="-20" dirty="0"/>
              <a:t> </a:t>
            </a:r>
            <a:r>
              <a:rPr dirty="0"/>
              <a:t>kề</a:t>
            </a:r>
            <a:r>
              <a:rPr spc="-40" dirty="0"/>
              <a:t> </a:t>
            </a:r>
            <a:r>
              <a:rPr dirty="0"/>
              <a:t>(đơn</a:t>
            </a:r>
            <a:r>
              <a:rPr spc="-25" dirty="0"/>
              <a:t> </a:t>
            </a:r>
            <a:r>
              <a:rPr dirty="0"/>
              <a:t>đồ</a:t>
            </a:r>
            <a:r>
              <a:rPr spc="-25" dirty="0"/>
              <a:t> </a:t>
            </a:r>
            <a:r>
              <a:rPr dirty="0"/>
              <a:t>thị</a:t>
            </a:r>
            <a:r>
              <a:rPr spc="-40" dirty="0"/>
              <a:t> </a:t>
            </a:r>
            <a:r>
              <a:rPr dirty="0"/>
              <a:t>có</a:t>
            </a:r>
            <a:r>
              <a:rPr spc="-35" dirty="0"/>
              <a:t> </a:t>
            </a:r>
            <a:r>
              <a:rPr spc="-10" dirty="0"/>
              <a:t>hướng)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217" y="949667"/>
            <a:ext cx="4458337" cy="1328259"/>
          </a:xfrm>
          <a:prstGeom prst="rect">
            <a:avLst/>
          </a:prstGeom>
        </p:spPr>
        <p:txBody>
          <a:bodyPr vert="horz" wrap="square" lIns="0" tIns="77121" rIns="0" bIns="0" rtlCol="0">
            <a:spAutoFit/>
          </a:bodyPr>
          <a:lstStyle/>
          <a:p>
            <a:pPr marL="356278" indent="-343531" defTabSz="917783">
              <a:spcBef>
                <a:spcPts val="607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Định</a:t>
            </a:r>
            <a:r>
              <a:rPr sz="2409" kern="0" spc="-4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318675" defTabSz="917783">
              <a:spcBef>
                <a:spcPts val="50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Giống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đơn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hướng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rgbClr val="FF3300"/>
                </a:solidFill>
                <a:latin typeface="Arial"/>
                <a:cs typeface="Arial"/>
              </a:rPr>
              <a:t>cung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4818" y="3080238"/>
            <a:ext cx="189296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2610" kern="0" spc="-50" dirty="0">
                <a:solidFill>
                  <a:sysClr val="windowText" lastClr="000000"/>
                </a:solidFill>
                <a:latin typeface="Symbol"/>
                <a:cs typeface="Symbol"/>
              </a:rPr>
              <a:t></a:t>
            </a:r>
            <a:endParaRPr sz="2610" kern="0">
              <a:solidFill>
                <a:sysClr val="windowText" lastClr="000000"/>
              </a:solidFill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49323" y="3000695"/>
            <a:ext cx="2457025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8241" defTabSz="917783">
              <a:spcBef>
                <a:spcPts val="100"/>
              </a:spcBef>
              <a:tabLst>
                <a:tab pos="704909" algn="l"/>
                <a:tab pos="1035693" algn="l"/>
                <a:tab pos="1527727" algn="l"/>
              </a:tabLst>
            </a:pPr>
            <a:r>
              <a:rPr sz="3914" kern="0" baseline="33119" dirty="0">
                <a:solidFill>
                  <a:sysClr val="windowText" lastClr="000000"/>
                </a:solidFill>
                <a:latin typeface="Symbol"/>
                <a:cs typeface="Symbol"/>
              </a:rPr>
              <a:t></a:t>
            </a:r>
            <a:r>
              <a:rPr sz="3914" kern="0" spc="-104" baseline="33119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1,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if</a:t>
            </a:r>
            <a:r>
              <a:rPr sz="2610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kern="0" spc="9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</a:t>
            </a:r>
            <a:r>
              <a:rPr sz="2610" i="1" kern="0" spc="9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610" i="1" kern="0" spc="-40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r>
              <a:rPr sz="2610" i="1" kern="0" spc="-30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)</a:t>
            </a:r>
            <a:r>
              <a:rPr sz="2610" kern="0" spc="-4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Symbol"/>
                <a:cs typeface="Symbol"/>
              </a:rPr>
              <a:t></a:t>
            </a:r>
            <a:r>
              <a:rPr sz="2610" kern="0" spc="34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</a:t>
            </a:r>
            <a:endParaRPr sz="261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25518" y="2503556"/>
            <a:ext cx="2857925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8241" defTabSz="917783">
              <a:spcBef>
                <a:spcPts val="100"/>
              </a:spcBef>
              <a:tabLst>
                <a:tab pos="361377" algn="l"/>
                <a:tab pos="1022946" algn="l"/>
                <a:tab pos="1437860" algn="l"/>
                <a:tab pos="1929894" algn="l"/>
              </a:tabLst>
            </a:pPr>
            <a:r>
              <a:rPr sz="3914" kern="0" spc="-75" baseline="-40598" dirty="0">
                <a:solidFill>
                  <a:sysClr val="windowText" lastClr="000000"/>
                </a:solidFill>
                <a:latin typeface="Symbol"/>
                <a:cs typeface="Symbol"/>
              </a:rPr>
              <a:t></a:t>
            </a:r>
            <a:r>
              <a:rPr sz="3914" kern="0" baseline="-40598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3914" kern="0" spc="-30" baseline="-4273" dirty="0">
                <a:solidFill>
                  <a:sysClr val="windowText" lastClr="000000"/>
                </a:solidFill>
                <a:latin typeface="Symbol"/>
                <a:cs typeface="Symbol"/>
              </a:rPr>
              <a:t></a:t>
            </a:r>
            <a:r>
              <a:rPr sz="3914" kern="0" spc="-542" baseline="-427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0</a:t>
            </a:r>
            <a:r>
              <a:rPr sz="2610" kern="0" spc="-37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if</a:t>
            </a:r>
            <a:r>
              <a:rPr sz="2610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kern="0" spc="9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</a:t>
            </a:r>
            <a:r>
              <a:rPr sz="2610" i="1" kern="0" spc="9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610" i="1" kern="0" spc="-41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r>
              <a:rPr sz="2610" i="1" kern="0" spc="-30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)</a:t>
            </a:r>
            <a:r>
              <a:rPr sz="2610" kern="0" spc="-4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Symbol"/>
                <a:cs typeface="Symbol"/>
              </a:rPr>
              <a:t></a:t>
            </a:r>
            <a:r>
              <a:rPr sz="2610" kern="0" spc="33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</a:t>
            </a:r>
            <a:endParaRPr sz="261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27601" y="2746823"/>
            <a:ext cx="191208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2610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a</a:t>
            </a:r>
            <a:endParaRPr sz="261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32982" y="2968232"/>
            <a:ext cx="280439" cy="247393"/>
          </a:xfrm>
          <a:prstGeom prst="rect">
            <a:avLst/>
          </a:prstGeom>
        </p:spPr>
        <p:txBody>
          <a:bodyPr vert="horz" wrap="square" lIns="0" tIns="14658" rIns="0" bIns="0" rtlCol="0">
            <a:spAutoFit/>
          </a:bodyPr>
          <a:lstStyle/>
          <a:p>
            <a:pPr marL="12747" defTabSz="917783">
              <a:spcBef>
                <a:spcPts val="114"/>
              </a:spcBef>
            </a:pPr>
            <a:r>
              <a:rPr sz="1506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1506" i="1" kern="0" spc="-1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506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1506" kern="0" spc="16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506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endParaRPr sz="1506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4474" y="3581966"/>
            <a:ext cx="3575592" cy="2753398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150869" y="3951797"/>
          <a:ext cx="2615726" cy="19216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1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52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221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ts val="221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ts val="221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221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ts val="221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marL="31750">
                        <a:lnSpc>
                          <a:spcPts val="221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1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11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11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211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9370" algn="r">
                        <a:lnSpc>
                          <a:spcPts val="211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96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" algn="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296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" algn="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296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" algn="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361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I.1.</a:t>
            </a:r>
            <a:r>
              <a:rPr spc="-45" dirty="0"/>
              <a:t> </a:t>
            </a:r>
            <a:r>
              <a:rPr dirty="0"/>
              <a:t>Ma</a:t>
            </a:r>
            <a:r>
              <a:rPr spc="-40" dirty="0"/>
              <a:t> </a:t>
            </a:r>
            <a:r>
              <a:rPr dirty="0"/>
              <a:t>trận</a:t>
            </a:r>
            <a:r>
              <a:rPr spc="-20" dirty="0"/>
              <a:t> </a:t>
            </a:r>
            <a:r>
              <a:rPr dirty="0"/>
              <a:t>kề</a:t>
            </a:r>
            <a:r>
              <a:rPr spc="-45" dirty="0"/>
              <a:t> </a:t>
            </a:r>
            <a:r>
              <a:rPr dirty="0"/>
              <a:t>(Đa</a:t>
            </a:r>
            <a:r>
              <a:rPr spc="-35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spc="-20" dirty="0"/>
              <a:t>thị)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6469" y="949667"/>
            <a:ext cx="5162621" cy="1328259"/>
          </a:xfrm>
          <a:prstGeom prst="rect">
            <a:avLst/>
          </a:prstGeom>
        </p:spPr>
        <p:txBody>
          <a:bodyPr vert="horz" wrap="square" lIns="0" tIns="77121" rIns="0" bIns="0" rtlCol="0">
            <a:spAutoFit/>
          </a:bodyPr>
          <a:lstStyle/>
          <a:p>
            <a:pPr marL="369025" indent="-343531" defTabSz="917783">
              <a:spcBef>
                <a:spcPts val="607"/>
              </a:spcBef>
              <a:buClr>
                <a:srgbClr val="65CCFF"/>
              </a:buClr>
              <a:buFont typeface="Wingdings"/>
              <a:buChar char=""/>
              <a:tabLst>
                <a:tab pos="369025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Định</a:t>
            </a:r>
            <a:r>
              <a:rPr sz="2409" kern="0" spc="-4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70556" lvl="1" indent="-318675" defTabSz="917783">
              <a:spcBef>
                <a:spcPts val="502"/>
              </a:spcBef>
              <a:buClr>
                <a:srgbClr val="1B9AD9"/>
              </a:buClr>
              <a:buFont typeface="Wingdings"/>
              <a:buChar char="■"/>
              <a:tabLst>
                <a:tab pos="770556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rgbClr val="FF3300"/>
                </a:solidFill>
                <a:latin typeface="Arial"/>
                <a:cs typeface="Arial"/>
              </a:rPr>
              <a:t>cạnh/cung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70556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70556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A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2409" kern="0" spc="285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số</a:t>
            </a:r>
            <a:r>
              <a:rPr sz="2409" kern="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cạnh</a:t>
            </a:r>
            <a:r>
              <a:rPr sz="2409" kern="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nối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và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j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5793" y="3199550"/>
            <a:ext cx="4139656" cy="29354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17190" y="3991406"/>
            <a:ext cx="2766145" cy="195478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93882" defTabSz="917783">
              <a:spcBef>
                <a:spcPts val="100"/>
              </a:spcBef>
              <a:tabLst>
                <a:tab pos="776292" algn="l"/>
                <a:tab pos="1222436" algn="l"/>
                <a:tab pos="1732316" algn="l"/>
                <a:tab pos="2178461" algn="l"/>
                <a:tab pos="2625243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5"/>
              </a:spcBef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5"/>
              </a:spcBef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319732" y="4270316"/>
            <a:ext cx="2523948" cy="1759115"/>
          </a:xfrm>
          <a:custGeom>
            <a:avLst/>
            <a:gdLst/>
            <a:ahLst/>
            <a:cxnLst/>
            <a:rect l="l" t="t" r="r" b="b"/>
            <a:pathLst>
              <a:path w="2514600" h="1752600">
                <a:moveTo>
                  <a:pt x="0" y="0"/>
                </a:moveTo>
                <a:lnTo>
                  <a:pt x="0" y="1752600"/>
                </a:lnTo>
                <a:lnTo>
                  <a:pt x="2514600" y="1752600"/>
                </a:lnTo>
                <a:lnTo>
                  <a:pt x="25146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I.1.</a:t>
            </a:r>
            <a:r>
              <a:rPr spc="-45" dirty="0"/>
              <a:t> </a:t>
            </a:r>
            <a:r>
              <a:rPr dirty="0"/>
              <a:t>Ma</a:t>
            </a:r>
            <a:r>
              <a:rPr spc="-40" dirty="0"/>
              <a:t> </a:t>
            </a:r>
            <a:r>
              <a:rPr dirty="0"/>
              <a:t>trận</a:t>
            </a:r>
            <a:r>
              <a:rPr spc="-20" dirty="0"/>
              <a:t> </a:t>
            </a:r>
            <a:r>
              <a:rPr dirty="0"/>
              <a:t>kề</a:t>
            </a:r>
            <a:r>
              <a:rPr spc="-45" dirty="0"/>
              <a:t> </a:t>
            </a:r>
            <a:r>
              <a:rPr dirty="0"/>
              <a:t>(Đa</a:t>
            </a:r>
            <a:r>
              <a:rPr spc="-35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spc="-20" dirty="0"/>
              <a:t>thị)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85287" y="4724436"/>
            <a:ext cx="4216140" cy="1921642"/>
            <a:chOff x="4249737" y="4706937"/>
            <a:chExt cx="4200525" cy="1914525"/>
          </a:xfrm>
        </p:grpSpPr>
        <p:sp>
          <p:nvSpPr>
            <p:cNvPr id="4" name="object 4"/>
            <p:cNvSpPr/>
            <p:nvPr/>
          </p:nvSpPr>
          <p:spPr>
            <a:xfrm>
              <a:off x="4254500" y="4711700"/>
              <a:ext cx="4191000" cy="1905000"/>
            </a:xfrm>
            <a:custGeom>
              <a:avLst/>
              <a:gdLst/>
              <a:ahLst/>
              <a:cxnLst/>
              <a:rect l="l" t="t" r="r" b="b"/>
              <a:pathLst>
                <a:path w="4191000" h="1905000">
                  <a:moveTo>
                    <a:pt x="4191000" y="1171955"/>
                  </a:moveTo>
                  <a:lnTo>
                    <a:pt x="3416046" y="923543"/>
                  </a:lnTo>
                  <a:lnTo>
                    <a:pt x="4093464" y="717803"/>
                  </a:lnTo>
                  <a:lnTo>
                    <a:pt x="3240786" y="645413"/>
                  </a:lnTo>
                  <a:lnTo>
                    <a:pt x="3566160" y="393191"/>
                  </a:lnTo>
                  <a:lnTo>
                    <a:pt x="2746248" y="469391"/>
                  </a:lnTo>
                  <a:lnTo>
                    <a:pt x="2817876" y="0"/>
                  </a:lnTo>
                  <a:lnTo>
                    <a:pt x="2095500" y="511301"/>
                  </a:lnTo>
                  <a:lnTo>
                    <a:pt x="1620774" y="202691"/>
                  </a:lnTo>
                  <a:lnTo>
                    <a:pt x="1418844" y="557021"/>
                  </a:lnTo>
                  <a:lnTo>
                    <a:pt x="71627" y="202692"/>
                  </a:lnTo>
                  <a:lnTo>
                    <a:pt x="897636" y="672083"/>
                  </a:lnTo>
                  <a:lnTo>
                    <a:pt x="0" y="759714"/>
                  </a:lnTo>
                  <a:lnTo>
                    <a:pt x="722376" y="1038606"/>
                  </a:lnTo>
                  <a:lnTo>
                    <a:pt x="25907" y="1286256"/>
                  </a:lnTo>
                  <a:lnTo>
                    <a:pt x="1099566" y="1229106"/>
                  </a:lnTo>
                  <a:lnTo>
                    <a:pt x="924306" y="1553717"/>
                  </a:lnTo>
                  <a:lnTo>
                    <a:pt x="1496568" y="1378458"/>
                  </a:lnTo>
                  <a:lnTo>
                    <a:pt x="1646682" y="1905000"/>
                  </a:lnTo>
                  <a:lnTo>
                    <a:pt x="2043684" y="1317497"/>
                  </a:lnTo>
                  <a:lnTo>
                    <a:pt x="2570226" y="1740408"/>
                  </a:lnTo>
                  <a:lnTo>
                    <a:pt x="2720340" y="1274826"/>
                  </a:lnTo>
                  <a:lnTo>
                    <a:pt x="3520440" y="1595627"/>
                  </a:lnTo>
                  <a:lnTo>
                    <a:pt x="3266694" y="1141475"/>
                  </a:lnTo>
                  <a:lnTo>
                    <a:pt x="4191000" y="1171955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254500" y="4711700"/>
              <a:ext cx="4191000" cy="1905000"/>
            </a:xfrm>
            <a:custGeom>
              <a:avLst/>
              <a:gdLst/>
              <a:ahLst/>
              <a:cxnLst/>
              <a:rect l="l" t="t" r="r" b="b"/>
              <a:pathLst>
                <a:path w="4191000" h="1905000">
                  <a:moveTo>
                    <a:pt x="2095500" y="511301"/>
                  </a:moveTo>
                  <a:lnTo>
                    <a:pt x="1620774" y="202691"/>
                  </a:lnTo>
                  <a:lnTo>
                    <a:pt x="1418844" y="557021"/>
                  </a:lnTo>
                  <a:lnTo>
                    <a:pt x="71627" y="202692"/>
                  </a:lnTo>
                  <a:lnTo>
                    <a:pt x="897636" y="672083"/>
                  </a:lnTo>
                  <a:lnTo>
                    <a:pt x="0" y="759714"/>
                  </a:lnTo>
                  <a:lnTo>
                    <a:pt x="722376" y="1038606"/>
                  </a:lnTo>
                  <a:lnTo>
                    <a:pt x="25907" y="1286256"/>
                  </a:lnTo>
                  <a:lnTo>
                    <a:pt x="1099566" y="1229106"/>
                  </a:lnTo>
                  <a:lnTo>
                    <a:pt x="924306" y="1553717"/>
                  </a:lnTo>
                  <a:lnTo>
                    <a:pt x="1496568" y="1378458"/>
                  </a:lnTo>
                  <a:lnTo>
                    <a:pt x="1646682" y="1905000"/>
                  </a:lnTo>
                  <a:lnTo>
                    <a:pt x="2043684" y="1317497"/>
                  </a:lnTo>
                  <a:lnTo>
                    <a:pt x="2570226" y="1740408"/>
                  </a:lnTo>
                  <a:lnTo>
                    <a:pt x="2720340" y="1274826"/>
                  </a:lnTo>
                  <a:lnTo>
                    <a:pt x="3520440" y="1595627"/>
                  </a:lnTo>
                  <a:lnTo>
                    <a:pt x="3266694" y="1141475"/>
                  </a:lnTo>
                  <a:lnTo>
                    <a:pt x="4191000" y="1171955"/>
                  </a:lnTo>
                  <a:lnTo>
                    <a:pt x="3416046" y="923543"/>
                  </a:lnTo>
                  <a:lnTo>
                    <a:pt x="4093464" y="717803"/>
                  </a:lnTo>
                  <a:lnTo>
                    <a:pt x="3240786" y="645413"/>
                  </a:lnTo>
                  <a:lnTo>
                    <a:pt x="3566160" y="393191"/>
                  </a:lnTo>
                  <a:lnTo>
                    <a:pt x="2746248" y="469391"/>
                  </a:lnTo>
                  <a:lnTo>
                    <a:pt x="2817876" y="0"/>
                  </a:lnTo>
                  <a:lnTo>
                    <a:pt x="2095500" y="511301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43697" y="936707"/>
            <a:ext cx="7721624" cy="5066815"/>
          </a:xfrm>
          <a:prstGeom prst="rect">
            <a:avLst/>
          </a:prstGeom>
        </p:spPr>
        <p:txBody>
          <a:bodyPr vert="horz" wrap="square" lIns="0" tIns="89230" rIns="0" bIns="0" rtlCol="0">
            <a:spAutoFit/>
          </a:bodyPr>
          <a:lstStyle/>
          <a:p>
            <a:pPr marL="381772" indent="-343531" defTabSz="917783">
              <a:spcBef>
                <a:spcPts val="703"/>
              </a:spcBef>
              <a:buClr>
                <a:srgbClr val="65CCFF"/>
              </a:buClr>
              <a:buFont typeface="Wingdings"/>
              <a:buChar char=""/>
              <a:tabLst>
                <a:tab pos="381772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Một</a:t>
            </a:r>
            <a:r>
              <a:rPr sz="2810" kern="0" spc="-4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số</a:t>
            </a:r>
            <a:r>
              <a:rPr sz="2810" kern="0" spc="-3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tính</a:t>
            </a:r>
            <a:r>
              <a:rPr sz="2810" kern="0" spc="-4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chất</a:t>
            </a:r>
            <a:r>
              <a:rPr sz="2810" kern="0" spc="-3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của</a:t>
            </a:r>
            <a:r>
              <a:rPr sz="2810" kern="0" spc="-3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ma</a:t>
            </a:r>
            <a:r>
              <a:rPr sz="2810" kern="0" spc="-3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trận</a:t>
            </a:r>
            <a:r>
              <a:rPr sz="2810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kề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83303" lvl="1" indent="-318675" defTabSz="917783">
              <a:lnSpc>
                <a:spcPts val="2886"/>
              </a:lnSpc>
              <a:spcBef>
                <a:spcPts val="517"/>
              </a:spcBef>
              <a:buClr>
                <a:srgbClr val="1B9AD9"/>
              </a:buClr>
              <a:buFont typeface="Wingdings"/>
              <a:buChar char="■"/>
              <a:tabLst>
                <a:tab pos="783303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trận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vô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hướng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u="heavy" kern="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đối</a:t>
            </a:r>
            <a:r>
              <a:rPr sz="2409" u="heavy" kern="0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9" u="heavy" kern="0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xứng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82665" marR="30593" indent="637" defTabSz="917783">
              <a:lnSpc>
                <a:spcPts val="2881"/>
              </a:lnSpc>
              <a:spcBef>
                <a:spcPts val="100"/>
              </a:spcBef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a[i,j]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a[j,i].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Ngược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lại,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trận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đối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xứng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(0,1),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có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đường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chéo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chính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bằng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0,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bậc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sẽ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tương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với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đơn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vô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hướng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đỉnh.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82665" lvl="1" indent="-318675" defTabSz="917783">
              <a:spcBef>
                <a:spcPts val="482"/>
              </a:spcBef>
              <a:buClr>
                <a:srgbClr val="1B9AD9"/>
              </a:buClr>
              <a:buFont typeface="Wingdings"/>
              <a:buChar char="■"/>
              <a:tabLst>
                <a:tab pos="782665" algn="l"/>
              </a:tabLst>
            </a:pP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Nếu</a:t>
            </a:r>
            <a:r>
              <a:rPr sz="2409" kern="0" spc="-30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đồ</a:t>
            </a:r>
            <a:r>
              <a:rPr sz="2409" kern="0" spc="-35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thị</a:t>
            </a:r>
            <a:r>
              <a:rPr sz="2409" kern="0" spc="-25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vô</a:t>
            </a:r>
            <a:r>
              <a:rPr sz="2409" kern="0" spc="-35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rgbClr val="00FF9A"/>
                </a:solidFill>
                <a:latin typeface="Arial"/>
                <a:cs typeface="Arial"/>
              </a:rPr>
              <a:t>hướng: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49523" defTabSz="917783">
              <a:spcBef>
                <a:spcPts val="572"/>
              </a:spcBef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Tổng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dòng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thứ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Tổng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cột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thứ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deg(i)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81390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81390" algn="l"/>
              </a:tabLst>
            </a:pP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Nếu</a:t>
            </a:r>
            <a:r>
              <a:rPr sz="2409" kern="0" spc="-30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đồ</a:t>
            </a:r>
            <a:r>
              <a:rPr sz="2409" kern="0" spc="-35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thị</a:t>
            </a:r>
            <a:r>
              <a:rPr sz="2409" kern="0" spc="-30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có</a:t>
            </a:r>
            <a:r>
              <a:rPr sz="2409" kern="0" spc="-35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rgbClr val="00FF9A"/>
                </a:solidFill>
                <a:latin typeface="Arial"/>
                <a:cs typeface="Arial"/>
              </a:rPr>
              <a:t>hướng: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48248" defTabSz="917783">
              <a:spcBef>
                <a:spcPts val="577"/>
              </a:spcBef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Tổng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dòng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deg</a:t>
            </a:r>
            <a:r>
              <a:rPr sz="2409" kern="0" baseline="24305" dirty="0">
                <a:solidFill>
                  <a:sysClr val="windowText" lastClr="000000"/>
                </a:solidFill>
                <a:latin typeface="Arial"/>
                <a:cs typeface="Arial"/>
              </a:rPr>
              <a:t>+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(i),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Tổng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cột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deg</a:t>
            </a:r>
            <a:r>
              <a:rPr sz="2409" kern="0" spc="-221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5" baseline="24305" dirty="0">
                <a:solidFill>
                  <a:sysClr val="windowText" lastClr="000000"/>
                </a:solidFill>
                <a:latin typeface="Arial"/>
                <a:cs typeface="Arial"/>
              </a:rPr>
              <a:t>-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(i)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defTabSz="917783">
              <a:spcBef>
                <a:spcPts val="1967"/>
              </a:spcBef>
            </a:pP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5103257" marR="785215" indent="-245380" defTabSz="917783"/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Ưu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điểm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và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hạn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chế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của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ma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trận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kề?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I.2.</a:t>
            </a:r>
            <a:r>
              <a:rPr spc="-45" dirty="0"/>
              <a:t> </a:t>
            </a:r>
            <a:r>
              <a:rPr dirty="0"/>
              <a:t>Ma</a:t>
            </a:r>
            <a:r>
              <a:rPr spc="-45" dirty="0"/>
              <a:t> </a:t>
            </a:r>
            <a:r>
              <a:rPr dirty="0"/>
              <a:t>trận</a:t>
            </a:r>
            <a:r>
              <a:rPr spc="-30" dirty="0"/>
              <a:t> </a:t>
            </a:r>
            <a:r>
              <a:rPr dirty="0"/>
              <a:t>trọng</a:t>
            </a:r>
            <a:r>
              <a:rPr spc="-30" dirty="0"/>
              <a:t> </a:t>
            </a:r>
            <a:r>
              <a:rPr dirty="0"/>
              <a:t>số</a:t>
            </a:r>
            <a:r>
              <a:rPr spc="-40" dirty="0"/>
              <a:t> </a:t>
            </a:r>
            <a:r>
              <a:rPr dirty="0"/>
              <a:t>(đơn</a:t>
            </a:r>
            <a:r>
              <a:rPr spc="-40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spc="-20" dirty="0"/>
              <a:t>thị)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6435" y="936706"/>
            <a:ext cx="7791733" cy="2138982"/>
          </a:xfrm>
          <a:prstGeom prst="rect">
            <a:avLst/>
          </a:prstGeom>
        </p:spPr>
        <p:txBody>
          <a:bodyPr vert="horz" wrap="square" lIns="0" tIns="89230" rIns="0" bIns="0" rtlCol="0">
            <a:spAutoFit/>
          </a:bodyPr>
          <a:lstStyle/>
          <a:p>
            <a:pPr marL="369025" indent="-343531" defTabSz="917783">
              <a:spcBef>
                <a:spcPts val="703"/>
              </a:spcBef>
              <a:buClr>
                <a:srgbClr val="65CCFF"/>
              </a:buClr>
              <a:buFont typeface="Wingdings"/>
              <a:buChar char=""/>
              <a:tabLst>
                <a:tab pos="369025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Định</a:t>
            </a:r>
            <a:r>
              <a:rPr sz="2810" kern="0" spc="-5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1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71193" marR="17846" lvl="1" indent="-318675" defTabSz="917783">
              <a:spcBef>
                <a:spcPts val="517"/>
              </a:spcBef>
              <a:buClr>
                <a:srgbClr val="1B9AD9"/>
              </a:buClr>
              <a:buFont typeface="Wingdings"/>
              <a:buChar char="■"/>
              <a:tabLst>
                <a:tab pos="771193" algn="l"/>
                <a:tab pos="16042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Đơn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(V,E)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{0,…,n-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1},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tập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	E</a:t>
            </a:r>
            <a:r>
              <a:rPr sz="2409" kern="0" spc="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{e</a:t>
            </a:r>
            <a:r>
              <a:rPr sz="2409" kern="0" spc="-15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0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,e</a:t>
            </a:r>
            <a:r>
              <a:rPr sz="2409" kern="0" spc="-15" baseline="-24305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,…e</a:t>
            </a:r>
            <a:r>
              <a:rPr sz="2409" kern="0" spc="-15" baseline="-24305" dirty="0">
                <a:solidFill>
                  <a:sysClr val="windowText" lastClr="000000"/>
                </a:solidFill>
                <a:latin typeface="Arial"/>
                <a:cs typeface="Arial"/>
              </a:rPr>
              <a:t>m-</a:t>
            </a:r>
            <a:r>
              <a:rPr sz="2409" kern="0" spc="-37" baseline="-24305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}.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70556" lvl="1" indent="-318675" defTabSz="917783">
              <a:spcBef>
                <a:spcPts val="567"/>
              </a:spcBef>
              <a:buClr>
                <a:srgbClr val="1B9AD9"/>
              </a:buClr>
              <a:buFont typeface="Wingdings"/>
              <a:buChar char="■"/>
              <a:tabLst>
                <a:tab pos="770556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Ta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gọi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ma</a:t>
            </a:r>
            <a:r>
              <a:rPr sz="2409" kern="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trận</a:t>
            </a:r>
            <a:r>
              <a:rPr sz="2409" kern="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kề</a:t>
            </a:r>
            <a:r>
              <a:rPr sz="2409" kern="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trọng</a:t>
            </a:r>
            <a:r>
              <a:rPr sz="2409" kern="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số</a:t>
            </a:r>
            <a:r>
              <a:rPr sz="2409" kern="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72723" lvl="2" indent="-229446" defTabSz="917783">
              <a:spcBef>
                <a:spcPts val="497"/>
              </a:spcBef>
              <a:buClr>
                <a:srgbClr val="1D528E"/>
              </a:buClr>
              <a:buFontTx/>
              <a:buChar char="•"/>
              <a:tabLst>
                <a:tab pos="1172723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A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{a</a:t>
            </a:r>
            <a:r>
              <a:rPr sz="1957" kern="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1957" kern="0" spc="-15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0,…,n-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1},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với: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04947" y="3502183"/>
            <a:ext cx="446789" cy="402812"/>
          </a:xfrm>
          <a:prstGeom prst="rect">
            <a:avLst/>
          </a:prstGeom>
        </p:spPr>
        <p:txBody>
          <a:bodyPr vert="horz" wrap="square" lIns="0" tIns="14022" rIns="0" bIns="0" rtlCol="0">
            <a:spAutoFit/>
          </a:bodyPr>
          <a:lstStyle/>
          <a:p>
            <a:pPr marL="38241" defTabSz="917783">
              <a:spcBef>
                <a:spcPts val="110"/>
              </a:spcBef>
            </a:pPr>
            <a:r>
              <a:rPr sz="2459" kern="0" dirty="0">
                <a:solidFill>
                  <a:sysClr val="windowText" lastClr="000000"/>
                </a:solidFill>
                <a:latin typeface="Symbol"/>
                <a:cs typeface="Symbol"/>
              </a:rPr>
              <a:t></a:t>
            </a:r>
            <a:r>
              <a:rPr sz="245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89" i="1" kern="0" spc="-75" baseline="-32879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</a:t>
            </a:r>
            <a:endParaRPr sz="3689" kern="0" baseline="-32879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30442" y="3768440"/>
            <a:ext cx="551954" cy="402812"/>
          </a:xfrm>
          <a:prstGeom prst="rect">
            <a:avLst/>
          </a:prstGeom>
        </p:spPr>
        <p:txBody>
          <a:bodyPr vert="horz" wrap="square" lIns="0" tIns="14022" rIns="0" bIns="0" rtlCol="0">
            <a:spAutoFit/>
          </a:bodyPr>
          <a:lstStyle/>
          <a:p>
            <a:pPr marL="12747" defTabSz="917783">
              <a:spcBef>
                <a:spcPts val="110"/>
              </a:spcBef>
              <a:tabLst>
                <a:tab pos="457617" algn="l"/>
              </a:tabLst>
            </a:pPr>
            <a:r>
              <a:rPr sz="2459" kern="0" spc="-50" dirty="0">
                <a:solidFill>
                  <a:sysClr val="windowText" lastClr="000000"/>
                </a:solidFill>
                <a:latin typeface="Symbol"/>
                <a:cs typeface="Symbol"/>
              </a:rPr>
              <a:t>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108" i="1" kern="0" spc="-75" baseline="1984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</a:t>
            </a:r>
            <a:endParaRPr sz="2108" kern="0" baseline="1984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33193" y="3214890"/>
            <a:ext cx="1028063" cy="402812"/>
          </a:xfrm>
          <a:prstGeom prst="rect">
            <a:avLst/>
          </a:prstGeom>
        </p:spPr>
        <p:txBody>
          <a:bodyPr vert="horz" wrap="square" lIns="0" tIns="14022" rIns="0" bIns="0" rtlCol="0">
            <a:spAutoFit/>
          </a:bodyPr>
          <a:lstStyle/>
          <a:p>
            <a:pPr marL="38241" defTabSz="917783">
              <a:spcBef>
                <a:spcPts val="110"/>
              </a:spcBef>
              <a:tabLst>
                <a:tab pos="409816" algn="l"/>
              </a:tabLst>
            </a:pPr>
            <a:r>
              <a:rPr sz="3689" kern="0" spc="-75" baseline="-41950" dirty="0">
                <a:solidFill>
                  <a:sysClr val="windowText" lastClr="000000"/>
                </a:solidFill>
                <a:latin typeface="Symbol"/>
                <a:cs typeface="Symbol"/>
              </a:rPr>
              <a:t></a:t>
            </a:r>
            <a:r>
              <a:rPr sz="3689" kern="0" baseline="-419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3689" kern="0" baseline="-3401" dirty="0">
                <a:solidFill>
                  <a:sysClr val="windowText" lastClr="000000"/>
                </a:solidFill>
                <a:latin typeface="Symbol"/>
                <a:cs typeface="Symbol"/>
              </a:rPr>
              <a:t></a:t>
            </a:r>
            <a:r>
              <a:rPr sz="3689" kern="0" spc="346" baseline="-340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</a:t>
            </a:r>
            <a:r>
              <a:rPr sz="2459" i="1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endParaRPr sz="245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8854" y="3120720"/>
            <a:ext cx="2249246" cy="967513"/>
          </a:xfrm>
          <a:prstGeom prst="rect">
            <a:avLst/>
          </a:prstGeom>
        </p:spPr>
        <p:txBody>
          <a:bodyPr vert="horz" wrap="square" lIns="0" tIns="108351" rIns="0" bIns="0" rtlCol="0">
            <a:spAutoFit/>
          </a:bodyPr>
          <a:lstStyle/>
          <a:p>
            <a:pPr marL="172084" defTabSz="917783">
              <a:spcBef>
                <a:spcPts val="853"/>
              </a:spcBef>
              <a:tabLst>
                <a:tab pos="648822" algn="l"/>
                <a:tab pos="1214151" algn="l"/>
                <a:tab pos="2003826" algn="l"/>
              </a:tabLst>
            </a:pPr>
            <a:r>
              <a:rPr sz="2459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if</a:t>
            </a:r>
            <a:r>
              <a:rPr sz="245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</a:t>
            </a:r>
            <a:r>
              <a:rPr sz="2459" kern="0" spc="-21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459" i="1" kern="0" spc="-18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45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r>
              <a:rPr sz="2459" i="1" kern="0" spc="-7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)</a:t>
            </a:r>
            <a:r>
              <a:rPr sz="2459" kern="0" spc="26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kern="0" spc="-50" dirty="0">
                <a:solidFill>
                  <a:sysClr val="windowText" lastClr="000000"/>
                </a:solidFill>
                <a:latin typeface="Symbol"/>
                <a:cs typeface="Symbol"/>
              </a:rPr>
              <a:t>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459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</a:t>
            </a:r>
            <a:endParaRPr sz="245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12747" defTabSz="917783">
              <a:spcBef>
                <a:spcPts val="758"/>
              </a:spcBef>
              <a:tabLst>
                <a:tab pos="310389" algn="l"/>
                <a:tab pos="689612" algn="l"/>
                <a:tab pos="1255579" algn="l"/>
                <a:tab pos="2043980" algn="l"/>
              </a:tabLst>
            </a:pPr>
            <a:r>
              <a:rPr sz="245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459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if</a:t>
            </a:r>
            <a:r>
              <a:rPr sz="245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</a:t>
            </a:r>
            <a:r>
              <a:rPr sz="2459" kern="0" spc="-20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459" i="1" kern="0" spc="-18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45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r>
              <a:rPr sz="2459" i="1" kern="0" spc="-7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)</a:t>
            </a:r>
            <a:r>
              <a:rPr sz="2459" kern="0" spc="26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kern="0" spc="-50" dirty="0">
                <a:solidFill>
                  <a:sysClr val="windowText" lastClr="000000"/>
                </a:solidFill>
                <a:latin typeface="Symbol"/>
                <a:cs typeface="Symbol"/>
              </a:rPr>
              <a:t>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459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</a:t>
            </a:r>
            <a:endParaRPr sz="245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2809" y="3448806"/>
            <a:ext cx="182922" cy="402812"/>
          </a:xfrm>
          <a:prstGeom prst="rect">
            <a:avLst/>
          </a:prstGeom>
        </p:spPr>
        <p:txBody>
          <a:bodyPr vert="horz" wrap="square" lIns="0" tIns="14022" rIns="0" bIns="0" rtlCol="0">
            <a:spAutoFit/>
          </a:bodyPr>
          <a:lstStyle/>
          <a:p>
            <a:pPr marL="12747" defTabSz="917783">
              <a:spcBef>
                <a:spcPts val="110"/>
              </a:spcBef>
            </a:pPr>
            <a:r>
              <a:rPr sz="2459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a</a:t>
            </a:r>
            <a:endParaRPr sz="245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78426" y="3657671"/>
            <a:ext cx="307845" cy="234393"/>
          </a:xfrm>
          <a:prstGeom prst="rect">
            <a:avLst/>
          </a:prstGeom>
        </p:spPr>
        <p:txBody>
          <a:bodyPr vert="horz" wrap="square" lIns="0" tIns="17209" rIns="0" bIns="0" rtlCol="0">
            <a:spAutoFit/>
          </a:bodyPr>
          <a:lstStyle/>
          <a:p>
            <a:pPr marL="12747" defTabSz="917783">
              <a:spcBef>
                <a:spcPts val="135"/>
              </a:spcBef>
            </a:pPr>
            <a:r>
              <a:rPr sz="1405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1405" i="1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405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1405" kern="0" spc="34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405" i="1" kern="0" spc="-6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endParaRPr sz="1405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90283" y="3276033"/>
            <a:ext cx="3441747" cy="586306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40154" rIns="0" bIns="0" rtlCol="0">
            <a:spAutoFit/>
          </a:bodyPr>
          <a:lstStyle/>
          <a:p>
            <a:pPr marL="96877" marR="257489" indent="-637" defTabSz="917783">
              <a:lnSpc>
                <a:spcPct val="101400"/>
              </a:lnSpc>
              <a:spcBef>
                <a:spcPts val="316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</a:t>
            </a:r>
            <a:r>
              <a:rPr sz="1807" kern="0" baseline="-23148" dirty="0">
                <a:solidFill>
                  <a:srgbClr val="1D528E"/>
                </a:solidFill>
                <a:latin typeface="Arial"/>
                <a:cs typeface="Arial"/>
              </a:rPr>
              <a:t>k</a:t>
            </a:r>
            <a:r>
              <a:rPr sz="1807" kern="0" spc="218" baseline="-23148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là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một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giá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trị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nào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đó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được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quy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định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trước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(0,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-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1,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Symbol"/>
                <a:cs typeface="Symbol"/>
              </a:rPr>
              <a:t>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-</a:t>
            </a:r>
            <a:r>
              <a:rPr sz="1807" kern="0" dirty="0">
                <a:solidFill>
                  <a:srgbClr val="1D528E"/>
                </a:solidFill>
                <a:latin typeface="Symbol"/>
                <a:cs typeface="Symbol"/>
              </a:rPr>
              <a:t>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..)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40707" y="4297340"/>
            <a:ext cx="2766145" cy="195478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93882" defTabSz="917783">
              <a:spcBef>
                <a:spcPts val="100"/>
              </a:spcBef>
              <a:tabLst>
                <a:tab pos="776292" algn="l"/>
                <a:tab pos="1222436" algn="l"/>
                <a:tab pos="1732316" algn="l"/>
                <a:tab pos="2178461" algn="l"/>
                <a:tab pos="2625243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7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5"/>
              </a:spcBef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5"/>
              </a:spcBef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7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66766" y="4576249"/>
            <a:ext cx="2592783" cy="1784610"/>
          </a:xfrm>
          <a:custGeom>
            <a:avLst/>
            <a:gdLst/>
            <a:ahLst/>
            <a:cxnLst/>
            <a:rect l="l" t="t" r="r" b="b"/>
            <a:pathLst>
              <a:path w="2583179" h="1778000">
                <a:moveTo>
                  <a:pt x="0" y="0"/>
                </a:moveTo>
                <a:lnTo>
                  <a:pt x="0" y="1777746"/>
                </a:lnTo>
                <a:lnTo>
                  <a:pt x="2583179" y="1777746"/>
                </a:lnTo>
                <a:lnTo>
                  <a:pt x="258317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1837" y="4193833"/>
            <a:ext cx="4053612" cy="237098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I.3.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5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0" dirty="0"/>
              <a:t>cạnh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8659" y="1005501"/>
            <a:ext cx="7932589" cy="2400056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98280" marR="293181" indent="-286170" algn="just" defTabSz="917783">
              <a:spcBef>
                <a:spcPts val="100"/>
              </a:spcBef>
              <a:buClr>
                <a:srgbClr val="1B9AD9"/>
              </a:buClr>
              <a:buFont typeface="Wingdings"/>
              <a:buChar char="■"/>
              <a:tabLst>
                <a:tab pos="298280" algn="l"/>
                <a:tab pos="438496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	Đối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thưa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đỉnh,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(m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&lt;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6n)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0" dirty="0">
                <a:solidFill>
                  <a:sysClr val="windowText" lastClr="000000"/>
                </a:solidFill>
                <a:latin typeface="Arial"/>
                <a:cs typeface="Arial"/>
              </a:rPr>
              <a:t>người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ta</a:t>
            </a:r>
            <a:r>
              <a:rPr sz="2409" kern="0" spc="-6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thường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dùng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biểu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diễn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để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tiết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kiệm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không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gian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lưu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trữ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39134" indent="-426387" algn="just" defTabSz="917783">
              <a:spcBef>
                <a:spcPts val="557"/>
              </a:spcBef>
              <a:buClr>
                <a:srgbClr val="1B9AD9"/>
              </a:buClr>
              <a:buFont typeface="Wingdings"/>
              <a:buChar char="■"/>
              <a:tabLst>
                <a:tab pos="439134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Lưu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e=(u,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v)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99554" marR="5099" indent="-287445" algn="just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299554" algn="l"/>
                <a:tab pos="438496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	Danh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thể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được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cài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đặt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bằng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mảng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chiều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291" dirty="0">
                <a:solidFill>
                  <a:sysClr val="windowText" lastClr="000000"/>
                </a:solidFill>
                <a:latin typeface="Arial"/>
                <a:cs typeface="Arial"/>
              </a:rPr>
              <a:t>hoặc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danh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sách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liên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rgbClr val="FF3300"/>
                </a:solidFill>
                <a:latin typeface="Arial"/>
                <a:cs typeface="Arial"/>
              </a:rPr>
              <a:t>kết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007426" y="3346144"/>
          <a:ext cx="2675640" cy="3197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Cạnh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Đầu</a:t>
                      </a: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Đầu</a:t>
                      </a: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8320" y="3429000"/>
            <a:ext cx="3824163" cy="305933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I.3.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5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0" dirty="0"/>
              <a:t>cạnh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6252" y="1390975"/>
            <a:ext cx="2766782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Cài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đặt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bằng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mảng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chiều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925225" y="2351861"/>
          <a:ext cx="2372256" cy="3427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0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9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94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Cạnh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335" marR="149225" indent="-1117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2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Đầu </a:t>
                      </a: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Đầu</a:t>
                      </a: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892751" y="3379548"/>
            <a:ext cx="3238429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Cài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đặt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bằng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danh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sách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liên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kết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2498" y="1899334"/>
            <a:ext cx="5267785" cy="9177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8542" y="3811415"/>
            <a:ext cx="5640640" cy="53538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92775" y="4616972"/>
            <a:ext cx="3455769" cy="1683269"/>
          </a:xfrm>
          <a:prstGeom prst="rect">
            <a:avLst/>
          </a:prstGeom>
        </p:spPr>
        <p:txBody>
          <a:bodyPr vert="horz" wrap="square" lIns="0" tIns="151692" rIns="0" bIns="0" rtlCol="0">
            <a:spAutoFit/>
          </a:bodyPr>
          <a:lstStyle/>
          <a:p>
            <a:pPr marL="12747" defTabSz="917783">
              <a:spcBef>
                <a:spcPts val="1194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typde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struct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tagNode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1099"/>
              </a:spcBef>
            </a:pP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30530" defTabSz="917783">
              <a:spcBef>
                <a:spcPts val="1089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int</a:t>
            </a:r>
            <a:r>
              <a:rPr sz="1807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diemdau1,</a:t>
            </a:r>
            <a:r>
              <a:rPr sz="1807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diemdau2;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1094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Canh;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I.4.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0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0" dirty="0"/>
              <a:t>cung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28117" y="1005500"/>
            <a:ext cx="7873953" cy="1125579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98280" marR="5099" indent="-293181" defTabSz="917783">
              <a:spcBef>
                <a:spcPts val="100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8280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trường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hợp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đồ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thị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có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hướng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thì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mỗi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phần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tử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của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(gọi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danh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sách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cung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)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cung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e=(u,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v).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đó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đỉnh</a:t>
            </a:r>
            <a:r>
              <a:rPr sz="2409" kern="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đầu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cuối</a:t>
            </a:r>
            <a:r>
              <a:rPr sz="2409" kern="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cung.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19077" y="3422627"/>
          <a:ext cx="4052338" cy="2007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1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5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Cạnh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Đầu</a:t>
                      </a: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Đầu</a:t>
                      </a: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(1,2)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(4,1)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(1,3)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(2,4)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(3,4)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058" y="2664167"/>
            <a:ext cx="4110975" cy="33652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I.4.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5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5" dirty="0"/>
              <a:t>kề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28118" y="1005501"/>
            <a:ext cx="7654063" cy="119887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98917" marR="5099" indent="-293181" defTabSz="917783">
              <a:spcBef>
                <a:spcPts val="100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8917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Tương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mỗi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tương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ứng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để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lưu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nó.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98917" indent="-293181" defTabSz="917783">
              <a:spcBef>
                <a:spcPts val="562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8917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sách: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mảng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chiều,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hoặc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kết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083909" y="2351861"/>
          <a:ext cx="2447465" cy="2718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2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5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Đỉnh</a:t>
                      </a:r>
                      <a:r>
                        <a:rPr sz="1900" spc="-1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á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spc="-2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cạnh</a:t>
                      </a:r>
                      <a:r>
                        <a:rPr sz="1900" spc="-2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kề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099" y="2511201"/>
            <a:ext cx="3154934" cy="260043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51634" y="5368105"/>
            <a:ext cx="5944025" cy="943294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Cài</a:t>
            </a:r>
            <a:r>
              <a:rPr sz="2007" kern="0" spc="-3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đặt</a:t>
            </a:r>
            <a:r>
              <a:rPr sz="2007" kern="0" spc="-4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bằng</a:t>
            </a:r>
            <a:r>
              <a:rPr sz="2007" kern="0" spc="-4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10" dirty="0">
                <a:solidFill>
                  <a:srgbClr val="1D528E"/>
                </a:solidFill>
                <a:latin typeface="Arial"/>
                <a:cs typeface="Arial"/>
              </a:rPr>
              <a:t>mảng: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/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Ke[]</a:t>
            </a:r>
            <a:r>
              <a:rPr sz="2007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r>
              <a:rPr sz="2007" b="1" kern="0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2007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1,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rgbClr val="FF3300"/>
                </a:solidFill>
                <a:latin typeface="Arial"/>
                <a:cs typeface="Arial"/>
              </a:rPr>
              <a:t>2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2007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20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5,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1,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5,</a:t>
            </a:r>
            <a:r>
              <a:rPr sz="2007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rgbClr val="FF3300"/>
                </a:solidFill>
                <a:latin typeface="Arial"/>
                <a:cs typeface="Arial"/>
              </a:rPr>
              <a:t>3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2007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3384" defTabSz="917783"/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ViTri[]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{0,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6,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9,</a:t>
            </a:r>
            <a:r>
              <a:rPr sz="2007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12,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rgbClr val="1D528E"/>
                </a:solidFill>
                <a:latin typeface="Arial"/>
                <a:cs typeface="Arial"/>
              </a:rPr>
              <a:t>16}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I.4.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5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5" dirty="0"/>
              <a:t>kề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28117" y="1005500"/>
            <a:ext cx="5009654" cy="392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98917" indent="-293181" defTabSz="917783">
              <a:spcBef>
                <a:spcPts val="100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8917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Cài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đặt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bằng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kết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389842" y="1739994"/>
          <a:ext cx="2447465" cy="3377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2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5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Đỉnh</a:t>
                      </a:r>
                      <a:r>
                        <a:rPr sz="1900" spc="-1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á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spc="-2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cạnh</a:t>
                      </a:r>
                      <a:r>
                        <a:rPr sz="1900" spc="-2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kề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7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4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5024" y="1899335"/>
            <a:ext cx="5105258" cy="34417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I.4.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5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5" dirty="0"/>
              <a:t>kề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5700" y="1081983"/>
            <a:ext cx="6096991" cy="392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98917" indent="-293181" defTabSz="917783">
              <a:spcBef>
                <a:spcPts val="100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8917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Thuật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toán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xây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dựng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kết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2387" y="1975819"/>
            <a:ext cx="6730528" cy="2583222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3978" rIns="0" bIns="0" rtlCol="0">
            <a:spAutoFit/>
          </a:bodyPr>
          <a:lstStyle/>
          <a:p>
            <a:pPr marL="96877" marR="4304659" defTabSz="917783">
              <a:spcBef>
                <a:spcPts val="346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#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include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&lt;iostream.h&gt;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#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include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&lt;stdlib.h&gt;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const</a:t>
            </a:r>
            <a:r>
              <a:rPr sz="1807" kern="0" spc="477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maxV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99;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typedef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struct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Node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spcBef>
                <a:spcPts val="1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int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v;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/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struct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Node*next;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0612" defTabSz="917783">
              <a:spcBef>
                <a:spcPts val="10"/>
              </a:spcBef>
            </a:pP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}node;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marR="4534742" defTabSz="917783"/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int</a:t>
            </a:r>
            <a:r>
              <a:rPr sz="1807" kern="0" spc="482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j,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x,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y,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m,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n,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v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;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node</a:t>
            </a:r>
            <a:r>
              <a:rPr sz="1807" kern="0" spc="467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*p,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*ke[maxV];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I.4.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5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5" dirty="0"/>
              <a:t>kề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5700" y="916014"/>
            <a:ext cx="6096991" cy="392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98917" indent="-293181" defTabSz="917783">
              <a:spcBef>
                <a:spcPts val="100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8917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Thuật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toán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xây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dựng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kết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1502" y="1359362"/>
            <a:ext cx="6730528" cy="5009654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5890" rIns="0" bIns="0" rtlCol="0">
            <a:spAutoFit/>
          </a:bodyPr>
          <a:lstStyle/>
          <a:p>
            <a:pPr marL="96877" defTabSz="917783">
              <a:spcBef>
                <a:spcPts val="361"/>
              </a:spcBef>
            </a:pP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int</a:t>
            </a:r>
            <a:r>
              <a:rPr sz="1606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main(int</a:t>
            </a:r>
            <a:r>
              <a:rPr sz="1606" kern="0" spc="-3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argc,</a:t>
            </a:r>
            <a:r>
              <a:rPr sz="1606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char*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argv[])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>
              <a:spcBef>
                <a:spcPts val="5"/>
              </a:spcBef>
            </a:pPr>
            <a:r>
              <a:rPr sz="1606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marR="1697898" defTabSz="917783">
              <a:spcBef>
                <a:spcPts val="5"/>
              </a:spcBef>
            </a:pP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cout&lt;&lt;"Cho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so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canh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va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so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dinh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cua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do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thi: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"; 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cin&gt;&gt;m&gt;&gt;n;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spcBef>
                <a:spcPts val="15"/>
              </a:spcBef>
            </a:pP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for(j=0;j&lt;n;j++)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32444" defTabSz="917783"/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ke[j]=NULL;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spcBef>
                <a:spcPts val="5"/>
              </a:spcBef>
            </a:pP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for(j=1;j&lt;=m;j++)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spcBef>
                <a:spcPts val="5"/>
              </a:spcBef>
            </a:pPr>
            <a:r>
              <a:rPr sz="1606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32444" marR="159975" defTabSz="917783">
              <a:spcBef>
                <a:spcPts val="5"/>
              </a:spcBef>
            </a:pP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cout&lt;&lt;"Cho</a:t>
            </a:r>
            <a:r>
              <a:rPr sz="1606" kern="0" spc="-3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dinh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dau,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dinh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cuoi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cua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canh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"&lt;&lt;j&lt;&lt;":"; cin&gt;&gt;x&gt;&gt;y;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32444" marR="1869982" defTabSz="917783">
              <a:spcBef>
                <a:spcPts val="10"/>
              </a:spcBef>
            </a:pP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p</a:t>
            </a:r>
            <a:r>
              <a:rPr sz="1606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= 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(node*)malloc(sizeof(node)); p-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&gt;v</a:t>
            </a:r>
            <a:r>
              <a:rPr sz="1606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x;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32444" marR="3379227" defTabSz="917783">
              <a:spcBef>
                <a:spcPts val="5"/>
              </a:spcBef>
            </a:pP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p-&gt;next</a:t>
            </a:r>
            <a:r>
              <a:rPr sz="1606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606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ke[y]; ke[y]=p;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32444" marR="1869982" defTabSz="917783">
              <a:spcBef>
                <a:spcPts val="10"/>
              </a:spcBef>
            </a:pP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p</a:t>
            </a:r>
            <a:r>
              <a:rPr sz="1606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= 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(node*)malloc(sizeof(node)); p-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&gt;v</a:t>
            </a:r>
            <a:r>
              <a:rPr sz="1606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y;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32444" marR="3379227" defTabSz="917783">
              <a:spcBef>
                <a:spcPts val="10"/>
              </a:spcBef>
            </a:pP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p-&gt;next</a:t>
            </a:r>
            <a:r>
              <a:rPr sz="1606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606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ke[x]; ke[x]=p;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spcBef>
                <a:spcPts val="5"/>
              </a:spcBef>
            </a:pPr>
            <a:r>
              <a:rPr sz="1606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>
              <a:spcBef>
                <a:spcPts val="10"/>
              </a:spcBef>
            </a:pPr>
            <a:r>
              <a:rPr sz="1606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6014" y="1363952"/>
            <a:ext cx="1749554" cy="489492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I.4.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5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5" dirty="0"/>
              <a:t>kề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5700" y="916014"/>
            <a:ext cx="1026788" cy="392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98917" indent="-293181" defTabSz="917783">
              <a:spcBef>
                <a:spcPts val="100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8917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Ví</a:t>
            </a:r>
            <a:r>
              <a:rPr sz="2409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dụ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619292" y="1587028"/>
          <a:ext cx="2447465" cy="3377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2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5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Đỉnh</a:t>
                      </a:r>
                      <a:r>
                        <a:rPr sz="1900" spc="-1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á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spc="-2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cạnh</a:t>
                      </a:r>
                      <a:r>
                        <a:rPr sz="1900" spc="-2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kề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7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4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731673" y="1359171"/>
            <a:ext cx="5516356" cy="4980973"/>
            <a:chOff x="211137" y="1354137"/>
            <a:chExt cx="5495925" cy="4962525"/>
          </a:xfrm>
        </p:grpSpPr>
        <p:sp>
          <p:nvSpPr>
            <p:cNvPr id="6" name="object 6"/>
            <p:cNvSpPr/>
            <p:nvPr/>
          </p:nvSpPr>
          <p:spPr>
            <a:xfrm>
              <a:off x="215900" y="1358900"/>
              <a:ext cx="5486400" cy="4953000"/>
            </a:xfrm>
            <a:custGeom>
              <a:avLst/>
              <a:gdLst/>
              <a:ahLst/>
              <a:cxnLst/>
              <a:rect l="l" t="t" r="r" b="b"/>
              <a:pathLst>
                <a:path w="5486400" h="4953000">
                  <a:moveTo>
                    <a:pt x="0" y="0"/>
                  </a:moveTo>
                  <a:lnTo>
                    <a:pt x="0" y="4953000"/>
                  </a:lnTo>
                  <a:lnTo>
                    <a:pt x="5486400" y="4953000"/>
                  </a:lnTo>
                  <a:lnTo>
                    <a:pt x="5486400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075" y="1435099"/>
              <a:ext cx="4962525" cy="480974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I.5.</a:t>
            </a:r>
            <a:r>
              <a:rPr spc="-40" dirty="0"/>
              <a:t> </a:t>
            </a:r>
            <a:r>
              <a:rPr dirty="0"/>
              <a:t>Ma</a:t>
            </a:r>
            <a:r>
              <a:rPr spc="-35" dirty="0"/>
              <a:t> </a:t>
            </a:r>
            <a:r>
              <a:rPr dirty="0"/>
              <a:t>trận</a:t>
            </a:r>
            <a:r>
              <a:rPr spc="-25" dirty="0"/>
              <a:t> </a:t>
            </a:r>
            <a:r>
              <a:rPr dirty="0"/>
              <a:t>liên</a:t>
            </a:r>
            <a:r>
              <a:rPr spc="-30" dirty="0"/>
              <a:t> </a:t>
            </a:r>
            <a:r>
              <a:rPr dirty="0"/>
              <a:t>thuộc</a:t>
            </a:r>
            <a:r>
              <a:rPr spc="-25" dirty="0"/>
              <a:t> </a:t>
            </a:r>
            <a:r>
              <a:rPr dirty="0"/>
              <a:t>(đồ</a:t>
            </a:r>
            <a:r>
              <a:rPr spc="-30" dirty="0"/>
              <a:t> </a:t>
            </a:r>
            <a:r>
              <a:rPr dirty="0"/>
              <a:t>thị</a:t>
            </a:r>
            <a:r>
              <a:rPr spc="-35" dirty="0"/>
              <a:t> </a:t>
            </a:r>
            <a:r>
              <a:rPr dirty="0"/>
              <a:t>vô</a:t>
            </a:r>
            <a:r>
              <a:rPr spc="-30" dirty="0"/>
              <a:t> </a:t>
            </a:r>
            <a:r>
              <a:rPr spc="-10" dirty="0"/>
              <a:t>hướng)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43660" y="936707"/>
            <a:ext cx="8217490" cy="2830358"/>
          </a:xfrm>
          <a:prstGeom prst="rect">
            <a:avLst/>
          </a:prstGeom>
        </p:spPr>
        <p:txBody>
          <a:bodyPr vert="horz" wrap="square" lIns="0" tIns="89230" rIns="0" bIns="0" rtlCol="0">
            <a:spAutoFit/>
          </a:bodyPr>
          <a:lstStyle/>
          <a:p>
            <a:pPr marL="381772" indent="-343531" defTabSz="917783">
              <a:spcBef>
                <a:spcPts val="703"/>
              </a:spcBef>
              <a:buClr>
                <a:srgbClr val="65CCFF"/>
              </a:buClr>
              <a:buFont typeface="Wingdings"/>
              <a:buChar char=""/>
              <a:tabLst>
                <a:tab pos="381772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Định</a:t>
            </a:r>
            <a:r>
              <a:rPr sz="2810" kern="0" spc="-5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1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83303" lvl="1" indent="-318675" defTabSz="917783">
              <a:lnSpc>
                <a:spcPts val="2886"/>
              </a:lnSpc>
              <a:spcBef>
                <a:spcPts val="517"/>
              </a:spcBef>
              <a:buClr>
                <a:srgbClr val="1B9AD9"/>
              </a:buClr>
              <a:buFont typeface="Wingdings"/>
              <a:buChar char="■"/>
              <a:tabLst>
                <a:tab pos="783303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vô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hướng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G=(V,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E).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V={0,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1,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2,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…,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n-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83303" marR="30593" lvl="2" indent="-1912" defTabSz="917783">
              <a:lnSpc>
                <a:spcPts val="2881"/>
              </a:lnSpc>
              <a:spcBef>
                <a:spcPts val="100"/>
              </a:spcBef>
              <a:buSzPct val="95833"/>
              <a:buFontTx/>
              <a:buAutoNum type="arabicParenR"/>
              <a:tabLst>
                <a:tab pos="105353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	}.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E={e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…,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e</a:t>
            </a:r>
            <a:r>
              <a:rPr sz="2409" kern="0" spc="-37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m-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316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}.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Ta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gọi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ma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trận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liên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thuộc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B</a:t>
            </a:r>
            <a:r>
              <a:rPr sz="2409" kern="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2409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{b</a:t>
            </a:r>
            <a:r>
              <a:rPr sz="2409" kern="0" baseline="-20833" dirty="0">
                <a:solidFill>
                  <a:srgbClr val="FF3300"/>
                </a:solidFill>
                <a:latin typeface="Arial"/>
                <a:cs typeface="Arial"/>
              </a:rPr>
              <a:t>i,</a:t>
            </a:r>
            <a:r>
              <a:rPr sz="2409" kern="0" spc="-7" baseline="-20833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baseline="-20833" dirty="0">
                <a:solidFill>
                  <a:srgbClr val="FF3300"/>
                </a:solidFill>
                <a:latin typeface="Arial"/>
                <a:cs typeface="Arial"/>
              </a:rPr>
              <a:t>j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,</a:t>
            </a:r>
            <a:r>
              <a:rPr sz="2409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i</a:t>
            </a:r>
            <a:r>
              <a:rPr sz="2409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2409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rgbClr val="FF3300"/>
                </a:solidFill>
                <a:latin typeface="Arial"/>
                <a:cs typeface="Arial"/>
              </a:rPr>
              <a:t>0,..,n-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1,</a:t>
            </a:r>
            <a:r>
              <a:rPr sz="2409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j</a:t>
            </a:r>
            <a:r>
              <a:rPr sz="2409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2409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0,</a:t>
            </a:r>
            <a:r>
              <a:rPr sz="2409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..</a:t>
            </a:r>
            <a:r>
              <a:rPr sz="2409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rgbClr val="FF3300"/>
                </a:solidFill>
                <a:latin typeface="Arial"/>
                <a:cs typeface="Arial"/>
              </a:rPr>
              <a:t>m-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}.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Trong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đó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85470" lvl="3" indent="-229446" defTabSz="917783">
              <a:spcBef>
                <a:spcPts val="417"/>
              </a:spcBef>
              <a:buClr>
                <a:srgbClr val="1D528E"/>
              </a:buClr>
              <a:buFontTx/>
              <a:buChar char="•"/>
              <a:tabLst>
                <a:tab pos="1185470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b</a:t>
            </a:r>
            <a:r>
              <a:rPr sz="1957" kern="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1957" kern="0" spc="241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nếu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j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84833" lvl="3" indent="-229446" defTabSz="917783">
              <a:spcBef>
                <a:spcPts val="477"/>
              </a:spcBef>
              <a:buClr>
                <a:srgbClr val="1D528E"/>
              </a:buClr>
              <a:buFontTx/>
              <a:buChar char="•"/>
              <a:tabLst>
                <a:tab pos="1184833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b</a:t>
            </a:r>
            <a:r>
              <a:rPr sz="1957" kern="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i,</a:t>
            </a:r>
            <a:r>
              <a:rPr sz="1957" kern="0" spc="-3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957" kern="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j</a:t>
            </a:r>
            <a:r>
              <a:rPr sz="1957" kern="0" spc="-37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0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nếu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không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j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1933" y="2281751"/>
            <a:ext cx="917799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9525">
            <a:solidFill>
              <a:srgbClr val="1D528D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08082" y="2281751"/>
            <a:ext cx="994283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1D528D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089627" y="4110976"/>
          <a:ext cx="4058075" cy="21377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2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3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1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2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3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88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1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1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4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1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058" y="3811416"/>
            <a:ext cx="3499109" cy="260043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I.5.</a:t>
            </a:r>
            <a:r>
              <a:rPr spc="-40" dirty="0"/>
              <a:t> </a:t>
            </a:r>
            <a:r>
              <a:rPr dirty="0"/>
              <a:t>Ma</a:t>
            </a:r>
            <a:r>
              <a:rPr spc="-35" dirty="0"/>
              <a:t> </a:t>
            </a:r>
            <a:r>
              <a:rPr dirty="0"/>
              <a:t>trận</a:t>
            </a:r>
            <a:r>
              <a:rPr spc="-25" dirty="0"/>
              <a:t> </a:t>
            </a:r>
            <a:r>
              <a:rPr dirty="0"/>
              <a:t>liên</a:t>
            </a:r>
            <a:r>
              <a:rPr spc="-30" dirty="0"/>
              <a:t> </a:t>
            </a:r>
            <a:r>
              <a:rPr dirty="0"/>
              <a:t>thuộc</a:t>
            </a:r>
            <a:r>
              <a:rPr spc="-25" dirty="0"/>
              <a:t> </a:t>
            </a:r>
            <a:r>
              <a:rPr dirty="0"/>
              <a:t>(đồ</a:t>
            </a:r>
            <a:r>
              <a:rPr spc="-30" dirty="0"/>
              <a:t> </a:t>
            </a:r>
            <a:r>
              <a:rPr dirty="0"/>
              <a:t>thị</a:t>
            </a:r>
            <a:r>
              <a:rPr spc="-35" dirty="0"/>
              <a:t> </a:t>
            </a:r>
            <a:r>
              <a:rPr dirty="0"/>
              <a:t>vô</a:t>
            </a:r>
            <a:r>
              <a:rPr spc="-30" dirty="0"/>
              <a:t> </a:t>
            </a:r>
            <a:r>
              <a:rPr spc="-10" dirty="0"/>
              <a:t>hướng)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154" y="934199"/>
            <a:ext cx="7959996" cy="1933751"/>
          </a:xfrm>
          <a:prstGeom prst="rect">
            <a:avLst/>
          </a:prstGeom>
        </p:spPr>
        <p:txBody>
          <a:bodyPr vert="horz" wrap="square" lIns="0" tIns="91780" rIns="0" bIns="0" rtlCol="0">
            <a:spAutoFit/>
          </a:bodyPr>
          <a:lstStyle/>
          <a:p>
            <a:pPr marL="356278" indent="-343531" defTabSz="917783">
              <a:spcBef>
                <a:spcPts val="723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Tính</a:t>
            </a:r>
            <a:r>
              <a:rPr sz="2810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chất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286170" defTabSz="917783">
              <a:spcBef>
                <a:spcPts val="44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Mỗi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cột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chứa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đúng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hai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số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chỉ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hai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2007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tương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9083" defTabSz="917783"/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cột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đó.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Cột</a:t>
            </a:r>
            <a:r>
              <a:rPr sz="2007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khuyên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chứa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đúng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số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1.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8446" lvl="1" indent="-286807" defTabSz="917783">
              <a:spcBef>
                <a:spcPts val="477"/>
              </a:spcBef>
              <a:buClr>
                <a:srgbClr val="1B9AD9"/>
              </a:buClr>
              <a:buFont typeface="Wingdings"/>
              <a:buChar char="■"/>
              <a:tabLst>
                <a:tab pos="758446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cột</a:t>
            </a:r>
            <a:r>
              <a:rPr sz="2007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007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lặp</a:t>
            </a:r>
            <a:r>
              <a:rPr sz="2007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thì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giống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nhau.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8446" lvl="1" indent="-286807" defTabSz="917783">
              <a:spcBef>
                <a:spcPts val="477"/>
              </a:spcBef>
              <a:buClr>
                <a:srgbClr val="1B9AD9"/>
              </a:buClr>
              <a:buFont typeface="Wingdings"/>
              <a:buChar char="■"/>
              <a:tabLst>
                <a:tab pos="758446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Nếu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không</a:t>
            </a:r>
            <a:r>
              <a:rPr sz="2007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khuyên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thì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tổng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hàng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bậc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.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1508" y="3505483"/>
            <a:ext cx="3499109" cy="2600431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089626" y="4034493"/>
          <a:ext cx="4058075" cy="21377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2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3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1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2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3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88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1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1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4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1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I.5.</a:t>
            </a:r>
            <a:r>
              <a:rPr spc="-40" dirty="0"/>
              <a:t> </a:t>
            </a:r>
            <a:r>
              <a:rPr dirty="0"/>
              <a:t>Ma</a:t>
            </a:r>
            <a:r>
              <a:rPr spc="-35" dirty="0"/>
              <a:t> </a:t>
            </a:r>
            <a:r>
              <a:rPr dirty="0"/>
              <a:t>trận</a:t>
            </a:r>
            <a:r>
              <a:rPr spc="-25" dirty="0"/>
              <a:t> </a:t>
            </a:r>
            <a:r>
              <a:rPr dirty="0"/>
              <a:t>liên</a:t>
            </a:r>
            <a:r>
              <a:rPr spc="-30" dirty="0"/>
              <a:t> </a:t>
            </a:r>
            <a:r>
              <a:rPr dirty="0"/>
              <a:t>thuộc</a:t>
            </a:r>
            <a:r>
              <a:rPr spc="-30" dirty="0"/>
              <a:t> </a:t>
            </a:r>
            <a:r>
              <a:rPr dirty="0"/>
              <a:t>(đồ</a:t>
            </a:r>
            <a:r>
              <a:rPr spc="-25" dirty="0"/>
              <a:t> </a:t>
            </a:r>
            <a:r>
              <a:rPr dirty="0"/>
              <a:t>thị</a:t>
            </a:r>
            <a:r>
              <a:rPr spc="-40" dirty="0"/>
              <a:t> </a:t>
            </a:r>
            <a:r>
              <a:rPr dirty="0"/>
              <a:t>có</a:t>
            </a:r>
            <a:r>
              <a:rPr spc="-35" dirty="0"/>
              <a:t> </a:t>
            </a:r>
            <a:r>
              <a:rPr spc="-10" dirty="0"/>
              <a:t>hướng)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61306" y="947765"/>
            <a:ext cx="8836367" cy="2731728"/>
          </a:xfrm>
          <a:prstGeom prst="rect">
            <a:avLst/>
          </a:prstGeom>
        </p:spPr>
        <p:txBody>
          <a:bodyPr vert="horz" wrap="square" lIns="0" tIns="78395" rIns="0" bIns="0" rtlCol="0">
            <a:spAutoFit/>
          </a:bodyPr>
          <a:lstStyle/>
          <a:p>
            <a:pPr marL="381772" indent="-343531" defTabSz="917783">
              <a:spcBef>
                <a:spcPts val="617"/>
              </a:spcBef>
              <a:buClr>
                <a:srgbClr val="65CCFF"/>
              </a:buClr>
              <a:buFont typeface="Wingdings"/>
              <a:buChar char=""/>
              <a:tabLst>
                <a:tab pos="381772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Định</a:t>
            </a:r>
            <a:r>
              <a:rPr sz="2409" kern="0" spc="-4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83303" marR="30593" lvl="1" indent="-286807" defTabSz="917783">
              <a:spcBef>
                <a:spcPts val="432"/>
              </a:spcBef>
              <a:buClr>
                <a:srgbClr val="1B9AD9"/>
              </a:buClr>
              <a:buFont typeface="Wingdings"/>
              <a:buChar char="■"/>
              <a:tabLst>
                <a:tab pos="783303" algn="l"/>
              </a:tabLst>
            </a:pP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Đơn</a:t>
            </a:r>
            <a:r>
              <a:rPr sz="2007" kern="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có</a:t>
            </a:r>
            <a:r>
              <a:rPr sz="2007" kern="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hướng</a:t>
            </a:r>
            <a:r>
              <a:rPr sz="2007" kern="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G=(V,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E).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V={0,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1,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2,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…,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n-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1)}.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cung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E={e</a:t>
            </a:r>
            <a:r>
              <a:rPr sz="1957" kern="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e</a:t>
            </a:r>
            <a:r>
              <a:rPr sz="1957" kern="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…,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e</a:t>
            </a:r>
            <a:r>
              <a:rPr sz="1957" kern="0" spc="-15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m-</a:t>
            </a:r>
            <a:r>
              <a:rPr sz="1957" kern="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1957" kern="0" spc="278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}.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83940" marR="453154" indent="-637" defTabSz="917783"/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Ta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gọi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ma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trận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thuộc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B</a:t>
            </a:r>
            <a:r>
              <a:rPr sz="2007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2007" kern="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{b</a:t>
            </a:r>
            <a:r>
              <a:rPr sz="1957" kern="0" baseline="-21367" dirty="0">
                <a:solidFill>
                  <a:srgbClr val="FF3300"/>
                </a:solidFill>
                <a:latin typeface="Arial"/>
                <a:cs typeface="Arial"/>
              </a:rPr>
              <a:t>i,</a:t>
            </a:r>
            <a:r>
              <a:rPr sz="1957" kern="0" spc="-22" baseline="-21367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57" kern="0" baseline="-21367" dirty="0">
                <a:solidFill>
                  <a:srgbClr val="FF3300"/>
                </a:solidFill>
                <a:latin typeface="Arial"/>
                <a:cs typeface="Arial"/>
              </a:rPr>
              <a:t>j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,</a:t>
            </a:r>
            <a:r>
              <a:rPr sz="2007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i</a:t>
            </a:r>
            <a:r>
              <a:rPr sz="2007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2007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spc="-10" dirty="0">
                <a:solidFill>
                  <a:srgbClr val="FF3300"/>
                </a:solidFill>
                <a:latin typeface="Arial"/>
                <a:cs typeface="Arial"/>
              </a:rPr>
              <a:t>0,..,n-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1,</a:t>
            </a:r>
            <a:r>
              <a:rPr sz="2007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j</a:t>
            </a:r>
            <a:r>
              <a:rPr sz="2007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2007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0,</a:t>
            </a:r>
            <a:r>
              <a:rPr sz="2007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..</a:t>
            </a:r>
            <a:r>
              <a:rPr sz="2007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spc="-10" dirty="0">
                <a:solidFill>
                  <a:srgbClr val="FF3300"/>
                </a:solidFill>
                <a:latin typeface="Arial"/>
                <a:cs typeface="Arial"/>
              </a:rPr>
              <a:t>m-</a:t>
            </a:r>
            <a:r>
              <a:rPr sz="2007" kern="0" spc="-25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}.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2007" kern="0" spc="-7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đó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84833" lvl="2" indent="-228808" defTabSz="917783">
              <a:spcBef>
                <a:spcPts val="436"/>
              </a:spcBef>
              <a:buClr>
                <a:srgbClr val="1D528E"/>
              </a:buClr>
              <a:buFontTx/>
              <a:buChar char="•"/>
              <a:tabLst>
                <a:tab pos="1184833" algn="l"/>
              </a:tabLst>
            </a:pP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b</a:t>
            </a:r>
            <a:r>
              <a:rPr sz="1807" kern="0" baseline="-23148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1807" kern="0" spc="248" baseline="-23148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nếu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cung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j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85470" lvl="2" indent="-229446" defTabSz="917783">
              <a:spcBef>
                <a:spcPts val="442"/>
              </a:spcBef>
              <a:buClr>
                <a:srgbClr val="1D528E"/>
              </a:buClr>
              <a:buFontTx/>
              <a:buChar char="•"/>
              <a:tabLst>
                <a:tab pos="1185470" algn="l"/>
              </a:tabLst>
            </a:pP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b</a:t>
            </a:r>
            <a:r>
              <a:rPr sz="1807" kern="0" baseline="-23148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1807" kern="0" spc="248" baseline="-23148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-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nếu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cuối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cung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j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85470" lvl="2" indent="-229446" defTabSz="917783">
              <a:spcBef>
                <a:spcPts val="447"/>
              </a:spcBef>
              <a:buClr>
                <a:srgbClr val="1D528E"/>
              </a:buClr>
              <a:buFontTx/>
              <a:buChar char="•"/>
              <a:tabLst>
                <a:tab pos="1185470" algn="l"/>
              </a:tabLst>
            </a:pP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b</a:t>
            </a:r>
            <a:r>
              <a:rPr sz="1807" kern="0" baseline="-23148" dirty="0">
                <a:solidFill>
                  <a:sysClr val="windowText" lastClr="000000"/>
                </a:solidFill>
                <a:latin typeface="Arial"/>
                <a:cs typeface="Arial"/>
              </a:rPr>
              <a:t>i, j</a:t>
            </a:r>
            <a:r>
              <a:rPr sz="1807" kern="0" spc="-7" baseline="-23148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0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nếu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không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mút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cung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j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013143" y="4263943"/>
          <a:ext cx="4434114" cy="199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2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2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2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3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b="1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(1,2)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b="1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(4,1)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b="1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(1,3)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700" b="1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(3,4)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b="1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(2,4)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0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7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549182" y="2052301"/>
            <a:ext cx="917799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9525">
            <a:solidFill>
              <a:srgbClr val="1D528D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772914" y="2052301"/>
            <a:ext cx="994283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1D528D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4711" y="3811416"/>
            <a:ext cx="3517014" cy="25576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1"/>
            <a:ext cx="10830883" cy="50836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>
              <a:spcBef>
                <a:spcPts val="95"/>
              </a:spcBef>
            </a:pPr>
            <a:r>
              <a:rPr sz="3212" dirty="0"/>
              <a:t>I.</a:t>
            </a:r>
            <a:r>
              <a:rPr sz="3212" spc="-45" dirty="0"/>
              <a:t> </a:t>
            </a:r>
            <a:r>
              <a:rPr sz="3212" dirty="0"/>
              <a:t>Các</a:t>
            </a:r>
            <a:r>
              <a:rPr sz="3212" spc="-45" dirty="0"/>
              <a:t> </a:t>
            </a:r>
            <a:r>
              <a:rPr sz="3212" dirty="0"/>
              <a:t>cách</a:t>
            </a:r>
            <a:r>
              <a:rPr sz="3212" spc="-45" dirty="0"/>
              <a:t> </a:t>
            </a:r>
            <a:r>
              <a:rPr sz="3212" dirty="0"/>
              <a:t>biểu</a:t>
            </a:r>
            <a:r>
              <a:rPr sz="3212" spc="-40" dirty="0"/>
              <a:t> </a:t>
            </a:r>
            <a:r>
              <a:rPr sz="3212" dirty="0"/>
              <a:t>diễn</a:t>
            </a:r>
            <a:r>
              <a:rPr sz="3212" spc="-45" dirty="0"/>
              <a:t> </a:t>
            </a:r>
            <a:r>
              <a:rPr sz="3212" dirty="0"/>
              <a:t>đồ</a:t>
            </a:r>
            <a:r>
              <a:rPr sz="3212" spc="-45" dirty="0"/>
              <a:t> </a:t>
            </a:r>
            <a:r>
              <a:rPr sz="3212" spc="-25" dirty="0"/>
              <a:t>thị</a:t>
            </a:r>
            <a:endParaRPr sz="3212"/>
          </a:p>
        </p:txBody>
      </p:sp>
      <p:sp>
        <p:nvSpPr>
          <p:cNvPr id="3" name="object 3"/>
          <p:cNvSpPr txBox="1"/>
          <p:nvPr/>
        </p:nvSpPr>
        <p:spPr>
          <a:xfrm>
            <a:off x="9510467" y="6443459"/>
            <a:ext cx="207780" cy="167976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004" b="1" kern="0" spc="-25" dirty="0">
                <a:solidFill>
                  <a:srgbClr val="1D528E"/>
                </a:solidFill>
                <a:latin typeface="Verdana"/>
                <a:cs typeface="Verdana"/>
              </a:rPr>
              <a:t>20</a:t>
            </a:r>
            <a:endParaRPr sz="1004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14972" y="2468178"/>
            <a:ext cx="4946556" cy="2420696"/>
            <a:chOff x="-4762" y="2459037"/>
            <a:chExt cx="4928235" cy="2411730"/>
          </a:xfrm>
        </p:grpSpPr>
        <p:sp>
          <p:nvSpPr>
            <p:cNvPr id="5" name="object 5"/>
            <p:cNvSpPr/>
            <p:nvPr/>
          </p:nvSpPr>
          <p:spPr>
            <a:xfrm>
              <a:off x="2452370" y="2963672"/>
              <a:ext cx="291465" cy="1892935"/>
            </a:xfrm>
            <a:custGeom>
              <a:avLst/>
              <a:gdLst/>
              <a:ahLst/>
              <a:cxnLst/>
              <a:rect l="l" t="t" r="r" b="b"/>
              <a:pathLst>
                <a:path w="291464" h="1892935">
                  <a:moveTo>
                    <a:pt x="291084" y="1892807"/>
                  </a:moveTo>
                  <a:lnTo>
                    <a:pt x="0" y="1892807"/>
                  </a:lnTo>
                  <a:lnTo>
                    <a:pt x="0" y="0"/>
                  </a:lnTo>
                </a:path>
                <a:path w="291464" h="1892935">
                  <a:moveTo>
                    <a:pt x="291084" y="1371599"/>
                  </a:moveTo>
                  <a:lnTo>
                    <a:pt x="0" y="1371599"/>
                  </a:lnTo>
                  <a:lnTo>
                    <a:pt x="0" y="0"/>
                  </a:lnTo>
                </a:path>
                <a:path w="291464" h="1892935">
                  <a:moveTo>
                    <a:pt x="291084" y="849629"/>
                  </a:moveTo>
                  <a:lnTo>
                    <a:pt x="0" y="849629"/>
                  </a:lnTo>
                  <a:lnTo>
                    <a:pt x="0" y="0"/>
                  </a:lnTo>
                </a:path>
                <a:path w="291464" h="1892935">
                  <a:moveTo>
                    <a:pt x="291084" y="326897"/>
                  </a:moveTo>
                  <a:lnTo>
                    <a:pt x="0" y="326897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463800"/>
              <a:ext cx="4918710" cy="500380"/>
            </a:xfrm>
            <a:custGeom>
              <a:avLst/>
              <a:gdLst/>
              <a:ahLst/>
              <a:cxnLst/>
              <a:rect l="l" t="t" r="r" b="b"/>
              <a:pathLst>
                <a:path w="4918710" h="500380">
                  <a:moveTo>
                    <a:pt x="4918202" y="416813"/>
                  </a:moveTo>
                  <a:lnTo>
                    <a:pt x="4918202" y="83057"/>
                  </a:lnTo>
                  <a:lnTo>
                    <a:pt x="4911641" y="50792"/>
                  </a:lnTo>
                  <a:lnTo>
                    <a:pt x="4893722" y="24383"/>
                  </a:lnTo>
                  <a:lnTo>
                    <a:pt x="4867088" y="6548"/>
                  </a:lnTo>
                  <a:lnTo>
                    <a:pt x="4834382" y="0"/>
                  </a:lnTo>
                  <a:lnTo>
                    <a:pt x="70358" y="0"/>
                  </a:lnTo>
                  <a:lnTo>
                    <a:pt x="38092" y="6548"/>
                  </a:lnTo>
                  <a:lnTo>
                    <a:pt x="11684" y="24384"/>
                  </a:lnTo>
                  <a:lnTo>
                    <a:pt x="0" y="41683"/>
                  </a:lnTo>
                  <a:lnTo>
                    <a:pt x="0" y="458188"/>
                  </a:lnTo>
                  <a:lnTo>
                    <a:pt x="11684" y="475488"/>
                  </a:lnTo>
                  <a:lnTo>
                    <a:pt x="38092" y="493323"/>
                  </a:lnTo>
                  <a:lnTo>
                    <a:pt x="70358" y="499872"/>
                  </a:lnTo>
                  <a:lnTo>
                    <a:pt x="4834382" y="499871"/>
                  </a:lnTo>
                  <a:lnTo>
                    <a:pt x="4867088" y="493323"/>
                  </a:lnTo>
                  <a:lnTo>
                    <a:pt x="4893722" y="475487"/>
                  </a:lnTo>
                  <a:lnTo>
                    <a:pt x="4911641" y="449079"/>
                  </a:lnTo>
                  <a:lnTo>
                    <a:pt x="4918202" y="416813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463800"/>
              <a:ext cx="4918710" cy="500380"/>
            </a:xfrm>
            <a:custGeom>
              <a:avLst/>
              <a:gdLst/>
              <a:ahLst/>
              <a:cxnLst/>
              <a:rect l="l" t="t" r="r" b="b"/>
              <a:pathLst>
                <a:path w="4918710" h="500380">
                  <a:moveTo>
                    <a:pt x="70358" y="0"/>
                  </a:moveTo>
                  <a:lnTo>
                    <a:pt x="38092" y="6548"/>
                  </a:lnTo>
                  <a:lnTo>
                    <a:pt x="11684" y="24384"/>
                  </a:lnTo>
                  <a:lnTo>
                    <a:pt x="0" y="41683"/>
                  </a:lnTo>
                </a:path>
                <a:path w="4918710" h="500380">
                  <a:moveTo>
                    <a:pt x="0" y="458188"/>
                  </a:moveTo>
                  <a:lnTo>
                    <a:pt x="11684" y="475488"/>
                  </a:lnTo>
                  <a:lnTo>
                    <a:pt x="38092" y="493323"/>
                  </a:lnTo>
                  <a:lnTo>
                    <a:pt x="70358" y="499872"/>
                  </a:lnTo>
                  <a:lnTo>
                    <a:pt x="4834382" y="499871"/>
                  </a:lnTo>
                  <a:lnTo>
                    <a:pt x="4867088" y="493323"/>
                  </a:lnTo>
                  <a:lnTo>
                    <a:pt x="4893722" y="475487"/>
                  </a:lnTo>
                  <a:lnTo>
                    <a:pt x="4911641" y="449079"/>
                  </a:lnTo>
                  <a:lnTo>
                    <a:pt x="4918202" y="416813"/>
                  </a:lnTo>
                  <a:lnTo>
                    <a:pt x="4918202" y="83057"/>
                  </a:lnTo>
                  <a:lnTo>
                    <a:pt x="4911641" y="50792"/>
                  </a:lnTo>
                  <a:lnTo>
                    <a:pt x="4893722" y="24383"/>
                  </a:lnTo>
                  <a:lnTo>
                    <a:pt x="4867088" y="6548"/>
                  </a:lnTo>
                  <a:lnTo>
                    <a:pt x="4834382" y="0"/>
                  </a:lnTo>
                  <a:lnTo>
                    <a:pt x="70358" y="0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78589" y="2495394"/>
            <a:ext cx="3887900" cy="43850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2710" kern="0" dirty="0">
                <a:solidFill>
                  <a:srgbClr val="1D528E"/>
                </a:solidFill>
                <a:latin typeface="Arial"/>
                <a:cs typeface="Arial"/>
              </a:rPr>
              <a:t>Các</a:t>
            </a:r>
            <a:r>
              <a:rPr sz="2710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710" kern="0" dirty="0">
                <a:solidFill>
                  <a:srgbClr val="1D528E"/>
                </a:solidFill>
                <a:latin typeface="Arial"/>
                <a:cs typeface="Arial"/>
              </a:rPr>
              <a:t>cách</a:t>
            </a:r>
            <a:r>
              <a:rPr sz="2710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710" kern="0" dirty="0">
                <a:solidFill>
                  <a:srgbClr val="1D528E"/>
                </a:solidFill>
                <a:latin typeface="Arial"/>
                <a:cs typeface="Arial"/>
              </a:rPr>
              <a:t>biểu</a:t>
            </a:r>
            <a:r>
              <a:rPr sz="2710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710" kern="0" dirty="0">
                <a:solidFill>
                  <a:srgbClr val="1D528E"/>
                </a:solidFill>
                <a:latin typeface="Arial"/>
                <a:cs typeface="Arial"/>
              </a:rPr>
              <a:t>diễn</a:t>
            </a:r>
            <a:r>
              <a:rPr sz="2710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710" kern="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2710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710" kern="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271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68623" y="3081574"/>
            <a:ext cx="2514388" cy="2012785"/>
            <a:chOff x="2738691" y="3070161"/>
            <a:chExt cx="2505075" cy="2005330"/>
          </a:xfrm>
        </p:grpSpPr>
        <p:sp>
          <p:nvSpPr>
            <p:cNvPr id="10" name="object 10"/>
            <p:cNvSpPr/>
            <p:nvPr/>
          </p:nvSpPr>
          <p:spPr>
            <a:xfrm>
              <a:off x="2743454" y="3074923"/>
              <a:ext cx="2495550" cy="430530"/>
            </a:xfrm>
            <a:custGeom>
              <a:avLst/>
              <a:gdLst/>
              <a:ahLst/>
              <a:cxnLst/>
              <a:rect l="l" t="t" r="r" b="b"/>
              <a:pathLst>
                <a:path w="2495550" h="430529">
                  <a:moveTo>
                    <a:pt x="2495550" y="358901"/>
                  </a:moveTo>
                  <a:lnTo>
                    <a:pt x="2495550" y="71627"/>
                  </a:lnTo>
                  <a:lnTo>
                    <a:pt x="2489930" y="43719"/>
                  </a:lnTo>
                  <a:lnTo>
                    <a:pt x="2474595" y="20954"/>
                  </a:lnTo>
                  <a:lnTo>
                    <a:pt x="2451830" y="5619"/>
                  </a:lnTo>
                  <a:lnTo>
                    <a:pt x="2423922" y="0"/>
                  </a:lnTo>
                  <a:lnTo>
                    <a:pt x="71627" y="0"/>
                  </a:lnTo>
                  <a:lnTo>
                    <a:pt x="43719" y="5619"/>
                  </a:lnTo>
                  <a:lnTo>
                    <a:pt x="20954" y="20955"/>
                  </a:lnTo>
                  <a:lnTo>
                    <a:pt x="5619" y="43719"/>
                  </a:lnTo>
                  <a:lnTo>
                    <a:pt x="0" y="71628"/>
                  </a:lnTo>
                  <a:lnTo>
                    <a:pt x="0" y="358902"/>
                  </a:lnTo>
                  <a:lnTo>
                    <a:pt x="5619" y="386810"/>
                  </a:lnTo>
                  <a:lnTo>
                    <a:pt x="20954" y="409575"/>
                  </a:lnTo>
                  <a:lnTo>
                    <a:pt x="43719" y="424910"/>
                  </a:lnTo>
                  <a:lnTo>
                    <a:pt x="71627" y="430530"/>
                  </a:lnTo>
                  <a:lnTo>
                    <a:pt x="2423922" y="430529"/>
                  </a:lnTo>
                  <a:lnTo>
                    <a:pt x="2451830" y="424910"/>
                  </a:lnTo>
                  <a:lnTo>
                    <a:pt x="2474595" y="409574"/>
                  </a:lnTo>
                  <a:lnTo>
                    <a:pt x="2489930" y="386810"/>
                  </a:lnTo>
                  <a:lnTo>
                    <a:pt x="2495550" y="35890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454" y="3074923"/>
              <a:ext cx="2495550" cy="430530"/>
            </a:xfrm>
            <a:custGeom>
              <a:avLst/>
              <a:gdLst/>
              <a:ahLst/>
              <a:cxnLst/>
              <a:rect l="l" t="t" r="r" b="b"/>
              <a:pathLst>
                <a:path w="2495550" h="430529">
                  <a:moveTo>
                    <a:pt x="71627" y="0"/>
                  </a:moveTo>
                  <a:lnTo>
                    <a:pt x="43719" y="5619"/>
                  </a:lnTo>
                  <a:lnTo>
                    <a:pt x="20954" y="20955"/>
                  </a:lnTo>
                  <a:lnTo>
                    <a:pt x="5619" y="43719"/>
                  </a:lnTo>
                  <a:lnTo>
                    <a:pt x="0" y="71628"/>
                  </a:lnTo>
                  <a:lnTo>
                    <a:pt x="0" y="358902"/>
                  </a:lnTo>
                  <a:lnTo>
                    <a:pt x="5619" y="386810"/>
                  </a:lnTo>
                  <a:lnTo>
                    <a:pt x="20954" y="409575"/>
                  </a:lnTo>
                  <a:lnTo>
                    <a:pt x="43719" y="424910"/>
                  </a:lnTo>
                  <a:lnTo>
                    <a:pt x="71627" y="430530"/>
                  </a:lnTo>
                  <a:lnTo>
                    <a:pt x="2423922" y="430529"/>
                  </a:lnTo>
                  <a:lnTo>
                    <a:pt x="2451830" y="424910"/>
                  </a:lnTo>
                  <a:lnTo>
                    <a:pt x="2474595" y="409574"/>
                  </a:lnTo>
                  <a:lnTo>
                    <a:pt x="2489930" y="386810"/>
                  </a:lnTo>
                  <a:lnTo>
                    <a:pt x="2495550" y="358901"/>
                  </a:lnTo>
                  <a:lnTo>
                    <a:pt x="2495550" y="71627"/>
                  </a:lnTo>
                  <a:lnTo>
                    <a:pt x="2489930" y="43719"/>
                  </a:lnTo>
                  <a:lnTo>
                    <a:pt x="2474595" y="20954"/>
                  </a:lnTo>
                  <a:lnTo>
                    <a:pt x="2451830" y="5619"/>
                  </a:lnTo>
                  <a:lnTo>
                    <a:pt x="2423922" y="0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454" y="3596893"/>
              <a:ext cx="2495550" cy="430530"/>
            </a:xfrm>
            <a:custGeom>
              <a:avLst/>
              <a:gdLst/>
              <a:ahLst/>
              <a:cxnLst/>
              <a:rect l="l" t="t" r="r" b="b"/>
              <a:pathLst>
                <a:path w="2495550" h="430529">
                  <a:moveTo>
                    <a:pt x="2495550" y="358901"/>
                  </a:moveTo>
                  <a:lnTo>
                    <a:pt x="2495550" y="72389"/>
                  </a:lnTo>
                  <a:lnTo>
                    <a:pt x="2489930" y="44362"/>
                  </a:lnTo>
                  <a:lnTo>
                    <a:pt x="2474595" y="21335"/>
                  </a:lnTo>
                  <a:lnTo>
                    <a:pt x="2451830" y="5738"/>
                  </a:lnTo>
                  <a:lnTo>
                    <a:pt x="2423922" y="0"/>
                  </a:lnTo>
                  <a:lnTo>
                    <a:pt x="71627" y="0"/>
                  </a:lnTo>
                  <a:lnTo>
                    <a:pt x="43719" y="5738"/>
                  </a:lnTo>
                  <a:lnTo>
                    <a:pt x="20954" y="21336"/>
                  </a:lnTo>
                  <a:lnTo>
                    <a:pt x="5619" y="44362"/>
                  </a:lnTo>
                  <a:lnTo>
                    <a:pt x="0" y="72390"/>
                  </a:lnTo>
                  <a:lnTo>
                    <a:pt x="0" y="358902"/>
                  </a:lnTo>
                  <a:lnTo>
                    <a:pt x="5619" y="386810"/>
                  </a:lnTo>
                  <a:lnTo>
                    <a:pt x="20954" y="409575"/>
                  </a:lnTo>
                  <a:lnTo>
                    <a:pt x="43719" y="424910"/>
                  </a:lnTo>
                  <a:lnTo>
                    <a:pt x="71627" y="430530"/>
                  </a:lnTo>
                  <a:lnTo>
                    <a:pt x="2423922" y="430529"/>
                  </a:lnTo>
                  <a:lnTo>
                    <a:pt x="2451830" y="424910"/>
                  </a:lnTo>
                  <a:lnTo>
                    <a:pt x="2474595" y="409574"/>
                  </a:lnTo>
                  <a:lnTo>
                    <a:pt x="2489930" y="386810"/>
                  </a:lnTo>
                  <a:lnTo>
                    <a:pt x="2495550" y="35890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454" y="3596893"/>
              <a:ext cx="2495550" cy="430530"/>
            </a:xfrm>
            <a:custGeom>
              <a:avLst/>
              <a:gdLst/>
              <a:ahLst/>
              <a:cxnLst/>
              <a:rect l="l" t="t" r="r" b="b"/>
              <a:pathLst>
                <a:path w="2495550" h="430529">
                  <a:moveTo>
                    <a:pt x="71627" y="0"/>
                  </a:moveTo>
                  <a:lnTo>
                    <a:pt x="43719" y="5738"/>
                  </a:lnTo>
                  <a:lnTo>
                    <a:pt x="20954" y="21336"/>
                  </a:lnTo>
                  <a:lnTo>
                    <a:pt x="5619" y="44362"/>
                  </a:lnTo>
                  <a:lnTo>
                    <a:pt x="0" y="72390"/>
                  </a:lnTo>
                  <a:lnTo>
                    <a:pt x="0" y="358902"/>
                  </a:lnTo>
                  <a:lnTo>
                    <a:pt x="5619" y="386810"/>
                  </a:lnTo>
                  <a:lnTo>
                    <a:pt x="20954" y="409575"/>
                  </a:lnTo>
                  <a:lnTo>
                    <a:pt x="43719" y="424910"/>
                  </a:lnTo>
                  <a:lnTo>
                    <a:pt x="71627" y="430530"/>
                  </a:lnTo>
                  <a:lnTo>
                    <a:pt x="2423922" y="430529"/>
                  </a:lnTo>
                  <a:lnTo>
                    <a:pt x="2451830" y="424910"/>
                  </a:lnTo>
                  <a:lnTo>
                    <a:pt x="2474595" y="409574"/>
                  </a:lnTo>
                  <a:lnTo>
                    <a:pt x="2489930" y="386810"/>
                  </a:lnTo>
                  <a:lnTo>
                    <a:pt x="2495550" y="358901"/>
                  </a:lnTo>
                  <a:lnTo>
                    <a:pt x="2495550" y="72389"/>
                  </a:lnTo>
                  <a:lnTo>
                    <a:pt x="2489930" y="44362"/>
                  </a:lnTo>
                  <a:lnTo>
                    <a:pt x="2474595" y="21335"/>
                  </a:lnTo>
                  <a:lnTo>
                    <a:pt x="2451830" y="5738"/>
                  </a:lnTo>
                  <a:lnTo>
                    <a:pt x="2423922" y="0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743454" y="4119625"/>
              <a:ext cx="2495550" cy="429895"/>
            </a:xfrm>
            <a:custGeom>
              <a:avLst/>
              <a:gdLst/>
              <a:ahLst/>
              <a:cxnLst/>
              <a:rect l="l" t="t" r="r" b="b"/>
              <a:pathLst>
                <a:path w="2495550" h="429895">
                  <a:moveTo>
                    <a:pt x="2495550" y="358139"/>
                  </a:moveTo>
                  <a:lnTo>
                    <a:pt x="2495550" y="71627"/>
                  </a:lnTo>
                  <a:lnTo>
                    <a:pt x="2489930" y="43719"/>
                  </a:lnTo>
                  <a:lnTo>
                    <a:pt x="2474595" y="20954"/>
                  </a:lnTo>
                  <a:lnTo>
                    <a:pt x="2451830" y="5619"/>
                  </a:lnTo>
                  <a:lnTo>
                    <a:pt x="2423922" y="0"/>
                  </a:lnTo>
                  <a:lnTo>
                    <a:pt x="71627" y="0"/>
                  </a:lnTo>
                  <a:lnTo>
                    <a:pt x="43719" y="5619"/>
                  </a:lnTo>
                  <a:lnTo>
                    <a:pt x="20954" y="20955"/>
                  </a:lnTo>
                  <a:lnTo>
                    <a:pt x="5619" y="43719"/>
                  </a:lnTo>
                  <a:lnTo>
                    <a:pt x="0" y="71628"/>
                  </a:lnTo>
                  <a:lnTo>
                    <a:pt x="0" y="358140"/>
                  </a:lnTo>
                  <a:lnTo>
                    <a:pt x="5619" y="386048"/>
                  </a:lnTo>
                  <a:lnTo>
                    <a:pt x="20954" y="408813"/>
                  </a:lnTo>
                  <a:lnTo>
                    <a:pt x="43719" y="424148"/>
                  </a:lnTo>
                  <a:lnTo>
                    <a:pt x="71627" y="429768"/>
                  </a:lnTo>
                  <a:lnTo>
                    <a:pt x="2423922" y="429767"/>
                  </a:lnTo>
                  <a:lnTo>
                    <a:pt x="2451830" y="424148"/>
                  </a:lnTo>
                  <a:lnTo>
                    <a:pt x="2474595" y="408812"/>
                  </a:lnTo>
                  <a:lnTo>
                    <a:pt x="2489930" y="386048"/>
                  </a:lnTo>
                  <a:lnTo>
                    <a:pt x="2495550" y="358139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743454" y="4119625"/>
              <a:ext cx="2495550" cy="429895"/>
            </a:xfrm>
            <a:custGeom>
              <a:avLst/>
              <a:gdLst/>
              <a:ahLst/>
              <a:cxnLst/>
              <a:rect l="l" t="t" r="r" b="b"/>
              <a:pathLst>
                <a:path w="2495550" h="429895">
                  <a:moveTo>
                    <a:pt x="71627" y="0"/>
                  </a:moveTo>
                  <a:lnTo>
                    <a:pt x="43719" y="5619"/>
                  </a:lnTo>
                  <a:lnTo>
                    <a:pt x="20954" y="20955"/>
                  </a:lnTo>
                  <a:lnTo>
                    <a:pt x="5619" y="43719"/>
                  </a:lnTo>
                  <a:lnTo>
                    <a:pt x="0" y="71628"/>
                  </a:lnTo>
                  <a:lnTo>
                    <a:pt x="0" y="358140"/>
                  </a:lnTo>
                  <a:lnTo>
                    <a:pt x="5619" y="386048"/>
                  </a:lnTo>
                  <a:lnTo>
                    <a:pt x="20954" y="408813"/>
                  </a:lnTo>
                  <a:lnTo>
                    <a:pt x="43719" y="424148"/>
                  </a:lnTo>
                  <a:lnTo>
                    <a:pt x="71627" y="429768"/>
                  </a:lnTo>
                  <a:lnTo>
                    <a:pt x="2423922" y="429767"/>
                  </a:lnTo>
                  <a:lnTo>
                    <a:pt x="2451830" y="424148"/>
                  </a:lnTo>
                  <a:lnTo>
                    <a:pt x="2474595" y="408812"/>
                  </a:lnTo>
                  <a:lnTo>
                    <a:pt x="2489930" y="386048"/>
                  </a:lnTo>
                  <a:lnTo>
                    <a:pt x="2495550" y="358139"/>
                  </a:lnTo>
                  <a:lnTo>
                    <a:pt x="2495550" y="71627"/>
                  </a:lnTo>
                  <a:lnTo>
                    <a:pt x="2489930" y="43719"/>
                  </a:lnTo>
                  <a:lnTo>
                    <a:pt x="2474595" y="20954"/>
                  </a:lnTo>
                  <a:lnTo>
                    <a:pt x="2451830" y="5619"/>
                  </a:lnTo>
                  <a:lnTo>
                    <a:pt x="2423922" y="0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454" y="4640071"/>
              <a:ext cx="2495550" cy="430530"/>
            </a:xfrm>
            <a:custGeom>
              <a:avLst/>
              <a:gdLst/>
              <a:ahLst/>
              <a:cxnLst/>
              <a:rect l="l" t="t" r="r" b="b"/>
              <a:pathLst>
                <a:path w="2495550" h="430529">
                  <a:moveTo>
                    <a:pt x="2495550" y="358901"/>
                  </a:moveTo>
                  <a:lnTo>
                    <a:pt x="2495550" y="71627"/>
                  </a:lnTo>
                  <a:lnTo>
                    <a:pt x="2489930" y="43719"/>
                  </a:lnTo>
                  <a:lnTo>
                    <a:pt x="2474595" y="20954"/>
                  </a:lnTo>
                  <a:lnTo>
                    <a:pt x="2451830" y="5619"/>
                  </a:lnTo>
                  <a:lnTo>
                    <a:pt x="2423922" y="0"/>
                  </a:lnTo>
                  <a:lnTo>
                    <a:pt x="71627" y="0"/>
                  </a:lnTo>
                  <a:lnTo>
                    <a:pt x="43719" y="5619"/>
                  </a:lnTo>
                  <a:lnTo>
                    <a:pt x="20954" y="20955"/>
                  </a:lnTo>
                  <a:lnTo>
                    <a:pt x="5619" y="43719"/>
                  </a:lnTo>
                  <a:lnTo>
                    <a:pt x="0" y="71628"/>
                  </a:lnTo>
                  <a:lnTo>
                    <a:pt x="0" y="358902"/>
                  </a:lnTo>
                  <a:lnTo>
                    <a:pt x="5619" y="386810"/>
                  </a:lnTo>
                  <a:lnTo>
                    <a:pt x="20954" y="409575"/>
                  </a:lnTo>
                  <a:lnTo>
                    <a:pt x="43719" y="424910"/>
                  </a:lnTo>
                  <a:lnTo>
                    <a:pt x="71627" y="430530"/>
                  </a:lnTo>
                  <a:lnTo>
                    <a:pt x="2423922" y="430529"/>
                  </a:lnTo>
                  <a:lnTo>
                    <a:pt x="2451830" y="424910"/>
                  </a:lnTo>
                  <a:lnTo>
                    <a:pt x="2474595" y="409574"/>
                  </a:lnTo>
                  <a:lnTo>
                    <a:pt x="2489930" y="386810"/>
                  </a:lnTo>
                  <a:lnTo>
                    <a:pt x="2495550" y="35890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454" y="4640071"/>
              <a:ext cx="2495550" cy="430530"/>
            </a:xfrm>
            <a:custGeom>
              <a:avLst/>
              <a:gdLst/>
              <a:ahLst/>
              <a:cxnLst/>
              <a:rect l="l" t="t" r="r" b="b"/>
              <a:pathLst>
                <a:path w="2495550" h="430529">
                  <a:moveTo>
                    <a:pt x="71627" y="0"/>
                  </a:moveTo>
                  <a:lnTo>
                    <a:pt x="43719" y="5619"/>
                  </a:lnTo>
                  <a:lnTo>
                    <a:pt x="20954" y="20955"/>
                  </a:lnTo>
                  <a:lnTo>
                    <a:pt x="5619" y="43719"/>
                  </a:lnTo>
                  <a:lnTo>
                    <a:pt x="0" y="71628"/>
                  </a:lnTo>
                  <a:lnTo>
                    <a:pt x="0" y="358902"/>
                  </a:lnTo>
                  <a:lnTo>
                    <a:pt x="5619" y="386810"/>
                  </a:lnTo>
                  <a:lnTo>
                    <a:pt x="20954" y="409575"/>
                  </a:lnTo>
                  <a:lnTo>
                    <a:pt x="43719" y="424910"/>
                  </a:lnTo>
                  <a:lnTo>
                    <a:pt x="71627" y="430530"/>
                  </a:lnTo>
                  <a:lnTo>
                    <a:pt x="2423922" y="430529"/>
                  </a:lnTo>
                  <a:lnTo>
                    <a:pt x="2451830" y="424910"/>
                  </a:lnTo>
                  <a:lnTo>
                    <a:pt x="2474595" y="409574"/>
                  </a:lnTo>
                  <a:lnTo>
                    <a:pt x="2489930" y="386810"/>
                  </a:lnTo>
                  <a:lnTo>
                    <a:pt x="2495550" y="358901"/>
                  </a:lnTo>
                  <a:lnTo>
                    <a:pt x="2495550" y="71627"/>
                  </a:lnTo>
                  <a:lnTo>
                    <a:pt x="2489930" y="43719"/>
                  </a:lnTo>
                  <a:lnTo>
                    <a:pt x="2474595" y="20954"/>
                  </a:lnTo>
                  <a:lnTo>
                    <a:pt x="2451830" y="5619"/>
                  </a:lnTo>
                  <a:lnTo>
                    <a:pt x="2423922" y="0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49377" y="2933336"/>
            <a:ext cx="2351223" cy="214416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17910" marR="110261" algn="ctr" defTabSz="917783">
              <a:lnSpc>
                <a:spcPct val="148900"/>
              </a:lnSpc>
              <a:spcBef>
                <a:spcPts val="100"/>
              </a:spcBef>
            </a:pP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Ma</a:t>
            </a:r>
            <a:r>
              <a:rPr sz="2309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trận</a:t>
            </a:r>
            <a:r>
              <a:rPr sz="2309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spc="-25" dirty="0">
                <a:solidFill>
                  <a:srgbClr val="1D528E"/>
                </a:solidFill>
                <a:latin typeface="Arial"/>
                <a:cs typeface="Arial"/>
              </a:rPr>
              <a:t>kề </a:t>
            </a: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Danh</a:t>
            </a:r>
            <a:r>
              <a:rPr sz="2309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sách</a:t>
            </a:r>
            <a:r>
              <a:rPr sz="2309" kern="0" spc="-20" dirty="0">
                <a:solidFill>
                  <a:srgbClr val="1D528E"/>
                </a:solidFill>
                <a:latin typeface="Arial"/>
                <a:cs typeface="Arial"/>
              </a:rPr>
              <a:t> cạnh </a:t>
            </a: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Danh</a:t>
            </a:r>
            <a:r>
              <a:rPr sz="2309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sách</a:t>
            </a:r>
            <a:r>
              <a:rPr sz="2309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spc="-25" dirty="0">
                <a:solidFill>
                  <a:srgbClr val="1D528E"/>
                </a:solidFill>
                <a:latin typeface="Arial"/>
                <a:cs typeface="Arial"/>
              </a:rPr>
              <a:t>kề</a:t>
            </a:r>
            <a:endParaRPr sz="23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algn="ctr" defTabSz="917783">
              <a:spcBef>
                <a:spcPts val="1350"/>
              </a:spcBef>
            </a:pP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Ma</a:t>
            </a:r>
            <a:r>
              <a:rPr sz="2309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trận</a:t>
            </a:r>
            <a:r>
              <a:rPr sz="2309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liên</a:t>
            </a:r>
            <a:r>
              <a:rPr sz="2309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spc="-20" dirty="0">
                <a:solidFill>
                  <a:srgbClr val="1D528E"/>
                </a:solidFill>
                <a:latin typeface="Arial"/>
                <a:cs typeface="Arial"/>
              </a:rPr>
              <a:t>thuộc</a:t>
            </a:r>
            <a:endParaRPr sz="23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38268" y="1512138"/>
            <a:ext cx="3938888" cy="1553885"/>
            <a:chOff x="5199189" y="1506537"/>
            <a:chExt cx="3924300" cy="1548130"/>
          </a:xfrm>
        </p:grpSpPr>
        <p:sp>
          <p:nvSpPr>
            <p:cNvPr id="20" name="object 20"/>
            <p:cNvSpPr/>
            <p:nvPr/>
          </p:nvSpPr>
          <p:spPr>
            <a:xfrm>
              <a:off x="5203952" y="1511300"/>
              <a:ext cx="3914775" cy="1538605"/>
            </a:xfrm>
            <a:custGeom>
              <a:avLst/>
              <a:gdLst/>
              <a:ahLst/>
              <a:cxnLst/>
              <a:rect l="l" t="t" r="r" b="b"/>
              <a:pathLst>
                <a:path w="3914775" h="1538605">
                  <a:moveTo>
                    <a:pt x="1069848" y="1065105"/>
                  </a:moveTo>
                  <a:lnTo>
                    <a:pt x="1069848" y="685800"/>
                  </a:lnTo>
                  <a:lnTo>
                    <a:pt x="0" y="1538477"/>
                  </a:lnTo>
                  <a:lnTo>
                    <a:pt x="1069848" y="1065105"/>
                  </a:lnTo>
                  <a:close/>
                </a:path>
                <a:path w="3914775" h="1538605">
                  <a:moveTo>
                    <a:pt x="3914648" y="685800"/>
                  </a:moveTo>
                  <a:lnTo>
                    <a:pt x="3914648" y="0"/>
                  </a:lnTo>
                  <a:lnTo>
                    <a:pt x="498348" y="0"/>
                  </a:lnTo>
                  <a:lnTo>
                    <a:pt x="498348" y="685800"/>
                  </a:lnTo>
                  <a:lnTo>
                    <a:pt x="1069848" y="685800"/>
                  </a:lnTo>
                  <a:lnTo>
                    <a:pt x="1069848" y="1065105"/>
                  </a:lnTo>
                  <a:lnTo>
                    <a:pt x="1927098" y="685800"/>
                  </a:lnTo>
                  <a:lnTo>
                    <a:pt x="3914648" y="68580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5203952" y="1511300"/>
              <a:ext cx="3914775" cy="1538605"/>
            </a:xfrm>
            <a:custGeom>
              <a:avLst/>
              <a:gdLst/>
              <a:ahLst/>
              <a:cxnLst/>
              <a:rect l="l" t="t" r="r" b="b"/>
              <a:pathLst>
                <a:path w="3914775" h="1538605">
                  <a:moveTo>
                    <a:pt x="498348" y="0"/>
                  </a:moveTo>
                  <a:lnTo>
                    <a:pt x="498348" y="685800"/>
                  </a:lnTo>
                  <a:lnTo>
                    <a:pt x="1069848" y="685800"/>
                  </a:lnTo>
                  <a:lnTo>
                    <a:pt x="0" y="1538477"/>
                  </a:lnTo>
                  <a:lnTo>
                    <a:pt x="1927098" y="685800"/>
                  </a:lnTo>
                  <a:lnTo>
                    <a:pt x="3914648" y="685800"/>
                  </a:lnTo>
                </a:path>
                <a:path w="3914775" h="1538605">
                  <a:moveTo>
                    <a:pt x="3914648" y="0"/>
                  </a:moveTo>
                  <a:lnTo>
                    <a:pt x="1069848" y="0"/>
                  </a:lnTo>
                  <a:lnTo>
                    <a:pt x="498348" y="0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302140" y="1548531"/>
            <a:ext cx="2779530" cy="577449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8241" defTabSz="917783">
              <a:spcBef>
                <a:spcPts val="100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807" kern="0" baseline="23148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807" kern="0" spc="745" baseline="2314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Đơn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vị bộ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FFFFFF"/>
                </a:solidFill>
                <a:latin typeface="Arial"/>
                <a:cs typeface="Arial"/>
              </a:rPr>
              <a:t>nhớ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8241" defTabSz="917783">
              <a:spcBef>
                <a:spcPts val="5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Dễ</a:t>
            </a:r>
            <a:r>
              <a:rPr sz="1807" kern="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kiểm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tra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đ/k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kề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FFFFFF"/>
                </a:solidFill>
                <a:latin typeface="Arial"/>
                <a:cs typeface="Arial"/>
              </a:rPr>
              <a:t>nhau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739798" y="2582903"/>
            <a:ext cx="3937613" cy="1049732"/>
            <a:chOff x="5200713" y="2573337"/>
            <a:chExt cx="3923029" cy="1045844"/>
          </a:xfrm>
        </p:grpSpPr>
        <p:sp>
          <p:nvSpPr>
            <p:cNvPr id="24" name="object 24"/>
            <p:cNvSpPr/>
            <p:nvPr/>
          </p:nvSpPr>
          <p:spPr>
            <a:xfrm>
              <a:off x="5205476" y="2578100"/>
              <a:ext cx="3913504" cy="1036319"/>
            </a:xfrm>
            <a:custGeom>
              <a:avLst/>
              <a:gdLst/>
              <a:ahLst/>
              <a:cxnLst/>
              <a:rect l="l" t="t" r="r" b="b"/>
              <a:pathLst>
                <a:path w="3913504" h="1036320">
                  <a:moveTo>
                    <a:pt x="496824" y="762000"/>
                  </a:moveTo>
                  <a:lnTo>
                    <a:pt x="496824" y="533400"/>
                  </a:lnTo>
                  <a:lnTo>
                    <a:pt x="0" y="1036320"/>
                  </a:lnTo>
                  <a:lnTo>
                    <a:pt x="496824" y="762000"/>
                  </a:lnTo>
                  <a:close/>
                </a:path>
                <a:path w="3913504" h="1036320">
                  <a:moveTo>
                    <a:pt x="3913124" y="914400"/>
                  </a:moveTo>
                  <a:lnTo>
                    <a:pt x="3913124" y="0"/>
                  </a:lnTo>
                  <a:lnTo>
                    <a:pt x="496824" y="0"/>
                  </a:lnTo>
                  <a:lnTo>
                    <a:pt x="496824" y="914400"/>
                  </a:lnTo>
                  <a:lnTo>
                    <a:pt x="3913124" y="91440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5205476" y="2578100"/>
              <a:ext cx="3913504" cy="1036319"/>
            </a:xfrm>
            <a:custGeom>
              <a:avLst/>
              <a:gdLst/>
              <a:ahLst/>
              <a:cxnLst/>
              <a:rect l="l" t="t" r="r" b="b"/>
              <a:pathLst>
                <a:path w="3913504" h="1036320">
                  <a:moveTo>
                    <a:pt x="496824" y="0"/>
                  </a:moveTo>
                  <a:lnTo>
                    <a:pt x="496824" y="533400"/>
                  </a:lnTo>
                  <a:lnTo>
                    <a:pt x="0" y="1036320"/>
                  </a:lnTo>
                  <a:lnTo>
                    <a:pt x="496824" y="762000"/>
                  </a:lnTo>
                  <a:lnTo>
                    <a:pt x="496824" y="914400"/>
                  </a:lnTo>
                  <a:lnTo>
                    <a:pt x="3913124" y="914400"/>
                  </a:lnTo>
                </a:path>
                <a:path w="3913504" h="1036320">
                  <a:moveTo>
                    <a:pt x="3913124" y="0"/>
                  </a:moveTo>
                  <a:lnTo>
                    <a:pt x="1068324" y="0"/>
                  </a:lnTo>
                  <a:lnTo>
                    <a:pt x="496824" y="0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327635" y="2619297"/>
            <a:ext cx="2843266" cy="852788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2m</a:t>
            </a:r>
            <a:r>
              <a:rPr sz="1807" kern="0" spc="32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Đơn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vị bộ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FFFFFF"/>
                </a:solidFill>
                <a:latin typeface="Arial"/>
                <a:cs typeface="Arial"/>
              </a:rPr>
              <a:t>nhớ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5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Đồ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thị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FFFFFF"/>
                </a:solidFill>
                <a:latin typeface="Arial"/>
                <a:cs typeface="Arial"/>
              </a:rPr>
              <a:t>thưa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/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Khó</a:t>
            </a:r>
            <a:r>
              <a:rPr sz="1807" kern="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kiểm</a:t>
            </a:r>
            <a:r>
              <a:rPr sz="1807" kern="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tra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đ/k</a:t>
            </a:r>
            <a:r>
              <a:rPr sz="1807" kern="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kề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FFFFFF"/>
                </a:solidFill>
                <a:latin typeface="Arial"/>
                <a:cs typeface="Arial"/>
              </a:rPr>
              <a:t>nhau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779569" y="3883119"/>
            <a:ext cx="3897460" cy="927360"/>
            <a:chOff x="5240337" y="3868737"/>
            <a:chExt cx="3883025" cy="923925"/>
          </a:xfrm>
        </p:grpSpPr>
        <p:sp>
          <p:nvSpPr>
            <p:cNvPr id="28" name="object 28"/>
            <p:cNvSpPr/>
            <p:nvPr/>
          </p:nvSpPr>
          <p:spPr>
            <a:xfrm>
              <a:off x="5245100" y="3873500"/>
              <a:ext cx="3873500" cy="914400"/>
            </a:xfrm>
            <a:custGeom>
              <a:avLst/>
              <a:gdLst/>
              <a:ahLst/>
              <a:cxnLst/>
              <a:rect l="l" t="t" r="r" b="b"/>
              <a:pathLst>
                <a:path w="3873500" h="914400">
                  <a:moveTo>
                    <a:pt x="457200" y="381000"/>
                  </a:moveTo>
                  <a:lnTo>
                    <a:pt x="457200" y="152400"/>
                  </a:lnTo>
                  <a:lnTo>
                    <a:pt x="0" y="344424"/>
                  </a:lnTo>
                  <a:lnTo>
                    <a:pt x="457200" y="381000"/>
                  </a:lnTo>
                  <a:close/>
                </a:path>
                <a:path w="3873500" h="914400">
                  <a:moveTo>
                    <a:pt x="3873500" y="914400"/>
                  </a:moveTo>
                  <a:lnTo>
                    <a:pt x="3873500" y="0"/>
                  </a:lnTo>
                  <a:lnTo>
                    <a:pt x="457200" y="0"/>
                  </a:lnTo>
                  <a:lnTo>
                    <a:pt x="457200" y="914400"/>
                  </a:lnTo>
                  <a:lnTo>
                    <a:pt x="3873500" y="91440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5245100" y="3873500"/>
              <a:ext cx="3873500" cy="914400"/>
            </a:xfrm>
            <a:custGeom>
              <a:avLst/>
              <a:gdLst/>
              <a:ahLst/>
              <a:cxnLst/>
              <a:rect l="l" t="t" r="r" b="b"/>
              <a:pathLst>
                <a:path w="3873500" h="914400">
                  <a:moveTo>
                    <a:pt x="457200" y="0"/>
                  </a:moveTo>
                  <a:lnTo>
                    <a:pt x="457200" y="152400"/>
                  </a:lnTo>
                  <a:lnTo>
                    <a:pt x="0" y="344424"/>
                  </a:lnTo>
                  <a:lnTo>
                    <a:pt x="457200" y="381000"/>
                  </a:lnTo>
                  <a:lnTo>
                    <a:pt x="457200" y="914400"/>
                  </a:lnTo>
                  <a:lnTo>
                    <a:pt x="3873500" y="914400"/>
                  </a:lnTo>
                </a:path>
                <a:path w="3873500" h="914400">
                  <a:moveTo>
                    <a:pt x="3873500" y="0"/>
                  </a:moveTo>
                  <a:lnTo>
                    <a:pt x="1028700" y="0"/>
                  </a:lnTo>
                  <a:lnTo>
                    <a:pt x="457200" y="0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327635" y="3919512"/>
            <a:ext cx="3043397" cy="852788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2m+n</a:t>
            </a:r>
            <a:r>
              <a:rPr sz="1807" kern="0" spc="3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Đơn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vị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bộ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FFFFFF"/>
                </a:solidFill>
                <a:latin typeface="Arial"/>
                <a:cs typeface="Arial"/>
              </a:rPr>
              <a:t>nhớ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66412" marR="5099" indent="-254302" defTabSz="917783">
              <a:spcBef>
                <a:spcPts val="5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Dễ</a:t>
            </a:r>
            <a:r>
              <a:rPr sz="1807" kern="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dàng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việc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thêm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bớt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FFFFFF"/>
                </a:solidFill>
                <a:latin typeface="Arial"/>
                <a:cs typeface="Arial"/>
              </a:rPr>
              <a:t>các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cạnh,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FFFFFF"/>
                </a:solidFill>
                <a:latin typeface="Arial"/>
                <a:cs typeface="Arial"/>
              </a:rPr>
              <a:t>đỉnh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768096" y="4883520"/>
            <a:ext cx="3908932" cy="1457006"/>
            <a:chOff x="5228907" y="4865433"/>
            <a:chExt cx="3894454" cy="1451610"/>
          </a:xfrm>
        </p:grpSpPr>
        <p:sp>
          <p:nvSpPr>
            <p:cNvPr id="32" name="object 32"/>
            <p:cNvSpPr/>
            <p:nvPr/>
          </p:nvSpPr>
          <p:spPr>
            <a:xfrm>
              <a:off x="5233670" y="4870196"/>
              <a:ext cx="3884929" cy="1442085"/>
            </a:xfrm>
            <a:custGeom>
              <a:avLst/>
              <a:gdLst/>
              <a:ahLst/>
              <a:cxnLst/>
              <a:rect l="l" t="t" r="r" b="b"/>
              <a:pathLst>
                <a:path w="3884929" h="1442085">
                  <a:moveTo>
                    <a:pt x="3884929" y="1441704"/>
                  </a:moveTo>
                  <a:lnTo>
                    <a:pt x="3884929" y="527304"/>
                  </a:lnTo>
                  <a:lnTo>
                    <a:pt x="1897379" y="527304"/>
                  </a:lnTo>
                  <a:lnTo>
                    <a:pt x="0" y="0"/>
                  </a:lnTo>
                  <a:lnTo>
                    <a:pt x="1040129" y="527304"/>
                  </a:lnTo>
                  <a:lnTo>
                    <a:pt x="1040129" y="1441704"/>
                  </a:lnTo>
                  <a:lnTo>
                    <a:pt x="3884929" y="1441704"/>
                  </a:lnTo>
                  <a:close/>
                </a:path>
                <a:path w="3884929" h="1442085">
                  <a:moveTo>
                    <a:pt x="1040129" y="1441704"/>
                  </a:moveTo>
                  <a:lnTo>
                    <a:pt x="1040129" y="527304"/>
                  </a:lnTo>
                  <a:lnTo>
                    <a:pt x="468629" y="527304"/>
                  </a:lnTo>
                  <a:lnTo>
                    <a:pt x="468629" y="1441704"/>
                  </a:lnTo>
                  <a:lnTo>
                    <a:pt x="1040129" y="1441704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5233670" y="4870196"/>
              <a:ext cx="3884929" cy="1442085"/>
            </a:xfrm>
            <a:custGeom>
              <a:avLst/>
              <a:gdLst/>
              <a:ahLst/>
              <a:cxnLst/>
              <a:rect l="l" t="t" r="r" b="b"/>
              <a:pathLst>
                <a:path w="3884929" h="1442085">
                  <a:moveTo>
                    <a:pt x="468629" y="527304"/>
                  </a:moveTo>
                  <a:lnTo>
                    <a:pt x="468629" y="1441704"/>
                  </a:lnTo>
                  <a:lnTo>
                    <a:pt x="3884929" y="1441704"/>
                  </a:lnTo>
                </a:path>
                <a:path w="3884929" h="1442085">
                  <a:moveTo>
                    <a:pt x="3884929" y="527304"/>
                  </a:moveTo>
                  <a:lnTo>
                    <a:pt x="1897379" y="527304"/>
                  </a:lnTo>
                  <a:lnTo>
                    <a:pt x="0" y="0"/>
                  </a:lnTo>
                  <a:lnTo>
                    <a:pt x="1040129" y="527304"/>
                  </a:lnTo>
                  <a:lnTo>
                    <a:pt x="468629" y="527304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327635" y="5449178"/>
            <a:ext cx="3043397" cy="852788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m*n</a:t>
            </a:r>
            <a:r>
              <a:rPr sz="1807" kern="0" spc="32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Đơn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vị bộ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FFFFFF"/>
                </a:solidFill>
                <a:latin typeface="Arial"/>
                <a:cs typeface="Arial"/>
              </a:rPr>
              <a:t>nhớ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66412" marR="5099" indent="-254302" defTabSz="917783">
              <a:spcBef>
                <a:spcPts val="5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Dễ</a:t>
            </a:r>
            <a:r>
              <a:rPr sz="1807" kern="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dàng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việc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thêm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bớt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FFFFFF"/>
                </a:solidFill>
                <a:latin typeface="Arial"/>
                <a:cs typeface="Arial"/>
              </a:rPr>
              <a:t>các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cạnh,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FFFFFF"/>
                </a:solidFill>
                <a:latin typeface="Arial"/>
                <a:cs typeface="Arial"/>
              </a:rPr>
              <a:t>đỉnh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252" y="6558949"/>
            <a:ext cx="2538607" cy="229245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22970" y="331381"/>
            <a:ext cx="10830883" cy="50836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>
              <a:spcBef>
                <a:spcPts val="95"/>
              </a:spcBef>
            </a:pPr>
            <a:r>
              <a:rPr sz="3212" dirty="0"/>
              <a:t>Nội</a:t>
            </a:r>
            <a:r>
              <a:rPr sz="3212" spc="-25" dirty="0"/>
              <a:t> </a:t>
            </a:r>
            <a:r>
              <a:rPr sz="3212" spc="-20" dirty="0"/>
              <a:t>dung</a:t>
            </a:r>
            <a:endParaRPr sz="3212"/>
          </a:p>
        </p:txBody>
      </p:sp>
      <p:sp>
        <p:nvSpPr>
          <p:cNvPr id="4" name="object 4"/>
          <p:cNvSpPr/>
          <p:nvPr/>
        </p:nvSpPr>
        <p:spPr>
          <a:xfrm>
            <a:off x="2883703" y="1746368"/>
            <a:ext cx="4882182" cy="439779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25452" y="1796336"/>
            <a:ext cx="3098847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cách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biểu</a:t>
            </a:r>
            <a:r>
              <a:rPr sz="2007" b="1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diễn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007" b="1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869362" y="2401256"/>
            <a:ext cx="4910863" cy="474834"/>
            <a:chOff x="1344612" y="2392362"/>
            <a:chExt cx="4892675" cy="473075"/>
          </a:xfrm>
        </p:grpSpPr>
        <p:sp>
          <p:nvSpPr>
            <p:cNvPr id="7" name="object 7"/>
            <p:cNvSpPr/>
            <p:nvPr/>
          </p:nvSpPr>
          <p:spPr>
            <a:xfrm>
              <a:off x="1358900" y="2412746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9455"/>
                  </a:moveTo>
                  <a:lnTo>
                    <a:pt x="4858089" y="169150"/>
                  </a:lnTo>
                  <a:lnTo>
                    <a:pt x="4841683" y="122964"/>
                  </a:lnTo>
                  <a:lnTo>
                    <a:pt x="4815919" y="82216"/>
                  </a:lnTo>
                  <a:lnTo>
                    <a:pt x="4782092" y="48225"/>
                  </a:lnTo>
                  <a:lnTo>
                    <a:pt x="4741492" y="22313"/>
                  </a:lnTo>
                  <a:lnTo>
                    <a:pt x="4695415" y="5798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98"/>
                  </a:lnTo>
                  <a:lnTo>
                    <a:pt x="122686" y="22313"/>
                  </a:lnTo>
                  <a:lnTo>
                    <a:pt x="82073" y="48225"/>
                  </a:lnTo>
                  <a:lnTo>
                    <a:pt x="48165" y="82216"/>
                  </a:lnTo>
                  <a:lnTo>
                    <a:pt x="22295" y="122964"/>
                  </a:lnTo>
                  <a:lnTo>
                    <a:pt x="5796" y="169150"/>
                  </a:lnTo>
                  <a:lnTo>
                    <a:pt x="0" y="219456"/>
                  </a:lnTo>
                  <a:lnTo>
                    <a:pt x="5796" y="269719"/>
                  </a:lnTo>
                  <a:lnTo>
                    <a:pt x="22295" y="315796"/>
                  </a:lnTo>
                  <a:lnTo>
                    <a:pt x="48165" y="356396"/>
                  </a:lnTo>
                  <a:lnTo>
                    <a:pt x="82073" y="390223"/>
                  </a:lnTo>
                  <a:lnTo>
                    <a:pt x="122686" y="415987"/>
                  </a:lnTo>
                  <a:lnTo>
                    <a:pt x="168670" y="432393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93"/>
                  </a:lnTo>
                  <a:lnTo>
                    <a:pt x="4741492" y="415987"/>
                  </a:lnTo>
                  <a:lnTo>
                    <a:pt x="4782092" y="390223"/>
                  </a:lnTo>
                  <a:lnTo>
                    <a:pt x="4815919" y="356396"/>
                  </a:lnTo>
                  <a:lnTo>
                    <a:pt x="4841683" y="315796"/>
                  </a:lnTo>
                  <a:lnTo>
                    <a:pt x="4858089" y="269719"/>
                  </a:lnTo>
                  <a:lnTo>
                    <a:pt x="4863846" y="219455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358900" y="2412746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98"/>
                  </a:lnTo>
                  <a:lnTo>
                    <a:pt x="122686" y="22313"/>
                  </a:lnTo>
                  <a:lnTo>
                    <a:pt x="82073" y="48225"/>
                  </a:lnTo>
                  <a:lnTo>
                    <a:pt x="48165" y="82216"/>
                  </a:lnTo>
                  <a:lnTo>
                    <a:pt x="22295" y="122964"/>
                  </a:lnTo>
                  <a:lnTo>
                    <a:pt x="5796" y="169150"/>
                  </a:lnTo>
                  <a:lnTo>
                    <a:pt x="0" y="219456"/>
                  </a:lnTo>
                  <a:lnTo>
                    <a:pt x="5796" y="269719"/>
                  </a:lnTo>
                  <a:lnTo>
                    <a:pt x="22295" y="315796"/>
                  </a:lnTo>
                  <a:lnTo>
                    <a:pt x="48165" y="356396"/>
                  </a:lnTo>
                  <a:lnTo>
                    <a:pt x="82073" y="390223"/>
                  </a:lnTo>
                  <a:lnTo>
                    <a:pt x="122686" y="415987"/>
                  </a:lnTo>
                  <a:lnTo>
                    <a:pt x="168670" y="432393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93"/>
                  </a:lnTo>
                  <a:lnTo>
                    <a:pt x="4741492" y="415987"/>
                  </a:lnTo>
                  <a:lnTo>
                    <a:pt x="4782092" y="390223"/>
                  </a:lnTo>
                  <a:lnTo>
                    <a:pt x="4815919" y="356396"/>
                  </a:lnTo>
                  <a:lnTo>
                    <a:pt x="4841683" y="315796"/>
                  </a:lnTo>
                  <a:lnTo>
                    <a:pt x="4858089" y="269719"/>
                  </a:lnTo>
                  <a:lnTo>
                    <a:pt x="4863846" y="219455"/>
                  </a:lnTo>
                  <a:lnTo>
                    <a:pt x="4858089" y="169150"/>
                  </a:lnTo>
                  <a:lnTo>
                    <a:pt x="4841683" y="122964"/>
                  </a:lnTo>
                  <a:lnTo>
                    <a:pt x="4815919" y="82216"/>
                  </a:lnTo>
                  <a:lnTo>
                    <a:pt x="4782092" y="48225"/>
                  </a:lnTo>
                  <a:lnTo>
                    <a:pt x="4741492" y="22313"/>
                  </a:lnTo>
                  <a:lnTo>
                    <a:pt x="4695415" y="5798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358900" y="24066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23922" y="2461741"/>
            <a:ext cx="3340407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Sự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đẳng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cấu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39054" y="1569011"/>
            <a:ext cx="5641279" cy="1983466"/>
            <a:chOff x="617009" y="1563200"/>
            <a:chExt cx="5620385" cy="197612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358900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23922" y="3150091"/>
            <a:ext cx="2290674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Hướng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dẫn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cài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đặt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139054" y="2945710"/>
            <a:ext cx="766107" cy="669229"/>
            <a:chOff x="617009" y="2934800"/>
            <a:chExt cx="763270" cy="66675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934800"/>
              <a:ext cx="763250" cy="66619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995676"/>
              <a:ext cx="352806" cy="336803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316452" y="1462564"/>
            <a:ext cx="478657" cy="2090543"/>
          </a:xfrm>
          <a:prstGeom prst="rect">
            <a:avLst/>
          </a:prstGeom>
        </p:spPr>
        <p:txBody>
          <a:bodyPr vert="horz" wrap="square" lIns="0" tIns="211604" rIns="0" bIns="0" rtlCol="0">
            <a:spAutoFit/>
          </a:bodyPr>
          <a:lstStyle/>
          <a:p>
            <a:pPr marL="124283" defTabSz="917783">
              <a:spcBef>
                <a:spcPts val="1666"/>
              </a:spcBef>
            </a:pPr>
            <a:r>
              <a:rPr sz="3212" b="1" kern="0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12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marR="5099" indent="55448" defTabSz="917783">
              <a:lnSpc>
                <a:spcPct val="140600"/>
              </a:lnSpc>
            </a:pPr>
            <a:r>
              <a:rPr sz="3212" b="1" kern="0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12" b="1" kern="0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1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52712" y="6552067"/>
            <a:ext cx="1446809" cy="229245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15753" y="6581129"/>
            <a:ext cx="207780" cy="167976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004" b="1" kern="0" spc="-25" dirty="0">
                <a:solidFill>
                  <a:srgbClr val="1D528E"/>
                </a:solidFill>
                <a:latin typeface="Verdana"/>
                <a:cs typeface="Verdana"/>
              </a:rPr>
              <a:t>21</a:t>
            </a:r>
            <a:endParaRPr sz="1004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</a:t>
            </a:r>
            <a:r>
              <a:rPr spc="-55" dirty="0"/>
              <a:t> </a:t>
            </a:r>
            <a:r>
              <a:rPr dirty="0"/>
              <a:t>Sự</a:t>
            </a:r>
            <a:r>
              <a:rPr spc="-35" dirty="0"/>
              <a:t> </a:t>
            </a:r>
            <a:r>
              <a:rPr dirty="0"/>
              <a:t>đẳng</a:t>
            </a:r>
            <a:r>
              <a:rPr spc="-30" dirty="0"/>
              <a:t> </a:t>
            </a:r>
            <a:r>
              <a:rPr dirty="0"/>
              <a:t>cấu</a:t>
            </a:r>
            <a:r>
              <a:rPr spc="-40" dirty="0"/>
              <a:t> </a:t>
            </a:r>
            <a:r>
              <a:rPr dirty="0"/>
              <a:t>của</a:t>
            </a:r>
            <a:r>
              <a:rPr spc="-40" dirty="0"/>
              <a:t> </a:t>
            </a:r>
            <a:r>
              <a:rPr dirty="0"/>
              <a:t>các</a:t>
            </a:r>
            <a:r>
              <a:rPr spc="-35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spc="-25" dirty="0"/>
              <a:t>thị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6412" y="946983"/>
            <a:ext cx="8029469" cy="3005793"/>
          </a:xfrm>
          <a:prstGeom prst="rect">
            <a:avLst/>
          </a:prstGeom>
        </p:spPr>
        <p:txBody>
          <a:bodyPr vert="horz" wrap="square" lIns="0" tIns="44615" rIns="0" bIns="0" rtlCol="0">
            <a:spAutoFit/>
          </a:bodyPr>
          <a:lstStyle/>
          <a:p>
            <a:pPr marL="369025" indent="-343531" defTabSz="917783">
              <a:spcBef>
                <a:spcPts val="351"/>
              </a:spcBef>
              <a:buClr>
                <a:srgbClr val="65CCFF"/>
              </a:buClr>
              <a:buFont typeface="Wingdings"/>
              <a:buChar char=""/>
              <a:tabLst>
                <a:tab pos="369025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Định</a:t>
            </a:r>
            <a:r>
              <a:rPr sz="2810" kern="0" spc="-5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1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71193" marR="309115" lvl="1" indent="-286807" algn="just" defTabSz="917783">
              <a:lnSpc>
                <a:spcPts val="2600"/>
              </a:lnSpc>
              <a:spcBef>
                <a:spcPts val="542"/>
              </a:spcBef>
              <a:buClr>
                <a:srgbClr val="1B9AD9"/>
              </a:buClr>
              <a:buFont typeface="Wingdings"/>
              <a:buChar char="■"/>
              <a:tabLst>
                <a:tab pos="771193" algn="l"/>
                <a:tab pos="910772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	Các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đơn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3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(V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,E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)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và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spc="-22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(V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)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u="heavy" kern="0" spc="-291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đẳng</a:t>
            </a:r>
            <a:r>
              <a:rPr sz="2409" kern="0" spc="-291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u="heavy" kern="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cấu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nếu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hàm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song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ánh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: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70556" marR="17846" defTabSz="917783">
              <a:lnSpc>
                <a:spcPts val="2559"/>
              </a:lnSpc>
              <a:spcBef>
                <a:spcPts val="642"/>
              </a:spcBef>
              <a:tabLst>
                <a:tab pos="2326326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f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: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7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36" dirty="0">
                <a:solidFill>
                  <a:sysClr val="windowText" lastClr="000000"/>
                </a:solidFill>
                <a:latin typeface="Wingdings"/>
                <a:cs typeface="Wingdings"/>
              </a:rPr>
              <a:t></a:t>
            </a:r>
            <a:r>
              <a:rPr sz="2409" kern="0" spc="6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37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	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sao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cho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Symbol"/>
                <a:cs typeface="Symbol"/>
              </a:rPr>
              <a:t></a:t>
            </a:r>
            <a:r>
              <a:rPr sz="2409" kern="0" spc="4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a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&amp;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37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2695" dirty="0">
                <a:solidFill>
                  <a:sysClr val="windowText" lastClr="000000"/>
                </a:solidFill>
                <a:latin typeface="Wingdings"/>
                <a:cs typeface="Wingdings"/>
              </a:rPr>
              <a:t>�</a:t>
            </a:r>
            <a:r>
              <a:rPr sz="2409" kern="0" spc="4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f(a)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&amp;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f(b)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spc="-37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2.</a:t>
            </a:r>
            <a:endParaRPr sz="2409" kern="0" baseline="-20833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71193" marR="291269" lvl="1" indent="-287445" algn="just" defTabSz="917783">
              <a:lnSpc>
                <a:spcPct val="89900"/>
              </a:lnSpc>
              <a:spcBef>
                <a:spcPts val="542"/>
              </a:spcBef>
              <a:buClr>
                <a:srgbClr val="1B9AD9"/>
              </a:buClr>
              <a:buFontTx/>
              <a:buChar char="■"/>
              <a:tabLst>
                <a:tab pos="771193" algn="l"/>
                <a:tab pos="910135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Wingdings"/>
                <a:cs typeface="Wingdings"/>
              </a:rPr>
              <a:t></a:t>
            </a:r>
            <a:r>
              <a:rPr sz="2409" kern="0" spc="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Tồn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tại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phép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tương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giữa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381" dirty="0">
                <a:solidFill>
                  <a:sysClr val="windowText" lastClr="000000"/>
                </a:solidFill>
                <a:latin typeface="Arial"/>
                <a:cs typeface="Arial"/>
              </a:rPr>
              <a:t>các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hai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thời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đảm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bảo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quan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hệ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liền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kề.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3156" y="4346799"/>
            <a:ext cx="4847127" cy="17973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58430" y="4985688"/>
            <a:ext cx="1786522" cy="637361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f(1)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a,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f(2)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b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/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f(3)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d,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f(4)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b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</a:t>
            </a:r>
            <a:r>
              <a:rPr spc="-55" dirty="0"/>
              <a:t> </a:t>
            </a:r>
            <a:r>
              <a:rPr dirty="0"/>
              <a:t>Sự</a:t>
            </a:r>
            <a:r>
              <a:rPr spc="-35" dirty="0"/>
              <a:t> </a:t>
            </a:r>
            <a:r>
              <a:rPr dirty="0"/>
              <a:t>đẳng</a:t>
            </a:r>
            <a:r>
              <a:rPr spc="-30" dirty="0"/>
              <a:t> </a:t>
            </a:r>
            <a:r>
              <a:rPr dirty="0"/>
              <a:t>cấu</a:t>
            </a:r>
            <a:r>
              <a:rPr spc="-40" dirty="0"/>
              <a:t> </a:t>
            </a:r>
            <a:r>
              <a:rPr dirty="0"/>
              <a:t>của</a:t>
            </a:r>
            <a:r>
              <a:rPr spc="-40" dirty="0"/>
              <a:t> </a:t>
            </a:r>
            <a:r>
              <a:rPr dirty="0"/>
              <a:t>các</a:t>
            </a:r>
            <a:r>
              <a:rPr spc="-35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spc="-25" dirty="0"/>
              <a:t>thị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160" y="946983"/>
            <a:ext cx="8086194" cy="1560307"/>
          </a:xfrm>
          <a:prstGeom prst="rect">
            <a:avLst/>
          </a:prstGeom>
        </p:spPr>
        <p:txBody>
          <a:bodyPr vert="horz" wrap="square" lIns="0" tIns="44615" rIns="0" bIns="0" rtlCol="0">
            <a:spAutoFit/>
          </a:bodyPr>
          <a:lstStyle/>
          <a:p>
            <a:pPr marL="356278" indent="-343531" defTabSz="917783">
              <a:spcBef>
                <a:spcPts val="351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Tính</a:t>
            </a:r>
            <a:r>
              <a:rPr sz="2810" kern="0" spc="-3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bất</a:t>
            </a:r>
            <a:r>
              <a:rPr sz="2810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biến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marR="5099" lvl="1" indent="-318675" defTabSz="917783">
              <a:lnSpc>
                <a:spcPts val="2590"/>
              </a:lnSpc>
              <a:spcBef>
                <a:spcPts val="55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Hai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đẳng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cấu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bất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kỳ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tính</a:t>
            </a:r>
            <a:r>
              <a:rPr sz="2409" kern="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chất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giống</a:t>
            </a:r>
            <a:r>
              <a:rPr sz="2409" kern="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nhau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(số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số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bậc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đỉnh,…).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Người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gọi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đó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tính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bất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biến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đẳng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cấu.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9673" y="3199549"/>
            <a:ext cx="6120153" cy="28107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</a:t>
            </a:r>
            <a:r>
              <a:rPr spc="-55" dirty="0"/>
              <a:t> </a:t>
            </a:r>
            <a:r>
              <a:rPr dirty="0"/>
              <a:t>Sự</a:t>
            </a:r>
            <a:r>
              <a:rPr spc="-35" dirty="0"/>
              <a:t> </a:t>
            </a:r>
            <a:r>
              <a:rPr dirty="0"/>
              <a:t>đẳng</a:t>
            </a:r>
            <a:r>
              <a:rPr spc="-30" dirty="0"/>
              <a:t> </a:t>
            </a:r>
            <a:r>
              <a:rPr dirty="0"/>
              <a:t>cấu</a:t>
            </a:r>
            <a:r>
              <a:rPr spc="-40" dirty="0"/>
              <a:t> </a:t>
            </a:r>
            <a:r>
              <a:rPr dirty="0"/>
              <a:t>của</a:t>
            </a:r>
            <a:r>
              <a:rPr spc="-40" dirty="0"/>
              <a:t> </a:t>
            </a:r>
            <a:r>
              <a:rPr dirty="0"/>
              <a:t>các</a:t>
            </a:r>
            <a:r>
              <a:rPr spc="-35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spc="-25" dirty="0"/>
              <a:t>thị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160" y="946983"/>
            <a:ext cx="7981029" cy="1283644"/>
          </a:xfrm>
          <a:prstGeom prst="rect">
            <a:avLst/>
          </a:prstGeom>
        </p:spPr>
        <p:txBody>
          <a:bodyPr vert="horz" wrap="square" lIns="0" tIns="44615" rIns="0" bIns="0" rtlCol="0">
            <a:spAutoFit/>
          </a:bodyPr>
          <a:lstStyle/>
          <a:p>
            <a:pPr marL="356278" indent="-343531" defTabSz="917783">
              <a:spcBef>
                <a:spcPts val="351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Chứng</a:t>
            </a:r>
            <a:r>
              <a:rPr sz="2810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minh</a:t>
            </a:r>
            <a:r>
              <a:rPr sz="2810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2</a:t>
            </a:r>
            <a:r>
              <a:rPr sz="2810" kern="0" spc="-3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đồ</a:t>
            </a:r>
            <a:r>
              <a:rPr sz="2810" kern="0" spc="-3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thị</a:t>
            </a:r>
            <a:r>
              <a:rPr sz="2810" kern="0" spc="-3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là</a:t>
            </a:r>
            <a:r>
              <a:rPr sz="2810" kern="0" spc="-3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đẳng</a:t>
            </a:r>
            <a:r>
              <a:rPr sz="2810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cấu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318675" defTabSz="917783">
              <a:spcBef>
                <a:spcPts val="216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Tìm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ánh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xạ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f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tương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giữa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318675" defTabSz="917783">
              <a:spcBef>
                <a:spcPts val="281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So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ma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trận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liền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tạo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ra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dựa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trên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ánh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xạ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f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2750" y="2970100"/>
            <a:ext cx="6569493" cy="313581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1"/>
            <a:ext cx="10830883" cy="50836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>
              <a:spcBef>
                <a:spcPts val="95"/>
              </a:spcBef>
            </a:pPr>
            <a:r>
              <a:rPr sz="3212" dirty="0"/>
              <a:t>Nội</a:t>
            </a:r>
            <a:r>
              <a:rPr sz="3212" spc="-25" dirty="0"/>
              <a:t> </a:t>
            </a:r>
            <a:r>
              <a:rPr sz="3212" spc="-20" dirty="0"/>
              <a:t>dung</a:t>
            </a:r>
            <a:endParaRPr sz="3212"/>
          </a:p>
        </p:txBody>
      </p:sp>
      <p:sp>
        <p:nvSpPr>
          <p:cNvPr id="3" name="object 3"/>
          <p:cNvSpPr/>
          <p:nvPr/>
        </p:nvSpPr>
        <p:spPr>
          <a:xfrm>
            <a:off x="2883703" y="2415596"/>
            <a:ext cx="4882182" cy="434042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23922" y="2461741"/>
            <a:ext cx="3340407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Sự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đẳng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cấu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69362" y="1732027"/>
            <a:ext cx="4910863" cy="1813291"/>
            <a:chOff x="1344612" y="1725612"/>
            <a:chExt cx="4892675" cy="1806575"/>
          </a:xfrm>
        </p:grpSpPr>
        <p:sp>
          <p:nvSpPr>
            <p:cNvPr id="6" name="object 6"/>
            <p:cNvSpPr/>
            <p:nvPr/>
          </p:nvSpPr>
          <p:spPr>
            <a:xfrm>
              <a:off x="1358900" y="3079496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9455"/>
                  </a:moveTo>
                  <a:lnTo>
                    <a:pt x="4858089" y="169150"/>
                  </a:lnTo>
                  <a:lnTo>
                    <a:pt x="4841683" y="122964"/>
                  </a:lnTo>
                  <a:lnTo>
                    <a:pt x="4815919" y="82216"/>
                  </a:lnTo>
                  <a:lnTo>
                    <a:pt x="4782092" y="48225"/>
                  </a:lnTo>
                  <a:lnTo>
                    <a:pt x="4741492" y="22313"/>
                  </a:lnTo>
                  <a:lnTo>
                    <a:pt x="4695415" y="5798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98"/>
                  </a:lnTo>
                  <a:lnTo>
                    <a:pt x="122686" y="22313"/>
                  </a:lnTo>
                  <a:lnTo>
                    <a:pt x="82073" y="48225"/>
                  </a:lnTo>
                  <a:lnTo>
                    <a:pt x="48165" y="82216"/>
                  </a:lnTo>
                  <a:lnTo>
                    <a:pt x="22295" y="122964"/>
                  </a:lnTo>
                  <a:lnTo>
                    <a:pt x="5796" y="169150"/>
                  </a:lnTo>
                  <a:lnTo>
                    <a:pt x="0" y="219456"/>
                  </a:lnTo>
                  <a:lnTo>
                    <a:pt x="5796" y="269719"/>
                  </a:lnTo>
                  <a:lnTo>
                    <a:pt x="22295" y="315796"/>
                  </a:lnTo>
                  <a:lnTo>
                    <a:pt x="48165" y="356396"/>
                  </a:lnTo>
                  <a:lnTo>
                    <a:pt x="82073" y="390223"/>
                  </a:lnTo>
                  <a:lnTo>
                    <a:pt x="122686" y="415987"/>
                  </a:lnTo>
                  <a:lnTo>
                    <a:pt x="168670" y="432393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93"/>
                  </a:lnTo>
                  <a:lnTo>
                    <a:pt x="4741492" y="415987"/>
                  </a:lnTo>
                  <a:lnTo>
                    <a:pt x="4782092" y="390223"/>
                  </a:lnTo>
                  <a:lnTo>
                    <a:pt x="4815919" y="356396"/>
                  </a:lnTo>
                  <a:lnTo>
                    <a:pt x="4841683" y="315796"/>
                  </a:lnTo>
                  <a:lnTo>
                    <a:pt x="4858089" y="269719"/>
                  </a:lnTo>
                  <a:lnTo>
                    <a:pt x="4863846" y="219455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358900" y="3079496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98"/>
                  </a:lnTo>
                  <a:lnTo>
                    <a:pt x="122686" y="22313"/>
                  </a:lnTo>
                  <a:lnTo>
                    <a:pt x="82073" y="48225"/>
                  </a:lnTo>
                  <a:lnTo>
                    <a:pt x="48165" y="82216"/>
                  </a:lnTo>
                  <a:lnTo>
                    <a:pt x="22295" y="122964"/>
                  </a:lnTo>
                  <a:lnTo>
                    <a:pt x="5796" y="169150"/>
                  </a:lnTo>
                  <a:lnTo>
                    <a:pt x="0" y="219456"/>
                  </a:lnTo>
                  <a:lnTo>
                    <a:pt x="5796" y="269719"/>
                  </a:lnTo>
                  <a:lnTo>
                    <a:pt x="22295" y="315796"/>
                  </a:lnTo>
                  <a:lnTo>
                    <a:pt x="48165" y="356396"/>
                  </a:lnTo>
                  <a:lnTo>
                    <a:pt x="82073" y="390223"/>
                  </a:lnTo>
                  <a:lnTo>
                    <a:pt x="122686" y="415987"/>
                  </a:lnTo>
                  <a:lnTo>
                    <a:pt x="168670" y="432393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93"/>
                  </a:lnTo>
                  <a:lnTo>
                    <a:pt x="4741492" y="415987"/>
                  </a:lnTo>
                  <a:lnTo>
                    <a:pt x="4782092" y="390223"/>
                  </a:lnTo>
                  <a:lnTo>
                    <a:pt x="4815919" y="356396"/>
                  </a:lnTo>
                  <a:lnTo>
                    <a:pt x="4841683" y="315796"/>
                  </a:lnTo>
                  <a:lnTo>
                    <a:pt x="4858089" y="269719"/>
                  </a:lnTo>
                  <a:lnTo>
                    <a:pt x="4863846" y="219455"/>
                  </a:lnTo>
                  <a:lnTo>
                    <a:pt x="4858089" y="169150"/>
                  </a:lnTo>
                  <a:lnTo>
                    <a:pt x="4841683" y="122964"/>
                  </a:lnTo>
                  <a:lnTo>
                    <a:pt x="4815919" y="82216"/>
                  </a:lnTo>
                  <a:lnTo>
                    <a:pt x="4782092" y="48225"/>
                  </a:lnTo>
                  <a:lnTo>
                    <a:pt x="4741492" y="22313"/>
                  </a:lnTo>
                  <a:lnTo>
                    <a:pt x="4695415" y="5798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358900" y="17399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25452" y="1796336"/>
            <a:ext cx="3098847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cách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biểu</a:t>
            </a:r>
            <a:r>
              <a:rPr sz="2007" b="1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diễn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007" b="1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39054" y="1569011"/>
            <a:ext cx="5641279" cy="1983466"/>
            <a:chOff x="617009" y="1563200"/>
            <a:chExt cx="5620385" cy="19761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58900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23922" y="3150091"/>
            <a:ext cx="2290674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Hướng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dẫn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cài</a:t>
            </a:r>
            <a:r>
              <a:rPr sz="2007" b="1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đặt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139054" y="2945710"/>
            <a:ext cx="766107" cy="669229"/>
            <a:chOff x="617009" y="2934800"/>
            <a:chExt cx="763270" cy="66675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934800"/>
              <a:ext cx="763250" cy="66619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995676"/>
              <a:ext cx="352806" cy="33680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316452" y="1462564"/>
            <a:ext cx="478657" cy="2090543"/>
          </a:xfrm>
          <a:prstGeom prst="rect">
            <a:avLst/>
          </a:prstGeom>
        </p:spPr>
        <p:txBody>
          <a:bodyPr vert="horz" wrap="square" lIns="0" tIns="211604" rIns="0" bIns="0" rtlCol="0">
            <a:spAutoFit/>
          </a:bodyPr>
          <a:lstStyle/>
          <a:p>
            <a:pPr marL="124283" defTabSz="917783">
              <a:spcBef>
                <a:spcPts val="1666"/>
              </a:spcBef>
            </a:pPr>
            <a:r>
              <a:rPr sz="3212" b="1" kern="0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12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marR="5099" indent="55448" defTabSz="917783">
              <a:lnSpc>
                <a:spcPct val="140600"/>
              </a:lnSpc>
            </a:pPr>
            <a:r>
              <a:rPr sz="3212" b="1" kern="0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12" b="1" kern="0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1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52712" y="6551109"/>
            <a:ext cx="1446809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15753" y="6580443"/>
            <a:ext cx="20778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004" b="1" kern="0" spc="-25" dirty="0">
                <a:solidFill>
                  <a:srgbClr val="1D528E"/>
                </a:solidFill>
                <a:latin typeface="Verdana"/>
                <a:cs typeface="Verdana"/>
              </a:rPr>
              <a:t>25</a:t>
            </a:r>
            <a:endParaRPr sz="1004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III.</a:t>
            </a:r>
            <a:r>
              <a:rPr spc="-60" dirty="0"/>
              <a:t> </a:t>
            </a:r>
            <a:r>
              <a:rPr dirty="0"/>
              <a:t>Hướng</a:t>
            </a:r>
            <a:r>
              <a:rPr spc="-40" dirty="0"/>
              <a:t> </a:t>
            </a:r>
            <a:r>
              <a:rPr dirty="0"/>
              <a:t>dẫn</a:t>
            </a:r>
            <a:r>
              <a:rPr spc="-50" dirty="0"/>
              <a:t> </a:t>
            </a:r>
            <a:r>
              <a:rPr dirty="0"/>
              <a:t>cài</a:t>
            </a:r>
            <a:r>
              <a:rPr spc="-45" dirty="0"/>
              <a:t> </a:t>
            </a:r>
            <a:r>
              <a:rPr spc="-25" dirty="0"/>
              <a:t>đặt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5753" y="6580443"/>
            <a:ext cx="20778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004" b="1" kern="0" spc="-25" dirty="0">
                <a:solidFill>
                  <a:srgbClr val="1D528E"/>
                </a:solidFill>
                <a:latin typeface="Verdana"/>
                <a:cs typeface="Verdana"/>
              </a:rPr>
              <a:t>26</a:t>
            </a:r>
            <a:endParaRPr sz="1004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120517" y="1004630"/>
            <a:ext cx="10764754" cy="2868072"/>
          </a:xfrm>
          <a:prstGeom prst="rect">
            <a:avLst/>
          </a:prstGeom>
        </p:spPr>
        <p:txBody>
          <a:bodyPr vert="horz" wrap="square" lIns="0" tIns="323270" rIns="0" bIns="0" rtlCol="0">
            <a:spAutoFit/>
          </a:bodyPr>
          <a:lstStyle/>
          <a:p>
            <a:pPr marL="757809" indent="-293181">
              <a:spcBef>
                <a:spcPts val="672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757809" algn="l"/>
              </a:tabLst>
            </a:pPr>
            <a:r>
              <a:rPr i="0" dirty="0">
                <a:latin typeface="Arial"/>
                <a:cs typeface="Arial"/>
              </a:rPr>
              <a:t>Khai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báo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spc="-20" dirty="0">
                <a:latin typeface="Arial"/>
                <a:cs typeface="Arial"/>
              </a:rPr>
              <a:t>file</a:t>
            </a:r>
          </a:p>
          <a:p>
            <a:pPr marL="757171" marR="31867" indent="-293181">
              <a:spcBef>
                <a:spcPts val="572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757171" algn="l"/>
              </a:tabLst>
            </a:pPr>
            <a:r>
              <a:rPr i="0" dirty="0">
                <a:latin typeface="Arial"/>
                <a:cs typeface="Arial"/>
              </a:rPr>
              <a:t>Kết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nối</a:t>
            </a:r>
            <a:r>
              <a:rPr i="0" spc="-3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biến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file</a:t>
            </a:r>
            <a:r>
              <a:rPr i="0" spc="-3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với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tên</a:t>
            </a:r>
            <a:r>
              <a:rPr i="0" spc="-3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thực</a:t>
            </a:r>
            <a:r>
              <a:rPr i="0" spc="-3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của</a:t>
            </a:r>
            <a:r>
              <a:rPr i="0" spc="-3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file</a:t>
            </a:r>
            <a:r>
              <a:rPr i="0" spc="-3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ở</a:t>
            </a:r>
            <a:r>
              <a:rPr i="0" spc="-3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trên</a:t>
            </a:r>
            <a:r>
              <a:rPr i="0" spc="-3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đĩa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spc="-10" dirty="0">
                <a:latin typeface="Arial"/>
                <a:cs typeface="Arial"/>
              </a:rPr>
              <a:t>(floppy </a:t>
            </a:r>
            <a:r>
              <a:rPr i="0" dirty="0">
                <a:latin typeface="Arial"/>
                <a:cs typeface="Arial"/>
              </a:rPr>
              <a:t>or</a:t>
            </a:r>
            <a:r>
              <a:rPr i="0" spc="-3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hard</a:t>
            </a:r>
            <a:r>
              <a:rPr i="0" spc="-30" dirty="0">
                <a:latin typeface="Arial"/>
                <a:cs typeface="Arial"/>
              </a:rPr>
              <a:t> </a:t>
            </a:r>
            <a:r>
              <a:rPr i="0" spc="-20" dirty="0">
                <a:latin typeface="Arial"/>
                <a:cs typeface="Arial"/>
              </a:rPr>
              <a:t>disk)</a:t>
            </a:r>
          </a:p>
          <a:p>
            <a:pPr marL="757809" indent="-293181">
              <a:spcBef>
                <a:spcPts val="562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757809" algn="l"/>
              </a:tabLst>
            </a:pPr>
            <a:r>
              <a:rPr i="0" dirty="0">
                <a:latin typeface="Arial"/>
                <a:cs typeface="Arial"/>
              </a:rPr>
              <a:t>Mở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file,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đóng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spc="-20" dirty="0">
                <a:latin typeface="Arial"/>
                <a:cs typeface="Arial"/>
              </a:rPr>
              <a:t>file</a:t>
            </a:r>
          </a:p>
          <a:p>
            <a:pPr marL="757809" indent="-293181">
              <a:spcBef>
                <a:spcPts val="572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757809" algn="l"/>
              </a:tabLst>
            </a:pPr>
            <a:r>
              <a:rPr i="0" dirty="0">
                <a:latin typeface="Arial"/>
                <a:cs typeface="Arial"/>
              </a:rPr>
              <a:t>Đọc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thông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tin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từ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file</a:t>
            </a:r>
            <a:r>
              <a:rPr i="0" spc="-3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và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ghi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thông</a:t>
            </a:r>
            <a:r>
              <a:rPr i="0" spc="-3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tin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vào</a:t>
            </a:r>
            <a:r>
              <a:rPr i="0" spc="-35" dirty="0">
                <a:latin typeface="Arial"/>
                <a:cs typeface="Arial"/>
              </a:rPr>
              <a:t> </a:t>
            </a:r>
            <a:r>
              <a:rPr i="0" spc="-20" dirty="0">
                <a:latin typeface="Arial"/>
                <a:cs typeface="Arial"/>
              </a:rPr>
              <a:t>file</a:t>
            </a:r>
          </a:p>
          <a:p>
            <a:pPr marL="757809" marR="5099" indent="-293181">
              <a:spcBef>
                <a:spcPts val="572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757809" algn="l"/>
              </a:tabLst>
            </a:pPr>
            <a:r>
              <a:rPr i="0" dirty="0">
                <a:latin typeface="Arial"/>
                <a:cs typeface="Arial"/>
              </a:rPr>
              <a:t>Để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hiểu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tốt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danh</a:t>
            </a:r>
            <a:r>
              <a:rPr i="0" spc="-3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sách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kề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liên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kết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cần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tham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khảo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spc="-20" dirty="0">
                <a:latin typeface="Arial"/>
                <a:cs typeface="Arial"/>
              </a:rPr>
              <a:t>phần </a:t>
            </a:r>
            <a:r>
              <a:rPr i="0" dirty="0">
                <a:latin typeface="Arial"/>
                <a:cs typeface="Arial"/>
              </a:rPr>
              <a:t>biến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con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trỏ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trong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các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tài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liệu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về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lập</a:t>
            </a:r>
            <a:r>
              <a:rPr i="0" spc="-40" dirty="0">
                <a:latin typeface="Arial"/>
                <a:cs typeface="Arial"/>
              </a:rPr>
              <a:t> </a:t>
            </a:r>
            <a:r>
              <a:rPr i="0" spc="-10" dirty="0">
                <a:latin typeface="Arial"/>
                <a:cs typeface="Arial"/>
              </a:rPr>
              <a:t>trình.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8F7F1-01E5-DAFE-FC76-82B33DA80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1286" y="522635"/>
            <a:ext cx="7265911" cy="1302101"/>
          </a:xfrm>
        </p:spPr>
        <p:txBody>
          <a:bodyPr/>
          <a:lstStyle/>
          <a:p>
            <a:pPr marL="458892" indent="-458892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C00000"/>
                </a:solidFill>
              </a:rPr>
              <a:t>Thực hành 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04452-4983-4218-E13B-1DF303C0B088}"/>
              </a:ext>
            </a:extLst>
          </p:cNvPr>
          <p:cNvSpPr txBox="1"/>
          <p:nvPr/>
        </p:nvSpPr>
        <p:spPr>
          <a:xfrm>
            <a:off x="2501287" y="1363952"/>
            <a:ext cx="6597593" cy="268761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spAutoFit/>
          </a:bodyPr>
          <a:lstStyle/>
          <a:p>
            <a:pPr marL="286807" indent="-286807" defTabSz="917783">
              <a:buFont typeface="Arial" panose="020B0604020202020204" pitchFamily="34" charset="0"/>
              <a:buChar char="•"/>
            </a:pPr>
            <a:r>
              <a:rPr lang="en-US" sz="2409" b="1" kern="0">
                <a:solidFill>
                  <a:sysClr val="windowText" lastClr="000000"/>
                </a:solidFill>
                <a:latin typeface="Calibri"/>
              </a:rPr>
              <a:t>Viết chương trình duyệt đồ thị:</a:t>
            </a:r>
            <a:br>
              <a:rPr lang="en-US" sz="2409" b="1" kern="0">
                <a:solidFill>
                  <a:sysClr val="windowText" lastClr="000000"/>
                </a:solidFill>
                <a:latin typeface="Calibri"/>
              </a:rPr>
            </a:br>
            <a:r>
              <a:rPr lang="en-US" sz="2409" kern="0">
                <a:solidFill>
                  <a:sysClr val="windowText" lastClr="000000"/>
                </a:solidFill>
                <a:latin typeface="Calibri"/>
              </a:rPr>
              <a:t>* Theo chiều rộng </a:t>
            </a:r>
            <a:br>
              <a:rPr lang="en-US" sz="2409" kern="0">
                <a:solidFill>
                  <a:sysClr val="windowText" lastClr="000000"/>
                </a:solidFill>
                <a:latin typeface="Calibri"/>
              </a:rPr>
            </a:br>
            <a:r>
              <a:rPr lang="en-US" sz="2409" kern="0">
                <a:solidFill>
                  <a:sysClr val="windowText" lastClr="000000"/>
                </a:solidFill>
                <a:latin typeface="Calibri"/>
              </a:rPr>
              <a:t>* Theo chiều sâu</a:t>
            </a:r>
            <a:br>
              <a:rPr lang="en-US" sz="2409" kern="0">
                <a:solidFill>
                  <a:sysClr val="windowText" lastClr="000000"/>
                </a:solidFill>
                <a:latin typeface="Calibri"/>
              </a:rPr>
            </a:br>
            <a:r>
              <a:rPr lang="en-US" sz="2409" kern="0">
                <a:solidFill>
                  <a:sysClr val="windowText" lastClr="000000"/>
                </a:solidFill>
                <a:latin typeface="Calibri"/>
              </a:rPr>
              <a:t>sử dụng ngôn ngữ C/C++</a:t>
            </a:r>
          </a:p>
          <a:p>
            <a:pPr marL="344169" indent="-344169" defTabSz="917783">
              <a:buFont typeface="Arial" panose="020B0604020202020204" pitchFamily="34" charset="0"/>
              <a:buChar char="•"/>
            </a:pPr>
            <a:r>
              <a:rPr lang="en-US" sz="2409" b="1" kern="0">
                <a:solidFill>
                  <a:sysClr val="windowText" lastClr="000000"/>
                </a:solidFill>
                <a:latin typeface="Calibri"/>
              </a:rPr>
              <a:t>Biểu diễn đồ thị:</a:t>
            </a:r>
          </a:p>
          <a:p>
            <a:pPr marL="0" lvl="3" defTabSz="917783"/>
            <a:r>
              <a:rPr lang="en-US" sz="2409" kern="0">
                <a:solidFill>
                  <a:sysClr val="windowText" lastClr="000000"/>
                </a:solidFill>
                <a:latin typeface="Calibri"/>
              </a:rPr>
              <a:t>     * Theo Ma trận kề</a:t>
            </a:r>
          </a:p>
          <a:p>
            <a:pPr marL="0" lvl="3" defTabSz="917783"/>
            <a:r>
              <a:rPr lang="en-US" sz="2409" kern="0">
                <a:solidFill>
                  <a:sysClr val="windowText" lastClr="000000"/>
                </a:solidFill>
                <a:latin typeface="Calibri"/>
              </a:rPr>
              <a:t>     * Theo danh sách kề </a:t>
            </a:r>
          </a:p>
        </p:txBody>
      </p:sp>
    </p:spTree>
    <p:extLst>
      <p:ext uri="{BB962C8B-B14F-4D97-AF65-F5344CB8AC3E}">
        <p14:creationId xmlns:p14="http://schemas.microsoft.com/office/powerpoint/2010/main" val="3227847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19751" y="0"/>
            <a:ext cx="9152498" cy="6858000"/>
            <a:chOff x="0" y="0"/>
            <a:chExt cx="9118600" cy="6832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18600" cy="6832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15315" cy="11455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16681" y="3782607"/>
            <a:ext cx="4911501" cy="5053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3200" b="1">
                <a:solidFill>
                  <a:srgbClr val="FF3300"/>
                </a:solidFill>
              </a:rPr>
              <a:t>Tìm</a:t>
            </a:r>
            <a:r>
              <a:rPr sz="3200" b="1" spc="-40">
                <a:solidFill>
                  <a:srgbClr val="FF3300"/>
                </a:solidFill>
              </a:rPr>
              <a:t> </a:t>
            </a:r>
            <a:r>
              <a:rPr sz="3200" b="1" dirty="0">
                <a:solidFill>
                  <a:srgbClr val="FF3300"/>
                </a:solidFill>
              </a:rPr>
              <a:t>kiếm</a:t>
            </a:r>
            <a:r>
              <a:rPr sz="3200" b="1" spc="-40" dirty="0">
                <a:solidFill>
                  <a:srgbClr val="FF3300"/>
                </a:solidFill>
              </a:rPr>
              <a:t> </a:t>
            </a:r>
            <a:r>
              <a:rPr sz="3200" b="1" dirty="0">
                <a:solidFill>
                  <a:srgbClr val="FF3300"/>
                </a:solidFill>
              </a:rPr>
              <a:t>trên</a:t>
            </a:r>
            <a:r>
              <a:rPr sz="3200" b="1" spc="-40" dirty="0">
                <a:solidFill>
                  <a:srgbClr val="FF3300"/>
                </a:solidFill>
              </a:rPr>
              <a:t> </a:t>
            </a:r>
            <a:r>
              <a:rPr sz="3200" b="1" dirty="0">
                <a:solidFill>
                  <a:srgbClr val="FF3300"/>
                </a:solidFill>
              </a:rPr>
              <a:t>đồ</a:t>
            </a:r>
            <a:r>
              <a:rPr sz="3200" b="1" spc="-35" dirty="0">
                <a:solidFill>
                  <a:srgbClr val="FF3300"/>
                </a:solidFill>
              </a:rPr>
              <a:t> </a:t>
            </a:r>
            <a:r>
              <a:rPr sz="3200" b="1" spc="-25" dirty="0">
                <a:solidFill>
                  <a:srgbClr val="FF3300"/>
                </a:solidFill>
              </a:rPr>
              <a:t>thị</a:t>
            </a:r>
            <a:endParaRPr sz="3200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251" y="6558949"/>
            <a:ext cx="2961177" cy="229245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22970" y="331381"/>
            <a:ext cx="10830883" cy="50836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>
              <a:spcBef>
                <a:spcPts val="95"/>
              </a:spcBef>
            </a:pPr>
            <a:r>
              <a:rPr sz="3212" dirty="0"/>
              <a:t>Nội</a:t>
            </a:r>
            <a:r>
              <a:rPr sz="3212" spc="-25" dirty="0"/>
              <a:t> </a:t>
            </a:r>
            <a:r>
              <a:rPr sz="3212" spc="-20" dirty="0"/>
              <a:t>dung</a:t>
            </a:r>
            <a:endParaRPr sz="3212"/>
          </a:p>
        </p:txBody>
      </p:sp>
      <p:grpSp>
        <p:nvGrpSpPr>
          <p:cNvPr id="4" name="object 4"/>
          <p:cNvGrpSpPr/>
          <p:nvPr/>
        </p:nvGrpSpPr>
        <p:grpSpPr>
          <a:xfrm>
            <a:off x="2869362" y="1732027"/>
            <a:ext cx="4910863" cy="1131952"/>
            <a:chOff x="1344612" y="1725612"/>
            <a:chExt cx="4892675" cy="1127760"/>
          </a:xfrm>
        </p:grpSpPr>
        <p:sp>
          <p:nvSpPr>
            <p:cNvPr id="5" name="object 5"/>
            <p:cNvSpPr/>
            <p:nvPr/>
          </p:nvSpPr>
          <p:spPr>
            <a:xfrm>
              <a:off x="1358899" y="17399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8693"/>
                  </a:move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358899" y="17399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358899" y="24066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23922" y="2461741"/>
            <a:ext cx="3479989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Duyệt</a:t>
            </a:r>
            <a:r>
              <a:rPr sz="2007" b="1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007" b="1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theo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chiều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rộng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83703" y="1746368"/>
            <a:ext cx="4882182" cy="439779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25452" y="1796336"/>
            <a:ext cx="3353791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Duyệt</a:t>
            </a:r>
            <a:r>
              <a:rPr sz="2007" b="1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007" b="1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theo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chiều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sâu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39054" y="1569011"/>
            <a:ext cx="5654026" cy="1983466"/>
            <a:chOff x="617009" y="1563200"/>
            <a:chExt cx="5633085" cy="197612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371854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031" y="5707"/>
                  </a:lnTo>
                  <a:lnTo>
                    <a:pt x="120575" y="21958"/>
                  </a:lnTo>
                  <a:lnTo>
                    <a:pt x="80545" y="47446"/>
                  </a:lnTo>
                  <a:lnTo>
                    <a:pt x="47206" y="80865"/>
                  </a:lnTo>
                  <a:lnTo>
                    <a:pt x="21824" y="120909"/>
                  </a:lnTo>
                  <a:lnTo>
                    <a:pt x="5667" y="166271"/>
                  </a:lnTo>
                  <a:lnTo>
                    <a:pt x="0" y="215646"/>
                  </a:lnTo>
                  <a:lnTo>
                    <a:pt x="5667" y="265302"/>
                  </a:lnTo>
                  <a:lnTo>
                    <a:pt x="21824" y="310867"/>
                  </a:lnTo>
                  <a:lnTo>
                    <a:pt x="47206" y="351046"/>
                  </a:lnTo>
                  <a:lnTo>
                    <a:pt x="80545" y="384547"/>
                  </a:lnTo>
                  <a:lnTo>
                    <a:pt x="120575" y="410078"/>
                  </a:lnTo>
                  <a:lnTo>
                    <a:pt x="16603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36924" y="3150091"/>
            <a:ext cx="1679445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Tìm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đường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đi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151399" y="2945710"/>
            <a:ext cx="766745" cy="669229"/>
            <a:chOff x="629308" y="2934800"/>
            <a:chExt cx="763905" cy="66675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2934800"/>
              <a:ext cx="763583" cy="66619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2995676"/>
              <a:ext cx="352044" cy="336803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2883702" y="3868779"/>
            <a:ext cx="4882182" cy="434042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23922" y="3914922"/>
            <a:ext cx="2868760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Kiểm</a:t>
            </a:r>
            <a:r>
              <a:rPr sz="2007" b="1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tra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tính</a:t>
            </a:r>
            <a:r>
              <a:rPr sz="2007" b="1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007" b="1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thông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139054" y="3710543"/>
            <a:ext cx="766107" cy="669229"/>
            <a:chOff x="617009" y="3696800"/>
            <a:chExt cx="763270" cy="66675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2292741" y="1462565"/>
            <a:ext cx="525185" cy="2888280"/>
          </a:xfrm>
          <a:prstGeom prst="rect">
            <a:avLst/>
          </a:prstGeom>
        </p:spPr>
        <p:txBody>
          <a:bodyPr vert="horz" wrap="square" lIns="0" tIns="211604" rIns="0" bIns="0" rtlCol="0">
            <a:spAutoFit/>
          </a:bodyPr>
          <a:lstStyle/>
          <a:p>
            <a:pPr marL="147865" defTabSz="917783">
              <a:spcBef>
                <a:spcPts val="1666"/>
              </a:spcBef>
            </a:pPr>
            <a:r>
              <a:rPr sz="3212" b="1" kern="0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12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9076" marR="14022" indent="42702" defTabSz="917783">
              <a:lnSpc>
                <a:spcPct val="140600"/>
              </a:lnSpc>
            </a:pPr>
            <a:r>
              <a:rPr sz="3212" b="1" kern="0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12" b="1" kern="0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12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2168"/>
              </a:spcBef>
            </a:pPr>
            <a:r>
              <a:rPr sz="3212" b="1" kern="0" spc="-25" dirty="0">
                <a:solidFill>
                  <a:srgbClr val="FFFFFF"/>
                </a:solidFill>
                <a:latin typeface="Arial"/>
                <a:cs typeface="Arial"/>
              </a:rPr>
              <a:t>IV.</a:t>
            </a:r>
            <a:endParaRPr sz="321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52712" y="6552067"/>
            <a:ext cx="1446809" cy="229245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60879" y="6581129"/>
            <a:ext cx="116637" cy="167976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004" b="1" kern="0" spc="-5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endParaRPr sz="1004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</a:t>
            </a:r>
            <a:r>
              <a:rPr spc="-3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25" dirty="0"/>
              <a:t> </a:t>
            </a:r>
            <a:r>
              <a:rPr dirty="0"/>
              <a:t>thị</a:t>
            </a:r>
            <a:r>
              <a:rPr spc="-35" dirty="0"/>
              <a:t> </a:t>
            </a:r>
            <a:r>
              <a:rPr dirty="0"/>
              <a:t>theo</a:t>
            </a:r>
            <a:r>
              <a:rPr spc="-20" dirty="0"/>
              <a:t> </a:t>
            </a:r>
            <a:r>
              <a:rPr dirty="0"/>
              <a:t>chiều</a:t>
            </a:r>
            <a:r>
              <a:rPr spc="-25" dirty="0"/>
              <a:t> sâu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192" y="936707"/>
            <a:ext cx="8000150" cy="2603558"/>
          </a:xfrm>
          <a:prstGeom prst="rect">
            <a:avLst/>
          </a:prstGeom>
        </p:spPr>
        <p:txBody>
          <a:bodyPr vert="horz" wrap="square" lIns="0" tIns="89230" rIns="0" bIns="0" rtlCol="0">
            <a:spAutoFit/>
          </a:bodyPr>
          <a:lstStyle/>
          <a:p>
            <a:pPr marL="356278" indent="-343531" defTabSz="917783">
              <a:spcBef>
                <a:spcPts val="703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Giới</a:t>
            </a:r>
            <a:r>
              <a:rPr sz="2810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10" dirty="0">
                <a:solidFill>
                  <a:sysClr val="windowText" lastClr="000000"/>
                </a:solidFill>
                <a:latin typeface="Verdana"/>
                <a:cs typeface="Verdana"/>
              </a:rPr>
              <a:t>thiệu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6534" marR="5099" lvl="1" indent="-317400" defTabSz="917783">
              <a:spcBef>
                <a:spcPts val="517"/>
              </a:spcBef>
              <a:buFont typeface="Wingdings"/>
              <a:buChar char="■"/>
              <a:tabLst>
                <a:tab pos="756534" algn="l"/>
                <a:tab pos="757809" algn="l"/>
              </a:tabLst>
            </a:pPr>
            <a:r>
              <a:rPr sz="2409" kern="0" dirty="0">
                <a:solidFill>
                  <a:srgbClr val="1B9AD9"/>
                </a:solidFill>
                <a:latin typeface="Times New Roman"/>
                <a:cs typeface="Times New Roman"/>
              </a:rPr>
              <a:t>	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Duyệt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quá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trình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qua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tất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cả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đồ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sao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cho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mỗi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nó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được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viếng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thăm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đúng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lần.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318675" defTabSz="917783">
              <a:spcBef>
                <a:spcPts val="55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Duyệt</a:t>
            </a:r>
            <a:r>
              <a:rPr sz="2409" kern="0" spc="-6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theo</a:t>
            </a:r>
            <a:r>
              <a:rPr sz="2409" kern="0" spc="-6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chiều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sâu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(Depth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First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Search</a:t>
            </a:r>
            <a:r>
              <a:rPr sz="2409" kern="0" spc="-6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–</a:t>
            </a:r>
            <a:r>
              <a:rPr sz="2409" kern="0" spc="-6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DFS)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Duyệt</a:t>
            </a:r>
            <a:r>
              <a:rPr sz="2409" kern="0" spc="-6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theo</a:t>
            </a:r>
            <a:r>
              <a:rPr sz="2409" kern="0" spc="-6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chiều</a:t>
            </a:r>
            <a:r>
              <a:rPr sz="2409" kern="0" spc="-6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rộng</a:t>
            </a:r>
            <a:r>
              <a:rPr sz="2409" kern="0" spc="-6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(Breadth</a:t>
            </a:r>
            <a:r>
              <a:rPr sz="2409" kern="0" spc="-6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First</a:t>
            </a:r>
            <a:r>
              <a:rPr sz="2409" kern="0" spc="-6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Search</a:t>
            </a:r>
            <a:r>
              <a:rPr sz="2409" kern="0" spc="-6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–</a:t>
            </a:r>
            <a:r>
              <a:rPr sz="2409" kern="0" spc="-6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BFS)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5701" y="361511"/>
            <a:ext cx="5400356" cy="454438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</a:t>
            </a:r>
            <a:r>
              <a:rPr spc="-3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25" dirty="0"/>
              <a:t> </a:t>
            </a:r>
            <a:r>
              <a:rPr dirty="0"/>
              <a:t>thị</a:t>
            </a:r>
            <a:r>
              <a:rPr spc="-35" dirty="0"/>
              <a:t> </a:t>
            </a:r>
            <a:r>
              <a:rPr dirty="0"/>
              <a:t>theo</a:t>
            </a:r>
            <a:r>
              <a:rPr spc="-20" dirty="0"/>
              <a:t> </a:t>
            </a:r>
            <a:r>
              <a:rPr dirty="0"/>
              <a:t>chiều</a:t>
            </a:r>
            <a:r>
              <a:rPr spc="-25" dirty="0"/>
              <a:t> sâu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6214" y="783713"/>
            <a:ext cx="8368545" cy="2975679"/>
          </a:xfrm>
          <a:prstGeom prst="rect">
            <a:avLst/>
          </a:prstGeom>
        </p:spPr>
        <p:txBody>
          <a:bodyPr vert="horz" wrap="square" lIns="0" tIns="89230" rIns="0" bIns="0" rtlCol="0">
            <a:spAutoFit/>
          </a:bodyPr>
          <a:lstStyle/>
          <a:p>
            <a:pPr marL="356278" indent="-343531" defTabSz="917783">
              <a:spcBef>
                <a:spcPts val="703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Nguyên</a:t>
            </a:r>
            <a:r>
              <a:rPr sz="2810" kern="0" spc="-10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lý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318675" defTabSz="917783">
              <a:spcBef>
                <a:spcPts val="51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Bắt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tìm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kiếm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từ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nào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đó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thị.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marR="314213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Sau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đó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chọn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tùy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ý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(với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có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hướng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thì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sau,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cung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uv)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marR="5099" lvl="1" indent="-318675" defTabSz="917783">
              <a:spcBef>
                <a:spcPts val="56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Lặp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lại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quá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trình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này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cho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đến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khi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không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tìm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được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tiếp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theo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nữa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thì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trở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về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đỉnh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ngay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trước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đỉnh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rgbClr val="FF3300"/>
                </a:solidFill>
                <a:latin typeface="Arial"/>
                <a:cs typeface="Arial"/>
              </a:rPr>
              <a:t>mà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không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thể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đi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tiếp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để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tìm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qua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nhánh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rgbClr val="FF3300"/>
                </a:solidFill>
                <a:latin typeface="Arial"/>
                <a:cs typeface="Arial"/>
              </a:rPr>
              <a:t>khác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</a:t>
            </a:r>
            <a:r>
              <a:rPr spc="-3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25" dirty="0"/>
              <a:t> </a:t>
            </a:r>
            <a:r>
              <a:rPr dirty="0"/>
              <a:t>thị</a:t>
            </a:r>
            <a:r>
              <a:rPr spc="-35" dirty="0"/>
              <a:t> </a:t>
            </a:r>
            <a:r>
              <a:rPr dirty="0"/>
              <a:t>theo</a:t>
            </a:r>
            <a:r>
              <a:rPr spc="-20" dirty="0"/>
              <a:t> </a:t>
            </a:r>
            <a:r>
              <a:rPr dirty="0"/>
              <a:t>chiều</a:t>
            </a:r>
            <a:r>
              <a:rPr spc="-25" dirty="0"/>
              <a:t> sâu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1210" y="1363951"/>
            <a:ext cx="4326871" cy="27533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69161" y="4697348"/>
            <a:ext cx="1569182" cy="1861093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marR="5099" defTabSz="917783">
              <a:spcBef>
                <a:spcPts val="95"/>
              </a:spcBef>
            </a:pPr>
            <a:r>
              <a:rPr sz="2007" u="heavy" kern="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Thứ</a:t>
            </a:r>
            <a:r>
              <a:rPr sz="2007" u="heavy" kern="0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7" u="heavy" kern="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tự</a:t>
            </a:r>
            <a:r>
              <a:rPr sz="2007" u="heavy" kern="0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7" u="heavy" kern="0" spc="-1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duyệt</a:t>
            </a:r>
            <a:r>
              <a:rPr sz="2007" kern="0" spc="-10" dirty="0">
                <a:solidFill>
                  <a:srgbClr val="1D528E"/>
                </a:solidFill>
                <a:latin typeface="Arial"/>
                <a:cs typeface="Arial"/>
              </a:rPr>
              <a:t>: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d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c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b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rgbClr val="FF3300"/>
                </a:solidFill>
                <a:latin typeface="Arial"/>
                <a:cs typeface="Arial"/>
              </a:rPr>
              <a:t>a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34034" marR="659657" defTabSz="917783"/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g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k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60" dirty="0">
                <a:solidFill>
                  <a:srgbClr val="FF3300"/>
                </a:solidFill>
                <a:latin typeface="Arial"/>
                <a:cs typeface="Arial"/>
              </a:rPr>
              <a:t>l </a:t>
            </a:r>
            <a:r>
              <a:rPr sz="2007" kern="0" spc="-50" dirty="0">
                <a:solidFill>
                  <a:srgbClr val="FF3300"/>
                </a:solidFill>
                <a:latin typeface="Arial"/>
                <a:cs typeface="Arial"/>
              </a:rPr>
              <a:t>h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34034" defTabSz="917783"/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f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rgbClr val="FF3300"/>
                </a:solidFill>
                <a:latin typeface="Arial"/>
                <a:cs typeface="Arial"/>
              </a:rPr>
              <a:t>m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/>
            <a:r>
              <a:rPr sz="2007" kern="0" spc="-50" dirty="0">
                <a:solidFill>
                  <a:srgbClr val="FF3300"/>
                </a:solidFill>
                <a:latin typeface="Arial"/>
                <a:cs typeface="Arial"/>
              </a:rPr>
              <a:t>e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I.1.</a:t>
            </a:r>
            <a:r>
              <a:rPr spc="-30" dirty="0"/>
              <a:t> </a:t>
            </a:r>
            <a:r>
              <a:rPr dirty="0"/>
              <a:t>Cài</a:t>
            </a:r>
            <a:r>
              <a:rPr spc="-20" dirty="0"/>
              <a:t> </a:t>
            </a:r>
            <a:r>
              <a:rPr dirty="0"/>
              <a:t>đặt</a:t>
            </a:r>
            <a:r>
              <a:rPr spc="-20" dirty="0"/>
              <a:t> </a:t>
            </a:r>
            <a:r>
              <a:rPr dirty="0"/>
              <a:t>đệ</a:t>
            </a:r>
            <a:r>
              <a:rPr spc="-15" dirty="0"/>
              <a:t> </a:t>
            </a:r>
            <a:r>
              <a:rPr spc="-25" dirty="0"/>
              <a:t>quy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7317" y="522636"/>
            <a:ext cx="3734932" cy="58142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68899" y="1003205"/>
            <a:ext cx="4643172" cy="4288978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marR="509880" defTabSz="917783">
              <a:spcBef>
                <a:spcPts val="100"/>
              </a:spcBef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B1:</a:t>
            </a:r>
            <a:r>
              <a:rPr sz="2509" kern="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Lấy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là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một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của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đồ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thị </a:t>
            </a: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B2:</a:t>
            </a:r>
            <a:r>
              <a:rPr sz="2509" kern="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Đặt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=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12747" defTabSz="917783"/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B3:</a:t>
            </a:r>
            <a:r>
              <a:rPr sz="2509" kern="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Duyệt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12747" marR="191842" defTabSz="917783">
              <a:lnSpc>
                <a:spcPct val="99500"/>
              </a:lnSpc>
              <a:spcBef>
                <a:spcPts val="65"/>
              </a:spcBef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B4:</a:t>
            </a:r>
            <a:r>
              <a:rPr sz="2509" kern="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Nếu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Symbol"/>
                <a:cs typeface="Symbol"/>
              </a:rPr>
              <a:t>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kề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của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đều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được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duyệt,</a:t>
            </a:r>
            <a:r>
              <a:rPr sz="2509" kern="0" spc="-3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đặt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v=đỉnh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đã</a:t>
            </a:r>
            <a:r>
              <a:rPr sz="2509" kern="0" spc="-3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được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duyệt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trước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v,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Nếu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=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thì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đi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đến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Bước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6,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ngược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lại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trở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lại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Bước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3.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12747" marR="5099" defTabSz="917783">
              <a:tabLst>
                <a:tab pos="1401532" algn="l"/>
                <a:tab pos="1720205" algn="l"/>
                <a:tab pos="1801787" algn="l"/>
              </a:tabLst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B5:</a:t>
            </a:r>
            <a:r>
              <a:rPr sz="2509" kern="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Chọn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50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là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kề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chưa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được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duyệt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của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509" kern="0" spc="-6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v,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	đặt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=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u,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trở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lại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Bước </a:t>
            </a:r>
            <a:r>
              <a:rPr sz="250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3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12747" defTabSz="917783">
              <a:tabLst>
                <a:tab pos="1172086" algn="l"/>
              </a:tabLst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B6:</a:t>
            </a:r>
            <a:r>
              <a:rPr sz="2509" kern="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Kết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thúc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89420" y="981535"/>
            <a:ext cx="4971413" cy="5353829"/>
          </a:xfrm>
          <a:custGeom>
            <a:avLst/>
            <a:gdLst/>
            <a:ahLst/>
            <a:cxnLst/>
            <a:rect l="l" t="t" r="r" b="b"/>
            <a:pathLst>
              <a:path w="4953000" h="5334000">
                <a:moveTo>
                  <a:pt x="0" y="0"/>
                </a:moveTo>
                <a:lnTo>
                  <a:pt x="4953000" y="0"/>
                </a:lnTo>
              </a:path>
              <a:path w="4953000" h="5334000">
                <a:moveTo>
                  <a:pt x="0" y="5334000"/>
                </a:moveTo>
                <a:lnTo>
                  <a:pt x="4953000" y="5334000"/>
                </a:lnTo>
              </a:path>
              <a:path w="4953000" h="5334000">
                <a:moveTo>
                  <a:pt x="0" y="0"/>
                </a:moveTo>
                <a:lnTo>
                  <a:pt x="0" y="5334000"/>
                </a:lnTo>
              </a:path>
              <a:path w="4953000" h="5334000">
                <a:moveTo>
                  <a:pt x="4953000" y="0"/>
                </a:moveTo>
                <a:lnTo>
                  <a:pt x="4953000" y="5334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I.1.</a:t>
            </a:r>
            <a:r>
              <a:rPr spc="-30" dirty="0"/>
              <a:t> </a:t>
            </a:r>
            <a:r>
              <a:rPr dirty="0"/>
              <a:t>Cài</a:t>
            </a:r>
            <a:r>
              <a:rPr spc="-20" dirty="0"/>
              <a:t> </a:t>
            </a:r>
            <a:r>
              <a:rPr dirty="0"/>
              <a:t>đặt</a:t>
            </a:r>
            <a:r>
              <a:rPr spc="-20" dirty="0"/>
              <a:t> </a:t>
            </a:r>
            <a:r>
              <a:rPr dirty="0"/>
              <a:t>đệ</a:t>
            </a:r>
            <a:r>
              <a:rPr spc="-15" dirty="0"/>
              <a:t> </a:t>
            </a:r>
            <a:r>
              <a:rPr spc="-25" dirty="0"/>
              <a:t>quy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217" y="1013913"/>
            <a:ext cx="3480626" cy="392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56278" indent="-343531" defTabSz="917783"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Cài</a:t>
            </a:r>
            <a:r>
              <a:rPr sz="2409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đặt</a:t>
            </a:r>
            <a:r>
              <a:rPr sz="2409" kern="0" spc="-1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bằng</a:t>
            </a:r>
            <a:r>
              <a:rPr sz="2409" kern="0" spc="-1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mã</a:t>
            </a:r>
            <a:r>
              <a:rPr sz="2409" kern="0" spc="-1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giả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8870" y="1698184"/>
            <a:ext cx="7036461" cy="4237173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5253" rIns="0" bIns="0" rtlCol="0">
            <a:spAutoFit/>
          </a:bodyPr>
          <a:lstStyle/>
          <a:p>
            <a:pPr marL="96877" defTabSz="917783">
              <a:spcBef>
                <a:spcPts val="356"/>
              </a:spcBef>
            </a:pP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Khai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báo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các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biến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ChuaXet,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/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DFS(v)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/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spcBef>
                <a:spcPts val="5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Duyệt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(v);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/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0;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Đánh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dấu</a:t>
            </a:r>
            <a:r>
              <a:rPr sz="1807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đã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xét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spc="-25" dirty="0">
                <a:solidFill>
                  <a:srgbClr val="1D528E"/>
                </a:solidFill>
                <a:latin typeface="Arial"/>
                <a:cs typeface="Arial"/>
              </a:rPr>
              <a:t>v*/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lnSpc>
                <a:spcPts val="2158"/>
              </a:lnSpc>
              <a:spcBef>
                <a:spcPts val="3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807" kern="0" spc="486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u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807" kern="0" spc="4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Ke(v) 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32444" defTabSz="917783">
              <a:lnSpc>
                <a:spcPts val="2158"/>
              </a:lnSpc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807" kern="0" spc="492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ChuaXet[u]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807" kern="0" spc="492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DFS(u);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>
              <a:spcBef>
                <a:spcPts val="5"/>
              </a:spcBef>
            </a:pP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};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/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void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main()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/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>
              <a:spcBef>
                <a:spcPts val="5"/>
              </a:spcBef>
            </a:pP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Nhập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807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thị,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807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mảng</a:t>
            </a:r>
            <a:r>
              <a:rPr sz="1807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807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>
              <a:spcBef>
                <a:spcPts val="25"/>
              </a:spcBef>
              <a:tabLst>
                <a:tab pos="1330786" algn="l"/>
              </a:tabLst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807" kern="0" spc="472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(v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807" kern="0" spc="3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V)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ChuaXet[v]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1;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Khởi</a:t>
            </a:r>
            <a:r>
              <a:rPr sz="1807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cờ</a:t>
            </a:r>
            <a:r>
              <a:rPr sz="1807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cho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>
              <a:lnSpc>
                <a:spcPts val="2158"/>
              </a:lnSpc>
              <a:spcBef>
                <a:spcPts val="5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807" kern="0" spc="472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(v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807" kern="0" spc="3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V)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lnSpc>
                <a:spcPts val="2158"/>
              </a:lnSpc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807" kern="0" spc="492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807" kern="0" spc="492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DFS(v);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/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I.2.</a:t>
            </a:r>
            <a:r>
              <a:rPr spc="-45" dirty="0"/>
              <a:t> </a:t>
            </a:r>
            <a:r>
              <a:rPr dirty="0"/>
              <a:t>Cài</a:t>
            </a:r>
            <a:r>
              <a:rPr spc="-35" dirty="0"/>
              <a:t> </a:t>
            </a:r>
            <a:r>
              <a:rPr dirty="0"/>
              <a:t>đặt</a:t>
            </a:r>
            <a:r>
              <a:rPr spc="-25" dirty="0"/>
              <a:t> </a:t>
            </a:r>
            <a:r>
              <a:rPr dirty="0"/>
              <a:t>không</a:t>
            </a:r>
            <a:r>
              <a:rPr spc="-25" dirty="0"/>
              <a:t> </a:t>
            </a:r>
            <a:r>
              <a:rPr dirty="0"/>
              <a:t>đệ</a:t>
            </a:r>
            <a:r>
              <a:rPr spc="-35" dirty="0"/>
              <a:t> </a:t>
            </a:r>
            <a:r>
              <a:rPr spc="-25" dirty="0"/>
              <a:t>quy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216" y="934679"/>
            <a:ext cx="4888556" cy="4426319"/>
          </a:xfrm>
          <a:prstGeom prst="rect">
            <a:avLst/>
          </a:prstGeom>
        </p:spPr>
        <p:txBody>
          <a:bodyPr vert="horz" wrap="square" lIns="0" tIns="91780" rIns="0" bIns="0" rtlCol="0">
            <a:spAutoFit/>
          </a:bodyPr>
          <a:lstStyle/>
          <a:p>
            <a:pPr marL="356278" indent="-343531" defTabSz="917783">
              <a:spcBef>
                <a:spcPts val="723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Thuật</a:t>
            </a:r>
            <a:r>
              <a:rPr sz="2409" kern="0" spc="-5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toán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241555" marR="491395" algn="just" defTabSz="917783">
              <a:spcBef>
                <a:spcPts val="652"/>
              </a:spcBef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B1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: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Lấy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</a:t>
            </a:r>
            <a:r>
              <a:rPr sz="2509" kern="0" dirty="0">
                <a:solidFill>
                  <a:sysClr val="windowText" lastClr="000000"/>
                </a:solidFill>
                <a:latin typeface="Arial"/>
                <a:cs typeface="Arial"/>
              </a:rPr>
              <a:t>à</a:t>
            </a:r>
            <a:r>
              <a:rPr sz="2509" kern="0" spc="-8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một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của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đồ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thị </a:t>
            </a: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B2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: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Đặt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</a:t>
            </a:r>
            <a:r>
              <a:rPr sz="2509" kern="0" dirty="0">
                <a:solidFill>
                  <a:sysClr val="windowText" lastClr="000000"/>
                </a:solidFill>
                <a:latin typeface="Arial"/>
                <a:cs typeface="Arial"/>
              </a:rPr>
              <a:t>à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o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STACK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241555" marR="593372" algn="just" defTabSz="917783">
              <a:lnSpc>
                <a:spcPts val="3011"/>
              </a:lnSpc>
              <a:spcBef>
                <a:spcPts val="85"/>
              </a:spcBef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B3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: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Nếu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STACK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rỗng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đi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đến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7. </a:t>
            </a: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B4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: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Lấy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từ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STACK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241555" algn="just" defTabSz="917783">
              <a:lnSpc>
                <a:spcPts val="2911"/>
              </a:lnSpc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B5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: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Duyệt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585087" marR="5099" indent="-343531" algn="just" defTabSz="917783">
              <a:lnSpc>
                <a:spcPct val="99900"/>
              </a:lnSpc>
              <a:spcBef>
                <a:spcPts val="20"/>
              </a:spcBef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B6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:</a:t>
            </a:r>
            <a:r>
              <a:rPr sz="2509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Đặt</a:t>
            </a:r>
            <a:r>
              <a:rPr sz="2509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</a:t>
            </a:r>
            <a:r>
              <a:rPr sz="2509" kern="0" dirty="0">
                <a:solidFill>
                  <a:sysClr val="windowText" lastClr="000000"/>
                </a:solidFill>
                <a:latin typeface="Arial"/>
                <a:cs typeface="Arial"/>
              </a:rPr>
              <a:t>á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</a:t>
            </a:r>
            <a:r>
              <a:rPr sz="2509" kern="0" spc="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kề</a:t>
            </a:r>
            <a:r>
              <a:rPr sz="2509" kern="0" spc="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của</a:t>
            </a:r>
            <a:r>
              <a:rPr sz="2509" kern="0" spc="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</a:t>
            </a:r>
            <a:r>
              <a:rPr sz="2509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chưa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được</a:t>
            </a:r>
            <a:r>
              <a:rPr sz="2509" kern="0" spc="27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xét</a:t>
            </a:r>
            <a:r>
              <a:rPr sz="2509" kern="0" spc="26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(chưa</a:t>
            </a:r>
            <a:r>
              <a:rPr sz="2509" i="1" kern="0" spc="27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từng</a:t>
            </a:r>
            <a:r>
              <a:rPr sz="2509" i="1" kern="0" spc="27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có</a:t>
            </a:r>
            <a:r>
              <a:rPr sz="2509" i="1" kern="0" spc="26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mặt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trong</a:t>
            </a:r>
            <a:r>
              <a:rPr sz="2509" i="1" kern="0" spc="422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STACK)</a:t>
            </a:r>
            <a:r>
              <a:rPr sz="2509" i="1" kern="0" spc="4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</a:t>
            </a:r>
            <a:r>
              <a:rPr sz="2509" kern="0" dirty="0">
                <a:solidFill>
                  <a:sysClr val="windowText" lastClr="000000"/>
                </a:solidFill>
                <a:latin typeface="Arial"/>
                <a:cs typeface="Arial"/>
              </a:rPr>
              <a:t>à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o</a:t>
            </a:r>
            <a:r>
              <a:rPr sz="2509" kern="0" spc="422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STACK,</a:t>
            </a:r>
            <a:r>
              <a:rPr sz="2509" kern="0" spc="4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trở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lại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3.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240917" algn="just" defTabSz="917783">
              <a:spcBef>
                <a:spcPts val="10"/>
              </a:spcBef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B7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: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Kết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</a:t>
            </a:r>
            <a:r>
              <a:rPr sz="25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ú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c.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18870" y="1440435"/>
            <a:ext cx="4818446" cy="4894929"/>
          </a:xfrm>
          <a:custGeom>
            <a:avLst/>
            <a:gdLst/>
            <a:ahLst/>
            <a:cxnLst/>
            <a:rect l="l" t="t" r="r" b="b"/>
            <a:pathLst>
              <a:path w="4800600" h="4876800">
                <a:moveTo>
                  <a:pt x="0" y="0"/>
                </a:moveTo>
                <a:lnTo>
                  <a:pt x="4800600" y="0"/>
                </a:lnTo>
              </a:path>
              <a:path w="4800600" h="4876800">
                <a:moveTo>
                  <a:pt x="0" y="4876800"/>
                </a:moveTo>
                <a:lnTo>
                  <a:pt x="4800600" y="4876800"/>
                </a:lnTo>
              </a:path>
              <a:path w="4800600" h="4876800">
                <a:moveTo>
                  <a:pt x="0" y="0"/>
                </a:moveTo>
                <a:lnTo>
                  <a:pt x="0" y="4876800"/>
                </a:lnTo>
              </a:path>
              <a:path w="4800600" h="4876800">
                <a:moveTo>
                  <a:pt x="4800600" y="0"/>
                </a:moveTo>
                <a:lnTo>
                  <a:pt x="4800600" y="4876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0282" y="522636"/>
            <a:ext cx="3059331" cy="60054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I.Duyệt</a:t>
            </a:r>
            <a:r>
              <a:rPr spc="-45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dirty="0"/>
              <a:t>thị</a:t>
            </a:r>
            <a:r>
              <a:rPr spc="-40" dirty="0"/>
              <a:t> </a:t>
            </a:r>
            <a:r>
              <a:rPr dirty="0"/>
              <a:t>theo</a:t>
            </a:r>
            <a:r>
              <a:rPr spc="-45" dirty="0"/>
              <a:t> </a:t>
            </a:r>
            <a:r>
              <a:rPr dirty="0"/>
              <a:t>chiều</a:t>
            </a:r>
            <a:r>
              <a:rPr spc="-35" dirty="0"/>
              <a:t> </a:t>
            </a:r>
            <a:r>
              <a:rPr spc="-25" dirty="0"/>
              <a:t>sâu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187" y="936707"/>
            <a:ext cx="6676989" cy="2308668"/>
          </a:xfrm>
          <a:prstGeom prst="rect">
            <a:avLst/>
          </a:prstGeom>
        </p:spPr>
        <p:txBody>
          <a:bodyPr vert="horz" wrap="square" lIns="0" tIns="89230" rIns="0" bIns="0" rtlCol="0">
            <a:spAutoFit/>
          </a:bodyPr>
          <a:lstStyle/>
          <a:p>
            <a:pPr marL="356278" indent="-343531" defTabSz="917783">
              <a:spcBef>
                <a:spcPts val="703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Ý</a:t>
            </a:r>
            <a:r>
              <a:rPr sz="2810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1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318675" defTabSz="917783">
              <a:spcBef>
                <a:spcPts val="51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Kiểm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đường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giữa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171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7171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Chia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thành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thành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phần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thông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171" lvl="1" indent="-318675" defTabSz="917783">
              <a:spcBef>
                <a:spcPts val="567"/>
              </a:spcBef>
              <a:buClr>
                <a:srgbClr val="1B9AD9"/>
              </a:buClr>
              <a:buFont typeface="Wingdings"/>
              <a:buChar char="■"/>
              <a:tabLst>
                <a:tab pos="757171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Xây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dựng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cây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khung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6534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6534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Kiểm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xem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chu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trình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hay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không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1"/>
            <a:ext cx="10830883" cy="50836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>
              <a:spcBef>
                <a:spcPts val="95"/>
              </a:spcBef>
            </a:pPr>
            <a:r>
              <a:rPr sz="3212" dirty="0"/>
              <a:t>Nội</a:t>
            </a:r>
            <a:r>
              <a:rPr sz="3212" spc="-25" dirty="0"/>
              <a:t> </a:t>
            </a:r>
            <a:r>
              <a:rPr sz="3212" spc="-20" dirty="0"/>
              <a:t>dung</a:t>
            </a:r>
            <a:endParaRPr sz="3212"/>
          </a:p>
        </p:txBody>
      </p:sp>
      <p:sp>
        <p:nvSpPr>
          <p:cNvPr id="3" name="object 3"/>
          <p:cNvSpPr/>
          <p:nvPr/>
        </p:nvSpPr>
        <p:spPr>
          <a:xfrm>
            <a:off x="2883703" y="1746368"/>
            <a:ext cx="4882182" cy="439779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25452" y="1796336"/>
            <a:ext cx="3353791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Duyệt</a:t>
            </a:r>
            <a:r>
              <a:rPr sz="2007" b="1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007" b="1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theo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chiều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sâu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69362" y="2395137"/>
            <a:ext cx="4910863" cy="468460"/>
            <a:chOff x="1344612" y="2386266"/>
            <a:chExt cx="4892675" cy="466725"/>
          </a:xfrm>
        </p:grpSpPr>
        <p:sp>
          <p:nvSpPr>
            <p:cNvPr id="6" name="object 6"/>
            <p:cNvSpPr/>
            <p:nvPr/>
          </p:nvSpPr>
          <p:spPr>
            <a:xfrm>
              <a:off x="1358899" y="2400554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8693"/>
                  </a:moveTo>
                  <a:lnTo>
                    <a:pt x="4858089" y="168430"/>
                  </a:lnTo>
                  <a:lnTo>
                    <a:pt x="4841683" y="122353"/>
                  </a:lnTo>
                  <a:lnTo>
                    <a:pt x="4815919" y="81753"/>
                  </a:lnTo>
                  <a:lnTo>
                    <a:pt x="4782092" y="47926"/>
                  </a:lnTo>
                  <a:lnTo>
                    <a:pt x="4741492" y="22162"/>
                  </a:lnTo>
                  <a:lnTo>
                    <a:pt x="4695415" y="5756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56"/>
                  </a:lnTo>
                  <a:lnTo>
                    <a:pt x="122686" y="22162"/>
                  </a:lnTo>
                  <a:lnTo>
                    <a:pt x="82073" y="47926"/>
                  </a:lnTo>
                  <a:lnTo>
                    <a:pt x="48165" y="81753"/>
                  </a:lnTo>
                  <a:lnTo>
                    <a:pt x="22295" y="122353"/>
                  </a:lnTo>
                  <a:lnTo>
                    <a:pt x="5796" y="16843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358899" y="2400554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56"/>
                  </a:lnTo>
                  <a:lnTo>
                    <a:pt x="122686" y="22162"/>
                  </a:lnTo>
                  <a:lnTo>
                    <a:pt x="82073" y="47926"/>
                  </a:lnTo>
                  <a:lnTo>
                    <a:pt x="48165" y="81753"/>
                  </a:lnTo>
                  <a:lnTo>
                    <a:pt x="22295" y="122353"/>
                  </a:lnTo>
                  <a:lnTo>
                    <a:pt x="5796" y="16843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lnTo>
                    <a:pt x="4858089" y="168430"/>
                  </a:lnTo>
                  <a:lnTo>
                    <a:pt x="4841683" y="122353"/>
                  </a:lnTo>
                  <a:lnTo>
                    <a:pt x="4815919" y="81753"/>
                  </a:lnTo>
                  <a:lnTo>
                    <a:pt x="4782092" y="47926"/>
                  </a:lnTo>
                  <a:lnTo>
                    <a:pt x="4741492" y="22162"/>
                  </a:lnTo>
                  <a:lnTo>
                    <a:pt x="4695415" y="5756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358899" y="24066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23922" y="2461741"/>
            <a:ext cx="3479989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Duyệt</a:t>
            </a:r>
            <a:r>
              <a:rPr sz="2007" b="1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007" b="1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theo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chiều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rộng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39054" y="1569011"/>
            <a:ext cx="5654026" cy="1983466"/>
            <a:chOff x="617009" y="1563200"/>
            <a:chExt cx="5633085" cy="19761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71854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031" y="5707"/>
                  </a:lnTo>
                  <a:lnTo>
                    <a:pt x="120575" y="21958"/>
                  </a:lnTo>
                  <a:lnTo>
                    <a:pt x="80545" y="47446"/>
                  </a:lnTo>
                  <a:lnTo>
                    <a:pt x="47206" y="80865"/>
                  </a:lnTo>
                  <a:lnTo>
                    <a:pt x="21824" y="120909"/>
                  </a:lnTo>
                  <a:lnTo>
                    <a:pt x="5667" y="166271"/>
                  </a:lnTo>
                  <a:lnTo>
                    <a:pt x="0" y="215646"/>
                  </a:lnTo>
                  <a:lnTo>
                    <a:pt x="5667" y="265302"/>
                  </a:lnTo>
                  <a:lnTo>
                    <a:pt x="21824" y="310867"/>
                  </a:lnTo>
                  <a:lnTo>
                    <a:pt x="47206" y="351046"/>
                  </a:lnTo>
                  <a:lnTo>
                    <a:pt x="80545" y="384547"/>
                  </a:lnTo>
                  <a:lnTo>
                    <a:pt x="120575" y="410078"/>
                  </a:lnTo>
                  <a:lnTo>
                    <a:pt x="16603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36924" y="3150091"/>
            <a:ext cx="1679445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Tìm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đường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đi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151399" y="2945710"/>
            <a:ext cx="766745" cy="669229"/>
            <a:chOff x="629308" y="2934800"/>
            <a:chExt cx="763905" cy="66675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2934800"/>
              <a:ext cx="763583" cy="66619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2995676"/>
              <a:ext cx="352044" cy="336803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2883702" y="3868779"/>
            <a:ext cx="4882182" cy="434042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23922" y="3914922"/>
            <a:ext cx="2868760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Kiểm</a:t>
            </a:r>
            <a:r>
              <a:rPr sz="2007" b="1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tra</a:t>
            </a:r>
            <a:r>
              <a:rPr sz="2007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tính</a:t>
            </a:r>
            <a:r>
              <a:rPr sz="2007" b="1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007" b="1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b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thông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139054" y="3710543"/>
            <a:ext cx="766107" cy="669229"/>
            <a:chOff x="617009" y="3696800"/>
            <a:chExt cx="763270" cy="66675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2292741" y="1462565"/>
            <a:ext cx="525185" cy="2888280"/>
          </a:xfrm>
          <a:prstGeom prst="rect">
            <a:avLst/>
          </a:prstGeom>
        </p:spPr>
        <p:txBody>
          <a:bodyPr vert="horz" wrap="square" lIns="0" tIns="211604" rIns="0" bIns="0" rtlCol="0">
            <a:spAutoFit/>
          </a:bodyPr>
          <a:lstStyle/>
          <a:p>
            <a:pPr marL="147865" defTabSz="917783">
              <a:spcBef>
                <a:spcPts val="1666"/>
              </a:spcBef>
            </a:pPr>
            <a:r>
              <a:rPr sz="3212" b="1" kern="0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12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9076" marR="14022" indent="42702" defTabSz="917783">
              <a:lnSpc>
                <a:spcPct val="140600"/>
              </a:lnSpc>
            </a:pPr>
            <a:r>
              <a:rPr sz="3212" b="1" kern="0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12" b="1" kern="0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12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2168"/>
              </a:spcBef>
            </a:pPr>
            <a:r>
              <a:rPr sz="3212" b="1" kern="0" spc="-25" dirty="0">
                <a:solidFill>
                  <a:srgbClr val="FFFFFF"/>
                </a:solidFill>
                <a:latin typeface="Arial"/>
                <a:cs typeface="Arial"/>
              </a:rPr>
              <a:t>IV.</a:t>
            </a:r>
            <a:endParaRPr sz="3212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52712" y="6551109"/>
            <a:ext cx="1446809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15753" y="6580443"/>
            <a:ext cx="20778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004" b="1" kern="0" spc="-25" dirty="0">
                <a:solidFill>
                  <a:srgbClr val="1D528E"/>
                </a:solidFill>
                <a:latin typeface="Verdana"/>
                <a:cs typeface="Verdana"/>
              </a:rPr>
              <a:t>10</a:t>
            </a:r>
            <a:endParaRPr sz="1004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</a:t>
            </a:r>
            <a:r>
              <a:rPr spc="-4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dirty="0"/>
              <a:t>thị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</a:t>
            </a:r>
            <a:r>
              <a:rPr spc="-20" dirty="0"/>
              <a:t>rộng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154" y="936706"/>
            <a:ext cx="8072808" cy="2975679"/>
          </a:xfrm>
          <a:prstGeom prst="rect">
            <a:avLst/>
          </a:prstGeom>
        </p:spPr>
        <p:txBody>
          <a:bodyPr vert="horz" wrap="square" lIns="0" tIns="89230" rIns="0" bIns="0" rtlCol="0">
            <a:spAutoFit/>
          </a:bodyPr>
          <a:lstStyle/>
          <a:p>
            <a:pPr marL="356278" indent="-343531" defTabSz="917783">
              <a:spcBef>
                <a:spcPts val="703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Nguyên</a:t>
            </a:r>
            <a:r>
              <a:rPr sz="2810" kern="0" spc="-10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lý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318675" defTabSz="917783">
              <a:spcBef>
                <a:spcPts val="51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Bắt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từ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bất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kỳ.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171" marR="5099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7171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Duyệt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tất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cả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những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lưu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vào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602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T(u)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(với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hướng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thì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T(u)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với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sau,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cung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uv).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marR="214149" lvl="1" indent="-318675" defTabSz="917783">
              <a:spcBef>
                <a:spcPts val="55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Sau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đó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tiếp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tục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xét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u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thuộc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T(u)</a:t>
            </a:r>
            <a:r>
              <a:rPr sz="2409" kern="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và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áp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dụng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lại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cách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duyệt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giống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như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v.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</a:t>
            </a:r>
            <a:r>
              <a:rPr spc="-4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dirty="0"/>
              <a:t>thị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</a:t>
            </a:r>
            <a:r>
              <a:rPr spc="-20" dirty="0"/>
              <a:t>rộng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0406" y="1210984"/>
            <a:ext cx="3887125" cy="26639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22128" y="3991406"/>
            <a:ext cx="1569182" cy="2167026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marR="5099" defTabSz="917783">
              <a:spcBef>
                <a:spcPts val="95"/>
              </a:spcBef>
            </a:pPr>
            <a:r>
              <a:rPr sz="2007" u="heavy" kern="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Thứ</a:t>
            </a:r>
            <a:r>
              <a:rPr sz="2007" u="heavy" kern="0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7" u="heavy" kern="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tự</a:t>
            </a:r>
            <a:r>
              <a:rPr sz="2007" u="heavy" kern="0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7" u="heavy" kern="0" spc="-1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duyệt</a:t>
            </a:r>
            <a:r>
              <a:rPr sz="2007" kern="0" spc="-10" dirty="0">
                <a:solidFill>
                  <a:srgbClr val="1D528E"/>
                </a:solidFill>
                <a:latin typeface="Arial"/>
                <a:cs typeface="Arial"/>
              </a:rPr>
              <a:t>: 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d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294455" algn="l"/>
              </a:tabLst>
            </a:pP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e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c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294455" algn="l"/>
              </a:tabLst>
            </a:pP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b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f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marR="769918" defTabSz="917783">
              <a:tabLst>
                <a:tab pos="294455" algn="l"/>
                <a:tab pos="578076" algn="l"/>
              </a:tabLst>
            </a:pP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a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g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m h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k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/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l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II.1.</a:t>
            </a:r>
            <a:r>
              <a:rPr spc="-55" dirty="0"/>
              <a:t> </a:t>
            </a:r>
            <a:r>
              <a:rPr dirty="0"/>
              <a:t>Cài</a:t>
            </a:r>
            <a:r>
              <a:rPr spc="-45" dirty="0"/>
              <a:t> </a:t>
            </a:r>
            <a:r>
              <a:rPr dirty="0"/>
              <a:t>đặt</a:t>
            </a:r>
            <a:r>
              <a:rPr spc="-40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hàng</a:t>
            </a:r>
            <a:r>
              <a:rPr spc="-40" dirty="0"/>
              <a:t> </a:t>
            </a:r>
            <a:r>
              <a:rPr spc="-25" dirty="0"/>
              <a:t>đợi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5666" y="369669"/>
            <a:ext cx="2676914" cy="59656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69217" y="1156172"/>
            <a:ext cx="4877721" cy="3467879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marR="745062" defTabSz="917783">
              <a:spcBef>
                <a:spcPts val="100"/>
              </a:spcBef>
            </a:pP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B1: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Lấy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là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một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của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đồ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thị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B2: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Đặt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vào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QUEUE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12747" defTabSz="917783"/>
            <a:r>
              <a:rPr sz="2509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B3:</a:t>
            </a:r>
            <a:r>
              <a:rPr sz="2509" b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Lặp</a:t>
            </a:r>
            <a:r>
              <a:rPr sz="2509" b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nếu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QUEUE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chưa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rỗng.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692799" indent="-234544" defTabSz="917783">
              <a:buSzPct val="96000"/>
              <a:buFontTx/>
              <a:buAutoNum type="alphaLcPeriod"/>
              <a:tabLst>
                <a:tab pos="692799" algn="l"/>
              </a:tabLst>
            </a:pP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Lấy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từ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QUEUE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709370" indent="-251753" defTabSz="917783">
              <a:buSzPct val="96000"/>
              <a:buFontTx/>
              <a:buAutoNum type="alphaLcPeriod"/>
              <a:tabLst>
                <a:tab pos="709370" algn="l"/>
              </a:tabLst>
            </a:pP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Duyệt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1001" marR="5099" indent="-13384" defTabSz="917783">
              <a:buSzPct val="96000"/>
              <a:buFontTx/>
              <a:buAutoNum type="alphaLcPeriod"/>
              <a:tabLst>
                <a:tab pos="692162" algn="l"/>
              </a:tabLst>
            </a:pP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Đặt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các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kề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của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chưa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được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xét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(chưa</a:t>
            </a:r>
            <a:r>
              <a:rPr sz="2509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từng</a:t>
            </a:r>
            <a:r>
              <a:rPr sz="2509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có</a:t>
            </a:r>
            <a:r>
              <a:rPr sz="2509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mặt</a:t>
            </a:r>
            <a:r>
              <a:rPr sz="2509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i="1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trong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QUEUE)</a:t>
            </a:r>
            <a:r>
              <a:rPr sz="2509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vào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QUEUE.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726578" indent="-269599" defTabSz="917783">
              <a:buSzPct val="96000"/>
              <a:buFontTx/>
              <a:buAutoNum type="alphaLcPeriod"/>
              <a:tabLst>
                <a:tab pos="726578" algn="l"/>
              </a:tabLst>
            </a:pPr>
            <a:r>
              <a:rPr sz="2509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Kết</a:t>
            </a:r>
            <a:r>
              <a:rPr sz="2509" b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thúc</a:t>
            </a:r>
            <a:r>
              <a:rPr sz="2509" b="1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b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lặp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89420" y="1134502"/>
            <a:ext cx="5200862" cy="4818446"/>
          </a:xfrm>
          <a:custGeom>
            <a:avLst/>
            <a:gdLst/>
            <a:ahLst/>
            <a:cxnLst/>
            <a:rect l="l" t="t" r="r" b="b"/>
            <a:pathLst>
              <a:path w="5181600" h="4800600">
                <a:moveTo>
                  <a:pt x="0" y="0"/>
                </a:moveTo>
                <a:lnTo>
                  <a:pt x="5181600" y="0"/>
                </a:lnTo>
              </a:path>
              <a:path w="5181600" h="4800600">
                <a:moveTo>
                  <a:pt x="0" y="4800600"/>
                </a:moveTo>
                <a:lnTo>
                  <a:pt x="5181600" y="4800600"/>
                </a:lnTo>
              </a:path>
              <a:path w="5181600" h="4800600">
                <a:moveTo>
                  <a:pt x="0" y="0"/>
                </a:moveTo>
                <a:lnTo>
                  <a:pt x="0" y="4800600"/>
                </a:lnTo>
              </a:path>
              <a:path w="5181600" h="4800600">
                <a:moveTo>
                  <a:pt x="5181600" y="0"/>
                </a:moveTo>
                <a:lnTo>
                  <a:pt x="5181600" y="48006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II.1.</a:t>
            </a:r>
            <a:r>
              <a:rPr spc="-55" dirty="0"/>
              <a:t> </a:t>
            </a:r>
            <a:r>
              <a:rPr dirty="0"/>
              <a:t>Cài</a:t>
            </a:r>
            <a:r>
              <a:rPr spc="-45" dirty="0"/>
              <a:t> </a:t>
            </a:r>
            <a:r>
              <a:rPr dirty="0"/>
              <a:t>đặt</a:t>
            </a:r>
            <a:r>
              <a:rPr spc="-40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hàng</a:t>
            </a:r>
            <a:r>
              <a:rPr spc="-40" dirty="0"/>
              <a:t> </a:t>
            </a:r>
            <a:r>
              <a:rPr spc="-25" dirty="0"/>
              <a:t>đợi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92556" y="990204"/>
            <a:ext cx="6013497" cy="5475491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lnSpc>
                <a:spcPts val="1681"/>
              </a:lnSpc>
              <a:spcBef>
                <a:spcPts val="95"/>
              </a:spcBef>
            </a:pP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Khai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báo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các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biến</a:t>
            </a:r>
            <a:r>
              <a:rPr sz="1405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ChuaXet,</a:t>
            </a:r>
            <a:r>
              <a:rPr sz="1405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405" i="1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lnSpc>
                <a:spcPts val="1681"/>
              </a:lnSpc>
            </a:pP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BFS(v)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lnSpc>
                <a:spcPts val="1681"/>
              </a:lnSpc>
            </a:pP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06119" marR="4349910" defTabSz="917783">
              <a:spcBef>
                <a:spcPts val="20"/>
              </a:spcBef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5" kern="0" spc="-3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5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Symbol"/>
                <a:cs typeface="Symbol"/>
              </a:rPr>
              <a:t>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;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5" kern="0" spc="-4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Symbol"/>
                <a:cs typeface="Symbol"/>
              </a:rPr>
              <a:t></a:t>
            </a:r>
            <a:r>
              <a:rPr sz="1405" kern="0" spc="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v;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06119" defTabSz="917783">
              <a:lnSpc>
                <a:spcPts val="1651"/>
              </a:lnSpc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0;/*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Đánh</a:t>
            </a:r>
            <a:r>
              <a:rPr sz="1405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dấu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đã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xét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 v*/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3747615" algn="r" defTabSz="917783">
              <a:lnSpc>
                <a:spcPts val="1670"/>
              </a:lnSpc>
              <a:spcBef>
                <a:spcPts val="25"/>
              </a:spcBef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while</a:t>
            </a:r>
            <a:r>
              <a:rPr sz="1405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≠</a:t>
            </a:r>
            <a:r>
              <a:rPr sz="1405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Symbol"/>
                <a:cs typeface="Symbol"/>
              </a:rPr>
              <a:t></a:t>
            </a:r>
            <a:r>
              <a:rPr sz="1405" kern="0" spc="1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5" kern="0" spc="-6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05482" defTabSz="917783">
              <a:lnSpc>
                <a:spcPts val="1670"/>
              </a:lnSpc>
            </a:pP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3768010" algn="r" defTabSz="917783">
              <a:lnSpc>
                <a:spcPts val="1670"/>
              </a:lnSpc>
              <a:spcBef>
                <a:spcPts val="20"/>
              </a:spcBef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p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Symbol"/>
                <a:cs typeface="Symbol"/>
              </a:rPr>
              <a:t></a:t>
            </a:r>
            <a:r>
              <a:rPr sz="1405" kern="0" spc="3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QUEUE;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98854" defTabSz="917783">
              <a:lnSpc>
                <a:spcPts val="1670"/>
              </a:lnSpc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Duyệt</a:t>
            </a:r>
            <a:r>
              <a:rPr sz="1405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 p;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48314" defTabSz="917783">
              <a:lnSpc>
                <a:spcPts val="1670"/>
              </a:lnSpc>
              <a:spcBef>
                <a:spcPts val="15"/>
              </a:spcBef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405" kern="0" spc="361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u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405" kern="0" spc="3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Ke(p)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413643" defTabSz="917783">
              <a:lnSpc>
                <a:spcPts val="1670"/>
              </a:lnSpc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405" kern="0" spc="351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5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ChuaXet[u]</a:t>
            </a:r>
            <a:r>
              <a:rPr sz="1405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391973" defTabSz="917783"/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780119" defTabSz="917783">
              <a:lnSpc>
                <a:spcPts val="1670"/>
              </a:lnSpc>
              <a:spcBef>
                <a:spcPts val="20"/>
              </a:spcBef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Symbol"/>
                <a:cs typeface="Symbol"/>
              </a:rPr>
              <a:t></a:t>
            </a:r>
            <a:r>
              <a:rPr sz="1405" kern="0" spc="1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u;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780119" defTabSz="917783">
              <a:lnSpc>
                <a:spcPts val="1666"/>
              </a:lnSpc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ChuaXet[u]</a:t>
            </a:r>
            <a:r>
              <a:rPr sz="1405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0;/*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Đánh</a:t>
            </a:r>
            <a:r>
              <a:rPr sz="1405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dấu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đã</a:t>
            </a:r>
            <a:r>
              <a:rPr sz="1405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xét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5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384962" defTabSz="917783">
              <a:lnSpc>
                <a:spcPts val="1681"/>
              </a:lnSpc>
            </a:pP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55833" defTabSz="917783">
              <a:lnSpc>
                <a:spcPts val="1681"/>
              </a:lnSpc>
            </a:pP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3384" defTabSz="917783">
              <a:lnSpc>
                <a:spcPts val="1681"/>
              </a:lnSpc>
            </a:pP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3384" defTabSz="917783">
              <a:lnSpc>
                <a:spcPts val="1681"/>
              </a:lnSpc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void</a:t>
            </a:r>
            <a:r>
              <a:rPr sz="1405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main()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3384" defTabSz="917783">
              <a:lnSpc>
                <a:spcPts val="1681"/>
              </a:lnSpc>
            </a:pP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Nhập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405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thị,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405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biến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405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3384" defTabSz="917783">
              <a:lnSpc>
                <a:spcPts val="1681"/>
              </a:lnSpc>
            </a:pP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31168" defTabSz="917783">
              <a:lnSpc>
                <a:spcPts val="1681"/>
              </a:lnSpc>
              <a:spcBef>
                <a:spcPts val="20"/>
              </a:spcBef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405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v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405" kern="0" spc="2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V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405" kern="0" spc="366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5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1;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405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Khởi</a:t>
            </a:r>
            <a:r>
              <a:rPr sz="1405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405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cờ</a:t>
            </a:r>
            <a:r>
              <a:rPr sz="1405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cho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5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31168" defTabSz="917783">
              <a:lnSpc>
                <a:spcPts val="1666"/>
              </a:lnSpc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v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405" kern="0" spc="3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5" kern="0" spc="161" dirty="0">
                <a:solidFill>
                  <a:srgbClr val="1D528E"/>
                </a:solidFill>
                <a:latin typeface="Arial"/>
                <a:cs typeface="Arial"/>
              </a:rPr>
              <a:t>V) 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48314" defTabSz="917783">
              <a:lnSpc>
                <a:spcPts val="1670"/>
              </a:lnSpc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405" kern="0" spc="376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5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405" kern="0" spc="376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BFS(v);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3384" defTabSz="917783"/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19751" y="6536516"/>
            <a:ext cx="9152498" cy="321867"/>
          </a:xfrm>
          <a:custGeom>
            <a:avLst/>
            <a:gdLst/>
            <a:ahLst/>
            <a:cxnLst/>
            <a:rect l="l" t="t" r="r" b="b"/>
            <a:pathLst>
              <a:path w="9118600" h="320675">
                <a:moveTo>
                  <a:pt x="0" y="320294"/>
                </a:moveTo>
                <a:lnTo>
                  <a:pt x="9118600" y="320294"/>
                </a:lnTo>
                <a:lnTo>
                  <a:pt x="9118600" y="0"/>
                </a:lnTo>
                <a:lnTo>
                  <a:pt x="0" y="0"/>
                </a:lnTo>
                <a:lnTo>
                  <a:pt x="0" y="32029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19751" y="0"/>
            <a:ext cx="9152498" cy="972612"/>
            <a:chOff x="0" y="0"/>
            <a:chExt cx="9118600" cy="9690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6275"/>
              <a:ext cx="9118600" cy="7924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18600" cy="22885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15316" cy="114553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II.2.</a:t>
            </a:r>
            <a:r>
              <a:rPr spc="-50" dirty="0"/>
              <a:t> </a:t>
            </a:r>
            <a:r>
              <a:rPr dirty="0"/>
              <a:t>Cài</a:t>
            </a:r>
            <a:r>
              <a:rPr spc="-40" dirty="0"/>
              <a:t> </a:t>
            </a:r>
            <a:r>
              <a:rPr dirty="0"/>
              <a:t>đặt</a:t>
            </a:r>
            <a:r>
              <a:rPr spc="-35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thuật</a:t>
            </a:r>
            <a:r>
              <a:rPr spc="-35" dirty="0"/>
              <a:t> </a:t>
            </a:r>
            <a:r>
              <a:rPr dirty="0"/>
              <a:t>toán</a:t>
            </a:r>
            <a:r>
              <a:rPr spc="-35" dirty="0"/>
              <a:t> </a:t>
            </a:r>
            <a:r>
              <a:rPr spc="-10" dirty="0"/>
              <a:t>loang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2162" y="1053430"/>
            <a:ext cx="7092297" cy="512437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1"/>
            <a:ext cx="10830883" cy="447549"/>
          </a:xfrm>
          <a:prstGeom prst="rect">
            <a:avLst/>
          </a:prstGeom>
        </p:spPr>
        <p:txBody>
          <a:bodyPr vert="horz" wrap="square" lIns="0" tIns="74699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2409" dirty="0"/>
              <a:t>II.2.</a:t>
            </a:r>
            <a:r>
              <a:rPr sz="2409" spc="-35" dirty="0"/>
              <a:t> </a:t>
            </a:r>
            <a:r>
              <a:rPr sz="2409" dirty="0"/>
              <a:t>Cài</a:t>
            </a:r>
            <a:r>
              <a:rPr sz="2409" spc="-40" dirty="0"/>
              <a:t> </a:t>
            </a:r>
            <a:r>
              <a:rPr sz="2409" dirty="0"/>
              <a:t>đặt</a:t>
            </a:r>
            <a:r>
              <a:rPr sz="2409" spc="-25" dirty="0"/>
              <a:t> </a:t>
            </a:r>
            <a:r>
              <a:rPr sz="2409" dirty="0"/>
              <a:t>bằng</a:t>
            </a:r>
            <a:r>
              <a:rPr sz="2409" spc="-35" dirty="0"/>
              <a:t> </a:t>
            </a:r>
            <a:r>
              <a:rPr sz="2409" dirty="0"/>
              <a:t>thuật</a:t>
            </a:r>
            <a:r>
              <a:rPr sz="2409" spc="-30" dirty="0"/>
              <a:t> </a:t>
            </a:r>
            <a:r>
              <a:rPr sz="2409" dirty="0"/>
              <a:t>toán</a:t>
            </a:r>
            <a:r>
              <a:rPr sz="2409" spc="-30" dirty="0"/>
              <a:t> </a:t>
            </a:r>
            <a:r>
              <a:rPr sz="2409" spc="-10" dirty="0"/>
              <a:t>loang</a:t>
            </a:r>
            <a:endParaRPr sz="2409"/>
          </a:p>
        </p:txBody>
      </p:sp>
      <p:sp>
        <p:nvSpPr>
          <p:cNvPr id="3" name="object 3"/>
          <p:cNvSpPr/>
          <p:nvPr/>
        </p:nvSpPr>
        <p:spPr>
          <a:xfrm>
            <a:off x="1889420" y="1134503"/>
            <a:ext cx="8260193" cy="5267785"/>
          </a:xfrm>
          <a:custGeom>
            <a:avLst/>
            <a:gdLst/>
            <a:ahLst/>
            <a:cxnLst/>
            <a:rect l="l" t="t" r="r" b="b"/>
            <a:pathLst>
              <a:path w="8229600" h="5248275">
                <a:moveTo>
                  <a:pt x="0" y="0"/>
                </a:moveTo>
                <a:lnTo>
                  <a:pt x="0" y="5247894"/>
                </a:lnTo>
                <a:lnTo>
                  <a:pt x="8229600" y="5247894"/>
                </a:lnTo>
                <a:lnTo>
                  <a:pt x="82296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3806" y="1105321"/>
            <a:ext cx="8019908" cy="4632337"/>
          </a:xfrm>
          <a:prstGeom prst="rect">
            <a:avLst/>
          </a:prstGeom>
        </p:spPr>
        <p:txBody>
          <a:bodyPr vert="horz" wrap="square" lIns="0" tIns="78395" rIns="0" bIns="0" rtlCol="0">
            <a:spAutoFit/>
          </a:bodyPr>
          <a:lstStyle/>
          <a:p>
            <a:pPr marL="356278" indent="-343531" defTabSz="917783">
              <a:spcBef>
                <a:spcPts val="617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409" u="heavy" kern="0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Bước</a:t>
            </a:r>
            <a:r>
              <a:rPr sz="2409" u="heavy" kern="0" spc="-30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9" u="heavy" kern="0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:</a:t>
            </a:r>
            <a:r>
              <a:rPr sz="2409" kern="0" spc="-3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Khởi</a:t>
            </a:r>
            <a:r>
              <a:rPr sz="2409" kern="0" spc="-3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tạo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8446" marR="5099" lvl="1" indent="-287445" defTabSz="917783">
              <a:spcBef>
                <a:spcPts val="432"/>
              </a:spcBef>
              <a:buClr>
                <a:srgbClr val="1B9AD9"/>
              </a:buClr>
              <a:buFont typeface="Wingdings"/>
              <a:buChar char="■"/>
              <a:tabLst>
                <a:tab pos="758446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Bắt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từ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s.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Đánh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dấu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s,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khác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s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chưa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bị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đánh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dấu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286170" defTabSz="917783">
              <a:spcBef>
                <a:spcPts val="47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X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{s},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Y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Ø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56278" indent="-343531" defTabSz="917783">
              <a:spcBef>
                <a:spcPts val="617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409" u="heavy" kern="0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Bước</a:t>
            </a:r>
            <a:r>
              <a:rPr sz="2409" u="heavy" kern="0" spc="-25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9" u="heavy" kern="0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2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:</a:t>
            </a:r>
            <a:r>
              <a:rPr sz="2409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Lặp</a:t>
            </a:r>
            <a:r>
              <a:rPr sz="2409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lại</a:t>
            </a:r>
            <a:r>
              <a:rPr sz="2409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cho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đến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khi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X=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50" dirty="0">
                <a:solidFill>
                  <a:sysClr val="windowText" lastClr="000000"/>
                </a:solidFill>
                <a:latin typeface="Verdana"/>
                <a:cs typeface="Verdana"/>
              </a:rPr>
              <a:t>Ø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286170" defTabSz="917783">
              <a:spcBef>
                <a:spcPts val="43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Gán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Y=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Ø.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286170" defTabSz="917783">
              <a:spcBef>
                <a:spcPts val="50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mọi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Symbol"/>
                <a:cs typeface="Symbol"/>
              </a:rPr>
              <a:t></a:t>
            </a:r>
            <a:r>
              <a:rPr sz="2007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X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59339" marR="267049" lvl="2" indent="-229446" defTabSz="917783">
              <a:spcBef>
                <a:spcPts val="411"/>
              </a:spcBef>
              <a:buClr>
                <a:srgbClr val="1D528E"/>
              </a:buClr>
              <a:buFontTx/>
              <a:buChar char="•"/>
              <a:tabLst>
                <a:tab pos="1160613" algn="l"/>
              </a:tabLst>
            </a:pP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Xét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tất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cả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mà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chưa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bị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đánh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dấu.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mỗi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đỉnh 	</a:t>
            </a:r>
            <a:r>
              <a:rPr sz="18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đó: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81964" lvl="3" indent="-292543" defTabSz="917783">
              <a:spcBef>
                <a:spcPts val="447"/>
              </a:spcBef>
              <a:buFontTx/>
              <a:buChar char="–"/>
              <a:tabLst>
                <a:tab pos="1681964" algn="l"/>
              </a:tabLst>
            </a:pP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Đánh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dấu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18230" lvl="3" indent="-228808" defTabSz="917783">
              <a:spcBef>
                <a:spcPts val="436"/>
              </a:spcBef>
              <a:buFontTx/>
              <a:buChar char="–"/>
              <a:tabLst>
                <a:tab pos="1618230" algn="l"/>
              </a:tabLst>
            </a:pP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Lưu</a:t>
            </a:r>
            <a:r>
              <a:rPr sz="18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đường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đi,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liền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trước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đường</a:t>
            </a:r>
            <a:r>
              <a:rPr sz="18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đi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từ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s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176" dirty="0">
                <a:solidFill>
                  <a:sysClr val="windowText" lastClr="000000"/>
                </a:solidFill>
                <a:latin typeface="Wingdings"/>
                <a:cs typeface="Wingdings"/>
              </a:rPr>
              <a:t></a:t>
            </a:r>
            <a:r>
              <a:rPr sz="1807" kern="0" spc="4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u.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18230" lvl="3" indent="-228808" defTabSz="917783">
              <a:spcBef>
                <a:spcPts val="442"/>
              </a:spcBef>
              <a:buFontTx/>
              <a:buChar char="–"/>
              <a:tabLst>
                <a:tab pos="1618230" algn="l"/>
              </a:tabLst>
            </a:pP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Đưa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vào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Y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286170" defTabSz="917783">
              <a:spcBef>
                <a:spcPts val="47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Gán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X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Y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</a:t>
            </a:r>
            <a:r>
              <a:rPr spc="-4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dirty="0"/>
              <a:t>thị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</a:t>
            </a:r>
            <a:r>
              <a:rPr spc="-20" dirty="0"/>
              <a:t>rộng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154" y="936707"/>
            <a:ext cx="7761777" cy="2680788"/>
          </a:xfrm>
          <a:prstGeom prst="rect">
            <a:avLst/>
          </a:prstGeom>
        </p:spPr>
        <p:txBody>
          <a:bodyPr vert="horz" wrap="square" lIns="0" tIns="89230" rIns="0" bIns="0" rtlCol="0">
            <a:spAutoFit/>
          </a:bodyPr>
          <a:lstStyle/>
          <a:p>
            <a:pPr marL="356278" indent="-343531" defTabSz="917783">
              <a:spcBef>
                <a:spcPts val="703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Ý</a:t>
            </a:r>
            <a:r>
              <a:rPr sz="2810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1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318675" defTabSz="917783">
              <a:spcBef>
                <a:spcPts val="51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Kiểm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đường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giữa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Chia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thành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thành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phần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thông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Xây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dựng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cây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khung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marR="5099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Tìm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đường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đi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ngắn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nhất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từ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đến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còn lại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1"/>
            <a:ext cx="10830883" cy="50836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>
              <a:spcBef>
                <a:spcPts val="95"/>
              </a:spcBef>
            </a:pPr>
            <a:r>
              <a:rPr sz="3212" dirty="0"/>
              <a:t>Nội</a:t>
            </a:r>
            <a:r>
              <a:rPr sz="3212" spc="-25" dirty="0"/>
              <a:t> </a:t>
            </a:r>
            <a:r>
              <a:rPr sz="3212" spc="-20" dirty="0"/>
              <a:t>dung</a:t>
            </a:r>
            <a:endParaRPr sz="3212"/>
          </a:p>
        </p:txBody>
      </p:sp>
      <p:sp>
        <p:nvSpPr>
          <p:cNvPr id="3" name="object 3"/>
          <p:cNvSpPr/>
          <p:nvPr/>
        </p:nvSpPr>
        <p:spPr>
          <a:xfrm>
            <a:off x="2883702" y="2415596"/>
            <a:ext cx="4882182" cy="434042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4" name="object 4"/>
          <p:cNvSpPr txBox="1"/>
          <p:nvPr/>
        </p:nvSpPr>
        <p:spPr>
          <a:xfrm>
            <a:off x="3023922" y="2461741"/>
            <a:ext cx="3479989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>
              <a:spcBef>
                <a:spcPts val="95"/>
              </a:spcBef>
            </a:pPr>
            <a:r>
              <a:rPr sz="2007" b="1" dirty="0">
                <a:latin typeface="Arial"/>
                <a:cs typeface="Arial"/>
              </a:rPr>
              <a:t>Duyệt</a:t>
            </a:r>
            <a:r>
              <a:rPr sz="2007" b="1" spc="-45" dirty="0">
                <a:latin typeface="Arial"/>
                <a:cs typeface="Arial"/>
              </a:rPr>
              <a:t> </a:t>
            </a:r>
            <a:r>
              <a:rPr sz="2007" b="1" dirty="0">
                <a:latin typeface="Arial"/>
                <a:cs typeface="Arial"/>
              </a:rPr>
              <a:t>đồ</a:t>
            </a:r>
            <a:r>
              <a:rPr sz="2007" b="1" spc="-40" dirty="0">
                <a:latin typeface="Arial"/>
                <a:cs typeface="Arial"/>
              </a:rPr>
              <a:t> </a:t>
            </a:r>
            <a:r>
              <a:rPr sz="2007" b="1" dirty="0">
                <a:latin typeface="Arial"/>
                <a:cs typeface="Arial"/>
              </a:rPr>
              <a:t>thị</a:t>
            </a:r>
            <a:r>
              <a:rPr sz="2007" b="1" spc="-50" dirty="0">
                <a:latin typeface="Arial"/>
                <a:cs typeface="Arial"/>
              </a:rPr>
              <a:t> </a:t>
            </a:r>
            <a:r>
              <a:rPr sz="2007" b="1" dirty="0">
                <a:latin typeface="Arial"/>
                <a:cs typeface="Arial"/>
              </a:rPr>
              <a:t>theo</a:t>
            </a:r>
            <a:r>
              <a:rPr sz="2007" b="1" spc="-40" dirty="0">
                <a:latin typeface="Arial"/>
                <a:cs typeface="Arial"/>
              </a:rPr>
              <a:t> </a:t>
            </a:r>
            <a:r>
              <a:rPr sz="2007" b="1" dirty="0">
                <a:latin typeface="Arial"/>
                <a:cs typeface="Arial"/>
              </a:rPr>
              <a:t>chiều</a:t>
            </a:r>
            <a:r>
              <a:rPr sz="2007" b="1" spc="-40" dirty="0">
                <a:latin typeface="Arial"/>
                <a:cs typeface="Arial"/>
              </a:rPr>
              <a:t> </a:t>
            </a:r>
            <a:r>
              <a:rPr sz="2007" b="1" spc="-20" dirty="0">
                <a:latin typeface="Arial"/>
                <a:cs typeface="Arial"/>
              </a:rPr>
              <a:t>rộng</a:t>
            </a:r>
            <a:endParaRPr sz="2007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83703" y="1746368"/>
            <a:ext cx="4882182" cy="439779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6" name="object 6"/>
          <p:cNvSpPr txBox="1"/>
          <p:nvPr/>
        </p:nvSpPr>
        <p:spPr>
          <a:xfrm>
            <a:off x="3025452" y="1796336"/>
            <a:ext cx="3353791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>
              <a:spcBef>
                <a:spcPts val="95"/>
              </a:spcBef>
            </a:pPr>
            <a:r>
              <a:rPr sz="2007" b="1" dirty="0">
                <a:latin typeface="Arial"/>
                <a:cs typeface="Arial"/>
              </a:rPr>
              <a:t>Duyệt</a:t>
            </a:r>
            <a:r>
              <a:rPr sz="2007" b="1" spc="-50" dirty="0">
                <a:latin typeface="Arial"/>
                <a:cs typeface="Arial"/>
              </a:rPr>
              <a:t> </a:t>
            </a:r>
            <a:r>
              <a:rPr sz="2007" b="1" dirty="0">
                <a:latin typeface="Arial"/>
                <a:cs typeface="Arial"/>
              </a:rPr>
              <a:t>đồ</a:t>
            </a:r>
            <a:r>
              <a:rPr sz="2007" b="1" spc="-40" dirty="0">
                <a:latin typeface="Arial"/>
                <a:cs typeface="Arial"/>
              </a:rPr>
              <a:t> </a:t>
            </a:r>
            <a:r>
              <a:rPr sz="2007" b="1" dirty="0">
                <a:latin typeface="Arial"/>
                <a:cs typeface="Arial"/>
              </a:rPr>
              <a:t>thị</a:t>
            </a:r>
            <a:r>
              <a:rPr sz="2007" b="1" spc="-50" dirty="0">
                <a:latin typeface="Arial"/>
                <a:cs typeface="Arial"/>
              </a:rPr>
              <a:t> </a:t>
            </a:r>
            <a:r>
              <a:rPr sz="2007" b="1" dirty="0">
                <a:latin typeface="Arial"/>
                <a:cs typeface="Arial"/>
              </a:rPr>
              <a:t>theo</a:t>
            </a:r>
            <a:r>
              <a:rPr sz="2007" b="1" spc="-40" dirty="0">
                <a:latin typeface="Arial"/>
                <a:cs typeface="Arial"/>
              </a:rPr>
              <a:t> </a:t>
            </a:r>
            <a:r>
              <a:rPr sz="2007" b="1" dirty="0">
                <a:latin typeface="Arial"/>
                <a:cs typeface="Arial"/>
              </a:rPr>
              <a:t>chiều</a:t>
            </a:r>
            <a:r>
              <a:rPr sz="2007" b="1" spc="-40" dirty="0">
                <a:latin typeface="Arial"/>
                <a:cs typeface="Arial"/>
              </a:rPr>
              <a:t> </a:t>
            </a:r>
            <a:r>
              <a:rPr sz="2007" b="1" spc="-25" dirty="0">
                <a:latin typeface="Arial"/>
                <a:cs typeface="Arial"/>
              </a:rPr>
              <a:t>sâu</a:t>
            </a:r>
            <a:endParaRPr sz="2007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39054" y="1569012"/>
            <a:ext cx="5654026" cy="1995576"/>
            <a:chOff x="617009" y="1563200"/>
            <a:chExt cx="5633085" cy="1988185"/>
          </a:xfrm>
        </p:grpSpPr>
        <p:sp>
          <p:nvSpPr>
            <p:cNvPr id="8" name="object 8"/>
            <p:cNvSpPr/>
            <p:nvPr/>
          </p:nvSpPr>
          <p:spPr>
            <a:xfrm>
              <a:off x="1371854" y="3098545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9455"/>
                  </a:moveTo>
                  <a:lnTo>
                    <a:pt x="4859385" y="175240"/>
                  </a:lnTo>
                  <a:lnTo>
                    <a:pt x="4846593" y="134052"/>
                  </a:lnTo>
                  <a:lnTo>
                    <a:pt x="4826354" y="96775"/>
                  </a:lnTo>
                  <a:lnTo>
                    <a:pt x="4799552" y="64293"/>
                  </a:lnTo>
                  <a:lnTo>
                    <a:pt x="4767070" y="37491"/>
                  </a:lnTo>
                  <a:lnTo>
                    <a:pt x="4729793" y="17252"/>
                  </a:lnTo>
                  <a:lnTo>
                    <a:pt x="4688605" y="4460"/>
                  </a:lnTo>
                  <a:lnTo>
                    <a:pt x="4644390" y="0"/>
                  </a:lnTo>
                  <a:lnTo>
                    <a:pt x="218694" y="0"/>
                  </a:lnTo>
                  <a:lnTo>
                    <a:pt x="168430" y="5798"/>
                  </a:lnTo>
                  <a:lnTo>
                    <a:pt x="122353" y="22313"/>
                  </a:lnTo>
                  <a:lnTo>
                    <a:pt x="81753" y="48225"/>
                  </a:lnTo>
                  <a:lnTo>
                    <a:pt x="47926" y="82216"/>
                  </a:lnTo>
                  <a:lnTo>
                    <a:pt x="22162" y="122964"/>
                  </a:lnTo>
                  <a:lnTo>
                    <a:pt x="5756" y="169150"/>
                  </a:lnTo>
                  <a:lnTo>
                    <a:pt x="0" y="219456"/>
                  </a:lnTo>
                  <a:lnTo>
                    <a:pt x="5756" y="269719"/>
                  </a:lnTo>
                  <a:lnTo>
                    <a:pt x="22162" y="315796"/>
                  </a:lnTo>
                  <a:lnTo>
                    <a:pt x="47926" y="356396"/>
                  </a:lnTo>
                  <a:lnTo>
                    <a:pt x="81753" y="390223"/>
                  </a:lnTo>
                  <a:lnTo>
                    <a:pt x="122353" y="415987"/>
                  </a:lnTo>
                  <a:lnTo>
                    <a:pt x="168430" y="432393"/>
                  </a:lnTo>
                  <a:lnTo>
                    <a:pt x="218694" y="438150"/>
                  </a:lnTo>
                  <a:lnTo>
                    <a:pt x="4644390" y="438149"/>
                  </a:lnTo>
                  <a:lnTo>
                    <a:pt x="4694695" y="432393"/>
                  </a:lnTo>
                  <a:lnTo>
                    <a:pt x="4740881" y="415987"/>
                  </a:lnTo>
                  <a:lnTo>
                    <a:pt x="4781629" y="390223"/>
                  </a:lnTo>
                  <a:lnTo>
                    <a:pt x="4815620" y="356396"/>
                  </a:lnTo>
                  <a:lnTo>
                    <a:pt x="4841532" y="315796"/>
                  </a:lnTo>
                  <a:lnTo>
                    <a:pt x="4858047" y="269719"/>
                  </a:lnTo>
                  <a:lnTo>
                    <a:pt x="4863846" y="219455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sp>
          <p:nvSpPr>
            <p:cNvPr id="9" name="object 9"/>
            <p:cNvSpPr/>
            <p:nvPr/>
          </p:nvSpPr>
          <p:spPr>
            <a:xfrm>
              <a:off x="1371854" y="3098545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430" y="5798"/>
                  </a:lnTo>
                  <a:lnTo>
                    <a:pt x="122353" y="22313"/>
                  </a:lnTo>
                  <a:lnTo>
                    <a:pt x="81753" y="48225"/>
                  </a:lnTo>
                  <a:lnTo>
                    <a:pt x="47926" y="82216"/>
                  </a:lnTo>
                  <a:lnTo>
                    <a:pt x="22162" y="122964"/>
                  </a:lnTo>
                  <a:lnTo>
                    <a:pt x="5756" y="169150"/>
                  </a:lnTo>
                  <a:lnTo>
                    <a:pt x="0" y="219456"/>
                  </a:lnTo>
                  <a:lnTo>
                    <a:pt x="5756" y="269719"/>
                  </a:lnTo>
                  <a:lnTo>
                    <a:pt x="22162" y="315796"/>
                  </a:lnTo>
                  <a:lnTo>
                    <a:pt x="47926" y="356396"/>
                  </a:lnTo>
                  <a:lnTo>
                    <a:pt x="81753" y="390223"/>
                  </a:lnTo>
                  <a:lnTo>
                    <a:pt x="122353" y="415987"/>
                  </a:lnTo>
                  <a:lnTo>
                    <a:pt x="168430" y="432393"/>
                  </a:lnTo>
                  <a:lnTo>
                    <a:pt x="218694" y="438150"/>
                  </a:lnTo>
                  <a:lnTo>
                    <a:pt x="4644390" y="438149"/>
                  </a:lnTo>
                  <a:lnTo>
                    <a:pt x="4694695" y="432393"/>
                  </a:lnTo>
                  <a:lnTo>
                    <a:pt x="4740881" y="415987"/>
                  </a:lnTo>
                  <a:lnTo>
                    <a:pt x="4781629" y="390223"/>
                  </a:lnTo>
                  <a:lnTo>
                    <a:pt x="4815620" y="356396"/>
                  </a:lnTo>
                  <a:lnTo>
                    <a:pt x="4841532" y="315796"/>
                  </a:lnTo>
                  <a:lnTo>
                    <a:pt x="4858047" y="269719"/>
                  </a:lnTo>
                  <a:lnTo>
                    <a:pt x="4863846" y="219455"/>
                  </a:lnTo>
                  <a:lnTo>
                    <a:pt x="4859385" y="175240"/>
                  </a:lnTo>
                  <a:lnTo>
                    <a:pt x="4846593" y="134052"/>
                  </a:lnTo>
                  <a:lnTo>
                    <a:pt x="4826354" y="96775"/>
                  </a:lnTo>
                  <a:lnTo>
                    <a:pt x="4799552" y="64293"/>
                  </a:lnTo>
                  <a:lnTo>
                    <a:pt x="4767070" y="37491"/>
                  </a:lnTo>
                  <a:lnTo>
                    <a:pt x="4729793" y="17252"/>
                  </a:lnTo>
                  <a:lnTo>
                    <a:pt x="4688605" y="4460"/>
                  </a:lnTo>
                  <a:lnTo>
                    <a:pt x="4644390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 sz="1807"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1854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031" y="5707"/>
                  </a:lnTo>
                  <a:lnTo>
                    <a:pt x="120575" y="21958"/>
                  </a:lnTo>
                  <a:lnTo>
                    <a:pt x="80545" y="47446"/>
                  </a:lnTo>
                  <a:lnTo>
                    <a:pt x="47206" y="80865"/>
                  </a:lnTo>
                  <a:lnTo>
                    <a:pt x="21824" y="120909"/>
                  </a:lnTo>
                  <a:lnTo>
                    <a:pt x="5667" y="166271"/>
                  </a:lnTo>
                  <a:lnTo>
                    <a:pt x="0" y="215646"/>
                  </a:lnTo>
                  <a:lnTo>
                    <a:pt x="5667" y="265302"/>
                  </a:lnTo>
                  <a:lnTo>
                    <a:pt x="21824" y="310867"/>
                  </a:lnTo>
                  <a:lnTo>
                    <a:pt x="47206" y="351046"/>
                  </a:lnTo>
                  <a:lnTo>
                    <a:pt x="80545" y="384547"/>
                  </a:lnTo>
                  <a:lnTo>
                    <a:pt x="120575" y="410078"/>
                  </a:lnTo>
                  <a:lnTo>
                    <a:pt x="16603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 sz="1807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36924" y="3150091"/>
            <a:ext cx="1679445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>
              <a:spcBef>
                <a:spcPts val="95"/>
              </a:spcBef>
            </a:pPr>
            <a:r>
              <a:rPr sz="2007" b="1" dirty="0">
                <a:latin typeface="Arial"/>
                <a:cs typeface="Arial"/>
              </a:rPr>
              <a:t>Tìm</a:t>
            </a:r>
            <a:r>
              <a:rPr sz="2007" b="1" spc="-40" dirty="0">
                <a:latin typeface="Arial"/>
                <a:cs typeface="Arial"/>
              </a:rPr>
              <a:t> </a:t>
            </a:r>
            <a:r>
              <a:rPr sz="2007" b="1" dirty="0">
                <a:latin typeface="Arial"/>
                <a:cs typeface="Arial"/>
              </a:rPr>
              <a:t>đường</a:t>
            </a:r>
            <a:r>
              <a:rPr sz="2007" b="1" spc="-40" dirty="0">
                <a:latin typeface="Arial"/>
                <a:cs typeface="Arial"/>
              </a:rPr>
              <a:t> </a:t>
            </a:r>
            <a:r>
              <a:rPr sz="2007" b="1" spc="-25" dirty="0">
                <a:latin typeface="Arial"/>
                <a:cs typeface="Arial"/>
              </a:rPr>
              <a:t>đi</a:t>
            </a:r>
            <a:endParaRPr sz="2007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151399" y="2945710"/>
            <a:ext cx="766745" cy="669229"/>
            <a:chOff x="629308" y="2934800"/>
            <a:chExt cx="763905" cy="66675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2934800"/>
              <a:ext cx="763583" cy="6661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2995676"/>
              <a:ext cx="352044" cy="336803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2883702" y="3868779"/>
            <a:ext cx="4882182" cy="434042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0" name="object 20"/>
          <p:cNvSpPr txBox="1"/>
          <p:nvPr/>
        </p:nvSpPr>
        <p:spPr>
          <a:xfrm>
            <a:off x="3023922" y="3914922"/>
            <a:ext cx="2868760" cy="33142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>
              <a:spcBef>
                <a:spcPts val="95"/>
              </a:spcBef>
            </a:pPr>
            <a:r>
              <a:rPr sz="2007" b="1" dirty="0">
                <a:latin typeface="Arial"/>
                <a:cs typeface="Arial"/>
              </a:rPr>
              <a:t>Kiểm</a:t>
            </a:r>
            <a:r>
              <a:rPr sz="2007" b="1" spc="-30" dirty="0">
                <a:latin typeface="Arial"/>
                <a:cs typeface="Arial"/>
              </a:rPr>
              <a:t> </a:t>
            </a:r>
            <a:r>
              <a:rPr sz="2007" b="1" dirty="0">
                <a:latin typeface="Arial"/>
                <a:cs typeface="Arial"/>
              </a:rPr>
              <a:t>tra</a:t>
            </a:r>
            <a:r>
              <a:rPr sz="2007" b="1" spc="-40" dirty="0">
                <a:latin typeface="Arial"/>
                <a:cs typeface="Arial"/>
              </a:rPr>
              <a:t> </a:t>
            </a:r>
            <a:r>
              <a:rPr sz="2007" b="1" dirty="0">
                <a:latin typeface="Arial"/>
                <a:cs typeface="Arial"/>
              </a:rPr>
              <a:t>tính</a:t>
            </a:r>
            <a:r>
              <a:rPr sz="2007" b="1" spc="-30" dirty="0">
                <a:latin typeface="Arial"/>
                <a:cs typeface="Arial"/>
              </a:rPr>
              <a:t> </a:t>
            </a:r>
            <a:r>
              <a:rPr sz="2007" b="1" dirty="0">
                <a:latin typeface="Arial"/>
                <a:cs typeface="Arial"/>
              </a:rPr>
              <a:t>liên</a:t>
            </a:r>
            <a:r>
              <a:rPr sz="2007" b="1" spc="-30" dirty="0">
                <a:latin typeface="Arial"/>
                <a:cs typeface="Arial"/>
              </a:rPr>
              <a:t> </a:t>
            </a:r>
            <a:r>
              <a:rPr sz="2007" b="1" spc="-10" dirty="0">
                <a:latin typeface="Arial"/>
                <a:cs typeface="Arial"/>
              </a:rPr>
              <a:t>thông</a:t>
            </a:r>
            <a:endParaRPr sz="2007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139054" y="3710543"/>
            <a:ext cx="766107" cy="669229"/>
            <a:chOff x="617009" y="3696800"/>
            <a:chExt cx="763270" cy="66675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292741" y="1462565"/>
            <a:ext cx="525185" cy="2888280"/>
          </a:xfrm>
          <a:prstGeom prst="rect">
            <a:avLst/>
          </a:prstGeom>
        </p:spPr>
        <p:txBody>
          <a:bodyPr vert="horz" wrap="square" lIns="0" tIns="211604" rIns="0" bIns="0" rtlCol="0">
            <a:spAutoFit/>
          </a:bodyPr>
          <a:lstStyle/>
          <a:p>
            <a:pPr marL="147865">
              <a:spcBef>
                <a:spcPts val="1666"/>
              </a:spcBef>
            </a:pPr>
            <a:r>
              <a:rPr sz="3212" b="1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12">
              <a:latin typeface="Arial"/>
              <a:cs typeface="Arial"/>
            </a:endParaRPr>
          </a:p>
          <a:p>
            <a:pPr marL="49076" marR="14022" indent="42702">
              <a:lnSpc>
                <a:spcPct val="140600"/>
              </a:lnSpc>
            </a:pPr>
            <a:r>
              <a:rPr sz="3212" b="1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12" b="1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12">
              <a:latin typeface="Arial"/>
              <a:cs typeface="Arial"/>
            </a:endParaRPr>
          </a:p>
          <a:p>
            <a:pPr marL="12747">
              <a:spcBef>
                <a:spcPts val="2168"/>
              </a:spcBef>
            </a:pPr>
            <a:r>
              <a:rPr sz="3212" b="1" spc="-25" dirty="0">
                <a:solidFill>
                  <a:srgbClr val="FFFFFF"/>
                </a:solidFill>
                <a:latin typeface="Arial"/>
                <a:cs typeface="Arial"/>
              </a:rPr>
              <a:t>IV.</a:t>
            </a:r>
            <a:endParaRPr sz="3212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>
              <a:spcBef>
                <a:spcPts val="105"/>
              </a:spcBef>
            </a:pPr>
            <a:r>
              <a:rPr sz="1405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852712" y="6551109"/>
            <a:ext cx="1446809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>
              <a:spcBef>
                <a:spcPts val="105"/>
              </a:spcBef>
            </a:pPr>
            <a:r>
              <a:rPr sz="1405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5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5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15753" y="6580443"/>
            <a:ext cx="20778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>
              <a:spcBef>
                <a:spcPts val="105"/>
              </a:spcBef>
            </a:pPr>
            <a:r>
              <a:rPr sz="1004" b="1" spc="-25" dirty="0">
                <a:solidFill>
                  <a:srgbClr val="1D528E"/>
                </a:solidFill>
                <a:latin typeface="Verdana"/>
                <a:cs typeface="Verdana"/>
              </a:rPr>
              <a:t>18</a:t>
            </a:r>
            <a:endParaRPr sz="1004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05585-A971-3ECC-0DE2-F3E484EF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Bài tập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2742D-C0FA-3DB1-7A04-91E59BB64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/>
              <a:t>Cho đồ thị G = (V, E)</a:t>
            </a:r>
          </a:p>
          <a:p>
            <a:r>
              <a:rPr lang="en-US" sz="2100"/>
              <a:t>Yêu cầu:</a:t>
            </a:r>
          </a:p>
          <a:p>
            <a:r>
              <a:rPr lang="en-US" sz="2100"/>
              <a:t>Cài đặt đồ thị sử dụng Ma trận kề, với ngôn ngữ C/C++</a:t>
            </a:r>
          </a:p>
          <a:p>
            <a:r>
              <a:rPr lang="en-US" sz="2100"/>
              <a:t>Thời gian: 20 phút </a:t>
            </a:r>
          </a:p>
          <a:p>
            <a:r>
              <a:rPr lang="en-US" sz="2100" b="1">
                <a:solidFill>
                  <a:srgbClr val="FF0000"/>
                </a:solidFill>
              </a:rPr>
              <a:t>Tên File</a:t>
            </a:r>
            <a:r>
              <a:rPr lang="en-US" sz="2100"/>
              <a:t>: &lt;</a:t>
            </a:r>
            <a:r>
              <a:rPr lang="en-US" sz="2100">
                <a:solidFill>
                  <a:srgbClr val="7030A0"/>
                </a:solidFill>
              </a:rPr>
              <a:t>Ma so sinh vien</a:t>
            </a:r>
            <a:r>
              <a:rPr lang="en-US" sz="2100"/>
              <a:t>&gt;_</a:t>
            </a:r>
            <a:r>
              <a:rPr lang="en-US" sz="2100" b="1">
                <a:solidFill>
                  <a:srgbClr val="0070C0"/>
                </a:solidFill>
              </a:rPr>
              <a:t>Baitap_2</a:t>
            </a:r>
          </a:p>
          <a:p>
            <a:r>
              <a:rPr lang="en-US" sz="2100"/>
              <a:t>Link nộp bài: </a:t>
            </a:r>
            <a:r>
              <a:rPr lang="en-US" sz="1400">
                <a:hlinkClick r:id="rId2"/>
              </a:rPr>
              <a:t>https://drive.google.com/drive/folders/11_hgCyJelVbLzD_zCxGAnXyTFTfksWVc?usp=sharing</a:t>
            </a:r>
            <a:r>
              <a:rPr lang="en-US" sz="1400"/>
              <a:t> </a:t>
            </a:r>
          </a:p>
          <a:p>
            <a:r>
              <a:rPr lang="en-US" sz="2100">
                <a:solidFill>
                  <a:srgbClr val="FF0000"/>
                </a:solidFill>
              </a:rPr>
              <a:t>THUẬT TOÁN </a:t>
            </a:r>
            <a:r>
              <a:rPr lang="en-US" sz="2100"/>
              <a:t>: </a:t>
            </a:r>
          </a:p>
          <a:p>
            <a:r>
              <a:rPr lang="en-US" sz="2100"/>
              <a:t>+ KhởI tạo ma trận V*V với zero, V là số đỉnh của đồ thị</a:t>
            </a:r>
          </a:p>
          <a:p>
            <a:r>
              <a:rPr lang="en-US" sz="2100"/>
              <a:t>+ Với  cạnh (u, v) trong danh sách cạnh E đã cho,</a:t>
            </a:r>
          </a:p>
          <a:p>
            <a:r>
              <a:rPr lang="en-US" sz="2100"/>
              <a:t> cho  matrix[u][v] = 1; matrix[v][u] = 1;</a:t>
            </a:r>
          </a:p>
          <a:p>
            <a:pPr marL="0" indent="0">
              <a:buNone/>
            </a:pPr>
            <a:endParaRPr lang="en-US" sz="210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087966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8EA1B-D80C-9A5F-D9B3-17E627772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Chương trình – minh họa trong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044AF-CD21-76A0-A257-4D4A871B8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88429" cy="4351338"/>
          </a:xfrm>
        </p:spPr>
        <p:txBody>
          <a:bodyPr/>
          <a:lstStyle/>
          <a:p>
            <a:r>
              <a:rPr lang="en-US"/>
              <a:t>def  TaoMaTranKe(V, edges):</a:t>
            </a:r>
          </a:p>
          <a:p>
            <a:pPr marL="457200" lvl="1" indent="0">
              <a:buNone/>
            </a:pPr>
            <a:r>
              <a:rPr lang="en-US"/>
              <a:t># Khởi tạo ma trận với zero</a:t>
            </a:r>
          </a:p>
          <a:p>
            <a:pPr marL="457200" lvl="1" indent="0">
              <a:buNone/>
            </a:pPr>
            <a:r>
              <a:rPr lang="en-US"/>
              <a:t>Matrix = [[0] * V for _in range(V)]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# Thiết lập ma trận dựa trên các cạnh</a:t>
            </a:r>
          </a:p>
          <a:p>
            <a:pPr marL="457200" lvl="1" indent="0">
              <a:buNone/>
            </a:pPr>
            <a:r>
              <a:rPr lang="en-US"/>
              <a:t>for edge in edges:</a:t>
            </a:r>
          </a:p>
          <a:p>
            <a:pPr marL="457200" lvl="1" indent="0">
              <a:buNone/>
            </a:pPr>
            <a:r>
              <a:rPr lang="en-US"/>
              <a:t>	u, v = edge</a:t>
            </a:r>
          </a:p>
          <a:p>
            <a:pPr marL="457200" lvl="1" indent="0">
              <a:buNone/>
            </a:pPr>
            <a:r>
              <a:rPr lang="en-US"/>
              <a:t>	matrix[u][v] = 1</a:t>
            </a:r>
          </a:p>
          <a:p>
            <a:pPr marL="457200" lvl="1" indent="0">
              <a:buNone/>
            </a:pPr>
            <a:r>
              <a:rPr lang="en-US"/>
              <a:t>	matrix[v][u] = 1</a:t>
            </a:r>
          </a:p>
          <a:p>
            <a:pPr marL="457200" lvl="1" indent="0">
              <a:buNone/>
            </a:pPr>
            <a:r>
              <a:rPr lang="en-US"/>
              <a:t>return matrix</a:t>
            </a:r>
          </a:p>
          <a:p>
            <a:pPr marL="457200" lvl="1" indent="0">
              <a:buNone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79380-CF1F-093B-BB04-9479D8C2F9AB}"/>
              </a:ext>
            </a:extLst>
          </p:cNvPr>
          <p:cNvSpPr txBox="1"/>
          <p:nvPr/>
        </p:nvSpPr>
        <p:spPr>
          <a:xfrm>
            <a:off x="6409509" y="1811383"/>
            <a:ext cx="5425440" cy="43978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300"/>
              <a:t># Exmple</a:t>
            </a:r>
          </a:p>
          <a:p>
            <a:r>
              <a:rPr lang="en-US" sz="2300"/>
              <a:t>V1 = 3    # Đồ thị có 3 đỉnh</a:t>
            </a:r>
          </a:p>
          <a:p>
            <a:r>
              <a:rPr lang="en-US" sz="2300"/>
              <a:t>Edges = [(0,1), (1,2), (2,0)]</a:t>
            </a:r>
          </a:p>
          <a:p>
            <a:r>
              <a:rPr lang="en-US" sz="2300"/>
              <a:t>adj_matrix = TaoMaTranKe(V, edges)</a:t>
            </a:r>
          </a:p>
          <a:p>
            <a:r>
              <a:rPr lang="en-US" sz="2300"/>
              <a:t> # in ra ma tran ke</a:t>
            </a:r>
          </a:p>
          <a:p>
            <a:r>
              <a:rPr lang="en-US" sz="2300"/>
              <a:t>For row in adj_matrix:</a:t>
            </a:r>
          </a:p>
          <a:p>
            <a:r>
              <a:rPr lang="en-US" sz="2300"/>
              <a:t>    print(row)</a:t>
            </a:r>
          </a:p>
          <a:p>
            <a:r>
              <a:rPr lang="en-US" sz="2300"/>
              <a:t> print()</a:t>
            </a:r>
          </a:p>
          <a:p>
            <a:r>
              <a:rPr lang="en-US" sz="2300"/>
              <a:t>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8082262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F50DE-FF7C-6CBB-F37B-9D683953B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Tóm tắc bài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D4403-AC5D-586C-BE2D-D6DBB7BB9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Biểu diễn đồ thị </a:t>
            </a:r>
          </a:p>
          <a:p>
            <a:r>
              <a:rPr lang="en-US"/>
              <a:t>1. Bằng ma trận kề; sử dụng mảng 2 chiều</a:t>
            </a:r>
          </a:p>
          <a:p>
            <a:r>
              <a:rPr lang="en-US"/>
              <a:t>2. Danh sách kề =&gt; sử dụng danh sách liên kết</a:t>
            </a:r>
          </a:p>
          <a:p>
            <a:endParaRPr lang="en-US"/>
          </a:p>
          <a:p>
            <a:r>
              <a:rPr lang="en-US"/>
              <a:t>Biểu diễn đồ thị với Ma trận có trọng số</a:t>
            </a:r>
          </a:p>
          <a:p>
            <a:r>
              <a:rPr lang="en-US"/>
              <a:t>Đồ thị:</a:t>
            </a:r>
          </a:p>
          <a:p>
            <a:r>
              <a:rPr lang="en-US"/>
              <a:t>1. Đồ thị vô hướng</a:t>
            </a:r>
          </a:p>
          <a:p>
            <a:r>
              <a:rPr lang="en-US"/>
              <a:t>2. đồ thị có hướng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78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4319</Words>
  <Application>Microsoft Office PowerPoint</Application>
  <PresentationFormat>Widescreen</PresentationFormat>
  <Paragraphs>771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Arial</vt:lpstr>
      <vt:lpstr>Calibri</vt:lpstr>
      <vt:lpstr>Calibri Light</vt:lpstr>
      <vt:lpstr>Symbol</vt:lpstr>
      <vt:lpstr>Times New Roman</vt:lpstr>
      <vt:lpstr>Verdana</vt:lpstr>
      <vt:lpstr>Wingdings</vt:lpstr>
      <vt:lpstr>Office Theme</vt:lpstr>
      <vt:lpstr>1_Office Theme</vt:lpstr>
      <vt:lpstr>Chương 2</vt:lpstr>
      <vt:lpstr>Nội dung</vt:lpstr>
      <vt:lpstr>I. Các cách biểu diễn đồ thị</vt:lpstr>
      <vt:lpstr>I.1. Ma trận kề (đơn đồ thị vô hướng)</vt:lpstr>
      <vt:lpstr>I.1. Ma trận kề (đơn đồ thị có hướng)</vt:lpstr>
      <vt:lpstr>I.1. Ma trận kề (Đa đồ thị)</vt:lpstr>
      <vt:lpstr>I.1. Ma trận kề (Đa đồ thị)</vt:lpstr>
      <vt:lpstr>I.2. Ma trận trọng số (đơn đồ thị)</vt:lpstr>
      <vt:lpstr>I.3. Danh sách cạnh</vt:lpstr>
      <vt:lpstr>I.3. Danh sách cạnh</vt:lpstr>
      <vt:lpstr>I.4. Danh sách cung</vt:lpstr>
      <vt:lpstr>I.4. Danh sách kề</vt:lpstr>
      <vt:lpstr>I.4. Danh sách kề</vt:lpstr>
      <vt:lpstr>I.4. Danh sách kề</vt:lpstr>
      <vt:lpstr>I.4. Danh sách kề</vt:lpstr>
      <vt:lpstr>I.4. Danh sách kề</vt:lpstr>
      <vt:lpstr>I.5. Ma trận liên thuộc (đồ thị vô hướng)</vt:lpstr>
      <vt:lpstr>I.5. Ma trận liên thuộc (đồ thị vô hướng)</vt:lpstr>
      <vt:lpstr>I.5. Ma trận liên thuộc (đồ thị có hướng)</vt:lpstr>
      <vt:lpstr>I. Các cách biểu diễn đồ thị</vt:lpstr>
      <vt:lpstr>Nội dung</vt:lpstr>
      <vt:lpstr>II. Sự đẳng cấu của các đồ thị</vt:lpstr>
      <vt:lpstr>II. Sự đẳng cấu của các đồ thị</vt:lpstr>
      <vt:lpstr>II. Sự đẳng cấu của các đồ thị</vt:lpstr>
      <vt:lpstr>Nội dung</vt:lpstr>
      <vt:lpstr>III. Hướng dẫn cài đặt</vt:lpstr>
      <vt:lpstr>Thực hành   </vt:lpstr>
      <vt:lpstr>Tìm kiếm trên đồ thị</vt:lpstr>
      <vt:lpstr>Nội dung</vt:lpstr>
      <vt:lpstr>I. Duyệt đồ thị theo chiều sâu</vt:lpstr>
      <vt:lpstr>I. Duyệt đồ thị theo chiều sâu</vt:lpstr>
      <vt:lpstr>I. Duyệt đồ thị theo chiều sâu</vt:lpstr>
      <vt:lpstr>I.1. Cài đặt đệ quy</vt:lpstr>
      <vt:lpstr>I.1. Cài đặt đệ quy</vt:lpstr>
      <vt:lpstr>I.2. Cài đặt không đệ quy</vt:lpstr>
      <vt:lpstr>I.Duyệt đồ thị theo chiều sâu</vt:lpstr>
      <vt:lpstr>Nội dung</vt:lpstr>
      <vt:lpstr>II. Duyệt đồ thị theo chiều rộng</vt:lpstr>
      <vt:lpstr>II. Duyệt đồ thị theo chiều rộng</vt:lpstr>
      <vt:lpstr>II.1. Cài đặt bằng hàng đợi</vt:lpstr>
      <vt:lpstr>II.1. Cài đặt bằng hàng đợi</vt:lpstr>
      <vt:lpstr>II.2. Cài đặt bằng thuật toán loang</vt:lpstr>
      <vt:lpstr>II.2. Cài đặt bằng thuật toán loang</vt:lpstr>
      <vt:lpstr>II. Duyệt đồ thị theo chiều rộng</vt:lpstr>
      <vt:lpstr>Nội dung</vt:lpstr>
      <vt:lpstr>Bài tập </vt:lpstr>
      <vt:lpstr>Chương trình – minh họa trong Python</vt:lpstr>
      <vt:lpstr>Tóm tắc bài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 Tuan Thu</dc:creator>
  <cp:lastModifiedBy>Le Tuan Thu</cp:lastModifiedBy>
  <cp:revision>12</cp:revision>
  <dcterms:created xsi:type="dcterms:W3CDTF">2025-01-05T08:08:29Z</dcterms:created>
  <dcterms:modified xsi:type="dcterms:W3CDTF">2025-01-06T04:32:23Z</dcterms:modified>
</cp:coreProperties>
</file>
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7"/>
  </p:notesMasterIdLst>
  <p:sldIdLst>
    <p:sldId id="256" r:id="rId3"/>
    <p:sldId id="322" r:id="rId4"/>
    <p:sldId id="323" r:id="rId5"/>
    <p:sldId id="324" r:id="rId6"/>
    <p:sldId id="325" r:id="rId7"/>
    <p:sldId id="329" r:id="rId8"/>
    <p:sldId id="326" r:id="rId9"/>
    <p:sldId id="327" r:id="rId10"/>
    <p:sldId id="330" r:id="rId11"/>
    <p:sldId id="331" r:id="rId12"/>
    <p:sldId id="334" r:id="rId13"/>
    <p:sldId id="335" r:id="rId14"/>
    <p:sldId id="333" r:id="rId15"/>
    <p:sldId id="3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0" d="100"/>
          <a:sy n="70" d="100"/>
        </p:scale>
        <p:origin x="42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E59E9-398E-4CDE-B8A8-9783769AE3B1}"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AE73C4-1514-45ED-9211-6EAFD7C99467}" type="slidenum">
              <a:rPr lang="en-US" smtClean="0"/>
              <a:t>‹#›</a:t>
            </a:fld>
            <a:endParaRPr lang="en-US"/>
          </a:p>
        </p:txBody>
      </p:sp>
    </p:spTree>
    <p:extLst>
      <p:ext uri="{BB962C8B-B14F-4D97-AF65-F5344CB8AC3E}">
        <p14:creationId xmlns:p14="http://schemas.microsoft.com/office/powerpoint/2010/main" val="1666332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4D774-EE1B-2B11-22C1-6F594E1BCB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5BF6D9-B1AF-8033-687A-B967CDFDFF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E7DF9A-4B8A-6C27-6C5D-BD22A01CDD79}"/>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AB9EA562-258F-D32D-9BAB-1EAF64E6D0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C715D-2751-8742-3ADF-8EE71B4A4B33}"/>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412074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FFBB9-4646-A697-A5C4-A355D081A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33D36C-95A2-A52C-B4C9-75B5F0D695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24790-4794-805C-5F87-B3A9FA0F1652}"/>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4F25C3E4-32D6-BA68-67D9-F4FD48676D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6BE7F-9FEC-ACDC-63C1-1D201626D32F}"/>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127744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8FC70-2979-328F-D1D4-FA847F610D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2CD9CDB-BE36-772C-3D8E-D195849A96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6B8265-E3FB-A6D0-7EF3-12931F1C1978}"/>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6D405932-9CB9-E11D-A00E-C8A16DEAD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544320-C29E-C8A1-E478-75AB3513A21E}"/>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50308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8673-C533-92B8-5159-480F4C6326B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D9C7B0-CB30-3F37-0027-98050A43EC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E9E238-9774-8622-9833-1FFB0144B0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BADAE5-39EF-EEC4-83C2-D1690D79857D}"/>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6" name="Footer Placeholder 5">
            <a:extLst>
              <a:ext uri="{FF2B5EF4-FFF2-40B4-BE49-F238E27FC236}">
                <a16:creationId xmlns:a16="http://schemas.microsoft.com/office/drawing/2014/main" id="{FC4FDA40-EA20-0EF1-9E55-E118BDECEB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83E78D-16AB-0B02-E0F9-85B5C8E1E616}"/>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196422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98E7D-7329-D77D-BFFF-32FACF0E42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94A029-C003-DF2E-B676-47BFA63718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55257-2BD1-F15E-EED2-EE8480AC8D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7FCE09-E7D0-A9B3-7FD7-832DAF0174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436A70-DC5C-FD26-BBAE-699ED1BF046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E4F872-59ED-8EE7-0BF4-3B7102CA7A4A}"/>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8" name="Footer Placeholder 7">
            <a:extLst>
              <a:ext uri="{FF2B5EF4-FFF2-40B4-BE49-F238E27FC236}">
                <a16:creationId xmlns:a16="http://schemas.microsoft.com/office/drawing/2014/main" id="{82B08AE5-E413-A5A7-CCBF-BCF51D03AD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A35D4A-19C9-FFA0-D320-54E1DF937694}"/>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643587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39FD-F2BE-7E87-65CF-0DD8EFFE4C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D4AC8F-F839-D8DE-8E2E-41760CB29CF2}"/>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4" name="Footer Placeholder 3">
            <a:extLst>
              <a:ext uri="{FF2B5EF4-FFF2-40B4-BE49-F238E27FC236}">
                <a16:creationId xmlns:a16="http://schemas.microsoft.com/office/drawing/2014/main" id="{63D7464B-42CF-2E02-4971-5020050BE9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1C7DF-4C77-235D-9F48-2C0A5DA140FD}"/>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12261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4EB561-A15B-829A-FFE5-EE98E7C43CF2}"/>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3" name="Footer Placeholder 2">
            <a:extLst>
              <a:ext uri="{FF2B5EF4-FFF2-40B4-BE49-F238E27FC236}">
                <a16:creationId xmlns:a16="http://schemas.microsoft.com/office/drawing/2014/main" id="{F95118A1-0551-9123-856F-31EE8115B4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3C044E-A160-F18E-17BB-1818514101B7}"/>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4212293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2D0B-75EB-71F7-B80A-9C504658A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3AF00F-D956-8B12-EB86-4693190C86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A26A545-C338-C9B8-9311-A85BE60C9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99101B-526A-2609-14E1-E4B2C6B72F96}"/>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6" name="Footer Placeholder 5">
            <a:extLst>
              <a:ext uri="{FF2B5EF4-FFF2-40B4-BE49-F238E27FC236}">
                <a16:creationId xmlns:a16="http://schemas.microsoft.com/office/drawing/2014/main" id="{7CDC3438-B3A8-D6A2-DFFA-18DF1A7A16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2D607-1A76-65B2-3216-67FBFAAAD31C}"/>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3761022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8E7F-C3D1-86E5-1D6A-7E32766E1E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CBA471-B97F-6445-B117-D51B56ADC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1D7723-5F8F-7447-3180-06319D56D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EDDEB8-84FD-94B5-AF3D-81402F6278FA}"/>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6" name="Footer Placeholder 5">
            <a:extLst>
              <a:ext uri="{FF2B5EF4-FFF2-40B4-BE49-F238E27FC236}">
                <a16:creationId xmlns:a16="http://schemas.microsoft.com/office/drawing/2014/main" id="{6547D01F-0747-5F99-9FA1-1392CDC573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80CFB9-F96E-7880-A872-83EBB9D601E9}"/>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299321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FBA1D-5730-45A9-3DEB-9868D5E73C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8CD204-6861-6158-7238-42DB3999AD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0FD915-B7E1-0126-1ECB-9AC2571D034F}"/>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7C088074-217D-0866-6D21-94EC50A5F7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E0D1F2-F3E2-06FD-2D0B-96677CF327AF}"/>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4017708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92795E-3605-FF4E-9AD5-E4E22157D2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7220CB-2046-0BBE-1586-CABCA0239B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7238D-8DE3-CBAB-3381-5EF859858887}"/>
              </a:ext>
            </a:extLst>
          </p:cNvPr>
          <p:cNvSpPr>
            <a:spLocks noGrp="1"/>
          </p:cNvSpPr>
          <p:nvPr>
            <p:ph type="dt" sz="half" idx="10"/>
          </p:nvPr>
        </p:nvSpPr>
        <p:spPr/>
        <p:txBody>
          <a:body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44BA5B1D-F0D2-CAFF-20FB-5EE05D781F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29B2C-CC02-96AE-9DE2-4D9C4E542F51}"/>
              </a:ext>
            </a:extLst>
          </p:cNvPr>
          <p:cNvSpPr>
            <a:spLocks noGrp="1"/>
          </p:cNvSpPr>
          <p:nvPr>
            <p:ph type="sldNum" sz="quarter" idx="12"/>
          </p:nvPr>
        </p:nvSpPr>
        <p:spPr/>
        <p:txBody>
          <a:bodyPr/>
          <a:lstStyle/>
          <a:p>
            <a:fld id="{9A09FAC0-6F04-4589-8155-7480B01D8938}" type="slidenum">
              <a:rPr lang="en-US" smtClean="0"/>
              <a:t>‹#›</a:t>
            </a:fld>
            <a:endParaRPr lang="en-US"/>
          </a:p>
        </p:txBody>
      </p:sp>
    </p:spTree>
    <p:extLst>
      <p:ext uri="{BB962C8B-B14F-4D97-AF65-F5344CB8AC3E}">
        <p14:creationId xmlns:p14="http://schemas.microsoft.com/office/powerpoint/2010/main" val="935305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0" y="0"/>
            <a:ext cx="154182" cy="114979"/>
          </a:xfrm>
          <a:prstGeom prst="rect">
            <a:avLst/>
          </a:prstGeom>
        </p:spPr>
      </p:pic>
      <p:sp>
        <p:nvSpPr>
          <p:cNvPr id="2" name="Holder 2"/>
          <p:cNvSpPr>
            <a:spLocks noGrp="1"/>
          </p:cNvSpPr>
          <p:nvPr>
            <p:ph type="ctrTitle"/>
          </p:nvPr>
        </p:nvSpPr>
        <p:spPr>
          <a:xfrm>
            <a:off x="700615" y="1459810"/>
            <a:ext cx="9066739" cy="432426"/>
          </a:xfrm>
          <a:prstGeom prst="rect">
            <a:avLst/>
          </a:prstGeom>
        </p:spPr>
        <p:txBody>
          <a:bodyPr wrap="square" lIns="0" tIns="0" rIns="0" bIns="0">
            <a:spAutoFit/>
          </a:bodyPr>
          <a:lstStyle>
            <a:lvl1pPr>
              <a:defRPr sz="281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637034"/>
            <a:ext cx="8534400" cy="370743"/>
          </a:xfrm>
          <a:prstGeom prst="rect">
            <a:avLst/>
          </a:prstGeom>
        </p:spPr>
        <p:txBody>
          <a:bodyPr wrap="square" lIns="0" tIns="0" rIns="0" bIns="0">
            <a:spAutoFit/>
          </a:bodyPr>
          <a:lstStyle>
            <a:lvl1pPr>
              <a:defRPr sz="2409" b="0" i="1">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6" name="Holder 6"/>
          <p:cNvSpPr>
            <a:spLocks noGrp="1"/>
          </p:cNvSpPr>
          <p:nvPr>
            <p:ph type="sldNum" sz="quarter" idx="7"/>
          </p:nvPr>
        </p:nvSpPr>
        <p:spPr/>
        <p:txBody>
          <a:bodyPr lIns="0" tIns="0" rIns="0" bIns="0"/>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927906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1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409" b="0" i="1">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6" name="Holder 6"/>
          <p:cNvSpPr>
            <a:spLocks noGrp="1"/>
          </p:cNvSpPr>
          <p:nvPr>
            <p:ph type="sldNum" sz="quarter" idx="7"/>
          </p:nvPr>
        </p:nvSpPr>
        <p:spPr/>
        <p:txBody>
          <a:bodyPr lIns="0" tIns="0" rIns="0" bIns="0"/>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2439475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10" b="0" i="0">
                <a:solidFill>
                  <a:schemeClr val="tx1"/>
                </a:solidFill>
                <a:latin typeface="Verdana"/>
                <a:cs typeface="Verdana"/>
              </a:defRPr>
            </a:lvl1pPr>
          </a:lstStyle>
          <a:p>
            <a:endParaRPr/>
          </a:p>
        </p:txBody>
      </p:sp>
      <p:sp>
        <p:nvSpPr>
          <p:cNvPr id="3" name="Holder 3"/>
          <p:cNvSpPr>
            <a:spLocks noGrp="1"/>
          </p:cNvSpPr>
          <p:nvPr>
            <p:ph sz="half" idx="2"/>
          </p:nvPr>
        </p:nvSpPr>
        <p:spPr>
          <a:xfrm>
            <a:off x="609601" y="1493782"/>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1" y="1493782"/>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7" name="Holder 7"/>
          <p:cNvSpPr>
            <a:spLocks noGrp="1"/>
          </p:cNvSpPr>
          <p:nvPr>
            <p:ph type="sldNum" sz="quarter" idx="7"/>
          </p:nvPr>
        </p:nvSpPr>
        <p:spPr/>
        <p:txBody>
          <a:bodyPr lIns="0" tIns="0" rIns="0" bIns="0"/>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3871340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04254" y="512830"/>
            <a:ext cx="9389368" cy="529647"/>
          </a:xfrm>
          <a:custGeom>
            <a:avLst/>
            <a:gdLst/>
            <a:ahLst/>
            <a:cxnLst/>
            <a:rect l="l" t="t" r="r" b="b"/>
            <a:pathLst>
              <a:path w="7022465" h="527685">
                <a:moveTo>
                  <a:pt x="7021848" y="0"/>
                </a:moveTo>
                <a:lnTo>
                  <a:pt x="0" y="0"/>
                </a:lnTo>
                <a:lnTo>
                  <a:pt x="0" y="527332"/>
                </a:lnTo>
                <a:lnTo>
                  <a:pt x="16885" y="527332"/>
                </a:lnTo>
                <a:lnTo>
                  <a:pt x="16885" y="16885"/>
                </a:lnTo>
                <a:lnTo>
                  <a:pt x="7793" y="16885"/>
                </a:lnTo>
                <a:lnTo>
                  <a:pt x="16885" y="7793"/>
                </a:lnTo>
                <a:lnTo>
                  <a:pt x="7021848" y="7793"/>
                </a:lnTo>
                <a:lnTo>
                  <a:pt x="7021848" y="0"/>
                </a:lnTo>
                <a:close/>
              </a:path>
              <a:path w="7022465" h="527685">
                <a:moveTo>
                  <a:pt x="16885" y="7793"/>
                </a:moveTo>
                <a:lnTo>
                  <a:pt x="7793" y="16885"/>
                </a:lnTo>
                <a:lnTo>
                  <a:pt x="16885" y="16885"/>
                </a:lnTo>
                <a:lnTo>
                  <a:pt x="16885" y="7793"/>
                </a:lnTo>
                <a:close/>
              </a:path>
              <a:path w="7022465" h="527685">
                <a:moveTo>
                  <a:pt x="7021848" y="7793"/>
                </a:moveTo>
                <a:lnTo>
                  <a:pt x="16885" y="7793"/>
                </a:lnTo>
                <a:lnTo>
                  <a:pt x="16885" y="16885"/>
                </a:lnTo>
                <a:lnTo>
                  <a:pt x="7021848" y="16885"/>
                </a:lnTo>
                <a:lnTo>
                  <a:pt x="7021848" y="7793"/>
                </a:lnTo>
                <a:close/>
              </a:path>
            </a:pathLst>
          </a:custGeom>
          <a:solidFill>
            <a:srgbClr val="CC9900"/>
          </a:solidFill>
        </p:spPr>
        <p:txBody>
          <a:bodyPr wrap="square" lIns="0" tIns="0" rIns="0" bIns="0" rtlCol="0"/>
          <a:lstStyle/>
          <a:p>
            <a:endParaRPr sz="1807"/>
          </a:p>
        </p:txBody>
      </p:sp>
      <p:sp>
        <p:nvSpPr>
          <p:cNvPr id="2" name="Holder 2"/>
          <p:cNvSpPr>
            <a:spLocks noGrp="1"/>
          </p:cNvSpPr>
          <p:nvPr>
            <p:ph type="title"/>
          </p:nvPr>
        </p:nvSpPr>
        <p:spPr/>
        <p:txBody>
          <a:bodyPr lIns="0" tIns="0" rIns="0" bIns="0"/>
          <a:lstStyle>
            <a:lvl1pPr>
              <a:defRPr sz="281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5" name="Holder 5"/>
          <p:cNvSpPr>
            <a:spLocks noGrp="1"/>
          </p:cNvSpPr>
          <p:nvPr>
            <p:ph type="sldNum" sz="quarter" idx="7"/>
          </p:nvPr>
        </p:nvSpPr>
        <p:spPr/>
        <p:txBody>
          <a:bodyPr lIns="0" tIns="0" rIns="0" bIns="0"/>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2160681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304254" y="512830"/>
            <a:ext cx="9389368" cy="529647"/>
          </a:xfrm>
          <a:custGeom>
            <a:avLst/>
            <a:gdLst/>
            <a:ahLst/>
            <a:cxnLst/>
            <a:rect l="l" t="t" r="r" b="b"/>
            <a:pathLst>
              <a:path w="7022465" h="527685">
                <a:moveTo>
                  <a:pt x="7021848" y="0"/>
                </a:moveTo>
                <a:lnTo>
                  <a:pt x="0" y="0"/>
                </a:lnTo>
                <a:lnTo>
                  <a:pt x="0" y="527332"/>
                </a:lnTo>
                <a:lnTo>
                  <a:pt x="16885" y="527332"/>
                </a:lnTo>
                <a:lnTo>
                  <a:pt x="16885" y="16885"/>
                </a:lnTo>
                <a:lnTo>
                  <a:pt x="7793" y="16885"/>
                </a:lnTo>
                <a:lnTo>
                  <a:pt x="16885" y="7793"/>
                </a:lnTo>
                <a:lnTo>
                  <a:pt x="7021848" y="7793"/>
                </a:lnTo>
                <a:lnTo>
                  <a:pt x="7021848" y="0"/>
                </a:lnTo>
                <a:close/>
              </a:path>
              <a:path w="7022465" h="527685">
                <a:moveTo>
                  <a:pt x="16885" y="7793"/>
                </a:moveTo>
                <a:lnTo>
                  <a:pt x="7793" y="16885"/>
                </a:lnTo>
                <a:lnTo>
                  <a:pt x="16885" y="16885"/>
                </a:lnTo>
                <a:lnTo>
                  <a:pt x="16885" y="7793"/>
                </a:lnTo>
                <a:close/>
              </a:path>
              <a:path w="7022465" h="527685">
                <a:moveTo>
                  <a:pt x="7021848" y="7793"/>
                </a:moveTo>
                <a:lnTo>
                  <a:pt x="16885" y="7793"/>
                </a:lnTo>
                <a:lnTo>
                  <a:pt x="16885" y="16885"/>
                </a:lnTo>
                <a:lnTo>
                  <a:pt x="7021848" y="16885"/>
                </a:lnTo>
                <a:lnTo>
                  <a:pt x="7021848" y="7793"/>
                </a:lnTo>
                <a:close/>
              </a:path>
            </a:pathLst>
          </a:custGeom>
          <a:solidFill>
            <a:srgbClr val="CC9900"/>
          </a:solidFill>
        </p:spPr>
        <p:txBody>
          <a:bodyPr wrap="square" lIns="0" tIns="0" rIns="0" bIns="0" rtlCol="0"/>
          <a:lstStyle/>
          <a:p>
            <a:endParaRPr sz="1807"/>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4" name="Holder 4"/>
          <p:cNvSpPr>
            <a:spLocks noGrp="1"/>
          </p:cNvSpPr>
          <p:nvPr>
            <p:ph type="sldNum" sz="quarter" idx="7"/>
          </p:nvPr>
        </p:nvSpPr>
        <p:spPr/>
        <p:txBody>
          <a:bodyPr lIns="0" tIns="0" rIns="0" bIns="0"/>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2852684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image" Target="../media/image1.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C350F9-9368-54FE-209A-2B465FC26B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8B19F1-D5AB-4AEB-6862-AED4C02B8E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98D765-FC1A-1ADF-0619-14F9B21B72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75E94-CB89-4173-B66A-4A547A6B34DC}" type="datetimeFigureOut">
              <a:rPr lang="en-US" smtClean="0"/>
              <a:t>2/25/2025</a:t>
            </a:fld>
            <a:endParaRPr lang="en-US"/>
          </a:p>
        </p:txBody>
      </p:sp>
      <p:sp>
        <p:nvSpPr>
          <p:cNvPr id="5" name="Footer Placeholder 4">
            <a:extLst>
              <a:ext uri="{FF2B5EF4-FFF2-40B4-BE49-F238E27FC236}">
                <a16:creationId xmlns:a16="http://schemas.microsoft.com/office/drawing/2014/main" id="{CAC68842-042E-40DA-EDFD-1744BF424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A208E3-BBC5-0E2E-4BEF-7CE8889A19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09FAC0-6F04-4589-8155-7480B01D8938}" type="slidenum">
              <a:rPr lang="en-US" smtClean="0"/>
              <a:t>‹#›</a:t>
            </a:fld>
            <a:endParaRPr lang="en-US"/>
          </a:p>
        </p:txBody>
      </p:sp>
    </p:spTree>
    <p:extLst>
      <p:ext uri="{BB962C8B-B14F-4D97-AF65-F5344CB8AC3E}">
        <p14:creationId xmlns:p14="http://schemas.microsoft.com/office/powerpoint/2010/main" val="690891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536516"/>
            <a:ext cx="12192000" cy="321867"/>
          </a:xfrm>
          <a:custGeom>
            <a:avLst/>
            <a:gdLst/>
            <a:ahLst/>
            <a:cxnLst/>
            <a:rect l="l" t="t" r="r" b="b"/>
            <a:pathLst>
              <a:path w="9118600" h="320675">
                <a:moveTo>
                  <a:pt x="0" y="320294"/>
                </a:moveTo>
                <a:lnTo>
                  <a:pt x="9118600" y="320294"/>
                </a:lnTo>
                <a:lnTo>
                  <a:pt x="9118600" y="0"/>
                </a:lnTo>
                <a:lnTo>
                  <a:pt x="0" y="0"/>
                </a:lnTo>
                <a:lnTo>
                  <a:pt x="0" y="320294"/>
                </a:lnTo>
                <a:close/>
              </a:path>
            </a:pathLst>
          </a:custGeom>
          <a:solidFill>
            <a:srgbClr val="C0C0C0"/>
          </a:solidFill>
        </p:spPr>
        <p:txBody>
          <a:bodyPr wrap="square" lIns="0" tIns="0" rIns="0" bIns="0" rtlCol="0"/>
          <a:lstStyle/>
          <a:p>
            <a:endParaRPr sz="1807"/>
          </a:p>
        </p:txBody>
      </p:sp>
      <p:pic>
        <p:nvPicPr>
          <p:cNvPr id="17" name="bg object 17"/>
          <p:cNvPicPr/>
          <p:nvPr/>
        </p:nvPicPr>
        <p:blipFill>
          <a:blip r:embed="rId7" cstate="print"/>
          <a:stretch>
            <a:fillRect/>
          </a:stretch>
        </p:blipFill>
        <p:spPr>
          <a:xfrm>
            <a:off x="0" y="176931"/>
            <a:ext cx="12192000" cy="795425"/>
          </a:xfrm>
          <a:prstGeom prst="rect">
            <a:avLst/>
          </a:prstGeom>
        </p:spPr>
      </p:pic>
      <p:pic>
        <p:nvPicPr>
          <p:cNvPr id="18" name="bg object 18"/>
          <p:cNvPicPr/>
          <p:nvPr/>
        </p:nvPicPr>
        <p:blipFill>
          <a:blip r:embed="rId8" cstate="print"/>
          <a:stretch>
            <a:fillRect/>
          </a:stretch>
        </p:blipFill>
        <p:spPr>
          <a:xfrm>
            <a:off x="0" y="0"/>
            <a:ext cx="12192000" cy="229704"/>
          </a:xfrm>
          <a:prstGeom prst="rect">
            <a:avLst/>
          </a:prstGeom>
        </p:spPr>
      </p:pic>
      <p:pic>
        <p:nvPicPr>
          <p:cNvPr id="19" name="bg object 19"/>
          <p:cNvPicPr/>
          <p:nvPr/>
        </p:nvPicPr>
        <p:blipFill>
          <a:blip r:embed="rId9" cstate="print"/>
          <a:stretch>
            <a:fillRect/>
          </a:stretch>
        </p:blipFill>
        <p:spPr>
          <a:xfrm>
            <a:off x="0" y="0"/>
            <a:ext cx="154183" cy="114979"/>
          </a:xfrm>
          <a:prstGeom prst="rect">
            <a:avLst/>
          </a:prstGeom>
        </p:spPr>
      </p:pic>
      <p:sp>
        <p:nvSpPr>
          <p:cNvPr id="2" name="Holder 2"/>
          <p:cNvSpPr>
            <a:spLocks noGrp="1"/>
          </p:cNvSpPr>
          <p:nvPr>
            <p:ph type="title"/>
          </p:nvPr>
        </p:nvSpPr>
        <p:spPr>
          <a:xfrm>
            <a:off x="700614" y="330153"/>
            <a:ext cx="10790769" cy="430887"/>
          </a:xfrm>
          <a:prstGeom prst="rect">
            <a:avLst/>
          </a:prstGeom>
        </p:spPr>
        <p:txBody>
          <a:bodyPr wrap="square" lIns="0" tIns="0" rIns="0" bIns="0">
            <a:spAutoFit/>
          </a:bodyPr>
          <a:lstStyle>
            <a:lvl1pPr>
              <a:defRPr sz="2800" b="0" i="0">
                <a:solidFill>
                  <a:schemeClr val="tx1"/>
                </a:solidFill>
                <a:latin typeface="Verdana"/>
                <a:cs typeface="Verdana"/>
              </a:defRPr>
            </a:lvl1pPr>
          </a:lstStyle>
          <a:p>
            <a:endParaRPr/>
          </a:p>
        </p:txBody>
      </p:sp>
      <p:sp>
        <p:nvSpPr>
          <p:cNvPr id="3" name="Holder 3"/>
          <p:cNvSpPr>
            <a:spLocks noGrp="1"/>
          </p:cNvSpPr>
          <p:nvPr>
            <p:ph type="body" idx="1"/>
          </p:nvPr>
        </p:nvSpPr>
        <p:spPr>
          <a:xfrm>
            <a:off x="598540" y="1000909"/>
            <a:ext cx="10724885" cy="369332"/>
          </a:xfrm>
          <a:prstGeom prst="rect">
            <a:avLst/>
          </a:prstGeom>
        </p:spPr>
        <p:txBody>
          <a:bodyPr wrap="square" lIns="0" tIns="0" rIns="0" bIns="0">
            <a:spAutoFit/>
          </a:bodyPr>
          <a:lstStyle>
            <a:lvl1pPr>
              <a:defRPr sz="2400" b="0" i="1">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040075"/>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040075"/>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2/25/2025</a:t>
            </a:fld>
            <a:endParaRPr lang="en-US"/>
          </a:p>
        </p:txBody>
      </p:sp>
      <p:sp>
        <p:nvSpPr>
          <p:cNvPr id="6" name="Holder 6"/>
          <p:cNvSpPr>
            <a:spLocks noGrp="1"/>
          </p:cNvSpPr>
          <p:nvPr>
            <p:ph type="sldNum" sz="quarter" idx="7"/>
          </p:nvPr>
        </p:nvSpPr>
        <p:spPr>
          <a:xfrm>
            <a:off x="5821933" y="6580443"/>
            <a:ext cx="361685" cy="154529"/>
          </a:xfrm>
          <a:prstGeom prst="rect">
            <a:avLst/>
          </a:prstGeom>
        </p:spPr>
        <p:txBody>
          <a:bodyPr wrap="square" lIns="0" tIns="0" rIns="0" bIns="0">
            <a:spAutoFit/>
          </a:bodyPr>
          <a:lstStyle>
            <a:lvl1pPr>
              <a:defRPr sz="1004" b="1" i="0">
                <a:solidFill>
                  <a:srgbClr val="1D528E"/>
                </a:solidFill>
                <a:latin typeface="Verdana"/>
                <a:cs typeface="Verdana"/>
              </a:defRPr>
            </a:lvl1pPr>
          </a:lstStyle>
          <a:p>
            <a:pPr marL="38241">
              <a:spcBef>
                <a:spcPts val="105"/>
              </a:spcBef>
            </a:pPr>
            <a:fld id="{81D60167-4931-47E6-BA6A-407CBD079E47}" type="slidenum">
              <a:rPr lang="en-US" spc="-25" smtClean="0"/>
              <a:pPr marL="38241">
                <a:spcBef>
                  <a:spcPts val="105"/>
                </a:spcBef>
              </a:pPr>
              <a:t>‹#›</a:t>
            </a:fld>
            <a:endParaRPr lang="en-US" spc="-25" dirty="0"/>
          </a:p>
        </p:txBody>
      </p:sp>
    </p:spTree>
    <p:extLst>
      <p:ext uri="{BB962C8B-B14F-4D97-AF65-F5344CB8AC3E}">
        <p14:creationId xmlns:p14="http://schemas.microsoft.com/office/powerpoint/2010/main" val="40834391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8892">
        <a:defRPr>
          <a:latin typeface="+mn-lt"/>
          <a:ea typeface="+mn-ea"/>
          <a:cs typeface="+mn-cs"/>
        </a:defRPr>
      </a:lvl2pPr>
      <a:lvl3pPr marL="917783">
        <a:defRPr>
          <a:latin typeface="+mn-lt"/>
          <a:ea typeface="+mn-ea"/>
          <a:cs typeface="+mn-cs"/>
        </a:defRPr>
      </a:lvl3pPr>
      <a:lvl4pPr marL="1376675">
        <a:defRPr>
          <a:latin typeface="+mn-lt"/>
          <a:ea typeface="+mn-ea"/>
          <a:cs typeface="+mn-cs"/>
        </a:defRPr>
      </a:lvl4pPr>
      <a:lvl5pPr marL="1835567">
        <a:defRPr>
          <a:latin typeface="+mn-lt"/>
          <a:ea typeface="+mn-ea"/>
          <a:cs typeface="+mn-cs"/>
        </a:defRPr>
      </a:lvl5pPr>
      <a:lvl6pPr marL="2294458">
        <a:defRPr>
          <a:latin typeface="+mn-lt"/>
          <a:ea typeface="+mn-ea"/>
          <a:cs typeface="+mn-cs"/>
        </a:defRPr>
      </a:lvl6pPr>
      <a:lvl7pPr marL="2753350">
        <a:defRPr>
          <a:latin typeface="+mn-lt"/>
          <a:ea typeface="+mn-ea"/>
          <a:cs typeface="+mn-cs"/>
        </a:defRPr>
      </a:lvl7pPr>
      <a:lvl8pPr marL="3212241">
        <a:defRPr>
          <a:latin typeface="+mn-lt"/>
          <a:ea typeface="+mn-ea"/>
          <a:cs typeface="+mn-cs"/>
        </a:defRPr>
      </a:lvl8pPr>
      <a:lvl9pPr marL="3671133">
        <a:defRPr>
          <a:latin typeface="+mn-lt"/>
          <a:ea typeface="+mn-ea"/>
          <a:cs typeface="+mn-cs"/>
        </a:defRPr>
      </a:lvl9pPr>
    </p:bodyStyle>
    <p:otherStyle>
      <a:lvl1pPr marL="0">
        <a:defRPr>
          <a:latin typeface="+mn-lt"/>
          <a:ea typeface="+mn-ea"/>
          <a:cs typeface="+mn-cs"/>
        </a:defRPr>
      </a:lvl1pPr>
      <a:lvl2pPr marL="458892">
        <a:defRPr>
          <a:latin typeface="+mn-lt"/>
          <a:ea typeface="+mn-ea"/>
          <a:cs typeface="+mn-cs"/>
        </a:defRPr>
      </a:lvl2pPr>
      <a:lvl3pPr marL="917783">
        <a:defRPr>
          <a:latin typeface="+mn-lt"/>
          <a:ea typeface="+mn-ea"/>
          <a:cs typeface="+mn-cs"/>
        </a:defRPr>
      </a:lvl3pPr>
      <a:lvl4pPr marL="1376675">
        <a:defRPr>
          <a:latin typeface="+mn-lt"/>
          <a:ea typeface="+mn-ea"/>
          <a:cs typeface="+mn-cs"/>
        </a:defRPr>
      </a:lvl4pPr>
      <a:lvl5pPr marL="1835567">
        <a:defRPr>
          <a:latin typeface="+mn-lt"/>
          <a:ea typeface="+mn-ea"/>
          <a:cs typeface="+mn-cs"/>
        </a:defRPr>
      </a:lvl5pPr>
      <a:lvl6pPr marL="2294458">
        <a:defRPr>
          <a:latin typeface="+mn-lt"/>
          <a:ea typeface="+mn-ea"/>
          <a:cs typeface="+mn-cs"/>
        </a:defRPr>
      </a:lvl6pPr>
      <a:lvl7pPr marL="2753350">
        <a:defRPr>
          <a:latin typeface="+mn-lt"/>
          <a:ea typeface="+mn-ea"/>
          <a:cs typeface="+mn-cs"/>
        </a:defRPr>
      </a:lvl7pPr>
      <a:lvl8pPr marL="3212241">
        <a:defRPr>
          <a:latin typeface="+mn-lt"/>
          <a:ea typeface="+mn-ea"/>
          <a:cs typeface="+mn-cs"/>
        </a:defRPr>
      </a:lvl8pPr>
      <a:lvl9pPr marL="3671133">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geeksforgeeks.org/continue-statement-cpp/" TargetMode="External"/><Relationship Id="rId2" Type="http://schemas.openxmlformats.org/officeDocument/2006/relationships/hyperlink" Target="https://www.geeksforgeeks.org/break-statement-cc/" TargetMode="Externa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hyperlink" Target="https://www.geeksforgeeks.org/range-based-loop-c/"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geeksforgeeks.org/edge-coloring-of-a-graph/"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A549-9C61-B1A4-0431-97B9E2394E07}"/>
              </a:ext>
            </a:extLst>
          </p:cNvPr>
          <p:cNvSpPr>
            <a:spLocks noGrp="1"/>
          </p:cNvSpPr>
          <p:nvPr>
            <p:ph type="ctrTitle"/>
          </p:nvPr>
        </p:nvSpPr>
        <p:spPr/>
        <p:txBody>
          <a:bodyPr>
            <a:normAutofit/>
          </a:bodyPr>
          <a:lstStyle/>
          <a:p>
            <a:r>
              <a:rPr lang="en-US" sz="4000" b="1">
                <a:solidFill>
                  <a:srgbClr val="0070C0"/>
                </a:solidFill>
              </a:rPr>
              <a:t>Chương 4</a:t>
            </a:r>
          </a:p>
        </p:txBody>
      </p:sp>
      <p:sp>
        <p:nvSpPr>
          <p:cNvPr id="3" name="Subtitle 2">
            <a:extLst>
              <a:ext uri="{FF2B5EF4-FFF2-40B4-BE49-F238E27FC236}">
                <a16:creationId xmlns:a16="http://schemas.microsoft.com/office/drawing/2014/main" id="{F47D7334-B492-2309-0783-D7D68B95C0B5}"/>
              </a:ext>
            </a:extLst>
          </p:cNvPr>
          <p:cNvSpPr>
            <a:spLocks noGrp="1"/>
          </p:cNvSpPr>
          <p:nvPr>
            <p:ph type="subTitle" idx="1"/>
          </p:nvPr>
        </p:nvSpPr>
        <p:spPr>
          <a:xfrm>
            <a:off x="1524000" y="3602038"/>
            <a:ext cx="9144000" cy="1039631"/>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a:bodyPr>
          <a:lstStyle/>
          <a:p>
            <a:r>
              <a:rPr lang="en-US" sz="4200" b="1">
                <a:solidFill>
                  <a:srgbClr val="C00000"/>
                </a:solidFill>
              </a:rPr>
              <a:t>TÔ MÀU ĐỒ THỊ</a:t>
            </a:r>
          </a:p>
        </p:txBody>
      </p:sp>
      <p:sp>
        <p:nvSpPr>
          <p:cNvPr id="4" name="TextBox 3">
            <a:extLst>
              <a:ext uri="{FF2B5EF4-FFF2-40B4-BE49-F238E27FC236}">
                <a16:creationId xmlns:a16="http://schemas.microsoft.com/office/drawing/2014/main" id="{3924F11E-47CC-81AC-8FEC-774B8565F950}"/>
              </a:ext>
            </a:extLst>
          </p:cNvPr>
          <p:cNvSpPr txBox="1"/>
          <p:nvPr/>
        </p:nvSpPr>
        <p:spPr>
          <a:xfrm>
            <a:off x="635727" y="209006"/>
            <a:ext cx="2292408" cy="2246811"/>
          </a:xfrm>
          <a:prstGeom prst="rect">
            <a:avLst/>
          </a:prstGeom>
          <a:noFill/>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wrap="square" rtlCol="0">
            <a:noAutofit/>
          </a:bodyPr>
          <a:lstStyle/>
          <a:p>
            <a:endParaRPr lang="en-US"/>
          </a:p>
        </p:txBody>
      </p:sp>
      <p:pic>
        <p:nvPicPr>
          <p:cNvPr id="5" name="Picture 4">
            <a:extLst>
              <a:ext uri="{FF2B5EF4-FFF2-40B4-BE49-F238E27FC236}">
                <a16:creationId xmlns:a16="http://schemas.microsoft.com/office/drawing/2014/main" id="{98C2E34A-2F10-515C-34FE-A89D485E88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726" y="286161"/>
            <a:ext cx="2141200" cy="2169656"/>
          </a:xfrm>
          <a:prstGeom prst="rect">
            <a:avLst/>
          </a:prstGeom>
        </p:spPr>
      </p:pic>
      <p:sp>
        <p:nvSpPr>
          <p:cNvPr id="6" name="TextBox 5">
            <a:extLst>
              <a:ext uri="{FF2B5EF4-FFF2-40B4-BE49-F238E27FC236}">
                <a16:creationId xmlns:a16="http://schemas.microsoft.com/office/drawing/2014/main" id="{3E80F402-5B82-6329-4389-FC0D591336E1}"/>
              </a:ext>
            </a:extLst>
          </p:cNvPr>
          <p:cNvSpPr txBox="1"/>
          <p:nvPr/>
        </p:nvSpPr>
        <p:spPr>
          <a:xfrm>
            <a:off x="2984883" y="286161"/>
            <a:ext cx="7839867" cy="2169656"/>
          </a:xfrm>
          <a:prstGeom prst="rect">
            <a:avLst/>
          </a:prstGeom>
          <a:noFill/>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wrap="square" rtlCol="0">
            <a:noAutofit/>
          </a:bodyPr>
          <a:lstStyle/>
          <a:p>
            <a:pPr>
              <a:lnSpc>
                <a:spcPct val="125000"/>
              </a:lnSpc>
              <a:spcAft>
                <a:spcPts val="700"/>
              </a:spcAft>
            </a:pPr>
            <a:r>
              <a:rPr lang="en-US" sz="2500" b="1"/>
              <a:t>TRƯỜNG ĐẠI HỌC TÀI NGUYÊN VÀ MÔI TRƯỜNG TP. HCM</a:t>
            </a:r>
          </a:p>
          <a:p>
            <a:pPr>
              <a:lnSpc>
                <a:spcPct val="125000"/>
              </a:lnSpc>
              <a:spcAft>
                <a:spcPts val="700"/>
              </a:spcAft>
            </a:pPr>
            <a:r>
              <a:rPr lang="en-US" sz="2800" b="1"/>
              <a:t>KHOA CÔNG NGHỆ THÔNG TIN </a:t>
            </a:r>
          </a:p>
        </p:txBody>
      </p:sp>
    </p:spTree>
    <p:extLst>
      <p:ext uri="{BB962C8B-B14F-4D97-AF65-F5344CB8AC3E}">
        <p14:creationId xmlns:p14="http://schemas.microsoft.com/office/powerpoint/2010/main" val="1787910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2970" y="331381"/>
            <a:ext cx="10830883" cy="508368"/>
          </a:xfrm>
          <a:prstGeom prst="rect">
            <a:avLst/>
          </a:prstGeom>
        </p:spPr>
        <p:txBody>
          <a:bodyPr vert="horz" wrap="square" lIns="0" tIns="12110" rIns="0" bIns="0" rtlCol="0">
            <a:spAutoFit/>
          </a:bodyPr>
          <a:lstStyle/>
          <a:p>
            <a:pPr marL="12747">
              <a:spcBef>
                <a:spcPts val="95"/>
              </a:spcBef>
            </a:pPr>
            <a:r>
              <a:rPr sz="3212" dirty="0"/>
              <a:t>Nội</a:t>
            </a:r>
            <a:r>
              <a:rPr sz="3212" spc="-25" dirty="0"/>
              <a:t> </a:t>
            </a:r>
            <a:r>
              <a:rPr sz="3212" spc="-20" dirty="0"/>
              <a:t>dung</a:t>
            </a:r>
            <a:endParaRPr sz="3212"/>
          </a:p>
        </p:txBody>
      </p:sp>
      <p:grpSp>
        <p:nvGrpSpPr>
          <p:cNvPr id="3" name="object 3"/>
          <p:cNvGrpSpPr/>
          <p:nvPr/>
        </p:nvGrpSpPr>
        <p:grpSpPr>
          <a:xfrm>
            <a:off x="2869362" y="1732027"/>
            <a:ext cx="4910863" cy="1131952"/>
            <a:chOff x="1344612" y="1725612"/>
            <a:chExt cx="4892675" cy="1127760"/>
          </a:xfrm>
        </p:grpSpPr>
        <p:sp>
          <p:nvSpPr>
            <p:cNvPr id="4" name="object 4"/>
            <p:cNvSpPr/>
            <p:nvPr/>
          </p:nvSpPr>
          <p:spPr>
            <a:xfrm>
              <a:off x="1358900" y="1739900"/>
              <a:ext cx="4864100" cy="438150"/>
            </a:xfrm>
            <a:custGeom>
              <a:avLst/>
              <a:gdLst/>
              <a:ahLst/>
              <a:cxnLst/>
              <a:rect l="l" t="t" r="r" b="b"/>
              <a:pathLst>
                <a:path w="4864100" h="438150">
                  <a:moveTo>
                    <a:pt x="4863846" y="218693"/>
                  </a:moveTo>
                  <a:lnTo>
                    <a:pt x="4858089" y="168670"/>
                  </a:lnTo>
                  <a:lnTo>
                    <a:pt x="4841683" y="122686"/>
                  </a:lnTo>
                  <a:lnTo>
                    <a:pt x="4815919" y="82073"/>
                  </a:lnTo>
                  <a:lnTo>
                    <a:pt x="4782092" y="48165"/>
                  </a:lnTo>
                  <a:lnTo>
                    <a:pt x="4741492" y="22295"/>
                  </a:lnTo>
                  <a:lnTo>
                    <a:pt x="4695415" y="5796"/>
                  </a:lnTo>
                  <a:lnTo>
                    <a:pt x="4645152" y="0"/>
                  </a:lnTo>
                  <a:lnTo>
                    <a:pt x="218694" y="0"/>
                  </a:lnTo>
                  <a:lnTo>
                    <a:pt x="168670" y="5796"/>
                  </a:lnTo>
                  <a:lnTo>
                    <a:pt x="122686" y="22295"/>
                  </a:lnTo>
                  <a:lnTo>
                    <a:pt x="82073" y="48165"/>
                  </a:lnTo>
                  <a:lnTo>
                    <a:pt x="48165" y="82073"/>
                  </a:lnTo>
                  <a:lnTo>
                    <a:pt x="22295" y="122686"/>
                  </a:lnTo>
                  <a:lnTo>
                    <a:pt x="5796" y="168670"/>
                  </a:lnTo>
                  <a:lnTo>
                    <a:pt x="0" y="218694"/>
                  </a:lnTo>
                  <a:lnTo>
                    <a:pt x="5796" y="268999"/>
                  </a:lnTo>
                  <a:lnTo>
                    <a:pt x="22295" y="315185"/>
                  </a:lnTo>
                  <a:lnTo>
                    <a:pt x="48165" y="355933"/>
                  </a:lnTo>
                  <a:lnTo>
                    <a:pt x="82073" y="389924"/>
                  </a:lnTo>
                  <a:lnTo>
                    <a:pt x="122686" y="415836"/>
                  </a:lnTo>
                  <a:lnTo>
                    <a:pt x="168670" y="432351"/>
                  </a:lnTo>
                  <a:lnTo>
                    <a:pt x="218694" y="438150"/>
                  </a:lnTo>
                  <a:lnTo>
                    <a:pt x="4645152" y="438149"/>
                  </a:lnTo>
                  <a:lnTo>
                    <a:pt x="4695415" y="432351"/>
                  </a:lnTo>
                  <a:lnTo>
                    <a:pt x="4741492" y="415836"/>
                  </a:lnTo>
                  <a:lnTo>
                    <a:pt x="4782092" y="389924"/>
                  </a:lnTo>
                  <a:lnTo>
                    <a:pt x="4815919" y="355933"/>
                  </a:lnTo>
                  <a:lnTo>
                    <a:pt x="4841683" y="315185"/>
                  </a:lnTo>
                  <a:lnTo>
                    <a:pt x="4858089" y="268999"/>
                  </a:lnTo>
                  <a:lnTo>
                    <a:pt x="4863846" y="218693"/>
                  </a:lnTo>
                  <a:close/>
                </a:path>
              </a:pathLst>
            </a:custGeom>
            <a:solidFill>
              <a:srgbClr val="CC99FF">
                <a:alpha val="39999"/>
              </a:srgbClr>
            </a:solidFill>
          </p:spPr>
          <p:txBody>
            <a:bodyPr wrap="square" lIns="0" tIns="0" rIns="0" bIns="0" rtlCol="0"/>
            <a:lstStyle/>
            <a:p>
              <a:pPr defTabSz="917783"/>
              <a:endParaRPr sz="1807" kern="0">
                <a:solidFill>
                  <a:sysClr val="windowText" lastClr="000000"/>
                </a:solidFill>
              </a:endParaRPr>
            </a:p>
          </p:txBody>
        </p:sp>
        <p:sp>
          <p:nvSpPr>
            <p:cNvPr id="5" name="object 5"/>
            <p:cNvSpPr/>
            <p:nvPr/>
          </p:nvSpPr>
          <p:spPr>
            <a:xfrm>
              <a:off x="1358900" y="1739900"/>
              <a:ext cx="4864100" cy="438150"/>
            </a:xfrm>
            <a:custGeom>
              <a:avLst/>
              <a:gdLst/>
              <a:ahLst/>
              <a:cxnLst/>
              <a:rect l="l" t="t" r="r" b="b"/>
              <a:pathLst>
                <a:path w="4864100" h="438150">
                  <a:moveTo>
                    <a:pt x="218694" y="0"/>
                  </a:moveTo>
                  <a:lnTo>
                    <a:pt x="168670" y="5796"/>
                  </a:lnTo>
                  <a:lnTo>
                    <a:pt x="122686" y="22295"/>
                  </a:lnTo>
                  <a:lnTo>
                    <a:pt x="82073" y="48165"/>
                  </a:lnTo>
                  <a:lnTo>
                    <a:pt x="48165" y="82073"/>
                  </a:lnTo>
                  <a:lnTo>
                    <a:pt x="22295" y="122686"/>
                  </a:lnTo>
                  <a:lnTo>
                    <a:pt x="5796" y="168670"/>
                  </a:lnTo>
                  <a:lnTo>
                    <a:pt x="0" y="218694"/>
                  </a:lnTo>
                  <a:lnTo>
                    <a:pt x="5796" y="268999"/>
                  </a:lnTo>
                  <a:lnTo>
                    <a:pt x="22295" y="315185"/>
                  </a:lnTo>
                  <a:lnTo>
                    <a:pt x="48165" y="355933"/>
                  </a:lnTo>
                  <a:lnTo>
                    <a:pt x="82073" y="389924"/>
                  </a:lnTo>
                  <a:lnTo>
                    <a:pt x="122686" y="415836"/>
                  </a:lnTo>
                  <a:lnTo>
                    <a:pt x="168670" y="432351"/>
                  </a:lnTo>
                  <a:lnTo>
                    <a:pt x="218694" y="438150"/>
                  </a:lnTo>
                  <a:lnTo>
                    <a:pt x="4645152" y="438149"/>
                  </a:lnTo>
                  <a:lnTo>
                    <a:pt x="4695415" y="432351"/>
                  </a:lnTo>
                  <a:lnTo>
                    <a:pt x="4741492" y="415836"/>
                  </a:lnTo>
                  <a:lnTo>
                    <a:pt x="4782092" y="389924"/>
                  </a:lnTo>
                  <a:lnTo>
                    <a:pt x="4815919" y="355933"/>
                  </a:lnTo>
                  <a:lnTo>
                    <a:pt x="4841683" y="315185"/>
                  </a:lnTo>
                  <a:lnTo>
                    <a:pt x="4858089" y="268999"/>
                  </a:lnTo>
                  <a:lnTo>
                    <a:pt x="4863846" y="218693"/>
                  </a:lnTo>
                  <a:lnTo>
                    <a:pt x="4858089" y="168670"/>
                  </a:lnTo>
                  <a:lnTo>
                    <a:pt x="4841683" y="122686"/>
                  </a:lnTo>
                  <a:lnTo>
                    <a:pt x="4815919" y="82073"/>
                  </a:lnTo>
                  <a:lnTo>
                    <a:pt x="4782092" y="48165"/>
                  </a:lnTo>
                  <a:lnTo>
                    <a:pt x="4741492" y="22295"/>
                  </a:lnTo>
                  <a:lnTo>
                    <a:pt x="4695415" y="5796"/>
                  </a:lnTo>
                  <a:lnTo>
                    <a:pt x="4645152" y="0"/>
                  </a:lnTo>
                  <a:lnTo>
                    <a:pt x="218694" y="0"/>
                  </a:lnTo>
                  <a:close/>
                </a:path>
              </a:pathLst>
            </a:custGeom>
            <a:ln w="28575">
              <a:solidFill>
                <a:srgbClr val="C0C0C0"/>
              </a:solidFill>
            </a:ln>
          </p:spPr>
          <p:txBody>
            <a:bodyPr wrap="square" lIns="0" tIns="0" rIns="0" bIns="0" rtlCol="0"/>
            <a:lstStyle/>
            <a:p>
              <a:pPr defTabSz="917783"/>
              <a:endParaRPr sz="1807" kern="0">
                <a:solidFill>
                  <a:sysClr val="windowText" lastClr="000000"/>
                </a:solidFill>
              </a:endParaRPr>
            </a:p>
          </p:txBody>
        </p:sp>
        <p:sp>
          <p:nvSpPr>
            <p:cNvPr id="6" name="object 6"/>
            <p:cNvSpPr/>
            <p:nvPr/>
          </p:nvSpPr>
          <p:spPr>
            <a:xfrm>
              <a:off x="1358900" y="2406650"/>
              <a:ext cx="4864100" cy="432434"/>
            </a:xfrm>
            <a:custGeom>
              <a:avLst/>
              <a:gdLst/>
              <a:ahLst/>
              <a:cxnLst/>
              <a:rect l="l" t="t" r="r" b="b"/>
              <a:pathLst>
                <a:path w="4864100" h="432435">
                  <a:moveTo>
                    <a:pt x="215646" y="0"/>
                  </a:moveTo>
                  <a:lnTo>
                    <a:pt x="166271" y="5707"/>
                  </a:lnTo>
                  <a:lnTo>
                    <a:pt x="120909" y="21958"/>
                  </a:lnTo>
                  <a:lnTo>
                    <a:pt x="80865" y="47446"/>
                  </a:lnTo>
                  <a:lnTo>
                    <a:pt x="47446" y="80865"/>
                  </a:lnTo>
                  <a:lnTo>
                    <a:pt x="21958" y="120909"/>
                  </a:lnTo>
                  <a:lnTo>
                    <a:pt x="5707" y="166271"/>
                  </a:lnTo>
                  <a:lnTo>
                    <a:pt x="0" y="215646"/>
                  </a:lnTo>
                  <a:lnTo>
                    <a:pt x="5707" y="265302"/>
                  </a:lnTo>
                  <a:lnTo>
                    <a:pt x="21958" y="310867"/>
                  </a:lnTo>
                  <a:lnTo>
                    <a:pt x="47446" y="351046"/>
                  </a:lnTo>
                  <a:lnTo>
                    <a:pt x="80865" y="384547"/>
                  </a:lnTo>
                  <a:lnTo>
                    <a:pt x="120909" y="410078"/>
                  </a:lnTo>
                  <a:lnTo>
                    <a:pt x="166271" y="426344"/>
                  </a:lnTo>
                  <a:lnTo>
                    <a:pt x="215646" y="432054"/>
                  </a:lnTo>
                  <a:lnTo>
                    <a:pt x="4648200" y="432053"/>
                  </a:lnTo>
                  <a:lnTo>
                    <a:pt x="4697574" y="426344"/>
                  </a:lnTo>
                  <a:lnTo>
                    <a:pt x="4742936" y="410078"/>
                  </a:lnTo>
                  <a:lnTo>
                    <a:pt x="4782980" y="384547"/>
                  </a:lnTo>
                  <a:lnTo>
                    <a:pt x="4816399" y="351046"/>
                  </a:lnTo>
                  <a:lnTo>
                    <a:pt x="4841887" y="310867"/>
                  </a:lnTo>
                  <a:lnTo>
                    <a:pt x="4858138" y="265302"/>
                  </a:lnTo>
                  <a:lnTo>
                    <a:pt x="4863846" y="215645"/>
                  </a:lnTo>
                  <a:lnTo>
                    <a:pt x="4858138" y="166271"/>
                  </a:lnTo>
                  <a:lnTo>
                    <a:pt x="4841887" y="120909"/>
                  </a:lnTo>
                  <a:lnTo>
                    <a:pt x="4816399" y="80865"/>
                  </a:lnTo>
                  <a:lnTo>
                    <a:pt x="4782980" y="47446"/>
                  </a:lnTo>
                  <a:lnTo>
                    <a:pt x="4742936" y="21958"/>
                  </a:lnTo>
                  <a:lnTo>
                    <a:pt x="4697574" y="5707"/>
                  </a:lnTo>
                  <a:lnTo>
                    <a:pt x="4648200" y="0"/>
                  </a:lnTo>
                  <a:lnTo>
                    <a:pt x="215646" y="0"/>
                  </a:lnTo>
                  <a:close/>
                </a:path>
              </a:pathLst>
            </a:custGeom>
            <a:ln w="28575">
              <a:solidFill>
                <a:srgbClr val="C0C0C0"/>
              </a:solidFill>
            </a:ln>
          </p:spPr>
          <p:txBody>
            <a:bodyPr wrap="square" lIns="0" tIns="0" rIns="0" bIns="0" rtlCol="0"/>
            <a:lstStyle/>
            <a:p>
              <a:pPr defTabSz="917783"/>
              <a:endParaRPr sz="1807" kern="0">
                <a:solidFill>
                  <a:sysClr val="windowText" lastClr="000000"/>
                </a:solidFill>
              </a:endParaRPr>
            </a:p>
          </p:txBody>
        </p:sp>
      </p:grpSp>
      <p:sp>
        <p:nvSpPr>
          <p:cNvPr id="7" name="object 7"/>
          <p:cNvSpPr txBox="1"/>
          <p:nvPr/>
        </p:nvSpPr>
        <p:spPr>
          <a:xfrm>
            <a:off x="3039162" y="2450834"/>
            <a:ext cx="3340407" cy="331428"/>
          </a:xfrm>
          <a:prstGeom prst="rect">
            <a:avLst/>
          </a:prstGeom>
        </p:spPr>
        <p:txBody>
          <a:bodyPr vert="horz" wrap="square" lIns="0" tIns="12110" rIns="0" bIns="0" rtlCol="0">
            <a:spAutoFit/>
          </a:bodyPr>
          <a:lstStyle/>
          <a:p>
            <a:pPr marL="12747" defTabSz="917783">
              <a:spcBef>
                <a:spcPts val="95"/>
              </a:spcBef>
            </a:pPr>
            <a:r>
              <a:rPr lang="en-US" sz="2007" b="1" kern="0">
                <a:solidFill>
                  <a:sysClr val="windowText" lastClr="000000"/>
                </a:solidFill>
                <a:latin typeface="Arial"/>
                <a:cs typeface="Arial"/>
              </a:rPr>
              <a:t>CÁC ỨNG DỤNG</a:t>
            </a:r>
            <a:endParaRPr sz="2007" kern="0">
              <a:solidFill>
                <a:sysClr val="windowText" lastClr="000000"/>
              </a:solidFill>
              <a:latin typeface="Arial"/>
              <a:cs typeface="Arial"/>
            </a:endParaRPr>
          </a:p>
        </p:txBody>
      </p:sp>
      <p:sp>
        <p:nvSpPr>
          <p:cNvPr id="8" name="object 8"/>
          <p:cNvSpPr/>
          <p:nvPr/>
        </p:nvSpPr>
        <p:spPr>
          <a:xfrm>
            <a:off x="2883703" y="1746368"/>
            <a:ext cx="4882182" cy="439779"/>
          </a:xfrm>
          <a:custGeom>
            <a:avLst/>
            <a:gdLst/>
            <a:ahLst/>
            <a:cxnLst/>
            <a:rect l="l" t="t" r="r" b="b"/>
            <a:pathLst>
              <a:path w="4864100" h="438150">
                <a:moveTo>
                  <a:pt x="218694" y="0"/>
                </a:moveTo>
                <a:lnTo>
                  <a:pt x="168670" y="5796"/>
                </a:lnTo>
                <a:lnTo>
                  <a:pt x="122686" y="22295"/>
                </a:lnTo>
                <a:lnTo>
                  <a:pt x="82073" y="48165"/>
                </a:lnTo>
                <a:lnTo>
                  <a:pt x="48165" y="82073"/>
                </a:lnTo>
                <a:lnTo>
                  <a:pt x="22295" y="122686"/>
                </a:lnTo>
                <a:lnTo>
                  <a:pt x="5796" y="168670"/>
                </a:lnTo>
                <a:lnTo>
                  <a:pt x="0" y="218694"/>
                </a:lnTo>
                <a:lnTo>
                  <a:pt x="5796" y="268999"/>
                </a:lnTo>
                <a:lnTo>
                  <a:pt x="22295" y="315185"/>
                </a:lnTo>
                <a:lnTo>
                  <a:pt x="48165" y="355933"/>
                </a:lnTo>
                <a:lnTo>
                  <a:pt x="82073" y="389924"/>
                </a:lnTo>
                <a:lnTo>
                  <a:pt x="122686" y="415836"/>
                </a:lnTo>
                <a:lnTo>
                  <a:pt x="168670" y="432351"/>
                </a:lnTo>
                <a:lnTo>
                  <a:pt x="218694" y="438150"/>
                </a:lnTo>
                <a:lnTo>
                  <a:pt x="4645152" y="438149"/>
                </a:lnTo>
                <a:lnTo>
                  <a:pt x="4695415" y="432351"/>
                </a:lnTo>
                <a:lnTo>
                  <a:pt x="4741492" y="415836"/>
                </a:lnTo>
                <a:lnTo>
                  <a:pt x="4782092" y="389924"/>
                </a:lnTo>
                <a:lnTo>
                  <a:pt x="4815919" y="355933"/>
                </a:lnTo>
                <a:lnTo>
                  <a:pt x="4841683" y="315185"/>
                </a:lnTo>
                <a:lnTo>
                  <a:pt x="4858089" y="268999"/>
                </a:lnTo>
                <a:lnTo>
                  <a:pt x="4863846" y="218693"/>
                </a:lnTo>
                <a:lnTo>
                  <a:pt x="4858089" y="168670"/>
                </a:lnTo>
                <a:lnTo>
                  <a:pt x="4841683" y="122686"/>
                </a:lnTo>
                <a:lnTo>
                  <a:pt x="4815919" y="82073"/>
                </a:lnTo>
                <a:lnTo>
                  <a:pt x="4782092" y="48165"/>
                </a:lnTo>
                <a:lnTo>
                  <a:pt x="4741492" y="22295"/>
                </a:lnTo>
                <a:lnTo>
                  <a:pt x="4695415" y="5796"/>
                </a:lnTo>
                <a:lnTo>
                  <a:pt x="4645152" y="0"/>
                </a:lnTo>
                <a:lnTo>
                  <a:pt x="218694" y="0"/>
                </a:lnTo>
                <a:close/>
              </a:path>
            </a:pathLst>
          </a:custGeom>
          <a:ln w="28575">
            <a:solidFill>
              <a:srgbClr val="C0C0C0"/>
            </a:solidFill>
          </a:ln>
        </p:spPr>
        <p:txBody>
          <a:bodyPr wrap="square" lIns="0" tIns="0" rIns="0" bIns="0" rtlCol="0"/>
          <a:lstStyle/>
          <a:p>
            <a:pPr defTabSz="917783"/>
            <a:endParaRPr sz="1807" kern="0">
              <a:solidFill>
                <a:sysClr val="windowText" lastClr="000000"/>
              </a:solidFill>
            </a:endParaRPr>
          </a:p>
        </p:txBody>
      </p:sp>
      <p:sp>
        <p:nvSpPr>
          <p:cNvPr id="9" name="object 9"/>
          <p:cNvSpPr txBox="1"/>
          <p:nvPr/>
        </p:nvSpPr>
        <p:spPr>
          <a:xfrm>
            <a:off x="3025452" y="1796336"/>
            <a:ext cx="3098847" cy="331428"/>
          </a:xfrm>
          <a:prstGeom prst="rect">
            <a:avLst/>
          </a:prstGeom>
        </p:spPr>
        <p:txBody>
          <a:bodyPr vert="horz" wrap="square" lIns="0" tIns="12110" rIns="0" bIns="0" rtlCol="0">
            <a:spAutoFit/>
          </a:bodyPr>
          <a:lstStyle/>
          <a:p>
            <a:pPr marL="12747" defTabSz="917783">
              <a:spcBef>
                <a:spcPts val="95"/>
              </a:spcBef>
            </a:pPr>
            <a:r>
              <a:rPr lang="en-US" sz="2007" b="1" kern="0">
                <a:solidFill>
                  <a:sysClr val="windowText" lastClr="000000"/>
                </a:solidFill>
                <a:latin typeface="Arial"/>
                <a:cs typeface="Arial"/>
              </a:rPr>
              <a:t>TÔ MÀU ĐỒ THỊ</a:t>
            </a:r>
            <a:endParaRPr sz="2007" b="1" kern="0">
              <a:solidFill>
                <a:sysClr val="windowText" lastClr="000000"/>
              </a:solidFill>
              <a:latin typeface="Arial"/>
              <a:cs typeface="Arial"/>
            </a:endParaRPr>
          </a:p>
        </p:txBody>
      </p:sp>
      <p:grpSp>
        <p:nvGrpSpPr>
          <p:cNvPr id="10" name="object 10"/>
          <p:cNvGrpSpPr/>
          <p:nvPr/>
        </p:nvGrpSpPr>
        <p:grpSpPr>
          <a:xfrm>
            <a:off x="2139054" y="1569011"/>
            <a:ext cx="766087" cy="1357024"/>
            <a:chOff x="617009" y="1563200"/>
            <a:chExt cx="763250" cy="1351998"/>
          </a:xfrm>
        </p:grpSpPr>
        <p:pic>
          <p:nvPicPr>
            <p:cNvPr id="11" name="object 11"/>
            <p:cNvPicPr/>
            <p:nvPr/>
          </p:nvPicPr>
          <p:blipFill>
            <a:blip r:embed="rId2" cstate="print"/>
            <a:stretch>
              <a:fillRect/>
            </a:stretch>
          </p:blipFill>
          <p:spPr>
            <a:xfrm>
              <a:off x="617009" y="1563200"/>
              <a:ext cx="763250" cy="666198"/>
            </a:xfrm>
            <a:prstGeom prst="rect">
              <a:avLst/>
            </a:prstGeom>
          </p:spPr>
        </p:pic>
        <p:pic>
          <p:nvPicPr>
            <p:cNvPr id="12" name="object 12"/>
            <p:cNvPicPr/>
            <p:nvPr/>
          </p:nvPicPr>
          <p:blipFill>
            <a:blip r:embed="rId3" cstate="print"/>
            <a:stretch>
              <a:fillRect/>
            </a:stretch>
          </p:blipFill>
          <p:spPr>
            <a:xfrm>
              <a:off x="674624" y="1624075"/>
              <a:ext cx="352806" cy="336803"/>
            </a:xfrm>
            <a:prstGeom prst="rect">
              <a:avLst/>
            </a:prstGeom>
          </p:spPr>
        </p:pic>
        <p:pic>
          <p:nvPicPr>
            <p:cNvPr id="13" name="object 13"/>
            <p:cNvPicPr/>
            <p:nvPr/>
          </p:nvPicPr>
          <p:blipFill>
            <a:blip r:embed="rId2" cstate="print"/>
            <a:stretch>
              <a:fillRect/>
            </a:stretch>
          </p:blipFill>
          <p:spPr>
            <a:xfrm>
              <a:off x="617009" y="2249000"/>
              <a:ext cx="763250" cy="666198"/>
            </a:xfrm>
            <a:prstGeom prst="rect">
              <a:avLst/>
            </a:prstGeom>
          </p:spPr>
        </p:pic>
        <p:pic>
          <p:nvPicPr>
            <p:cNvPr id="14" name="object 14"/>
            <p:cNvPicPr/>
            <p:nvPr/>
          </p:nvPicPr>
          <p:blipFill>
            <a:blip r:embed="rId3" cstate="print"/>
            <a:stretch>
              <a:fillRect/>
            </a:stretch>
          </p:blipFill>
          <p:spPr>
            <a:xfrm>
              <a:off x="674624" y="2309876"/>
              <a:ext cx="352806" cy="336803"/>
            </a:xfrm>
            <a:prstGeom prst="rect">
              <a:avLst/>
            </a:prstGeom>
          </p:spPr>
        </p:pic>
      </p:grpSp>
      <p:sp>
        <p:nvSpPr>
          <p:cNvPr id="20" name="object 20"/>
          <p:cNvSpPr txBox="1"/>
          <p:nvPr/>
        </p:nvSpPr>
        <p:spPr>
          <a:xfrm>
            <a:off x="2316452" y="1462564"/>
            <a:ext cx="478657" cy="2090543"/>
          </a:xfrm>
          <a:prstGeom prst="rect">
            <a:avLst/>
          </a:prstGeom>
        </p:spPr>
        <p:txBody>
          <a:bodyPr vert="horz" wrap="square" lIns="0" tIns="211604" rIns="0" bIns="0" rtlCol="0">
            <a:spAutoFit/>
          </a:bodyPr>
          <a:lstStyle/>
          <a:p>
            <a:pPr marL="124283" defTabSz="917783">
              <a:spcBef>
                <a:spcPts val="1666"/>
              </a:spcBef>
            </a:pPr>
            <a:r>
              <a:rPr sz="3212" b="1" kern="0" spc="-25" dirty="0">
                <a:solidFill>
                  <a:srgbClr val="FFFFFF"/>
                </a:solidFill>
                <a:latin typeface="Arial"/>
                <a:cs typeface="Arial"/>
              </a:rPr>
              <a:t>I.</a:t>
            </a:r>
            <a:endParaRPr sz="3212" kern="0">
              <a:solidFill>
                <a:sysClr val="windowText" lastClr="000000"/>
              </a:solidFill>
              <a:latin typeface="Arial"/>
              <a:cs typeface="Arial"/>
            </a:endParaRPr>
          </a:p>
          <a:p>
            <a:pPr marL="12747" marR="5099" indent="55448" defTabSz="917783">
              <a:lnSpc>
                <a:spcPct val="140600"/>
              </a:lnSpc>
            </a:pPr>
            <a:r>
              <a:rPr sz="3212" b="1" kern="0" spc="-25" dirty="0">
                <a:solidFill>
                  <a:srgbClr val="FFFFFF"/>
                </a:solidFill>
                <a:latin typeface="Arial"/>
                <a:cs typeface="Arial"/>
              </a:rPr>
              <a:t>II. </a:t>
            </a:r>
            <a:r>
              <a:rPr sz="3212" b="1" kern="0" spc="-20" dirty="0">
                <a:solidFill>
                  <a:srgbClr val="FFFFFF"/>
                </a:solidFill>
                <a:latin typeface="Arial"/>
                <a:cs typeface="Arial"/>
              </a:rPr>
              <a:t>III.</a:t>
            </a:r>
            <a:endParaRPr sz="3212" kern="0">
              <a:solidFill>
                <a:sysClr val="windowText" lastClr="000000"/>
              </a:solidFill>
              <a:latin typeface="Arial"/>
              <a:cs typeface="Arial"/>
            </a:endParaRPr>
          </a:p>
        </p:txBody>
      </p:sp>
      <p:sp>
        <p:nvSpPr>
          <p:cNvPr id="21" name="object 21"/>
          <p:cNvSpPr txBox="1"/>
          <p:nvPr/>
        </p:nvSpPr>
        <p:spPr>
          <a:xfrm>
            <a:off x="1816252" y="6557993"/>
            <a:ext cx="2538607" cy="230532"/>
          </a:xfrm>
          <a:prstGeom prst="rect">
            <a:avLst/>
          </a:prstGeom>
        </p:spPr>
        <p:txBody>
          <a:bodyPr vert="horz" wrap="square" lIns="0" tIns="13385" rIns="0" bIns="0" rtlCol="0">
            <a:spAutoFit/>
          </a:bodyPr>
          <a:lstStyle/>
          <a:p>
            <a:pPr marL="12747" defTabSz="917783">
              <a:spcBef>
                <a:spcPts val="105"/>
              </a:spcBef>
            </a:pPr>
            <a:r>
              <a:rPr lang="en-US" sz="1405" kern="0">
                <a:solidFill>
                  <a:srgbClr val="1D528E"/>
                </a:solidFill>
                <a:latin typeface="Verdana"/>
                <a:cs typeface="Verdana"/>
              </a:rPr>
              <a:t>Chapter</a:t>
            </a:r>
            <a:r>
              <a:rPr sz="1405" kern="0" spc="-25">
                <a:solidFill>
                  <a:srgbClr val="1D528E"/>
                </a:solidFill>
                <a:latin typeface="Verdana"/>
                <a:cs typeface="Verdana"/>
              </a:rPr>
              <a:t> </a:t>
            </a:r>
            <a:r>
              <a:rPr lang="en-US" sz="1405" kern="0" spc="-25" dirty="0">
                <a:solidFill>
                  <a:srgbClr val="1D528E"/>
                </a:solidFill>
                <a:latin typeface="Verdana"/>
                <a:cs typeface="Verdana"/>
              </a:rPr>
              <a:t>4</a:t>
            </a:r>
            <a:r>
              <a:rPr sz="1405" kern="0" spc="-25">
                <a:solidFill>
                  <a:srgbClr val="1D528E"/>
                </a:solidFill>
                <a:latin typeface="Verdana"/>
                <a:cs typeface="Verdana"/>
              </a:rPr>
              <a:t> </a:t>
            </a:r>
            <a:r>
              <a:rPr sz="1405" kern="0">
                <a:solidFill>
                  <a:srgbClr val="1D528E"/>
                </a:solidFill>
                <a:latin typeface="Verdana"/>
                <a:cs typeface="Verdana"/>
              </a:rPr>
              <a:t>–</a:t>
            </a:r>
            <a:r>
              <a:rPr sz="1405" kern="0" spc="-30">
                <a:solidFill>
                  <a:srgbClr val="1D528E"/>
                </a:solidFill>
                <a:latin typeface="Verdana"/>
                <a:cs typeface="Verdana"/>
              </a:rPr>
              <a:t> </a:t>
            </a:r>
            <a:r>
              <a:rPr lang="en-US" sz="1405" kern="0" spc="-30">
                <a:solidFill>
                  <a:srgbClr val="1D528E"/>
                </a:solidFill>
                <a:latin typeface="Verdana"/>
                <a:cs typeface="Verdana"/>
              </a:rPr>
              <a:t>Graph Coloring</a:t>
            </a:r>
            <a:endParaRPr sz="1405" kern="0">
              <a:solidFill>
                <a:sysClr val="windowText" lastClr="000000"/>
              </a:solidFill>
              <a:latin typeface="Verdana"/>
              <a:cs typeface="Verdana"/>
            </a:endParaRPr>
          </a:p>
        </p:txBody>
      </p:sp>
      <p:sp>
        <p:nvSpPr>
          <p:cNvPr id="22" name="object 22"/>
          <p:cNvSpPr txBox="1"/>
          <p:nvPr/>
        </p:nvSpPr>
        <p:spPr>
          <a:xfrm>
            <a:off x="8852712" y="6551109"/>
            <a:ext cx="1446809" cy="230532"/>
          </a:xfrm>
          <a:prstGeom prst="rect">
            <a:avLst/>
          </a:prstGeom>
        </p:spPr>
        <p:txBody>
          <a:bodyPr vert="horz" wrap="square" lIns="0" tIns="13385" rIns="0" bIns="0" rtlCol="0">
            <a:spAutoFit/>
          </a:bodyPr>
          <a:lstStyle/>
          <a:p>
            <a:pPr marL="12747" defTabSz="917783">
              <a:spcBef>
                <a:spcPts val="105"/>
              </a:spcBef>
            </a:pPr>
            <a:r>
              <a:rPr sz="1405" kern="0" dirty="0">
                <a:solidFill>
                  <a:srgbClr val="1D528E"/>
                </a:solidFill>
                <a:latin typeface="Verdana"/>
                <a:cs typeface="Verdana"/>
              </a:rPr>
              <a:t>Lý</a:t>
            </a:r>
            <a:r>
              <a:rPr sz="1405" kern="0" spc="-35" dirty="0">
                <a:solidFill>
                  <a:srgbClr val="1D528E"/>
                </a:solidFill>
                <a:latin typeface="Verdana"/>
                <a:cs typeface="Verdana"/>
              </a:rPr>
              <a:t> </a:t>
            </a:r>
            <a:r>
              <a:rPr sz="1405" kern="0" dirty="0">
                <a:solidFill>
                  <a:srgbClr val="1D528E"/>
                </a:solidFill>
                <a:latin typeface="Verdana"/>
                <a:cs typeface="Verdana"/>
              </a:rPr>
              <a:t>thuyết</a:t>
            </a:r>
            <a:r>
              <a:rPr sz="1405" kern="0" spc="-25" dirty="0">
                <a:solidFill>
                  <a:srgbClr val="1D528E"/>
                </a:solidFill>
                <a:latin typeface="Verdana"/>
                <a:cs typeface="Verdana"/>
              </a:rPr>
              <a:t> </a:t>
            </a:r>
            <a:r>
              <a:rPr sz="1405" kern="0" dirty="0">
                <a:solidFill>
                  <a:srgbClr val="1D528E"/>
                </a:solidFill>
                <a:latin typeface="Verdana"/>
                <a:cs typeface="Verdana"/>
              </a:rPr>
              <a:t>đồ</a:t>
            </a:r>
            <a:r>
              <a:rPr sz="1405" kern="0" spc="-35" dirty="0">
                <a:solidFill>
                  <a:srgbClr val="1D528E"/>
                </a:solidFill>
                <a:latin typeface="Verdana"/>
                <a:cs typeface="Verdana"/>
              </a:rPr>
              <a:t> </a:t>
            </a:r>
            <a:r>
              <a:rPr sz="1405" kern="0" spc="-25" dirty="0">
                <a:solidFill>
                  <a:srgbClr val="1D528E"/>
                </a:solidFill>
                <a:latin typeface="Verdana"/>
                <a:cs typeface="Verdana"/>
              </a:rPr>
              <a:t>thị</a:t>
            </a:r>
            <a:endParaRPr sz="1405" kern="0">
              <a:solidFill>
                <a:sysClr val="windowText" lastClr="000000"/>
              </a:solidFill>
              <a:latin typeface="Verdana"/>
              <a:cs typeface="Verdana"/>
            </a:endParaRPr>
          </a:p>
        </p:txBody>
      </p:sp>
      <p:sp>
        <p:nvSpPr>
          <p:cNvPr id="23" name="object 23"/>
          <p:cNvSpPr txBox="1">
            <a:spLocks noGrp="1"/>
          </p:cNvSpPr>
          <p:nvPr>
            <p:ph type="sldNum" sz="quarter" idx="7"/>
          </p:nvPr>
        </p:nvSpPr>
        <p:spPr>
          <a:xfrm>
            <a:off x="7363327" y="6604906"/>
            <a:ext cx="363030" cy="168620"/>
          </a:xfrm>
          <a:prstGeom prst="rect">
            <a:avLst/>
          </a:prstGeom>
        </p:spPr>
        <p:txBody>
          <a:bodyPr vert="horz" wrap="square" lIns="0" tIns="13385" rIns="0" bIns="0" rtlCol="0">
            <a:spAutoFit/>
          </a:bodyPr>
          <a:lstStyle/>
          <a:p>
            <a:pPr marL="82855" defTabSz="917783">
              <a:spcBef>
                <a:spcPts val="105"/>
              </a:spcBef>
            </a:pPr>
            <a:r>
              <a:rPr kern="0" spc="-50" dirty="0"/>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ĐỈNH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500"/>
              <a:t>Tô màu đỉnh của đồ thị G là phép ánh xạ c: V(G) -&gt; S </a:t>
            </a:r>
          </a:p>
          <a:p>
            <a:r>
              <a:rPr lang="en-US" sz="2500"/>
              <a:t>Các phần tử S được gọi là màu </a:t>
            </a:r>
          </a:p>
          <a:p>
            <a:r>
              <a:rPr lang="en-US" sz="2500"/>
              <a:t>Các đỉnh có 1 màu tạo thành một lớp màu.</a:t>
            </a:r>
          </a:p>
          <a:p>
            <a:r>
              <a:rPr lang="en-US" sz="2500"/>
              <a:t>S = {1, .., k};  |S| = k; ta nói rằng c là phép tô màu k.</a:t>
            </a:r>
          </a:p>
          <a:p>
            <a:r>
              <a:rPr lang="en-US" sz="2500"/>
              <a:t>Tô màu đỉnh của đồ thị sao cho có hai đỉnh kề nhau nào có cùng màu.</a:t>
            </a:r>
          </a:p>
        </p:txBody>
      </p:sp>
      <p:pic>
        <p:nvPicPr>
          <p:cNvPr id="10" name="Content Placeholder 9">
            <a:extLst>
              <a:ext uri="{FF2B5EF4-FFF2-40B4-BE49-F238E27FC236}">
                <a16:creationId xmlns:a16="http://schemas.microsoft.com/office/drawing/2014/main" id="{B3CF00CE-1610-676C-8A7D-B2A58BDEE029}"/>
              </a:ext>
            </a:extLst>
          </p:cNvPr>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l="46518"/>
          <a:stretch/>
        </p:blipFill>
        <p:spPr>
          <a:xfrm>
            <a:off x="6429835" y="1773813"/>
            <a:ext cx="3695857" cy="3033216"/>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12" name="TextBox 11">
            <a:extLst>
              <a:ext uri="{FF2B5EF4-FFF2-40B4-BE49-F238E27FC236}">
                <a16:creationId xmlns:a16="http://schemas.microsoft.com/office/drawing/2014/main" id="{FBDB21D3-A3EA-AE01-145E-E39A11A9B055}"/>
              </a:ext>
            </a:extLst>
          </p:cNvPr>
          <p:cNvSpPr txBox="1"/>
          <p:nvPr/>
        </p:nvSpPr>
        <p:spPr>
          <a:xfrm>
            <a:off x="6096000" y="1306285"/>
            <a:ext cx="5613070" cy="4870677"/>
          </a:xfrm>
          <a:prstGeom prst="rect">
            <a:avLst/>
          </a:prstGeom>
          <a:noFill/>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wrap="square" rtlCol="0">
            <a:noAutofit/>
          </a:bodyPr>
          <a:lstStyle/>
          <a:p>
            <a:r>
              <a:rPr lang="en-US" sz="2400"/>
              <a:t>Example:</a:t>
            </a:r>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r>
              <a:rPr lang="en-US" sz="2400"/>
              <a:t> </a:t>
            </a:r>
          </a:p>
        </p:txBody>
      </p:sp>
    </p:spTree>
    <p:extLst>
      <p:ext uri="{BB962C8B-B14F-4D97-AF65-F5344CB8AC3E}">
        <p14:creationId xmlns:p14="http://schemas.microsoft.com/office/powerpoint/2010/main" val="3967249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SỐ MÀU TỐI THIỂU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283131"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Số lượng màu tối thiểu cần thiết để tô màu cho một đồ thị được gọi là số màu của nó.</a:t>
            </a:r>
          </a:p>
          <a:p>
            <a:r>
              <a:rPr lang="en-US" sz="2400"/>
              <a:t>Ví dụ: Có thể tô màu tối thiểu 2 màu cho đồ thị - Hình 2</a:t>
            </a:r>
          </a:p>
          <a:p>
            <a:endParaRPr lang="en-US" sz="2400"/>
          </a:p>
        </p:txBody>
      </p:sp>
      <p:sp>
        <p:nvSpPr>
          <p:cNvPr id="5" name="Content Placeholder 4">
            <a:extLst>
              <a:ext uri="{FF2B5EF4-FFF2-40B4-BE49-F238E27FC236}">
                <a16:creationId xmlns:a16="http://schemas.microsoft.com/office/drawing/2014/main" id="{D69A27A5-9103-015D-9C4E-F7B4326B6034}"/>
              </a:ext>
            </a:extLst>
          </p:cNvPr>
          <p:cNvSpPr>
            <a:spLocks noGrp="1"/>
          </p:cNvSpPr>
          <p:nvPr>
            <p:ph sz="half" idx="2"/>
          </p:nvPr>
        </p:nvSpPr>
        <p:spPr>
          <a:xfrm>
            <a:off x="4206241" y="1825625"/>
            <a:ext cx="7147560"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a:t>EXAMPLE </a:t>
            </a:r>
          </a:p>
          <a:p>
            <a:endParaRPr lang="en-US"/>
          </a:p>
        </p:txBody>
      </p:sp>
      <p:pic>
        <p:nvPicPr>
          <p:cNvPr id="7" name="Picture 6">
            <a:extLst>
              <a:ext uri="{FF2B5EF4-FFF2-40B4-BE49-F238E27FC236}">
                <a16:creationId xmlns:a16="http://schemas.microsoft.com/office/drawing/2014/main" id="{9106A120-A9F1-AD75-C00F-CA370CADA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357" y="2394236"/>
            <a:ext cx="6621780" cy="2853830"/>
          </a:xfrm>
          <a:prstGeom prst="rect">
            <a:avLst/>
          </a:prstGeom>
        </p:spPr>
      </p:pic>
      <p:sp>
        <p:nvSpPr>
          <p:cNvPr id="8" name="TextBox 7">
            <a:extLst>
              <a:ext uri="{FF2B5EF4-FFF2-40B4-BE49-F238E27FC236}">
                <a16:creationId xmlns:a16="http://schemas.microsoft.com/office/drawing/2014/main" id="{4E619464-2A28-FF62-C3EE-BC7E43D838F4}"/>
              </a:ext>
            </a:extLst>
          </p:cNvPr>
          <p:cNvSpPr txBox="1"/>
          <p:nvPr/>
        </p:nvSpPr>
        <p:spPr>
          <a:xfrm>
            <a:off x="6479172" y="5313331"/>
            <a:ext cx="2690949" cy="353943"/>
          </a:xfrm>
          <a:prstGeom prst="rect">
            <a:avLst/>
          </a:prstGeom>
          <a:noFill/>
        </p:spPr>
        <p:txBody>
          <a:bodyPr wrap="square" rtlCol="0">
            <a:spAutoFit/>
          </a:bodyPr>
          <a:lstStyle/>
          <a:p>
            <a:pPr algn="ctr"/>
            <a:r>
              <a:rPr lang="en-US" sz="1700"/>
              <a:t>Hình 2</a:t>
            </a:r>
          </a:p>
        </p:txBody>
      </p:sp>
    </p:spTree>
    <p:extLst>
      <p:ext uri="{BB962C8B-B14F-4D97-AF65-F5344CB8AC3E}">
        <p14:creationId xmlns:p14="http://schemas.microsoft.com/office/powerpoint/2010/main" val="1267933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ĐỊNH LÝ 4 MÀU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780295"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Với bất kỳ sự phân tách nào của một mặt phẳng thành các vùng liền kề, tạo ra một hình gọi là bản đồ, không cần quá 4 màu để tô màu các vùng của bản đồ sao cho không có hai vùng liền kề nào có cùng màu.\</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4788976" y="1825625"/>
            <a:ext cx="6564824"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a:t>Ví dụ</a:t>
            </a:r>
          </a:p>
          <a:p>
            <a:endParaRPr lang="en-US"/>
          </a:p>
        </p:txBody>
      </p:sp>
      <p:pic>
        <p:nvPicPr>
          <p:cNvPr id="7" name="Picture 6">
            <a:extLst>
              <a:ext uri="{FF2B5EF4-FFF2-40B4-BE49-F238E27FC236}">
                <a16:creationId xmlns:a16="http://schemas.microsoft.com/office/drawing/2014/main" id="{7A817C7F-6038-10E3-D791-B143E960D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3443" y="2313146"/>
            <a:ext cx="6261906" cy="2606542"/>
          </a:xfrm>
          <a:prstGeom prst="rect">
            <a:avLst/>
          </a:prstGeom>
        </p:spPr>
      </p:pic>
    </p:spTree>
    <p:extLst>
      <p:ext uri="{BB962C8B-B14F-4D97-AF65-F5344CB8AC3E}">
        <p14:creationId xmlns:p14="http://schemas.microsoft.com/office/powerpoint/2010/main" val="4133993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CC5C7-B8EC-2ABE-F100-8267DCEE0EC0}"/>
              </a:ext>
            </a:extLst>
          </p:cNvPr>
          <p:cNvSpPr>
            <a:spLocks noGrp="1"/>
          </p:cNvSpPr>
          <p:nvPr>
            <p:ph type="title"/>
          </p:nvPr>
        </p:nvSpPr>
        <p:spPr/>
        <p:txBody>
          <a:bodyPr>
            <a:normAutofit/>
          </a:bodyPr>
          <a:lstStyle/>
          <a:p>
            <a:pPr algn="ctr"/>
            <a:r>
              <a:rPr lang="en-US" sz="4000" b="1">
                <a:solidFill>
                  <a:srgbClr val="C00000"/>
                </a:solidFill>
              </a:rPr>
              <a:t>CÁC ỨNG DỤNG CỦA TÔ MÀU ĐỒ THỊ</a:t>
            </a:r>
          </a:p>
        </p:txBody>
      </p:sp>
      <p:sp>
        <p:nvSpPr>
          <p:cNvPr id="3" name="Text Placeholder 2">
            <a:extLst>
              <a:ext uri="{FF2B5EF4-FFF2-40B4-BE49-F238E27FC236}">
                <a16:creationId xmlns:a16="http://schemas.microsoft.com/office/drawing/2014/main" id="{7C884085-257B-8409-F47A-8FD4BF92B8E3}"/>
              </a:ext>
            </a:extLst>
          </p:cNvPr>
          <p:cNvSpPr>
            <a:spLocks noGrp="1"/>
          </p:cNvSpPr>
          <p:nvPr>
            <p:ph type="body" idx="1"/>
          </p:nvPr>
        </p:nvSpPr>
        <p:spPr/>
        <p:txBody>
          <a:bodyPr/>
          <a:lstStyle/>
          <a:p>
            <a:pPr marL="457200" indent="-457200">
              <a:buAutoNum type="arabicPeriod"/>
            </a:pPr>
            <a:r>
              <a:rPr lang="en-US"/>
              <a:t>TÔ MÀU BẢN ĐỒ</a:t>
            </a:r>
          </a:p>
          <a:p>
            <a:pPr marL="457200" indent="-457200">
              <a:buAutoNum type="arabicPeriod"/>
            </a:pPr>
            <a:r>
              <a:rPr lang="en-US"/>
              <a:t>SẮP XẾP LỊCH THI CHO CÁC KỲ THI</a:t>
            </a:r>
          </a:p>
        </p:txBody>
      </p:sp>
    </p:spTree>
    <p:extLst>
      <p:ext uri="{BB962C8B-B14F-4D97-AF65-F5344CB8AC3E}">
        <p14:creationId xmlns:p14="http://schemas.microsoft.com/office/powerpoint/2010/main" val="176368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BẢN ĐỒ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3780295"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2400"/>
              <a:t>Tô màu một bản đồ với: điều kiện:</a:t>
            </a:r>
          </a:p>
          <a:p>
            <a:pPr lvl="1">
              <a:buFont typeface="Wingdings" panose="05000000000000000000" pitchFamily="2" charset="2"/>
              <a:buChar char="§"/>
            </a:pPr>
            <a:r>
              <a:rPr lang="en-US" sz="2200"/>
              <a:t>   Hai miền chung biên giới được tô hai màu khác nhau.</a:t>
            </a:r>
          </a:p>
          <a:p>
            <a:pPr lvl="1">
              <a:buFont typeface="Wingdings" panose="05000000000000000000" pitchFamily="2" charset="2"/>
              <a:buChar char="§"/>
            </a:pPr>
            <a:r>
              <a:rPr lang="en-US" sz="2200"/>
              <a:t>Số màu cần dung là tối thiểu</a:t>
            </a:r>
          </a:p>
          <a:p>
            <a:r>
              <a:rPr lang="en-US" sz="2600"/>
              <a:t>Hãy xác định số màu tối thiểu cho mọi bản đồ.</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4788976" y="1825625"/>
            <a:ext cx="6564824"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lstStyle/>
          <a:p>
            <a:r>
              <a:rPr lang="en-US" sz="2400"/>
              <a:t>Ví dụ</a:t>
            </a:r>
          </a:p>
          <a:p>
            <a:endParaRPr lang="en-US" sz="2400"/>
          </a:p>
        </p:txBody>
      </p:sp>
      <p:pic>
        <p:nvPicPr>
          <p:cNvPr id="6" name="Picture 5">
            <a:extLst>
              <a:ext uri="{FF2B5EF4-FFF2-40B4-BE49-F238E27FC236}">
                <a16:creationId xmlns:a16="http://schemas.microsoft.com/office/drawing/2014/main" id="{1E5F65A2-E860-0125-A59F-0675C1728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56657" y="2422118"/>
            <a:ext cx="6081606" cy="2189708"/>
          </a:xfrm>
          <a:prstGeom prst="rect">
            <a:avLst/>
          </a:prstGeo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1053069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BẢN ĐỒ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5163312"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solidFill>
                  <a:srgbClr val="0070C0"/>
                </a:solidFill>
              </a:rPr>
              <a:t>Cho đồ thị G = {V, E}</a:t>
            </a:r>
          </a:p>
          <a:p>
            <a:r>
              <a:rPr lang="en-US" sz="2400"/>
              <a:t>Màu Bản đồ có thể biểu diễn thành đồ thị:</a:t>
            </a:r>
          </a:p>
          <a:p>
            <a:pPr lvl="1">
              <a:buFont typeface="Courier New" panose="02070309020205020404" pitchFamily="49" charset="0"/>
              <a:buChar char="o"/>
            </a:pPr>
            <a:r>
              <a:rPr lang="en-US" sz="2200"/>
              <a:t>Mỗi miền của bản đồ được biểu diễn bởi 1 đỉnh của đồ thị.</a:t>
            </a:r>
          </a:p>
          <a:p>
            <a:pPr lvl="1">
              <a:buFont typeface="Courier New" panose="02070309020205020404" pitchFamily="49" charset="0"/>
              <a:buChar char="o"/>
            </a:pPr>
            <a:r>
              <a:rPr lang="en-US" sz="2200"/>
              <a:t>Các cạnh nối 2 đỉnh nếu các miền được biểu diễn bởi các đỉnh có chung biên giới.</a:t>
            </a:r>
          </a:p>
          <a:p>
            <a:r>
              <a:rPr lang="en-US" sz="2400">
                <a:solidFill>
                  <a:srgbClr val="C00000"/>
                </a:solidFill>
              </a:rPr>
              <a:t>YÊU CẦU:</a:t>
            </a:r>
          </a:p>
          <a:p>
            <a:r>
              <a:rPr lang="en-US" sz="2400"/>
              <a:t>Biểu diễn Bản đồ này thành Đồ thị tương ứng và tô màu đỉnh của đồ thị</a:t>
            </a:r>
          </a:p>
          <a:p>
            <a:pPr marL="0" indent="0">
              <a:buNone/>
            </a:pPr>
            <a:endParaRPr lang="en-US" sz="2400"/>
          </a:p>
        </p:txBody>
      </p:sp>
      <p:sp>
        <p:nvSpPr>
          <p:cNvPr id="5" name="Content Placeholder 4">
            <a:extLst>
              <a:ext uri="{FF2B5EF4-FFF2-40B4-BE49-F238E27FC236}">
                <a16:creationId xmlns:a16="http://schemas.microsoft.com/office/drawing/2014/main" id="{2C5179F5-636D-3413-65B6-4148BD2E339C}"/>
              </a:ext>
            </a:extLst>
          </p:cNvPr>
          <p:cNvSpPr>
            <a:spLocks noGrp="1"/>
          </p:cNvSpPr>
          <p:nvPr>
            <p:ph sz="half" idx="2"/>
          </p:nvPr>
        </p:nvSpPr>
        <p:spPr>
          <a:xfrm>
            <a:off x="6190488" y="1825625"/>
            <a:ext cx="5163312"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a:bodyPr>
          <a:lstStyle/>
          <a:p>
            <a:r>
              <a:rPr lang="en-US" sz="2400"/>
              <a:t>Ví dụ</a:t>
            </a:r>
          </a:p>
          <a:p>
            <a:endParaRPr lang="en-US" sz="2400"/>
          </a:p>
        </p:txBody>
      </p:sp>
      <p:pic>
        <p:nvPicPr>
          <p:cNvPr id="7" name="Picture 6">
            <a:extLst>
              <a:ext uri="{FF2B5EF4-FFF2-40B4-BE49-F238E27FC236}">
                <a16:creationId xmlns:a16="http://schemas.microsoft.com/office/drawing/2014/main" id="{D9A5BA6A-1CFA-6DE6-1316-A5655AEE0852}"/>
              </a:ext>
            </a:extLst>
          </p:cNvPr>
          <p:cNvPicPr>
            <a:picLocks noChangeAspect="1"/>
          </p:cNvPicPr>
          <p:nvPr/>
        </p:nvPicPr>
        <p:blipFill rotWithShape="1">
          <a:blip r:embed="rId2">
            <a:extLst>
              <a:ext uri="{28A0092B-C50C-407E-A947-70E740481C1C}">
                <a14:useLocalDpi xmlns:a14="http://schemas.microsoft.com/office/drawing/2010/main" val="0"/>
              </a:ext>
            </a:extLst>
          </a:blip>
          <a:srcRect b="3674"/>
          <a:stretch/>
        </p:blipFill>
        <p:spPr>
          <a:xfrm>
            <a:off x="6567071" y="2282754"/>
            <a:ext cx="3866233" cy="3758920"/>
          </a:xfrm>
          <a:prstGeom prst="rect">
            <a:avLst/>
          </a:prstGeom>
        </p:spPr>
      </p:pic>
    </p:spTree>
    <p:extLst>
      <p:ext uri="{BB962C8B-B14F-4D97-AF65-F5344CB8AC3E}">
        <p14:creationId xmlns:p14="http://schemas.microsoft.com/office/powerpoint/2010/main" val="1051542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SẮP XẾP LỊCH THI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200" y="1825625"/>
            <a:ext cx="7118268" cy="4351338"/>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b="1"/>
              <a:t>BÀI TOÁN SẮP XẾP LỊCH THI</a:t>
            </a:r>
          </a:p>
          <a:p>
            <a:r>
              <a:rPr lang="en-US" sz="2400" b="1">
                <a:solidFill>
                  <a:srgbClr val="7030A0"/>
                </a:solidFill>
              </a:rPr>
              <a:t>Định nghĩa bài toán</a:t>
            </a:r>
            <a:r>
              <a:rPr lang="en-US" sz="2400"/>
              <a:t>: </a:t>
            </a:r>
          </a:p>
          <a:p>
            <a:pPr>
              <a:lnSpc>
                <a:spcPct val="121000"/>
              </a:lnSpc>
            </a:pPr>
            <a:r>
              <a:rPr lang="en-US" sz="2400" kern="100">
                <a:effectLst/>
                <a:latin typeface="Calibri" panose="020F0502020204030204" pitchFamily="34" charset="0"/>
                <a:ea typeface="Calibri" panose="020F0502020204030204" pitchFamily="34" charset="0"/>
                <a:cs typeface="Times New Roman" panose="02020603050405020304" pitchFamily="18" charset="0"/>
              </a:rPr>
              <a:t>Cho đồ thị gồm N nút, trong đó mỗi nút biểu diễn một kỳ thi và một mảng 2 chiều Edges[][2] sao cho mỗi cặp kỳ thi (Edges[i][0], Edges[i][1]) biểu thị cạnh giữa chúng, nhiệm vụ là tìm số ngày tối thiểu để lên lịch cho tất cả các kỳ thi sao cho không có hai kỳ thi nào được kết nối qua một cạnh được lên lịch vào cùng một ngày.</a:t>
            </a:r>
          </a:p>
          <a:p>
            <a:endParaRPr lang="en-US" sz="2400"/>
          </a:p>
        </p:txBody>
      </p:sp>
      <p:sp>
        <p:nvSpPr>
          <p:cNvPr id="5" name="Content Placeholder 4">
            <a:extLst>
              <a:ext uri="{FF2B5EF4-FFF2-40B4-BE49-F238E27FC236}">
                <a16:creationId xmlns:a16="http://schemas.microsoft.com/office/drawing/2014/main" id="{8B1AC84D-C990-2752-0D0C-39BD862C482D}"/>
              </a:ext>
            </a:extLst>
          </p:cNvPr>
          <p:cNvSpPr>
            <a:spLocks noGrp="1"/>
          </p:cNvSpPr>
          <p:nvPr>
            <p:ph sz="half" idx="2"/>
          </p:nvPr>
        </p:nvSpPr>
        <p:spPr>
          <a:xfrm>
            <a:off x="8063345" y="1825625"/>
            <a:ext cx="3290455"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a:bodyPr>
          <a:lstStyle/>
          <a:p>
            <a:r>
              <a:rPr lang="en-US" sz="2400"/>
              <a:t>Testing:</a:t>
            </a:r>
          </a:p>
          <a:p>
            <a:r>
              <a:rPr lang="en-US" sz="1800" kern="100">
                <a:effectLst/>
                <a:latin typeface="Calibri" panose="020F0502020204030204" pitchFamily="34" charset="0"/>
                <a:ea typeface="Calibri" panose="020F0502020204030204" pitchFamily="34" charset="0"/>
                <a:cs typeface="Times New Roman" panose="02020603050405020304" pitchFamily="18" charset="0"/>
              </a:rPr>
              <a:t>INPUT: N = 5, E = 10, Edges[][] = {{0,1}, {0,2}, {0,3}, {0,4}, {1,2}, {1,3}, {1,4}, {2,3}, {2,4}, {3,4}}</a:t>
            </a:r>
          </a:p>
          <a:p>
            <a:r>
              <a:rPr lang="en-US" sz="1800"/>
              <a:t>OUTPUT: 5</a:t>
            </a:r>
          </a:p>
          <a:p>
            <a:endParaRPr lang="en-US" sz="2400"/>
          </a:p>
        </p:txBody>
      </p:sp>
      <p:pic>
        <p:nvPicPr>
          <p:cNvPr id="13" name="Picture 12">
            <a:extLst>
              <a:ext uri="{FF2B5EF4-FFF2-40B4-BE49-F238E27FC236}">
                <a16:creationId xmlns:a16="http://schemas.microsoft.com/office/drawing/2014/main" id="{3C7FE250-FC34-071C-8EE9-AEEC2335A4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1882" y="3891446"/>
            <a:ext cx="2551541" cy="2185497"/>
          </a:xfrm>
          <a:prstGeom prst="rect">
            <a:avLst/>
          </a:prstGeom>
        </p:spPr>
      </p:pic>
    </p:spTree>
    <p:extLst>
      <p:ext uri="{BB962C8B-B14F-4D97-AF65-F5344CB8AC3E}">
        <p14:creationId xmlns:p14="http://schemas.microsoft.com/office/powerpoint/2010/main" val="486394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130630"/>
            <a:ext cx="10515600" cy="550408"/>
          </a:xfrm>
        </p:spPr>
        <p:txBody>
          <a:bodyPr>
            <a:normAutofit/>
          </a:bodyPr>
          <a:lstStyle/>
          <a:p>
            <a:r>
              <a:rPr lang="en-US" sz="2800" b="1">
                <a:solidFill>
                  <a:srgbClr val="C00000"/>
                </a:solidFill>
              </a:rPr>
              <a:t>SẮP XẾP LỊCH THI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838199" y="681038"/>
            <a:ext cx="8840191" cy="5495925"/>
          </a:xfrm>
          <a:ln>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fontScale="77500" lnSpcReduction="20000"/>
          </a:bodyPr>
          <a:lstStyle/>
          <a:p>
            <a:r>
              <a:rPr lang="en-US" sz="2400" b="1"/>
              <a:t>THUẬT TOÁN SẮP XẾP LỊCH THI</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Tạo ma trận kề từ các cạnh Edges[][] đã cho của đồ thị.</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một vector các cặp, giả sử vdegree[] lưu trữ bậc của mỗi nút có các nút.</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Tính toán bậc của mỗi đỉnh và lưu trữ nó trong mảng vdegree[]</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Sắp xếp tất cả các đỉnh trong vdegree[] theo thứ tự giảm dần của bậc.</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2 mảng, chẳng hạng như color[] và colored[] để lưu trữ màu được sử dụng để tô màu các đỉnh và thông tin về việc đỉnh đã được tô màu hay chưa.</a:t>
            </a:r>
          </a:p>
          <a:p>
            <a:pPr marL="342900" lvl="0" indent="-342900">
              <a:lnSpc>
                <a:spcPct val="115000"/>
              </a:lnSpc>
              <a:spcBef>
                <a:spcPts val="0"/>
              </a:spcBef>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Khởi tạo 2 biến, giả sử numvc và K là 0 để theo dõi số lượng đỉnh được tô màu và số màu được gán cho mỗi nút.</a:t>
            </a:r>
          </a:p>
          <a:p>
            <a:pPr marL="342900" lvl="0" indent="-342900">
              <a:lnSpc>
                <a:spcPct val="115000"/>
              </a:lnSpc>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Lặp lại trong phạm vi [0, V] bằng cách sử dụng biến I và thực hiện các bước sau:</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giống với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V</a:t>
            </a:r>
            <a:r>
              <a:rPr lang="en-US" sz="1400" kern="100">
                <a:effectLst/>
                <a:latin typeface="Calibri" panose="020F0502020204030204" pitchFamily="34" charset="0"/>
                <a:ea typeface="Calibri" panose="020F0502020204030204" pitchFamily="34" charset="0"/>
                <a:cs typeface="Times New Roman" panose="02020603050405020304" pitchFamily="18" charset="0"/>
              </a:rPr>
              <a:t> thì </a:t>
            </a: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thoát khỏi vòng lặp</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vì tất cả các đỉnh đều được tô màu.</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đỉnh hiện tại được tô màu thì </a:t>
            </a: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a:rPr>
              <a:t>tiếp tục lặp lại</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Nếu đỉnh không được tô màu, thì tô màu đỉnh bằng màu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theo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công thức colour[vdegree[i]] = color[K]</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u="sng" kern="10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a:rPr>
              <a:t>Lặp lại trong phạm vi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[0, V]</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nếu đỉnh hiện tại không được tô màu và không liền kề với nút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i</a:t>
            </a:r>
            <a:r>
              <a:rPr lang="en-US" sz="1400" kern="100">
                <a:effectLst/>
                <a:latin typeface="Calibri" panose="020F0502020204030204" pitchFamily="34" charset="0"/>
                <a:ea typeface="Calibri" panose="020F0502020204030204" pitchFamily="34" charset="0"/>
                <a:cs typeface="Times New Roman" panose="02020603050405020304" pitchFamily="18" charset="0"/>
              </a:rPr>
              <a:t> , thì tô màu nút hiện tại bằng màu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và 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numvc</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800100" lvl="1" indent="-342900">
              <a:lnSpc>
                <a:spcPct val="115000"/>
              </a:lnSpc>
              <a:spcAft>
                <a:spcPts val="500"/>
              </a:spcAft>
              <a:buFont typeface="Courier New" panose="02070309020205020404" pitchFamily="49" charset="0"/>
              <a:buChar char="o"/>
            </a:pPr>
            <a:r>
              <a:rPr lang="en-US" sz="1400" kern="100">
                <a:effectLst/>
                <a:latin typeface="Calibri" panose="020F0502020204030204" pitchFamily="34" charset="0"/>
                <a:ea typeface="Calibri" panose="020F0502020204030204" pitchFamily="34" charset="0"/>
                <a:cs typeface="Times New Roman" panose="02020603050405020304" pitchFamily="18" charset="0"/>
              </a:rPr>
              <a:t>Tăng giá trị của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K</a:t>
            </a:r>
            <a:r>
              <a:rPr lang="en-US" sz="1400" kern="100">
                <a:effectLst/>
                <a:latin typeface="Calibri" panose="020F0502020204030204" pitchFamily="34" charset="0"/>
                <a:ea typeface="Calibri" panose="020F0502020204030204" pitchFamily="34" charset="0"/>
                <a:cs typeface="Times New Roman" panose="02020603050405020304" pitchFamily="18" charset="0"/>
              </a:rPr>
              <a:t> lên </a:t>
            </a:r>
            <a:r>
              <a:rPr lang="en-US" sz="1400" b="1" kern="100">
                <a:effectLst/>
                <a:latin typeface="Calibri" panose="020F0502020204030204" pitchFamily="34" charset="0"/>
                <a:ea typeface="Calibri" panose="020F0502020204030204" pitchFamily="34" charset="0"/>
                <a:cs typeface="Times New Roman" panose="02020603050405020304" pitchFamily="18" charset="0"/>
              </a:rPr>
              <a:t>1</a:t>
            </a:r>
            <a:r>
              <a:rPr lang="en-US" sz="1400" kern="100">
                <a:effectLst/>
                <a:latin typeface="Calibri" panose="020F0502020204030204" pitchFamily="34" charset="0"/>
                <a:ea typeface="Calibri" panose="020F0502020204030204" pitchFamily="34" charset="0"/>
                <a:cs typeface="Times New Roman" panose="02020603050405020304" pitchFamily="18" charset="0"/>
              </a:rPr>
              <a:t> .</a:t>
            </a:r>
          </a:p>
          <a:p>
            <a:pPr marL="342900" lvl="0" indent="-342900">
              <a:lnSpc>
                <a:spcPct val="115000"/>
              </a:lnSpc>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Sắp xếp mảng màu colored[] theo thứ tự tăng dần </a:t>
            </a:r>
          </a:p>
          <a:p>
            <a:pPr marL="342900" lvl="0" indent="-342900">
              <a:lnSpc>
                <a:spcPct val="115000"/>
              </a:lnSpc>
              <a:spcAft>
                <a:spcPts val="500"/>
              </a:spcAft>
              <a:buFont typeface="Calibri" panose="020F0502020204030204" pitchFamily="34" charset="0"/>
              <a:buChar char="-"/>
            </a:pPr>
            <a:r>
              <a:rPr lang="en-US" sz="1800" kern="100">
                <a:effectLst/>
                <a:latin typeface="Calibri" panose="020F0502020204030204" pitchFamily="34" charset="0"/>
                <a:ea typeface="Calibri" panose="020F0502020204030204" pitchFamily="34" charset="0"/>
                <a:cs typeface="Times New Roman" panose="02020603050405020304" pitchFamily="18" charset="0"/>
              </a:rPr>
              <a:t>Sau khi hoàn tất các bước trên, hãy in giá trị số phần tử duy nhất có trong mảng colored[] dưới dạng số ngày tối thiểu.</a:t>
            </a:r>
          </a:p>
          <a:p>
            <a:pPr marL="342900" lvl="0" indent="-342900">
              <a:lnSpc>
                <a:spcPct val="115000"/>
              </a:lnSpc>
              <a:spcBef>
                <a:spcPts val="0"/>
              </a:spcBef>
              <a:spcAft>
                <a:spcPts val="500"/>
              </a:spcAft>
              <a:buFont typeface="Calibri" panose="020F0502020204030204" pitchFamily="34" charset="0"/>
              <a:buChar char="-"/>
            </a:pPr>
            <a:endParaRPr lang="en-US" sz="1800" kern="100">
              <a:effectLst/>
              <a:latin typeface="Calibri" panose="020F0502020204030204" pitchFamily="34" charset="0"/>
              <a:ea typeface="Calibri" panose="020F0502020204030204" pitchFamily="34" charset="0"/>
              <a:cs typeface="Times New Roman" panose="02020603050405020304" pitchFamily="18" charset="0"/>
            </a:endParaRPr>
          </a:p>
          <a:p>
            <a:endParaRPr lang="en-US" sz="2100"/>
          </a:p>
          <a:p>
            <a:endParaRPr lang="en-US" sz="2400"/>
          </a:p>
        </p:txBody>
      </p:sp>
      <p:sp>
        <p:nvSpPr>
          <p:cNvPr id="5" name="Content Placeholder 4">
            <a:extLst>
              <a:ext uri="{FF2B5EF4-FFF2-40B4-BE49-F238E27FC236}">
                <a16:creationId xmlns:a16="http://schemas.microsoft.com/office/drawing/2014/main" id="{8B1AC84D-C990-2752-0D0C-39BD862C482D}"/>
              </a:ext>
            </a:extLst>
          </p:cNvPr>
          <p:cNvSpPr>
            <a:spLocks noGrp="1"/>
          </p:cNvSpPr>
          <p:nvPr>
            <p:ph sz="half" idx="2"/>
          </p:nvPr>
        </p:nvSpPr>
        <p:spPr>
          <a:xfrm>
            <a:off x="9773392" y="1825625"/>
            <a:ext cx="2102922" cy="4351338"/>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txBody>
          <a:bodyPr>
            <a:normAutofit fontScale="77500" lnSpcReduction="20000"/>
          </a:bodyPr>
          <a:lstStyle/>
          <a:p>
            <a:r>
              <a:rPr lang="en-US" sz="2400"/>
              <a:t>Testing:</a:t>
            </a:r>
          </a:p>
          <a:p>
            <a:r>
              <a:rPr lang="en-US" sz="1800" kern="100">
                <a:effectLst/>
                <a:latin typeface="Calibri" panose="020F0502020204030204" pitchFamily="34" charset="0"/>
                <a:ea typeface="Calibri" panose="020F0502020204030204" pitchFamily="34" charset="0"/>
                <a:cs typeface="Times New Roman" panose="02020603050405020304" pitchFamily="18" charset="0"/>
              </a:rPr>
              <a:t>INPUT: N = 5, E = 10, Edges[][] = {{0,1}, {0,2}, {0,3}, {0,4}, {1,2}, {1,3}, {1,4}, {2,3}, {2,4}, {3,4}}</a:t>
            </a:r>
          </a:p>
          <a:p>
            <a:r>
              <a:rPr lang="en-US" sz="1800"/>
              <a:t>OUTPUT: 5</a:t>
            </a:r>
          </a:p>
          <a:p>
            <a:endParaRPr lang="en-US" sz="2400"/>
          </a:p>
        </p:txBody>
      </p:sp>
      <p:pic>
        <p:nvPicPr>
          <p:cNvPr id="13" name="Picture 12">
            <a:extLst>
              <a:ext uri="{FF2B5EF4-FFF2-40B4-BE49-F238E27FC236}">
                <a16:creationId xmlns:a16="http://schemas.microsoft.com/office/drawing/2014/main" id="{3C7FE250-FC34-071C-8EE9-AEEC2335A4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64399" y="3440189"/>
            <a:ext cx="1815924" cy="1555411"/>
          </a:xfrm>
          <a:prstGeom prst="rect">
            <a:avLst/>
          </a:prstGeom>
        </p:spPr>
      </p:pic>
    </p:spTree>
    <p:extLst>
      <p:ext uri="{BB962C8B-B14F-4D97-AF65-F5344CB8AC3E}">
        <p14:creationId xmlns:p14="http://schemas.microsoft.com/office/powerpoint/2010/main" val="3978597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365126"/>
            <a:ext cx="10515600" cy="647246"/>
          </a:xfrm>
        </p:spPr>
        <p:txBody>
          <a:bodyPr>
            <a:normAutofit/>
          </a:bodyPr>
          <a:lstStyle/>
          <a:p>
            <a:r>
              <a:rPr lang="en-US" sz="3200" b="1">
                <a:solidFill>
                  <a:srgbClr val="C00000"/>
                </a:solidFill>
              </a:rPr>
              <a:t>BÀI TOÁN LẬP LỊCH THI</a:t>
            </a:r>
          </a:p>
        </p:txBody>
      </p:sp>
      <p:pic>
        <p:nvPicPr>
          <p:cNvPr id="6" name="Content Placeholder 5">
            <a:extLst>
              <a:ext uri="{FF2B5EF4-FFF2-40B4-BE49-F238E27FC236}">
                <a16:creationId xmlns:a16="http://schemas.microsoft.com/office/drawing/2014/main" id="{6F1BAC0C-CA46-4D33-B800-8B2509B010F2}"/>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3192" t="13083" r="3927" b="16847"/>
          <a:stretch/>
        </p:blipFill>
        <p:spPr>
          <a:xfrm>
            <a:off x="1060704" y="1316736"/>
            <a:ext cx="7798252" cy="416052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4084607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a:xfrm>
            <a:off x="838200" y="365126"/>
            <a:ext cx="10515600" cy="647246"/>
          </a:xfrm>
        </p:spPr>
        <p:txBody>
          <a:bodyPr>
            <a:normAutofit/>
          </a:bodyPr>
          <a:lstStyle/>
          <a:p>
            <a:r>
              <a:rPr lang="en-US" sz="3200" b="1">
                <a:solidFill>
                  <a:srgbClr val="C00000"/>
                </a:solidFill>
              </a:rPr>
              <a:t>BÀI TOÁN LẬP LỊCH THI</a:t>
            </a:r>
          </a:p>
        </p:txBody>
      </p:sp>
      <p:pic>
        <p:nvPicPr>
          <p:cNvPr id="5" name="Content Placeholder 4">
            <a:extLst>
              <a:ext uri="{FF2B5EF4-FFF2-40B4-BE49-F238E27FC236}">
                <a16:creationId xmlns:a16="http://schemas.microsoft.com/office/drawing/2014/main" id="{009B9C8B-E21B-E8A4-7B0D-36C8FE874765}"/>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l="2664" t="12186" r="1340"/>
          <a:stretch/>
        </p:blipFill>
        <p:spPr>
          <a:xfrm>
            <a:off x="960119" y="1012372"/>
            <a:ext cx="8220066" cy="518726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Tree>
    <p:extLst>
      <p:ext uri="{BB962C8B-B14F-4D97-AF65-F5344CB8AC3E}">
        <p14:creationId xmlns:p14="http://schemas.microsoft.com/office/powerpoint/2010/main" val="1918590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CẠNH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1862328" y="1825625"/>
            <a:ext cx="5181600" cy="4351338"/>
          </a:xfrm>
          <a:ln w="12700">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a:t>Cho đồ thị G = {V, E}</a:t>
            </a:r>
          </a:p>
          <a:p>
            <a:r>
              <a:rPr lang="en-US" sz="1500">
                <a:solidFill>
                  <a:schemeClr val="bg1">
                    <a:lumMod val="50000"/>
                  </a:schemeClr>
                </a:solidFill>
                <a:hlinkClick r:id="rId2">
                  <a:extLst>
                    <a:ext uri="{A12FA001-AC4F-418D-AE19-62706E023703}">
                      <ahyp:hlinkClr xmlns:ahyp="http://schemas.microsoft.com/office/drawing/2018/hyperlinkcolor" val="tx"/>
                    </a:ext>
                  </a:extLst>
                </a:hlinkClick>
              </a:rPr>
              <a:t>https://www.geeksforgeeks.org/edge-coloring-of-a-graph/</a:t>
            </a:r>
            <a:endParaRPr lang="en-US" sz="1500">
              <a:solidFill>
                <a:schemeClr val="bg1">
                  <a:lumMod val="50000"/>
                </a:schemeClr>
              </a:solidFill>
            </a:endParaRPr>
          </a:p>
          <a:p>
            <a:r>
              <a:rPr lang="en-US" sz="2400"/>
              <a:t>Tô màu cạnh của đồ thị là việc gán “màu” cho các cạnh của đồ thị sao cho không có hai cạnh kề nhau nào có cùng màu với số lượng màu tối ưu.</a:t>
            </a:r>
          </a:p>
          <a:p>
            <a:r>
              <a:rPr lang="en-US" sz="2400"/>
              <a:t>Hai cạnh kề nhau nếu chúng được kết nối với cùng một đỉnh.</a:t>
            </a:r>
          </a:p>
        </p:txBody>
      </p:sp>
      <p:pic>
        <p:nvPicPr>
          <p:cNvPr id="7" name="Content Placeholder 6">
            <a:extLst>
              <a:ext uri="{FF2B5EF4-FFF2-40B4-BE49-F238E27FC236}">
                <a16:creationId xmlns:a16="http://schemas.microsoft.com/office/drawing/2014/main" id="{5090CEDB-F7A7-BCC2-79A4-0D928F48C83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205587" y="2466256"/>
            <a:ext cx="4148213" cy="3710707"/>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8" name="TextBox 7">
            <a:extLst>
              <a:ext uri="{FF2B5EF4-FFF2-40B4-BE49-F238E27FC236}">
                <a16:creationId xmlns:a16="http://schemas.microsoft.com/office/drawing/2014/main" id="{2F73AFA6-C60C-B945-5873-FA1B98DD52B8}"/>
              </a:ext>
            </a:extLst>
          </p:cNvPr>
          <p:cNvSpPr txBox="1"/>
          <p:nvPr/>
        </p:nvSpPr>
        <p:spPr>
          <a:xfrm>
            <a:off x="7168896" y="1825625"/>
            <a:ext cx="4184904" cy="461665"/>
          </a:xfrm>
          <a:prstGeom prst="rect">
            <a:avLst/>
          </a:prstGeom>
          <a:noFill/>
        </p:spPr>
        <p:txBody>
          <a:bodyPr wrap="square" rtlCol="0">
            <a:spAutoFit/>
          </a:bodyPr>
          <a:lstStyle/>
          <a:p>
            <a:r>
              <a:rPr lang="en-US" sz="2400"/>
              <a:t>Ví dụ</a:t>
            </a:r>
          </a:p>
        </p:txBody>
      </p:sp>
    </p:spTree>
    <p:extLst>
      <p:ext uri="{BB962C8B-B14F-4D97-AF65-F5344CB8AC3E}">
        <p14:creationId xmlns:p14="http://schemas.microsoft.com/office/powerpoint/2010/main" val="3590957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F3538-08AE-CC06-5557-41F1F88FA543}"/>
              </a:ext>
            </a:extLst>
          </p:cNvPr>
          <p:cNvSpPr>
            <a:spLocks noGrp="1"/>
          </p:cNvSpPr>
          <p:nvPr>
            <p:ph type="title"/>
          </p:nvPr>
        </p:nvSpPr>
        <p:spPr/>
        <p:txBody>
          <a:bodyPr>
            <a:normAutofit/>
          </a:bodyPr>
          <a:lstStyle/>
          <a:p>
            <a:r>
              <a:rPr lang="en-US" sz="3200" b="1">
                <a:solidFill>
                  <a:srgbClr val="C00000"/>
                </a:solidFill>
              </a:rPr>
              <a:t>TÔ MÀU CẠNH  </a:t>
            </a:r>
          </a:p>
        </p:txBody>
      </p:sp>
      <p:sp>
        <p:nvSpPr>
          <p:cNvPr id="3" name="Content Placeholder 2">
            <a:extLst>
              <a:ext uri="{FF2B5EF4-FFF2-40B4-BE49-F238E27FC236}">
                <a16:creationId xmlns:a16="http://schemas.microsoft.com/office/drawing/2014/main" id="{D80286AE-A2F5-0E97-A58C-B0E5027FAD7F}"/>
              </a:ext>
            </a:extLst>
          </p:cNvPr>
          <p:cNvSpPr>
            <a:spLocks noGrp="1"/>
          </p:cNvSpPr>
          <p:nvPr>
            <p:ph sz="half" idx="1"/>
          </p:nvPr>
        </p:nvSpPr>
        <p:spPr>
          <a:xfrm>
            <a:off x="1862328" y="1825625"/>
            <a:ext cx="5970230" cy="4351338"/>
          </a:xfrm>
          <a:ln w="12700">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p:spPr>
        <p:txBody>
          <a:bodyPr>
            <a:normAutofit/>
          </a:bodyPr>
          <a:lstStyle/>
          <a:p>
            <a:r>
              <a:rPr lang="en-US" sz="2400" b="1">
                <a:solidFill>
                  <a:srgbClr val="7030A0"/>
                </a:solidFill>
              </a:rPr>
              <a:t>Thuật toán </a:t>
            </a:r>
          </a:p>
          <a:p>
            <a:r>
              <a:rPr lang="en-US" sz="2400"/>
              <a:t>Cho đồ thị G = {V, E}</a:t>
            </a:r>
          </a:p>
          <a:p>
            <a:r>
              <a:rPr lang="en-US" sz="2400">
                <a:solidFill>
                  <a:srgbClr val="7030A0"/>
                </a:solidFill>
              </a:rPr>
              <a:t>1</a:t>
            </a:r>
            <a:r>
              <a:rPr lang="en-US" sz="2400"/>
              <a:t>. Sử dụng BFS để bắt đầu duyệt đồ thị</a:t>
            </a:r>
          </a:p>
          <a:p>
            <a:r>
              <a:rPr lang="en-US" sz="2400">
                <a:solidFill>
                  <a:srgbClr val="7030A0"/>
                </a:solidFill>
              </a:rPr>
              <a:t>2</a:t>
            </a:r>
            <a:r>
              <a:rPr lang="en-US" sz="2400"/>
              <a:t>. Chọn bất kỳ đỉnh nào và tô màu khác nhau cho tất cả các cạnh được kết nối với đỉnh đó và đánh dấu các cạnh đó là có màu.</a:t>
            </a:r>
          </a:p>
          <a:p>
            <a:r>
              <a:rPr lang="en-US" sz="2400">
                <a:solidFill>
                  <a:srgbClr val="7030A0"/>
                </a:solidFill>
              </a:rPr>
              <a:t>3</a:t>
            </a:r>
            <a:r>
              <a:rPr lang="en-US" sz="2400"/>
              <a:t>. Đi qua một trong các cạnh của nó.</a:t>
            </a:r>
          </a:p>
          <a:p>
            <a:r>
              <a:rPr lang="en-US" sz="2400">
                <a:solidFill>
                  <a:srgbClr val="7030A0"/>
                </a:solidFill>
              </a:rPr>
              <a:t>4</a:t>
            </a:r>
            <a:r>
              <a:rPr lang="en-US" sz="2400"/>
              <a:t>. Lặp lại bước trên với đỉnh mới cho đến khi tất cả các cạnh được tô màu. </a:t>
            </a:r>
          </a:p>
          <a:p>
            <a:endParaRPr lang="en-US" sz="2400"/>
          </a:p>
        </p:txBody>
      </p:sp>
      <p:pic>
        <p:nvPicPr>
          <p:cNvPr id="7" name="Content Placeholder 6">
            <a:extLst>
              <a:ext uri="{FF2B5EF4-FFF2-40B4-BE49-F238E27FC236}">
                <a16:creationId xmlns:a16="http://schemas.microsoft.com/office/drawing/2014/main" id="{5090CEDB-F7A7-BCC2-79A4-0D928F48C83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007991" y="3037866"/>
            <a:ext cx="3430030" cy="3068270"/>
          </a:xfrm>
          <a:ln>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a:ln>
        </p:spPr>
      </p:pic>
      <p:sp>
        <p:nvSpPr>
          <p:cNvPr id="8" name="TextBox 7">
            <a:extLst>
              <a:ext uri="{FF2B5EF4-FFF2-40B4-BE49-F238E27FC236}">
                <a16:creationId xmlns:a16="http://schemas.microsoft.com/office/drawing/2014/main" id="{2F73AFA6-C60C-B945-5873-FA1B98DD52B8}"/>
              </a:ext>
            </a:extLst>
          </p:cNvPr>
          <p:cNvSpPr txBox="1"/>
          <p:nvPr/>
        </p:nvSpPr>
        <p:spPr>
          <a:xfrm>
            <a:off x="7923770" y="1825625"/>
            <a:ext cx="3430030" cy="460375"/>
          </a:xfrm>
          <a:prstGeom prst="rect">
            <a:avLst/>
          </a:prstGeom>
          <a:noFill/>
        </p:spPr>
        <p:txBody>
          <a:bodyPr wrap="square" rtlCol="0">
            <a:spAutoFit/>
          </a:bodyPr>
          <a:lstStyle/>
          <a:p>
            <a:r>
              <a:rPr lang="en-US" sz="2400"/>
              <a:t>Ví dụ</a:t>
            </a:r>
          </a:p>
        </p:txBody>
      </p:sp>
    </p:spTree>
    <p:extLst>
      <p:ext uri="{BB962C8B-B14F-4D97-AF65-F5344CB8AC3E}">
        <p14:creationId xmlns:p14="http://schemas.microsoft.com/office/powerpoint/2010/main" val="1991668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1134</Words>
  <Application>Microsoft Office PowerPoint</Application>
  <PresentationFormat>Widescreen</PresentationFormat>
  <Paragraphs>101</Paragraphs>
  <Slides>14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Arial</vt:lpstr>
      <vt:lpstr>Calibri</vt:lpstr>
      <vt:lpstr>Calibri Light</vt:lpstr>
      <vt:lpstr>Courier New</vt:lpstr>
      <vt:lpstr>Verdana</vt:lpstr>
      <vt:lpstr>Wingdings</vt:lpstr>
      <vt:lpstr>Office Theme</vt:lpstr>
      <vt:lpstr>1_Office Theme</vt:lpstr>
      <vt:lpstr>Chương 4</vt:lpstr>
      <vt:lpstr>Nội dung</vt:lpstr>
      <vt:lpstr>TÔ MÀU ĐỈNH </vt:lpstr>
      <vt:lpstr>SỐ MÀU TỐI THIỂU </vt:lpstr>
      <vt:lpstr>ĐỊNH LÝ 4 MÀU </vt:lpstr>
      <vt:lpstr>CÁC ỨNG DỤNG CỦA TÔ MÀU ĐỒ THỊ</vt:lpstr>
      <vt:lpstr>TÔ MÀU BẢN ĐỒ </vt:lpstr>
      <vt:lpstr>TÔ MÀU BẢN ĐỒ </vt:lpstr>
      <vt:lpstr>SẮP XẾP LỊCH THI </vt:lpstr>
      <vt:lpstr>SẮP XẾP LỊCH THI </vt:lpstr>
      <vt:lpstr>BÀI TOÁN LẬP LỊCH THI</vt:lpstr>
      <vt:lpstr>BÀI TOÁN LẬP LỊCH THI</vt:lpstr>
      <vt:lpstr>TÔ MÀU CẠNH  </vt:lpstr>
      <vt:lpstr>TÔ MÀU CẠNH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 Tuan Thu</dc:creator>
  <cp:lastModifiedBy>Le Tuan Thu</cp:lastModifiedBy>
  <cp:revision>68</cp:revision>
  <dcterms:created xsi:type="dcterms:W3CDTF">2025-01-05T08:08:29Z</dcterms:created>
  <dcterms:modified xsi:type="dcterms:W3CDTF">2025-02-25T11:53:12Z</dcterms:modified>
</cp:coreProperties>
</file>
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7" r:id="rId3"/>
    <p:sldId id="348" r:id="rId4"/>
    <p:sldId id="349" r:id="rId5"/>
    <p:sldId id="373" r:id="rId6"/>
    <p:sldId id="388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7" r:id="rId15"/>
    <p:sldId id="381" r:id="rId16"/>
    <p:sldId id="382" r:id="rId17"/>
    <p:sldId id="383" r:id="rId18"/>
    <p:sldId id="384" r:id="rId19"/>
    <p:sldId id="385" r:id="rId20"/>
    <p:sldId id="386" r:id="rId21"/>
    <p:sldId id="389" r:id="rId22"/>
    <p:sldId id="390" r:id="rId23"/>
    <p:sldId id="391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92" r:id="rId48"/>
  </p:sldIdLst>
  <p:sldSz cx="9118600" cy="6832600"/>
  <p:notesSz cx="9118600" cy="683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18600" cy="6832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5315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623564"/>
            <a:ext cx="6383020" cy="1617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275"/>
            <a:ext cx="9118600" cy="7924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18600" cy="22885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15316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386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017704"/>
            <a:ext cx="2917952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017704"/>
            <a:ext cx="2097278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4321" y="6556071"/>
            <a:ext cx="27051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epth-first-search-or-dfs-for-a-graph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7710" y="1352584"/>
            <a:ext cx="6765290" cy="789940"/>
          </a:xfrm>
          <a:custGeom>
            <a:avLst/>
            <a:gdLst/>
            <a:ahLst/>
            <a:cxnLst/>
            <a:rect l="l" t="t" r="r" b="b"/>
            <a:pathLst>
              <a:path w="6765290" h="789939">
                <a:moveTo>
                  <a:pt x="6764666" y="0"/>
                </a:moveTo>
                <a:lnTo>
                  <a:pt x="0" y="0"/>
                </a:lnTo>
                <a:lnTo>
                  <a:pt x="0" y="789700"/>
                </a:lnTo>
                <a:lnTo>
                  <a:pt x="22081" y="789700"/>
                </a:lnTo>
                <a:lnTo>
                  <a:pt x="22081" y="22080"/>
                </a:lnTo>
                <a:lnTo>
                  <a:pt x="10391" y="22080"/>
                </a:lnTo>
                <a:lnTo>
                  <a:pt x="22081" y="10390"/>
                </a:lnTo>
                <a:lnTo>
                  <a:pt x="6764666" y="10390"/>
                </a:lnTo>
                <a:lnTo>
                  <a:pt x="6764666" y="0"/>
                </a:lnTo>
                <a:close/>
              </a:path>
              <a:path w="6765290" h="789939">
                <a:moveTo>
                  <a:pt x="22081" y="10390"/>
                </a:moveTo>
                <a:lnTo>
                  <a:pt x="10391" y="22080"/>
                </a:lnTo>
                <a:lnTo>
                  <a:pt x="22081" y="22080"/>
                </a:lnTo>
                <a:lnTo>
                  <a:pt x="22081" y="10390"/>
                </a:lnTo>
                <a:close/>
              </a:path>
              <a:path w="6765290" h="789939">
                <a:moveTo>
                  <a:pt x="6764666" y="10390"/>
                </a:moveTo>
                <a:lnTo>
                  <a:pt x="22081" y="10390"/>
                </a:lnTo>
                <a:lnTo>
                  <a:pt x="22081" y="22080"/>
                </a:lnTo>
                <a:lnTo>
                  <a:pt x="6764666" y="22080"/>
                </a:lnTo>
                <a:lnTo>
                  <a:pt x="6764666" y="1039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4211" y="2089319"/>
            <a:ext cx="454596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8675" algn="l"/>
                <a:tab pos="2873375" algn="l"/>
                <a:tab pos="3739515" algn="l"/>
              </a:tabLst>
            </a:pP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LÝ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10" dirty="0">
                <a:solidFill>
                  <a:srgbClr val="006633"/>
                </a:solidFill>
                <a:latin typeface="Times New Roman"/>
                <a:cs typeface="Times New Roman"/>
              </a:rPr>
              <a:t>THUYẾT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ĐỒ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THỊ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7110" y="3693109"/>
            <a:ext cx="5550535" cy="17145"/>
          </a:xfrm>
          <a:custGeom>
            <a:avLst/>
            <a:gdLst/>
            <a:ahLst/>
            <a:cxnLst/>
            <a:rect l="l" t="t" r="r" b="b"/>
            <a:pathLst>
              <a:path w="5550534" h="17145">
                <a:moveTo>
                  <a:pt x="5550196" y="0"/>
                </a:moveTo>
                <a:lnTo>
                  <a:pt x="0" y="0"/>
                </a:lnTo>
                <a:lnTo>
                  <a:pt x="0" y="16885"/>
                </a:lnTo>
                <a:lnTo>
                  <a:pt x="5550196" y="16885"/>
                </a:lnTo>
                <a:lnTo>
                  <a:pt x="5550196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12344" y="3643522"/>
            <a:ext cx="4507865" cy="131459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2350" b="1">
                <a:latin typeface="Times New Roman"/>
                <a:cs typeface="Times New Roman"/>
              </a:rPr>
              <a:t>Khoa: CNTT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350" b="1">
                <a:latin typeface="Times New Roman"/>
                <a:cs typeface="Times New Roman"/>
              </a:rPr>
              <a:t>T</a:t>
            </a:r>
            <a:r>
              <a:rPr lang="en-GB" sz="2350" b="1">
                <a:latin typeface="Times New Roman"/>
                <a:cs typeface="Times New Roman"/>
              </a:rPr>
              <a:t>h</a:t>
            </a:r>
            <a:r>
              <a:rPr sz="2350" b="1">
                <a:latin typeface="Times New Roman"/>
                <a:cs typeface="Times New Roman"/>
              </a:rPr>
              <a:t>S</a:t>
            </a:r>
            <a:r>
              <a:rPr sz="2350" b="1" dirty="0">
                <a:latin typeface="Times New Roman"/>
                <a:cs typeface="Times New Roman"/>
              </a:rPr>
              <a:t>.</a:t>
            </a:r>
            <a:r>
              <a:rPr sz="2350" b="1" spc="20" dirty="0">
                <a:latin typeface="Times New Roman"/>
                <a:cs typeface="Times New Roman"/>
              </a:rPr>
              <a:t> </a:t>
            </a:r>
            <a:r>
              <a:rPr sz="2350" b="1">
                <a:latin typeface="Times New Roman"/>
                <a:cs typeface="Times New Roman"/>
              </a:rPr>
              <a:t>Lê</a:t>
            </a:r>
            <a:r>
              <a:rPr sz="2350" b="1" spc="30">
                <a:latin typeface="Times New Roman"/>
                <a:cs typeface="Times New Roman"/>
              </a:rPr>
              <a:t> </a:t>
            </a:r>
            <a:r>
              <a:rPr lang="en-GB" sz="2350" b="1" spc="30">
                <a:latin typeface="Times New Roman"/>
                <a:cs typeface="Times New Roman"/>
              </a:rPr>
              <a:t>Tuấn Thu</a:t>
            </a: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ts val="3440"/>
              </a:lnSpc>
              <a:spcBef>
                <a:spcPts val="95"/>
              </a:spcBef>
            </a:pPr>
            <a:r>
              <a:rPr sz="2350" b="1">
                <a:solidFill>
                  <a:srgbClr val="28561F"/>
                </a:solidFill>
                <a:latin typeface="Times New Roman"/>
                <a:cs typeface="Times New Roman"/>
              </a:rPr>
              <a:t>Email:</a:t>
            </a:r>
            <a:r>
              <a:rPr sz="2350" b="1" spc="50">
                <a:solidFill>
                  <a:srgbClr val="28561F"/>
                </a:solidFill>
                <a:latin typeface="Times New Roman"/>
                <a:cs typeface="Times New Roman"/>
              </a:rPr>
              <a:t> </a:t>
            </a:r>
            <a:r>
              <a:rPr lang="en-GB" sz="2350" b="1" spc="50">
                <a:solidFill>
                  <a:srgbClr val="28561F"/>
                </a:solidFill>
                <a:latin typeface="Times New Roman"/>
                <a:cs typeface="Times New Roman"/>
              </a:rPr>
              <a:t>thult@hcmunre.edu.vn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8600" cy="6832600"/>
            <a:chOff x="0" y="0"/>
            <a:chExt cx="9118600" cy="683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8600" cy="6832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5315" cy="11455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86201" y="3768597"/>
            <a:ext cx="48933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>
                <a:solidFill>
                  <a:srgbClr val="FF3300"/>
                </a:solidFill>
              </a:rPr>
              <a:t>Tìm</a:t>
            </a:r>
            <a:r>
              <a:rPr sz="3200" b="1" spc="-4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kiếm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trên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đồ</a:t>
            </a:r>
            <a:r>
              <a:rPr sz="3200" b="1" spc="-35" dirty="0">
                <a:solidFill>
                  <a:srgbClr val="FF3300"/>
                </a:solidFill>
              </a:rPr>
              <a:t> </a:t>
            </a:r>
            <a:r>
              <a:rPr sz="3200" b="1" spc="-25" dirty="0">
                <a:solidFill>
                  <a:srgbClr val="FF3300"/>
                </a:solidFill>
              </a:rPr>
              <a:t>thị</a:t>
            </a:r>
            <a:endParaRPr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402" y="6534657"/>
            <a:ext cx="29502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344612" y="1725612"/>
            <a:ext cx="4892675" cy="1127760"/>
            <a:chOff x="1344612" y="1725612"/>
            <a:chExt cx="4892675" cy="1127760"/>
          </a:xfrm>
        </p:grpSpPr>
        <p:sp>
          <p:nvSpPr>
            <p:cNvPr id="5" name="object 5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7800"/>
            <a:ext cx="14414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4679" y="6556754"/>
            <a:ext cx="116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28930"/>
            <a:ext cx="807059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b="1" dirty="0">
                <a:solidFill>
                  <a:srgbClr val="800000"/>
                </a:solidFill>
              </a:rPr>
              <a:t>Duyệt</a:t>
            </a:r>
            <a:r>
              <a:rPr b="1" spc="-30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đồ</a:t>
            </a:r>
            <a:r>
              <a:rPr b="1" spc="-25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thị</a:t>
            </a:r>
            <a:r>
              <a:rPr b="1" spc="-35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theo</a:t>
            </a:r>
            <a:r>
              <a:rPr b="1" spc="-20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chiều</a:t>
            </a:r>
            <a:r>
              <a:rPr b="1" spc="-25" dirty="0">
                <a:solidFill>
                  <a:srgbClr val="800000"/>
                </a:solidFill>
              </a:rPr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6" y="933237"/>
            <a:ext cx="7970520" cy="2566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Giới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thiệu</a:t>
            </a:r>
            <a:endParaRPr sz="2800">
              <a:latin typeface="Verdana"/>
              <a:cs typeface="Verdana"/>
            </a:endParaRPr>
          </a:p>
          <a:p>
            <a:pPr marL="753745" marR="5080" lvl="1" indent="-316230">
              <a:lnSpc>
                <a:spcPct val="100000"/>
              </a:lnSpc>
              <a:spcBef>
                <a:spcPts val="515"/>
              </a:spcBef>
              <a:buFont typeface="Wingdings"/>
              <a:buChar char="■"/>
              <a:tabLst>
                <a:tab pos="753745" algn="l"/>
                <a:tab pos="755015" algn="l"/>
              </a:tabLst>
            </a:pPr>
            <a:r>
              <a:rPr sz="2400" dirty="0">
                <a:solidFill>
                  <a:srgbClr val="1B9AD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Duyệt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viếng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đúng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lần.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Duyệt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theo</a:t>
            </a:r>
            <a:r>
              <a:rPr sz="2400" spc="-6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chiều</a:t>
            </a:r>
            <a:r>
              <a:rPr sz="2400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sâu</a:t>
            </a:r>
            <a:r>
              <a:rPr sz="2400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(Depth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DFS)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Duyệt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theo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chiều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rộng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(Breadth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BFS)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  <a:r>
              <a:rPr lang="en-US" b="1"/>
              <a:t>Input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r>
              <a:rPr lang="en-US" b="1"/>
              <a:t>Output</a:t>
            </a:r>
            <a:r>
              <a:rPr lang="en-US"/>
              <a:t>: 1 0 2 3 4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BE69C-930E-23BE-3127-B01D0EB8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22" y="1968500"/>
            <a:ext cx="4045158" cy="2629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12BB9-C607-7511-0570-971F356DA948}"/>
              </a:ext>
            </a:extLst>
          </p:cNvPr>
          <p:cNvSpPr txBox="1"/>
          <p:nvPr/>
        </p:nvSpPr>
        <p:spPr>
          <a:xfrm>
            <a:off x="4940300" y="1968500"/>
            <a:ext cx="3200400" cy="38100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Duyệt đồ thị theo thuật toán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tương tự như “Phép trước trên cấu trúc Cây” – </a:t>
            </a:r>
            <a:r>
              <a:rPr lang="en-US" sz="21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 Tree Traversal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oot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eft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ight. </a:t>
            </a:r>
          </a:p>
          <a:p>
            <a:r>
              <a:rPr lang="en-US" sz="2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036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302642" cy="51622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THUẬT TOÁN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 stack with the total number of vertices in the graph as the size.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: Choose any vertex as the traversal's beginning point. Push a visit to that vertex and add it to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Push any non-visited adjacent vertices of a vertex at the top of the stack to the top of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Repeat steps 3 and 4 until there are no more vertices to visit from the vertex at the top of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If there are no new vertices to visit, go back and pop one from the stack using backtracking.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Continue using steps 3, 4, and 5 until the stack is empty.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When the stack is entirely unoccupied, create the final spanning tree by deleting the graph's unused edges. </a:t>
            </a:r>
          </a:p>
        </p:txBody>
      </p:sp>
    </p:spTree>
    <p:extLst>
      <p:ext uri="{BB962C8B-B14F-4D97-AF65-F5344CB8AC3E}">
        <p14:creationId xmlns:p14="http://schemas.microsoft.com/office/powerpoint/2010/main" val="338383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F1DB4-EDA3-E635-2F7D-BF88B0D1A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13" y="1739900"/>
            <a:ext cx="767480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4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32ED-D9A6-3AC0-C9D9-C4B92A768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1511300"/>
            <a:ext cx="7601352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2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A1678-D19A-5098-2AEB-30E529B64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1435100"/>
            <a:ext cx="7772400" cy="42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8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03423-F733-57A6-4EAF-AE4C9F412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511300"/>
            <a:ext cx="7769099" cy="41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69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8E405-5714-2BEF-8723-AA22D2282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38" y="1511299"/>
            <a:ext cx="7680562" cy="41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9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61CD6-C83E-02F0-C8B1-9DBBFA627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511300"/>
            <a:ext cx="7836509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3D26C-4DF4-CD2E-04A0-689726572533}"/>
              </a:ext>
            </a:extLst>
          </p:cNvPr>
          <p:cNvSpPr txBox="1"/>
          <p:nvPr/>
        </p:nvSpPr>
        <p:spPr>
          <a:xfrm>
            <a:off x="596900" y="5397500"/>
            <a:ext cx="769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0070C0"/>
                </a:solidFill>
              </a:rPr>
              <a:t>Output</a:t>
            </a:r>
            <a:r>
              <a:rPr lang="en-US" sz="2100" b="1"/>
              <a:t> </a:t>
            </a:r>
            <a:r>
              <a:rPr lang="en-US"/>
              <a:t>: </a:t>
            </a:r>
            <a:r>
              <a:rPr lang="en-US" sz="2100" b="1">
                <a:solidFill>
                  <a:srgbClr val="7030A0"/>
                </a:solidFill>
              </a:rPr>
              <a:t>0  1  2  4  3</a:t>
            </a:r>
          </a:p>
        </p:txBody>
      </p:sp>
    </p:spTree>
    <p:extLst>
      <p:ext uri="{BB962C8B-B14F-4D97-AF65-F5344CB8AC3E}">
        <p14:creationId xmlns:p14="http://schemas.microsoft.com/office/powerpoint/2010/main" val="60827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Cài đặt thuật toán DFS với C/C++</a:t>
            </a:r>
          </a:p>
          <a:p>
            <a:r>
              <a:rPr lang="en-US"/>
              <a:t> REF: </a:t>
            </a:r>
            <a:r>
              <a:rPr lang="en-US" sz="1900">
                <a:hlinkClick r:id="rId2"/>
              </a:rPr>
              <a:t>https://www.geeksforgeeks.org/depth-first-search-or-dfs-for-a-graph/</a:t>
            </a:r>
            <a:r>
              <a:rPr lang="en-US" sz="1900"/>
              <a:t> 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117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4789-4FEF-8CA8-1B42-F8C0DAF5C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861774"/>
          </a:xfrm>
        </p:spPr>
        <p:txBody>
          <a:bodyPr/>
          <a:lstStyle/>
          <a:p>
            <a:pPr algn="ctr"/>
            <a:r>
              <a:rPr lang="en-US">
                <a:solidFill>
                  <a:srgbClr val="C00000"/>
                </a:solidFill>
              </a:rPr>
              <a:t>DUYỆT ĐỒ THỊ THEO CHIỀU RỘNG</a:t>
            </a:r>
            <a:br>
              <a:rPr lang="en-US">
                <a:solidFill>
                  <a:srgbClr val="C00000"/>
                </a:solidFill>
              </a:rPr>
            </a:br>
            <a:r>
              <a:rPr lang="en-US" b="1">
                <a:solidFill>
                  <a:srgbClr val="C00000"/>
                </a:solidFill>
              </a:rPr>
              <a:t>BFS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A8B29-5F5C-3313-4910-161C77139ED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THUẬT TOÁN</a:t>
            </a:r>
          </a:p>
          <a:p>
            <a:pPr rtl="0">
              <a:spcBef>
                <a:spcPts val="700"/>
              </a:spcBef>
              <a:spcAft>
                <a:spcPts val="500"/>
              </a:spcAft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Enqueue the given source vertex into a queue and mark it as visited. </a:t>
            </a:r>
          </a:p>
          <a:p>
            <a:pPr>
              <a:spcBef>
                <a:spcPts val="6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While the queue is not empty: </a:t>
            </a:r>
          </a:p>
          <a:p>
            <a:pPr marL="742950" lvl="1" indent="-28575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Dequeue a node from the queue and visit it (e.g., print its value). </a:t>
            </a:r>
          </a:p>
          <a:p>
            <a:pPr marL="742950" lvl="1" indent="-28575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For each unvisited neighbor of the dequeued node: </a:t>
            </a:r>
          </a:p>
          <a:p>
            <a:pPr marL="1143000" lvl="2" indent="-22860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Enqueue the neighbor into the queue. </a:t>
            </a:r>
          </a:p>
          <a:p>
            <a:pPr marL="1143000" lvl="2" indent="-22860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 the neighbor as visited. </a:t>
            </a:r>
          </a:p>
          <a:p>
            <a:pPr>
              <a:spcBef>
                <a:spcPts val="600"/>
              </a:spcBef>
              <a:spcAft>
                <a:spcPts val="500"/>
              </a:spcAft>
              <a:buFont typeface="+mj-lt"/>
              <a:buAutoNum type="arabicPeriod" startAt="2"/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2 until the queue is empty. </a:t>
            </a:r>
          </a:p>
          <a:p>
            <a:pPr rtl="0">
              <a:spcAft>
                <a:spcPts val="500"/>
              </a:spcAft>
            </a:pP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500"/>
              </a:spcAft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ensures that all nodes in the graph are visited in a breadth-first manner, starting from the starting node. </a:t>
            </a:r>
          </a:p>
          <a:p>
            <a:r>
              <a:rPr lang="en-US" b="1">
                <a:solidFill>
                  <a:srgbClr val="0070C0"/>
                </a:solidFill>
              </a:rPr>
              <a:t> </a:t>
            </a:r>
            <a:endParaRPr lang="en-US" sz="21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9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44B06-0EB5-BD25-7B3D-A369B766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06500"/>
            <a:ext cx="7806119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32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76CE7-A854-A62B-3B20-2263979F2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1250839"/>
            <a:ext cx="7625956" cy="330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0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C7642-2AA0-4D89-13D9-C2FF8C7DF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06500"/>
            <a:ext cx="776393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3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F3FFA-6611-D58C-3AA5-3F93C761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88941"/>
            <a:ext cx="7841938" cy="33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6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4B016-32C3-3C42-1B2D-01300183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64557"/>
            <a:ext cx="7776780" cy="329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F660F-1295-0B6B-BDAC-2C919BA0D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41" y="1275732"/>
            <a:ext cx="7816196" cy="335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7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7BB21-07CA-EC80-CF06-E4B148555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81" y="1130300"/>
            <a:ext cx="7790330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7CBD99-03A8-87D6-580E-158C603DA117}"/>
              </a:ext>
            </a:extLst>
          </p:cNvPr>
          <p:cNvSpPr txBox="1"/>
          <p:nvPr/>
        </p:nvSpPr>
        <p:spPr>
          <a:xfrm>
            <a:off x="673100" y="4787900"/>
            <a:ext cx="76590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OUTPUT</a:t>
            </a:r>
            <a:r>
              <a:rPr lang="en-US" sz="2100"/>
              <a:t>:  </a:t>
            </a:r>
            <a:r>
              <a:rPr lang="en-US" sz="2100" b="1">
                <a:solidFill>
                  <a:srgbClr val="7030A0"/>
                </a:solidFill>
              </a:rPr>
              <a:t>0  1  2  3  4</a:t>
            </a:r>
          </a:p>
        </p:txBody>
      </p:sp>
    </p:spTree>
    <p:extLst>
      <p:ext uri="{BB962C8B-B14F-4D97-AF65-F5344CB8AC3E}">
        <p14:creationId xmlns:p14="http://schemas.microsoft.com/office/powerpoint/2010/main" val="2704550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Cài đặt thuật toán BFS với C/C++</a:t>
            </a:r>
          </a:p>
          <a:p>
            <a:pPr>
              <a:spcBef>
                <a:spcPts val="1200"/>
              </a:spcBef>
            </a:pPr>
            <a:r>
              <a:rPr lang="en-US"/>
              <a:t> </a:t>
            </a:r>
            <a:r>
              <a:rPr lang="en-US" sz="2100" b="1"/>
              <a:t>REF</a:t>
            </a:r>
            <a:r>
              <a:rPr lang="en-US" sz="2100"/>
              <a:t>:https://www.geeksforgeeks.org/breadth-first-search-or-bfs-for-a-graph/ 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1461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60172"/>
            <a:ext cx="5380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365" y="780810"/>
            <a:ext cx="8337550" cy="2931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Nguyên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lý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kiếm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755015" marR="31305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Sau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tùy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(với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có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uv)</a:t>
            </a:r>
            <a:endParaRPr sz="2400">
              <a:latin typeface="Arial"/>
              <a:cs typeface="Arial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56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Lặp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được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nữa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ngay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trước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mà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không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thể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đi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tiếp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tìm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qua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nhánh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khác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453" y="1358899"/>
            <a:ext cx="4310846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746" y="4679950"/>
            <a:ext cx="156337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r>
              <a:rPr sz="20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432434" marR="657225">
              <a:lnSpc>
                <a:spcPct val="100000"/>
              </a:lnSpc>
            </a:pP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3300"/>
                </a:solidFill>
                <a:latin typeface="Arial"/>
                <a:cs typeface="Arial"/>
              </a:rPr>
              <a:t>l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432434">
              <a:lnSpc>
                <a:spcPct val="100000"/>
              </a:lnSpc>
            </a:pP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0" y="520700"/>
            <a:ext cx="3721099" cy="57927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484" y="999489"/>
            <a:ext cx="4625975" cy="421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B1: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là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B2:</a:t>
            </a:r>
            <a:r>
              <a:rPr sz="25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B3: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v</a:t>
            </a:r>
            <a:endParaRPr sz="2500">
              <a:latin typeface="Times New Roman"/>
              <a:cs typeface="Times New Roman"/>
            </a:endParaRPr>
          </a:p>
          <a:p>
            <a:pPr marL="12700" marR="191135">
              <a:lnSpc>
                <a:spcPct val="99500"/>
              </a:lnSpc>
              <a:spcBef>
                <a:spcPts val="65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B4: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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đều</a:t>
            </a:r>
            <a:r>
              <a:rPr sz="2500" spc="-20" dirty="0">
                <a:latin typeface="Times New Roman"/>
                <a:cs typeface="Times New Roman"/>
              </a:rPr>
              <a:t> được </a:t>
            </a:r>
            <a:r>
              <a:rPr sz="2500" dirty="0">
                <a:latin typeface="Times New Roman"/>
                <a:cs typeface="Times New Roman"/>
              </a:rPr>
              <a:t>duyệt,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v=đỉnh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đã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được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duyệt </a:t>
            </a:r>
            <a:r>
              <a:rPr sz="2500" dirty="0">
                <a:latin typeface="Times New Roman"/>
                <a:cs typeface="Times New Roman"/>
              </a:rPr>
              <a:t>trước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thì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đi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đến </a:t>
            </a:r>
            <a:r>
              <a:rPr sz="2500" dirty="0">
                <a:latin typeface="Times New Roman"/>
                <a:cs typeface="Times New Roman"/>
              </a:rPr>
              <a:t>Bước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6,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ngược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trở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Bước</a:t>
            </a:r>
            <a:r>
              <a:rPr sz="2500" spc="-25" dirty="0">
                <a:latin typeface="Times New Roman"/>
                <a:cs typeface="Times New Roman"/>
              </a:rPr>
              <a:t> 3.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396365" algn="l"/>
                <a:tab pos="1713864" algn="l"/>
                <a:tab pos="1795145" algn="l"/>
              </a:tabLst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B5: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Chọn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	là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được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của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6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v,</a:t>
            </a:r>
            <a:r>
              <a:rPr sz="2500" dirty="0">
                <a:latin typeface="Times New Roman"/>
                <a:cs typeface="Times New Roman"/>
              </a:rPr>
              <a:t>		đặt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trở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Bước </a:t>
            </a:r>
            <a:r>
              <a:rPr sz="2500" spc="-50" dirty="0">
                <a:latin typeface="Times New Roman"/>
                <a:cs typeface="Times New Roman"/>
              </a:rPr>
              <a:t>3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67765" algn="l"/>
              </a:tabLst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B6:</a:t>
            </a:r>
            <a:r>
              <a:rPr sz="25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Kết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20" dirty="0">
                <a:latin typeface="Times New Roman"/>
                <a:cs typeface="Times New Roman"/>
              </a:rPr>
              <a:t>thúc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300" y="977900"/>
            <a:ext cx="4953000" cy="5334000"/>
          </a:xfrm>
          <a:custGeom>
            <a:avLst/>
            <a:gdLst/>
            <a:ahLst/>
            <a:cxnLst/>
            <a:rect l="l" t="t" r="r" b="b"/>
            <a:pathLst>
              <a:path w="4953000" h="5334000">
                <a:moveTo>
                  <a:pt x="0" y="0"/>
                </a:moveTo>
                <a:lnTo>
                  <a:pt x="4953000" y="0"/>
                </a:lnTo>
              </a:path>
              <a:path w="4953000" h="5334000">
                <a:moveTo>
                  <a:pt x="0" y="5334000"/>
                </a:moveTo>
                <a:lnTo>
                  <a:pt x="4953000" y="5334000"/>
                </a:lnTo>
              </a:path>
              <a:path w="4953000" h="5334000">
                <a:moveTo>
                  <a:pt x="0" y="0"/>
                </a:moveTo>
                <a:lnTo>
                  <a:pt x="0" y="5334000"/>
                </a:lnTo>
              </a:path>
              <a:path w="4953000" h="5334000">
                <a:moveTo>
                  <a:pt x="4953000" y="0"/>
                </a:moveTo>
                <a:lnTo>
                  <a:pt x="4953000" y="5334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1010158"/>
            <a:ext cx="346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Cài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đặt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bằng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mã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giả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1691894"/>
            <a:ext cx="7010400" cy="42214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55"/>
              </a:spcBef>
            </a:pP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DFS(v)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(v);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0;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8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v*/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ts val="2150"/>
              </a:lnSpc>
              <a:spcBef>
                <a:spcPts val="3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84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4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Ke(v) </a:t>
            </a: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925320">
              <a:lnSpc>
                <a:spcPts val="215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DFS(u);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25"/>
              </a:spcBef>
              <a:tabLst>
                <a:tab pos="1325880" algn="l"/>
              </a:tabLst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7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	ChuaXet[v]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ts val="215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7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ts val="215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Cài</a:t>
            </a:r>
            <a:r>
              <a:rPr spc="-35" dirty="0"/>
              <a:t> </a:t>
            </a:r>
            <a:r>
              <a:rPr dirty="0"/>
              <a:t>đặt</a:t>
            </a:r>
            <a:r>
              <a:rPr spc="-25" dirty="0"/>
              <a:t> </a:t>
            </a:r>
            <a:r>
              <a:rPr dirty="0"/>
              <a:t>không</a:t>
            </a:r>
            <a:r>
              <a:rPr spc="-25" dirty="0"/>
              <a:t> </a:t>
            </a:r>
            <a:r>
              <a:rPr dirty="0"/>
              <a:t>đệ</a:t>
            </a:r>
            <a:r>
              <a:rPr spc="-35" dirty="0"/>
              <a:t> </a:t>
            </a:r>
            <a:r>
              <a:rPr spc="-25" dirty="0"/>
              <a:t>quy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31217"/>
            <a:ext cx="4870450" cy="43630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Thuật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toán</a:t>
            </a:r>
            <a:endParaRPr sz="2400">
              <a:latin typeface="Verdana"/>
              <a:cs typeface="Verdana"/>
            </a:endParaRPr>
          </a:p>
          <a:p>
            <a:pPr marL="240665" marR="489584" algn="just">
              <a:lnSpc>
                <a:spcPct val="100000"/>
              </a:lnSpc>
              <a:spcBef>
                <a:spcPts val="65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B1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B2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STACK</a:t>
            </a:r>
            <a:endParaRPr sz="2500">
              <a:latin typeface="Times New Roman"/>
              <a:cs typeface="Times New Roman"/>
            </a:endParaRPr>
          </a:p>
          <a:p>
            <a:pPr marL="240665" marR="591185" algn="just">
              <a:lnSpc>
                <a:spcPts val="3000"/>
              </a:lnSpc>
              <a:spcBef>
                <a:spcPts val="85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B3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STACK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rỗng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đến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7.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B4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từ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STACK</a:t>
            </a:r>
            <a:endParaRPr sz="2500">
              <a:latin typeface="Times New Roman"/>
              <a:cs typeface="Times New Roman"/>
            </a:endParaRPr>
          </a:p>
          <a:p>
            <a:pPr marL="240665" algn="just">
              <a:lnSpc>
                <a:spcPts val="2900"/>
              </a:lnSpc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B5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p</a:t>
            </a:r>
            <a:endParaRPr sz="2500">
              <a:latin typeface="Times New Roman"/>
              <a:cs typeface="Times New Roman"/>
            </a:endParaRPr>
          </a:p>
          <a:p>
            <a:pPr marL="582930" marR="5080" indent="-342265" algn="just">
              <a:lnSpc>
                <a:spcPct val="99900"/>
              </a:lnSpc>
              <a:spcBef>
                <a:spcPts val="2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B6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Arial"/>
                <a:cs typeface="Arial"/>
              </a:rPr>
              <a:t>á</a:t>
            </a:r>
            <a:r>
              <a:rPr sz="2500" dirty="0">
                <a:latin typeface="Times New Roman"/>
                <a:cs typeface="Times New Roman"/>
              </a:rPr>
              <a:t>c</a:t>
            </a:r>
            <a:r>
              <a:rPr sz="2500" spc="2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1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1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spc="-20" dirty="0">
                <a:latin typeface="Times New Roman"/>
                <a:cs typeface="Times New Roman"/>
              </a:rPr>
              <a:t>chưa </a:t>
            </a:r>
            <a:r>
              <a:rPr sz="2500" dirty="0">
                <a:latin typeface="Times New Roman"/>
                <a:cs typeface="Times New Roman"/>
              </a:rPr>
              <a:t>được</a:t>
            </a:r>
            <a:r>
              <a:rPr sz="2500" spc="27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xét</a:t>
            </a:r>
            <a:r>
              <a:rPr sz="2500" spc="265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(chưa</a:t>
            </a:r>
            <a:r>
              <a:rPr sz="2500" i="1" spc="270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từng</a:t>
            </a:r>
            <a:r>
              <a:rPr sz="2500" i="1" spc="270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có</a:t>
            </a:r>
            <a:r>
              <a:rPr sz="2500" i="1" spc="265" dirty="0">
                <a:latin typeface="Times New Roman"/>
                <a:cs typeface="Times New Roman"/>
              </a:rPr>
              <a:t>  </a:t>
            </a:r>
            <a:r>
              <a:rPr sz="2500" i="1" spc="-25" dirty="0">
                <a:latin typeface="Times New Roman"/>
                <a:cs typeface="Times New Roman"/>
              </a:rPr>
              <a:t>mặt </a:t>
            </a:r>
            <a:r>
              <a:rPr sz="2500" i="1" dirty="0">
                <a:latin typeface="Times New Roman"/>
                <a:cs typeface="Times New Roman"/>
              </a:rPr>
              <a:t>trong</a:t>
            </a:r>
            <a:r>
              <a:rPr sz="2500" i="1" spc="42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STACK)</a:t>
            </a:r>
            <a:r>
              <a:rPr sz="2500" i="1" spc="4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4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STACK,</a:t>
            </a:r>
            <a:r>
              <a:rPr sz="2500" spc="42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trở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25" dirty="0">
                <a:latin typeface="Times New Roman"/>
                <a:cs typeface="Times New Roman"/>
              </a:rPr>
              <a:t> 3.</a:t>
            </a:r>
            <a:endParaRPr sz="2500">
              <a:latin typeface="Times New Roman"/>
              <a:cs typeface="Times New Roman"/>
            </a:endParaRPr>
          </a:p>
          <a:p>
            <a:pPr marL="240029" algn="just">
              <a:lnSpc>
                <a:spcPct val="100000"/>
              </a:lnSpc>
              <a:spcBef>
                <a:spcPts val="1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B7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Kết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Arial"/>
                <a:cs typeface="Arial"/>
              </a:rPr>
              <a:t>ú</a:t>
            </a:r>
            <a:r>
              <a:rPr sz="2500" spc="-10" dirty="0">
                <a:latin typeface="Times New Roman"/>
                <a:cs typeface="Times New Roman"/>
              </a:rPr>
              <a:t>c.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900" y="1435100"/>
            <a:ext cx="4800600" cy="4876800"/>
          </a:xfrm>
          <a:custGeom>
            <a:avLst/>
            <a:gdLst/>
            <a:ahLst/>
            <a:cxnLst/>
            <a:rect l="l" t="t" r="r" b="b"/>
            <a:pathLst>
              <a:path w="4800600" h="4876800">
                <a:moveTo>
                  <a:pt x="0" y="0"/>
                </a:moveTo>
                <a:lnTo>
                  <a:pt x="4800600" y="0"/>
                </a:lnTo>
              </a:path>
              <a:path w="4800600" h="4876800">
                <a:moveTo>
                  <a:pt x="0" y="4876800"/>
                </a:moveTo>
                <a:lnTo>
                  <a:pt x="4800600" y="4876800"/>
                </a:lnTo>
              </a:path>
              <a:path w="4800600" h="4876800">
                <a:moveTo>
                  <a:pt x="0" y="0"/>
                </a:moveTo>
                <a:lnTo>
                  <a:pt x="0" y="4876800"/>
                </a:lnTo>
              </a:path>
              <a:path w="4800600" h="4876800">
                <a:moveTo>
                  <a:pt x="4800600" y="0"/>
                </a:moveTo>
                <a:lnTo>
                  <a:pt x="4800600" y="4876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9900" y="520700"/>
            <a:ext cx="3048000" cy="59832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I.Duyệt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theo</a:t>
            </a:r>
            <a:r>
              <a:rPr spc="-45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1" y="933237"/>
            <a:ext cx="6652259" cy="22739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Ý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nghĩa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đỉnh</a:t>
            </a:r>
            <a:endParaRPr sz="2400">
              <a:latin typeface="Arial"/>
              <a:cs typeface="Arial"/>
            </a:endParaRPr>
          </a:p>
          <a:p>
            <a:pPr marL="7543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</a:t>
            </a:r>
            <a:endParaRPr sz="2400">
              <a:latin typeface="Arial"/>
              <a:cs typeface="Arial"/>
            </a:endParaRPr>
          </a:p>
          <a:p>
            <a:pPr marL="754380" lvl="1" indent="-317500">
              <a:lnSpc>
                <a:spcPct val="100000"/>
              </a:lnSpc>
              <a:spcBef>
                <a:spcPts val="565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Xây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thị</a:t>
            </a:r>
            <a:endParaRPr sz="2400">
              <a:latin typeface="Arial"/>
              <a:cs typeface="Arial"/>
            </a:endParaRPr>
          </a:p>
          <a:p>
            <a:pPr marL="75374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374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xem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không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44612" y="2386266"/>
            <a:ext cx="4892675" cy="466725"/>
            <a:chOff x="1344612" y="2386266"/>
            <a:chExt cx="4892675" cy="466725"/>
          </a:xfrm>
        </p:grpSpPr>
        <p:sp>
          <p:nvSpPr>
            <p:cNvPr id="6" name="object 6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10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38" y="933237"/>
            <a:ext cx="8042909" cy="2931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Nguyên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lý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bất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kỳ.</a:t>
            </a:r>
            <a:endParaRPr sz="2400">
              <a:latin typeface="Arial"/>
              <a:cs typeface="Arial"/>
            </a:endParaRPr>
          </a:p>
          <a:p>
            <a:pPr marL="754380" marR="50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Duyệt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tập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T(u)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T(u)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uv).</a:t>
            </a:r>
            <a:endParaRPr sz="2400">
              <a:latin typeface="Arial"/>
              <a:cs typeface="Arial"/>
            </a:endParaRPr>
          </a:p>
          <a:p>
            <a:pPr marL="755015" marR="213360" lvl="1" indent="-317500">
              <a:lnSpc>
                <a:spcPct val="1000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Sau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tục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xét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u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thuộc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T(u)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dụng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duyệt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giống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như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171" y="1206499"/>
            <a:ext cx="3872728" cy="26540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0146" y="3976623"/>
            <a:ext cx="156337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370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370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  <a:p>
            <a:pPr marL="12700" marR="767080">
              <a:lnSpc>
                <a:spcPct val="100000"/>
              </a:lnSpc>
              <a:tabLst>
                <a:tab pos="293370" algn="l"/>
                <a:tab pos="575945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m h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3300" y="368300"/>
            <a:ext cx="2667000" cy="5943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801" y="1151889"/>
            <a:ext cx="4859655" cy="345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231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Times New Roman"/>
                <a:cs typeface="Times New Roman"/>
              </a:rPr>
              <a:t>B1: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là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latin typeface="Times New Roman"/>
                <a:cs typeface="Times New Roman"/>
              </a:rPr>
              <a:t>B2: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vào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B3: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Lặp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QUEUE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rỗng.</a:t>
            </a:r>
            <a:endParaRPr sz="2500">
              <a:latin typeface="Times New Roman"/>
              <a:cs typeface="Times New Roman"/>
            </a:endParaRPr>
          </a:p>
          <a:p>
            <a:pPr marL="690245" indent="-233679">
              <a:lnSpc>
                <a:spcPct val="100000"/>
              </a:lnSpc>
              <a:buSzPct val="96000"/>
              <a:buAutoNum type="alphaLcPeriod"/>
              <a:tabLst>
                <a:tab pos="690245" algn="l"/>
              </a:tabLst>
            </a:pP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từ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</a:t>
            </a:r>
            <a:endParaRPr sz="2500">
              <a:latin typeface="Times New Roman"/>
              <a:cs typeface="Times New Roman"/>
            </a:endParaRPr>
          </a:p>
          <a:p>
            <a:pPr marL="706755" indent="-250825">
              <a:lnSpc>
                <a:spcPct val="100000"/>
              </a:lnSpc>
              <a:buSzPct val="96000"/>
              <a:buAutoNum type="alphaLcPeriod"/>
              <a:tabLst>
                <a:tab pos="706755" algn="l"/>
              </a:tabLst>
            </a:pP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p</a:t>
            </a:r>
            <a:endParaRPr sz="2500">
              <a:latin typeface="Times New Roman"/>
              <a:cs typeface="Times New Roman"/>
            </a:endParaRPr>
          </a:p>
          <a:p>
            <a:pPr marL="469265" marR="5080" indent="-13335">
              <a:lnSpc>
                <a:spcPct val="100000"/>
              </a:lnSpc>
              <a:buSzPct val="96000"/>
              <a:buAutoNum type="alphaLcPeriod"/>
              <a:tabLst>
                <a:tab pos="689610" algn="l"/>
              </a:tabLst>
            </a:pP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các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được </a:t>
            </a:r>
            <a:r>
              <a:rPr sz="2500" dirty="0">
                <a:latin typeface="Times New Roman"/>
                <a:cs typeface="Times New Roman"/>
              </a:rPr>
              <a:t>xét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(chưa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từng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có</a:t>
            </a:r>
            <a:r>
              <a:rPr sz="2500" i="1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mặt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trong </a:t>
            </a:r>
            <a:r>
              <a:rPr sz="2500" i="1" dirty="0">
                <a:latin typeface="Times New Roman"/>
                <a:cs typeface="Times New Roman"/>
              </a:rPr>
              <a:t>QUEUE)</a:t>
            </a:r>
            <a:r>
              <a:rPr sz="2500" i="1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vào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QUEUE.</a:t>
            </a:r>
            <a:endParaRPr sz="2500">
              <a:latin typeface="Times New Roman"/>
              <a:cs typeface="Times New Roman"/>
            </a:endParaRPr>
          </a:p>
          <a:p>
            <a:pPr marL="723900" indent="-268605">
              <a:lnSpc>
                <a:spcPct val="100000"/>
              </a:lnSpc>
              <a:buSzPct val="96000"/>
              <a:buAutoNum type="alphaLcPeriod"/>
              <a:tabLst>
                <a:tab pos="723900" algn="l"/>
              </a:tabLst>
            </a:pPr>
            <a:r>
              <a:rPr sz="2500" b="1" dirty="0">
                <a:latin typeface="Times New Roman"/>
                <a:cs typeface="Times New Roman"/>
              </a:rPr>
              <a:t>Kết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thúc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lặp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300" y="1130300"/>
            <a:ext cx="5181600" cy="4800600"/>
          </a:xfrm>
          <a:custGeom>
            <a:avLst/>
            <a:gdLst/>
            <a:ahLst/>
            <a:cxnLst/>
            <a:rect l="l" t="t" r="r" b="b"/>
            <a:pathLst>
              <a:path w="5181600" h="4800600">
                <a:moveTo>
                  <a:pt x="0" y="0"/>
                </a:moveTo>
                <a:lnTo>
                  <a:pt x="5181600" y="0"/>
                </a:lnTo>
              </a:path>
              <a:path w="5181600" h="4800600">
                <a:moveTo>
                  <a:pt x="0" y="4800600"/>
                </a:moveTo>
                <a:lnTo>
                  <a:pt x="5181600" y="4800600"/>
                </a:lnTo>
              </a:path>
              <a:path w="5181600" h="4800600">
                <a:moveTo>
                  <a:pt x="0" y="0"/>
                </a:moveTo>
                <a:lnTo>
                  <a:pt x="0" y="4800600"/>
                </a:lnTo>
              </a:path>
              <a:path w="5181600" h="4800600">
                <a:moveTo>
                  <a:pt x="5181600" y="0"/>
                </a:moveTo>
                <a:lnTo>
                  <a:pt x="5181600" y="4800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424" y="986536"/>
            <a:ext cx="5991225" cy="534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0" i="1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BFS(v)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603885" marR="433387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400">
              <a:latin typeface="Arial"/>
              <a:cs typeface="Arial"/>
            </a:endParaRPr>
          </a:p>
          <a:p>
            <a:pPr marL="603885">
              <a:lnSpc>
                <a:spcPts val="1645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v*/</a:t>
            </a:r>
            <a:endParaRPr sz="1400">
              <a:latin typeface="Arial"/>
              <a:cs typeface="Arial"/>
            </a:endParaRPr>
          </a:p>
          <a:p>
            <a:pPr marR="3733800" algn="r">
              <a:lnSpc>
                <a:spcPts val="1664"/>
              </a:lnSpc>
              <a:spcBef>
                <a:spcPts val="25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while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≠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0" spc="1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6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603250">
              <a:lnSpc>
                <a:spcPts val="1664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R="3754120" algn="r">
              <a:lnSpc>
                <a:spcPts val="1664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QUEUE;</a:t>
            </a:r>
            <a:endParaRPr sz="1400">
              <a:latin typeface="Arial"/>
              <a:cs typeface="Arial"/>
            </a:endParaRPr>
          </a:p>
          <a:p>
            <a:pPr marL="1194435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p;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ts val="1664"/>
              </a:lnSpc>
              <a:spcBef>
                <a:spcPts val="15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36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Ke(p)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2404745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0" spc="35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2383155">
              <a:lnSpc>
                <a:spcPct val="100000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2769870">
              <a:lnSpc>
                <a:spcPts val="1664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1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u;</a:t>
            </a:r>
            <a:endParaRPr sz="1400">
              <a:latin typeface="Arial"/>
              <a:cs typeface="Arial"/>
            </a:endParaRPr>
          </a:p>
          <a:p>
            <a:pPr marL="2769870">
              <a:lnSpc>
                <a:spcPts val="1660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2376170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65341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927735">
              <a:lnSpc>
                <a:spcPts val="1675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2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0" spc="36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927735">
              <a:lnSpc>
                <a:spcPts val="1660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160" dirty="0">
                <a:solidFill>
                  <a:srgbClr val="1D528E"/>
                </a:solidFill>
                <a:latin typeface="Arial"/>
                <a:cs typeface="Arial"/>
              </a:rPr>
              <a:t>V) 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0" spc="37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0" spc="37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BFS(v);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18600" cy="969010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II.2.</a:t>
            </a:r>
            <a:r>
              <a:rPr spc="-50" dirty="0"/>
              <a:t> </a:t>
            </a:r>
            <a:r>
              <a:rPr dirty="0"/>
              <a:t>Cài</a:t>
            </a:r>
            <a:r>
              <a:rPr spc="-40" dirty="0"/>
              <a:t> </a:t>
            </a:r>
            <a:r>
              <a:rPr dirty="0"/>
              <a:t>đặt</a:t>
            </a:r>
            <a:r>
              <a:rPr spc="-35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spc="-10" dirty="0"/>
              <a:t>loang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846" y="1049528"/>
            <a:ext cx="7066029" cy="51054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4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II.2.</a:t>
            </a:r>
            <a:r>
              <a:rPr sz="2400" spc="-35" dirty="0"/>
              <a:t> </a:t>
            </a:r>
            <a:r>
              <a:rPr sz="2400" dirty="0"/>
              <a:t>Cài</a:t>
            </a:r>
            <a:r>
              <a:rPr sz="2400" spc="-40" dirty="0"/>
              <a:t> </a:t>
            </a:r>
            <a:r>
              <a:rPr sz="2400" dirty="0"/>
              <a:t>đặt</a:t>
            </a:r>
            <a:r>
              <a:rPr sz="2400" spc="-25" dirty="0"/>
              <a:t> </a:t>
            </a:r>
            <a:r>
              <a:rPr sz="2400" dirty="0"/>
              <a:t>bằng</a:t>
            </a:r>
            <a:r>
              <a:rPr sz="2400" spc="-35" dirty="0"/>
              <a:t> </a:t>
            </a:r>
            <a:r>
              <a:rPr sz="2400" dirty="0"/>
              <a:t>thuật</a:t>
            </a:r>
            <a:r>
              <a:rPr sz="2400" spc="-30" dirty="0"/>
              <a:t> </a:t>
            </a:r>
            <a:r>
              <a:rPr sz="2400" dirty="0"/>
              <a:t>toán</a:t>
            </a:r>
            <a:r>
              <a:rPr sz="2400" spc="-30" dirty="0"/>
              <a:t> </a:t>
            </a:r>
            <a:r>
              <a:rPr sz="2400" spc="-10" dirty="0"/>
              <a:t>loang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68300" y="1130300"/>
            <a:ext cx="8229600" cy="5248275"/>
          </a:xfrm>
          <a:custGeom>
            <a:avLst/>
            <a:gdLst/>
            <a:ahLst/>
            <a:cxnLst/>
            <a:rect l="l" t="t" r="r" b="b"/>
            <a:pathLst>
              <a:path w="8229600" h="5248275">
                <a:moveTo>
                  <a:pt x="0" y="0"/>
                </a:moveTo>
                <a:lnTo>
                  <a:pt x="0" y="5247894"/>
                </a:lnTo>
                <a:lnTo>
                  <a:pt x="8229600" y="5247894"/>
                </a:lnTo>
                <a:lnTo>
                  <a:pt x="8229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373" y="1101227"/>
            <a:ext cx="7990205" cy="46151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0" u="heavy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Khởi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tạo</a:t>
            </a:r>
            <a:endParaRPr sz="2400">
              <a:latin typeface="Verdana"/>
              <a:cs typeface="Verdana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43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Bắt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dấu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chưa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bị </a:t>
            </a:r>
            <a:r>
              <a:rPr sz="2000" dirty="0">
                <a:latin typeface="Arial"/>
                <a:cs typeface="Arial"/>
              </a:rPr>
              <a:t>đánh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dấu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{s},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Ø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2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Lặp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lại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cho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đến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khi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X=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Ø</a:t>
            </a:r>
            <a:endParaRPr sz="24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3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Gán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Ø.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Với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  <a:p>
            <a:pPr marL="1155065" marR="266065" lvl="2" indent="-228600">
              <a:lnSpc>
                <a:spcPct val="100000"/>
              </a:lnSpc>
              <a:spcBef>
                <a:spcPts val="409"/>
              </a:spcBef>
              <a:buClr>
                <a:srgbClr val="1D528E"/>
              </a:buClr>
              <a:buChar char="•"/>
              <a:tabLst>
                <a:tab pos="1156335" algn="l"/>
              </a:tabLst>
            </a:pPr>
            <a:r>
              <a:rPr sz="1800" dirty="0">
                <a:latin typeface="Arial"/>
                <a:cs typeface="Arial"/>
              </a:rPr>
              <a:t>Xét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tất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chưa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bị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dấu.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đỉnh 	</a:t>
            </a:r>
            <a:r>
              <a:rPr sz="1800" spc="-25" dirty="0">
                <a:latin typeface="Arial"/>
                <a:cs typeface="Arial"/>
              </a:rPr>
              <a:t>đó:</a:t>
            </a:r>
            <a:endParaRPr sz="1800">
              <a:latin typeface="Arial"/>
              <a:cs typeface="Arial"/>
            </a:endParaRPr>
          </a:p>
          <a:p>
            <a:pPr marL="1675764" lvl="3" indent="-291465">
              <a:lnSpc>
                <a:spcPct val="100000"/>
              </a:lnSpc>
              <a:spcBef>
                <a:spcPts val="445"/>
              </a:spcBef>
              <a:buChar char="–"/>
              <a:tabLst>
                <a:tab pos="1675764" algn="l"/>
              </a:tabLst>
            </a:pPr>
            <a:r>
              <a:rPr sz="1800" dirty="0">
                <a:latin typeface="Arial"/>
                <a:cs typeface="Arial"/>
              </a:rPr>
              <a:t>Đánh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  <a:p>
            <a:pPr marL="1612265" lvl="3" indent="-227965">
              <a:lnSpc>
                <a:spcPct val="100000"/>
              </a:lnSpc>
              <a:spcBef>
                <a:spcPts val="434"/>
              </a:spcBef>
              <a:buChar char="–"/>
              <a:tabLst>
                <a:tab pos="1612265" algn="l"/>
              </a:tabLst>
            </a:pPr>
            <a:r>
              <a:rPr sz="1800" dirty="0">
                <a:latin typeface="Arial"/>
                <a:cs typeface="Arial"/>
              </a:rPr>
              <a:t>Lưu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đường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liền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trước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đường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75" dirty="0">
                <a:latin typeface="Wingdings"/>
                <a:cs typeface="Wingdings"/>
              </a:rPr>
              <a:t>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u.</a:t>
            </a:r>
            <a:endParaRPr sz="1800">
              <a:latin typeface="Arial"/>
              <a:cs typeface="Arial"/>
            </a:endParaRPr>
          </a:p>
          <a:p>
            <a:pPr marL="1612265" lvl="3" indent="-227965">
              <a:lnSpc>
                <a:spcPct val="100000"/>
              </a:lnSpc>
              <a:spcBef>
                <a:spcPts val="440"/>
              </a:spcBef>
              <a:buChar char="–"/>
              <a:tabLst>
                <a:tab pos="1612265" algn="l"/>
              </a:tabLst>
            </a:pPr>
            <a:r>
              <a:rPr sz="1800" dirty="0">
                <a:latin typeface="Arial"/>
                <a:cs typeface="Arial"/>
              </a:rPr>
              <a:t>Đưa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Gán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38" y="933237"/>
            <a:ext cx="7733030" cy="263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Ý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nghĩa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đỉnh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Xây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thị</a:t>
            </a:r>
            <a:endParaRPr sz="2400">
              <a:latin typeface="Arial"/>
              <a:cs typeface="Arial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ngắn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còn lại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899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33085" cy="1988185"/>
            <a:chOff x="617009" y="1563200"/>
            <a:chExt cx="5633085" cy="1988185"/>
          </a:xfrm>
        </p:grpSpPr>
        <p:sp>
          <p:nvSpPr>
            <p:cNvPr id="8" name="object 8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18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0" dirty="0"/>
              <a:t> </a:t>
            </a:r>
            <a:r>
              <a:rPr dirty="0"/>
              <a:t>Tìm</a:t>
            </a:r>
            <a:r>
              <a:rPr spc="-45" dirty="0"/>
              <a:t> </a:t>
            </a:r>
            <a:r>
              <a:rPr dirty="0"/>
              <a:t>đường</a:t>
            </a:r>
            <a:r>
              <a:rPr spc="-35" dirty="0"/>
              <a:t> </a:t>
            </a:r>
            <a:r>
              <a:rPr spc="-25" dirty="0"/>
              <a:t>đi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33237"/>
            <a:ext cx="7799705" cy="38087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Bài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toán</a:t>
            </a:r>
            <a:endParaRPr sz="2800">
              <a:latin typeface="Verdana"/>
              <a:cs typeface="Verdana"/>
            </a:endParaRPr>
          </a:p>
          <a:p>
            <a:pPr marL="755650" marR="10858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tùy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ý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thị.</a:t>
            </a:r>
            <a:r>
              <a:rPr sz="2400" spc="-25" dirty="0">
                <a:latin typeface="Arial"/>
                <a:cs typeface="Arial"/>
              </a:rPr>
              <a:t> Hãy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Phương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pháp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ts val="2875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DFS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BFS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duyệt</a:t>
            </a:r>
            <a:endParaRPr sz="2400">
              <a:latin typeface="Arial"/>
              <a:cs typeface="Arial"/>
            </a:endParaRPr>
          </a:p>
          <a:p>
            <a:pPr marL="755015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500"/>
              </a:spcBef>
              <a:buClr>
                <a:srgbClr val="1D528E"/>
              </a:buClr>
              <a:buChar char="•"/>
              <a:tabLst>
                <a:tab pos="1155065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thấy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ChuaXet(t)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70"/>
              </a:spcBef>
              <a:buClr>
                <a:srgbClr val="1D528E"/>
              </a:buClr>
              <a:buChar char="•"/>
              <a:tabLst>
                <a:tab pos="115506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tìm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thấy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ChuaXet(t)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50" dirty="0">
                <a:latin typeface="Arial"/>
                <a:cs typeface="Arial"/>
              </a:rPr>
              <a:t> 1</a:t>
            </a:r>
            <a:endParaRPr sz="20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5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Truoc[]</a:t>
            </a:r>
            <a:r>
              <a:rPr sz="240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vết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III.1.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59104"/>
            <a:ext cx="7125334" cy="520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5046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/*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Khai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báo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các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biến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*/ </a:t>
            </a:r>
            <a:r>
              <a:rPr sz="2000" spc="-10" dirty="0">
                <a:latin typeface="Verdana"/>
                <a:cs typeface="Verdana"/>
              </a:rPr>
              <a:t>DFS(v);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355600" marR="4639310">
              <a:lnSpc>
                <a:spcPct val="998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Duyệt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đỉnh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(v); </a:t>
            </a:r>
            <a:r>
              <a:rPr sz="2000" dirty="0">
                <a:latin typeface="Verdana"/>
                <a:cs typeface="Verdana"/>
              </a:rPr>
              <a:t>ChuaXet[v]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0;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Ke(v)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88963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ChuaXet[u]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1523365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2501265" marR="1256030" indent="-88900">
              <a:lnSpc>
                <a:spcPct val="100000"/>
              </a:lnSpc>
            </a:pP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Truoc[u]</a:t>
            </a:r>
            <a:r>
              <a:rPr sz="2000" spc="-4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=</a:t>
            </a:r>
            <a:r>
              <a:rPr sz="2000" spc="-3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v;</a:t>
            </a:r>
            <a:r>
              <a:rPr sz="2000" spc="-3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/*</a:t>
            </a:r>
            <a:r>
              <a:rPr sz="2000" spc="-4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Lưu</a:t>
            </a:r>
            <a:r>
              <a:rPr sz="2000" spc="-3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Verdana"/>
                <a:cs typeface="Verdana"/>
              </a:rPr>
              <a:t>vết*/ </a:t>
            </a:r>
            <a:r>
              <a:rPr sz="2000" spc="-10" dirty="0">
                <a:latin typeface="Verdana"/>
                <a:cs typeface="Verdana"/>
              </a:rPr>
              <a:t>DFS(u);</a:t>
            </a:r>
            <a:endParaRPr sz="200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main()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//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Nhập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đồ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thị,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tạo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biến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Ke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395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355600" marR="5080">
              <a:lnSpc>
                <a:spcPts val="2410"/>
              </a:lnSpc>
              <a:spcBef>
                <a:spcPts val="65"/>
              </a:spcBef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ChuaXet[v]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1;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//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Khởi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tạo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cờ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đỉnh </a:t>
            </a:r>
            <a:r>
              <a:rPr sz="2000" spc="-10" dirty="0">
                <a:solidFill>
                  <a:srgbClr val="FF3300"/>
                </a:solidFill>
                <a:latin typeface="Verdana"/>
                <a:cs typeface="Verdana"/>
              </a:rPr>
              <a:t>DFS(s);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32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III.2.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893572"/>
            <a:ext cx="5923915" cy="540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4015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/*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Khai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báo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các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biến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ChuaXet,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,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*/ </a:t>
            </a:r>
            <a:r>
              <a:rPr sz="1600" spc="-10" dirty="0">
                <a:latin typeface="Verdana"/>
                <a:cs typeface="Verdana"/>
              </a:rPr>
              <a:t>BFS(v);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55600" marR="1165225" indent="-63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</a:t>
            </a:r>
            <a:r>
              <a:rPr sz="1600" dirty="0">
                <a:latin typeface="Verdana"/>
                <a:cs typeface="Verdana"/>
              </a:rPr>
              <a:t>;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v;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ChuaXet[v]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0; </a:t>
            </a:r>
            <a:r>
              <a:rPr sz="1600" dirty="0">
                <a:latin typeface="Verdana"/>
                <a:cs typeface="Verdana"/>
              </a:rPr>
              <a:t>while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≠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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Verdana"/>
                <a:cs typeface="Verdana"/>
              </a:rPr>
              <a:t>QUEUE;</a:t>
            </a:r>
            <a:endParaRPr sz="1600">
              <a:latin typeface="Verdana"/>
              <a:cs typeface="Verdana"/>
            </a:endParaRPr>
          </a:p>
          <a:p>
            <a:pPr marL="927100" marR="3317240" indent="8636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Duyệt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đỉnh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p;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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Ke(p)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if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ChuaXet[u]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15785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Verdana"/>
                <a:cs typeface="Verdana"/>
              </a:rPr>
              <a:t>u;</a:t>
            </a:r>
            <a:endParaRPr sz="1600">
              <a:latin typeface="Verdana"/>
              <a:cs typeface="Verdana"/>
            </a:endParaRPr>
          </a:p>
          <a:p>
            <a:pPr marL="3157855" marR="136525" indent="-12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ChuaXet[u]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0;</a:t>
            </a:r>
            <a:r>
              <a:rPr sz="1600" spc="500" dirty="0"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Truoc[u]</a:t>
            </a:r>
            <a:r>
              <a:rPr sz="1600" spc="-6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=</a:t>
            </a:r>
            <a:r>
              <a:rPr sz="1600" spc="-5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p;/*Lưu</a:t>
            </a:r>
            <a:r>
              <a:rPr sz="1600" spc="-5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3300"/>
                </a:solidFill>
                <a:latin typeface="Verdana"/>
                <a:cs typeface="Verdana"/>
              </a:rPr>
              <a:t>vết*/</a:t>
            </a:r>
            <a:endParaRPr sz="1600">
              <a:latin typeface="Verdana"/>
              <a:cs typeface="Verdana"/>
            </a:endParaRPr>
          </a:p>
          <a:p>
            <a:pPr marL="2085975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927100" algn="l"/>
              </a:tabLst>
            </a:pPr>
            <a:r>
              <a:rPr sz="1600" spc="-10" dirty="0">
                <a:latin typeface="Verdana"/>
                <a:cs typeface="Verdana"/>
              </a:rPr>
              <a:t>main()</a:t>
            </a:r>
            <a:r>
              <a:rPr sz="1600" dirty="0">
                <a:latin typeface="Verdana"/>
                <a:cs typeface="Verdana"/>
              </a:rPr>
              <a:t>	//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Nhập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đồ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thị,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tạo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biến</a:t>
            </a:r>
            <a:r>
              <a:rPr sz="1600" spc="-25" dirty="0">
                <a:latin typeface="Verdana"/>
                <a:cs typeface="Verdana"/>
              </a:rPr>
              <a:t> Ke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  <a:tabLst>
                <a:tab pos="1727200" algn="l"/>
                <a:tab pos="3566160" algn="l"/>
              </a:tabLst>
            </a:pPr>
            <a:r>
              <a:rPr sz="1600" dirty="0">
                <a:latin typeface="Verdana"/>
                <a:cs typeface="Verdana"/>
              </a:rPr>
              <a:t>for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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r>
              <a:rPr sz="1600" dirty="0">
                <a:latin typeface="Verdana"/>
                <a:cs typeface="Verdana"/>
              </a:rPr>
              <a:t>	ChuaXet[v]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1;</a:t>
            </a:r>
            <a:r>
              <a:rPr sz="1600" dirty="0">
                <a:latin typeface="Verdana"/>
                <a:cs typeface="Verdana"/>
              </a:rPr>
              <a:t>	//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Khởi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tạo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cờ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đỉnh </a:t>
            </a:r>
            <a:r>
              <a:rPr sz="1600" spc="-10" dirty="0">
                <a:solidFill>
                  <a:srgbClr val="FF3300"/>
                </a:solidFill>
                <a:latin typeface="Verdana"/>
                <a:cs typeface="Verdana"/>
              </a:rPr>
              <a:t>BFS(s);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III.2.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101" y="1101597"/>
            <a:ext cx="4620895" cy="31305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5400" marR="17780">
              <a:lnSpc>
                <a:spcPts val="2860"/>
              </a:lnSpc>
              <a:spcBef>
                <a:spcPts val="210"/>
              </a:spcBef>
            </a:pPr>
            <a:r>
              <a:rPr sz="2400" dirty="0">
                <a:latin typeface="Verdana"/>
                <a:cs typeface="Verdana"/>
              </a:rPr>
              <a:t>Khôi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phục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đường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từ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đến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t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1</a:t>
            </a:r>
            <a:r>
              <a:rPr sz="2400" spc="232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2</a:t>
            </a:r>
            <a:r>
              <a:rPr sz="2400" spc="240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…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n</a:t>
            </a:r>
            <a:r>
              <a:rPr sz="2400" spc="-120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Verdana"/>
                <a:cs typeface="Verdana"/>
              </a:rPr>
              <a:t>t</a:t>
            </a:r>
            <a:endParaRPr sz="2400">
              <a:latin typeface="Verdana"/>
              <a:cs typeface="Verdana"/>
            </a:endParaRPr>
          </a:p>
          <a:p>
            <a:pPr marL="25400">
              <a:lnSpc>
                <a:spcPts val="2870"/>
              </a:lnSpc>
              <a:spcBef>
                <a:spcPts val="279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Cài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đặt</a:t>
            </a:r>
            <a:r>
              <a:rPr sz="2400" spc="-20" dirty="0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25400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v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t;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while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(v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!=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s)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3683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printf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(v);</a:t>
            </a:r>
            <a:endParaRPr sz="1800">
              <a:latin typeface="Verdana"/>
              <a:cs typeface="Verdana"/>
            </a:endParaRPr>
          </a:p>
          <a:p>
            <a:pPr marL="3683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Truoc[v];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899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44612" y="3821112"/>
            <a:ext cx="4892675" cy="480059"/>
            <a:chOff x="1344612" y="3821112"/>
            <a:chExt cx="4892675" cy="480059"/>
          </a:xfrm>
        </p:grpSpPr>
        <p:sp>
          <p:nvSpPr>
            <p:cNvPr id="18" name="object 18"/>
            <p:cNvSpPr/>
            <p:nvPr/>
          </p:nvSpPr>
          <p:spPr>
            <a:xfrm>
              <a:off x="1358899" y="38354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58899" y="38354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58899" y="3854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23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30" dirty="0"/>
              <a:t> </a:t>
            </a: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tra</a:t>
            </a:r>
            <a:r>
              <a:rPr spc="-15" dirty="0"/>
              <a:t> </a:t>
            </a:r>
            <a:r>
              <a:rPr dirty="0"/>
              <a:t>tính</a:t>
            </a:r>
            <a:r>
              <a:rPr spc="-15" dirty="0"/>
              <a:t> </a:t>
            </a:r>
            <a:r>
              <a:rPr dirty="0"/>
              <a:t>liên</a:t>
            </a:r>
            <a:r>
              <a:rPr spc="-15" dirty="0"/>
              <a:t> </a:t>
            </a:r>
            <a:r>
              <a:rPr spc="-10" dirty="0"/>
              <a:t>thông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6" y="933237"/>
            <a:ext cx="7920990" cy="38817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Bài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toán</a:t>
            </a:r>
            <a:endParaRPr sz="2800"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Tính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định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Phương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pháp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DFS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BFS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ts val="2875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Biến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240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</a:t>
            </a:r>
            <a:endParaRPr sz="2400">
              <a:latin typeface="Arial"/>
              <a:cs typeface="Arial"/>
            </a:endParaRPr>
          </a:p>
          <a:p>
            <a:pPr marL="755015">
              <a:lnSpc>
                <a:spcPts val="2875"/>
              </a:lnSpc>
            </a:pP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755015" marR="69659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Mảng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index[]</a:t>
            </a:r>
            <a:r>
              <a:rPr sz="2400" spc="-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liên </a:t>
            </a:r>
            <a:r>
              <a:rPr sz="2400" spc="-10" dirty="0">
                <a:latin typeface="Arial"/>
                <a:cs typeface="Arial"/>
              </a:rPr>
              <a:t>thông.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IV.1.</a:t>
            </a:r>
            <a:r>
              <a:rPr spc="-35" dirty="0"/>
              <a:t> </a:t>
            </a:r>
            <a:r>
              <a:rPr dirty="0"/>
              <a:t>Tìm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018" y="960628"/>
            <a:ext cx="4370705" cy="332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Khai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các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484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ChuaXet,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Ke,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index*/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 marR="1943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Duyệt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(v);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index[v]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inconnect;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  <a:spcBef>
                <a:spcPts val="30"/>
              </a:spcBef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Ke(v) </a:t>
            </a:r>
            <a:r>
              <a:rPr sz="1800" spc="-6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ChuaXet[u]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DFS(u);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Nhập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đồ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thị,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8677" y="4259271"/>
            <a:ext cx="255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Khởi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cờ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cho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đỉnh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0743" y="4259271"/>
            <a:ext cx="2964180" cy="13957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  <a:tabLst>
                <a:tab pos="1369060" algn="l"/>
              </a:tabLst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r>
              <a:rPr sz="1800" dirty="0">
                <a:latin typeface="Arial"/>
                <a:cs typeface="Arial"/>
              </a:rPr>
              <a:t>	ChuaXet[v]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0;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05"/>
              </a:lnSpc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84150">
              <a:lnSpc>
                <a:spcPts val="2150"/>
              </a:lnSpc>
              <a:tabLst>
                <a:tab pos="487680" algn="l"/>
              </a:tabLst>
            </a:pPr>
            <a:r>
              <a:rPr sz="1800" spc="-25" dirty="0">
                <a:latin typeface="Arial"/>
                <a:cs typeface="Arial"/>
              </a:rPr>
              <a:t>if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4996" y="5629365"/>
            <a:ext cx="362013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++;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IV.2.</a:t>
            </a:r>
            <a:r>
              <a:rPr spc="-35" dirty="0"/>
              <a:t> </a:t>
            </a:r>
            <a:r>
              <a:rPr dirty="0"/>
              <a:t>Tìm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rông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200447"/>
            <a:ext cx="2950210" cy="5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1665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980" y="960628"/>
            <a:ext cx="6173470" cy="524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Khai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các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toàn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cục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ChuaXet,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QUEUE,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index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BFS(v)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  <a:spcBef>
                <a:spcPts val="30"/>
              </a:spcBef>
              <a:tabLst>
                <a:tab pos="3095625" algn="l"/>
              </a:tabLst>
            </a:pPr>
            <a:r>
              <a:rPr sz="1800" dirty="0">
                <a:latin typeface="Arial"/>
                <a:cs typeface="Arial"/>
              </a:rPr>
              <a:t>QUEUE = 0; QUEUE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v;</a:t>
            </a:r>
            <a:r>
              <a:rPr sz="1800" dirty="0">
                <a:latin typeface="Arial"/>
                <a:cs typeface="Arial"/>
              </a:rPr>
              <a:t>	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while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QUEUE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≠ 0 )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13130" marR="2423160">
              <a:lnSpc>
                <a:spcPts val="2140"/>
              </a:lnSpc>
              <a:spcBef>
                <a:spcPts val="114"/>
              </a:spcBef>
              <a:tabLst>
                <a:tab pos="2397125" algn="l"/>
              </a:tabLst>
            </a:pPr>
            <a:r>
              <a:rPr sz="1800" dirty="0">
                <a:latin typeface="Arial"/>
                <a:cs typeface="Arial"/>
              </a:rPr>
              <a:t>p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QUEUE;</a:t>
            </a:r>
            <a:r>
              <a:rPr sz="1800" dirty="0">
                <a:latin typeface="Arial"/>
                <a:cs typeface="Arial"/>
              </a:rPr>
              <a:t>	Duyệt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index[p]</a:t>
            </a:r>
            <a:r>
              <a:rPr sz="18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inconnect;</a:t>
            </a:r>
            <a:endParaRPr sz="1800">
              <a:latin typeface="Arial"/>
              <a:cs typeface="Arial"/>
            </a:endParaRPr>
          </a:p>
          <a:p>
            <a:pPr marL="913765">
              <a:lnSpc>
                <a:spcPts val="2105"/>
              </a:lnSpc>
              <a:tabLst>
                <a:tab pos="1307465" algn="l"/>
              </a:tabLst>
            </a:pPr>
            <a:r>
              <a:rPr sz="1800" spc="-25" dirty="0">
                <a:latin typeface="Arial"/>
                <a:cs typeface="Arial"/>
              </a:rPr>
              <a:t>for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Ke(p)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94765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ChuaXet[u]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298700">
              <a:lnSpc>
                <a:spcPts val="2150"/>
              </a:lnSpc>
              <a:spcBef>
                <a:spcPts val="25"/>
              </a:spcBef>
            </a:pPr>
            <a:r>
              <a:rPr sz="1800" dirty="0">
                <a:latin typeface="Arial"/>
                <a:cs typeface="Arial"/>
              </a:rPr>
              <a:t>QUEUE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u;ChuaXet[u]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1383665">
              <a:lnSpc>
                <a:spcPts val="215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main()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7815" marR="2927350">
              <a:lnSpc>
                <a:spcPts val="2140"/>
              </a:lnSpc>
              <a:spcBef>
                <a:spcPts val="115"/>
              </a:spcBef>
              <a:tabLst>
                <a:tab pos="1654810" algn="l"/>
              </a:tabLst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r>
              <a:rPr sz="1800" dirty="0">
                <a:latin typeface="Arial"/>
                <a:cs typeface="Arial"/>
              </a:rPr>
              <a:t>	ChuaXet[v] = </a:t>
            </a:r>
            <a:r>
              <a:rPr sz="1800" spc="-25" dirty="0">
                <a:latin typeface="Arial"/>
                <a:cs typeface="Arial"/>
              </a:rPr>
              <a:t>1;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0;</a:t>
            </a:r>
            <a:endParaRPr sz="1800">
              <a:latin typeface="Arial"/>
              <a:cs typeface="Arial"/>
            </a:endParaRPr>
          </a:p>
          <a:p>
            <a:pPr marL="297815">
              <a:lnSpc>
                <a:spcPts val="2110"/>
              </a:lnSpc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ts val="2150"/>
              </a:lnSpc>
              <a:tabLst>
                <a:tab pos="774065" algn="l"/>
              </a:tabLst>
            </a:pPr>
            <a:r>
              <a:rPr sz="1800" spc="-25" dirty="0">
                <a:latin typeface="Arial"/>
                <a:cs typeface="Arial"/>
              </a:rPr>
              <a:t>if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383665">
              <a:lnSpc>
                <a:spcPct val="100000"/>
              </a:lnSpc>
            </a:pP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;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BFS(v);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28930"/>
            <a:ext cx="807059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0">
                <a:solidFill>
                  <a:srgbClr val="800000"/>
                </a:solidFill>
              </a:rPr>
              <a:t>BÀI TẬP – TUẦN 5</a:t>
            </a:r>
            <a:endParaRPr b="1" spc="-20" dirty="0">
              <a:solidFill>
                <a:srgbClr val="8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6200447"/>
            <a:ext cx="2950210" cy="5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1665">
              <a:lnSpc>
                <a:spcPts val="2090"/>
              </a:lnSpc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0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lang="en-US" sz="1400" spc="-30" dirty="0">
                <a:solidFill>
                  <a:srgbClr val="1D528E"/>
                </a:solidFill>
                <a:latin typeface="Verdana"/>
                <a:cs typeface="Verdana"/>
              </a:rPr>
              <a:t>5</a:t>
            </a:r>
            <a:r>
              <a:rPr sz="1400" spc="-3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AE972-4F6D-C00A-CD87-07AFD26D4E4A}"/>
              </a:ext>
            </a:extLst>
          </p:cNvPr>
          <p:cNvSpPr txBox="1"/>
          <p:nvPr/>
        </p:nvSpPr>
        <p:spPr>
          <a:xfrm>
            <a:off x="673100" y="1130300"/>
            <a:ext cx="4038600" cy="48768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 sz="1900" b="1"/>
              <a:t>Cho đồ thị G = (V, E)</a:t>
            </a:r>
          </a:p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96E103-A1C3-9B11-8790-05BF243DD9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 b="3467"/>
          <a:stretch/>
        </p:blipFill>
        <p:spPr>
          <a:xfrm>
            <a:off x="824810" y="1587500"/>
            <a:ext cx="3761921" cy="42422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CBB9F1-EBCA-21AE-CAC8-82C03A4D5966}"/>
              </a:ext>
            </a:extLst>
          </p:cNvPr>
          <p:cNvSpPr txBox="1"/>
          <p:nvPr/>
        </p:nvSpPr>
        <p:spPr>
          <a:xfrm>
            <a:off x="4864100" y="1130300"/>
            <a:ext cx="4038600" cy="48768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/>
              <a:t>V = {S, A, B, C, D, E, F, G}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>
                <a:solidFill>
                  <a:srgbClr val="800000"/>
                </a:solidFill>
              </a:rPr>
              <a:t>YÊU CẦU: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Chạy tay từng bước thuật toán duyệt theo chiều rộng – BFS 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Chạy tay từng bước thuật toán duyệt theo chiều sâu – DFS 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Cài đặt thuật toán BFS, và DFS sử dụng C/C++.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2767</Words>
  <Application>Microsoft Office PowerPoint</Application>
  <PresentationFormat>Custom</PresentationFormat>
  <Paragraphs>392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Symbol</vt:lpstr>
      <vt:lpstr>Times New Roman</vt:lpstr>
      <vt:lpstr>Verdana</vt:lpstr>
      <vt:lpstr>Wingdings</vt:lpstr>
      <vt:lpstr>Office Theme</vt:lpstr>
      <vt:lpstr>LÝ THUYẾT ĐỒ THỊ</vt:lpstr>
      <vt:lpstr>Tìm kiếm trên đồ thị</vt:lpstr>
      <vt:lpstr>Nội dung</vt:lpstr>
      <vt:lpstr>I. Duyệt đồ thị theo chiều sâu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ĐỒ THỊ THEO CHIỀU RỘNG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I. Duyệt đồ thị theo chiều sâu</vt:lpstr>
      <vt:lpstr>I. Duyệt đồ thị theo chiều sâu</vt:lpstr>
      <vt:lpstr>I.1. Cài đặt đệ quy</vt:lpstr>
      <vt:lpstr>I.1. Cài đặt đệ quy</vt:lpstr>
      <vt:lpstr>I.2. Cài đặt không đệ quy</vt:lpstr>
      <vt:lpstr>I.Duyệt đồ thị theo chiều sâu</vt:lpstr>
      <vt:lpstr>Nội dung</vt:lpstr>
      <vt:lpstr>II. Duyệt đồ thị theo chiều rộng</vt:lpstr>
      <vt:lpstr>II. Duyệt đồ thị theo chiều rộng</vt:lpstr>
      <vt:lpstr>II.1. Cài đặt bằng hàng đợi</vt:lpstr>
      <vt:lpstr>II.1. Cài đặt bằng hàng đợi</vt:lpstr>
      <vt:lpstr>II.2. Cài đặt bằng thuật toán loang</vt:lpstr>
      <vt:lpstr>II.2. Cài đặt bằng thuật toán loang</vt:lpstr>
      <vt:lpstr>II. Duyệt đồ thị theo chiều rộng</vt:lpstr>
      <vt:lpstr>Nội dung</vt:lpstr>
      <vt:lpstr>III. Tìm đường đi</vt:lpstr>
      <vt:lpstr>III.1. Tìm đường đi theo chiều sâu</vt:lpstr>
      <vt:lpstr>III.2. Tìm đường đi theo chiều rộng</vt:lpstr>
      <vt:lpstr>III.2. Tìm đường đi theo chiều rộng</vt:lpstr>
      <vt:lpstr>Nội dung</vt:lpstr>
      <vt:lpstr>IV. Kiểm tra tính liên thông</vt:lpstr>
      <vt:lpstr>IV.1. Tìm theo chiều sâu</vt:lpstr>
      <vt:lpstr>IV.2. Tìm theo chiều rông</vt:lpstr>
      <vt:lpstr>BÀI TẬP – TUẦN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LÝ THUYẾT ĐỒ THỊ</dc:title>
  <dc:creator>Le Tuan Thu</dc:creator>
  <cp:lastModifiedBy>Le Tuan Thu</cp:lastModifiedBy>
  <cp:revision>56</cp:revision>
  <dcterms:created xsi:type="dcterms:W3CDTF">2024-05-06T13:43:19Z</dcterms:created>
  <dcterms:modified xsi:type="dcterms:W3CDTF">2025-02-26T07:22:54Z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2013-06-28T00:00:00Z</vt:filetime>
  </property>
  <property fmtid="{D5CDD505-2E9C-101B-9397-08002B2CF9AE}" pid="3" name="Creator">
    <vt:lpwstr>Nitro PDF Professional  (6, 0, 2, 6)</vt:lpwstr>
  </property>
  <property fmtid="{D5CDD505-2E9C-101B-9397-08002B2CF9AE}" pid="4" name="LastSaved">
    <vt:filetime>2024-05-06T00:00:00Z</vt:filetime>
  </property>
  <property fmtid="{D5CDD505-2E9C-101B-9397-08002B2CF9AE}" pid="5" name="Producer">
    <vt:lpwstr>Nitro PDF Professional  (6, 0, 2, 6)</vt:lpwstr>
  </property>
</Properties>
</file>
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70" r:id="rId2"/>
    <p:sldId id="271" r:id="rId3"/>
    <p:sldId id="272" r:id="rId4"/>
    <p:sldId id="273" r:id="rId5"/>
    <p:sldId id="274" r:id="rId6"/>
    <p:sldId id="275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92" r:id="rId17"/>
    <p:sldId id="290" r:id="rId18"/>
    <p:sldId id="293" r:id="rId19"/>
    <p:sldId id="295" r:id="rId20"/>
    <p:sldId id="296" r:id="rId21"/>
    <p:sldId id="297" r:id="rId22"/>
    <p:sldId id="298" r:id="rId23"/>
    <p:sldId id="299" r:id="rId24"/>
    <p:sldId id="300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2" r:id="rId45"/>
  </p:sldIdLst>
  <p:sldSz cx="9118600" cy="6832600"/>
  <p:notesSz cx="9118600" cy="6832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0000"/>
    <a:srgbClr val="0066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94660"/>
  </p:normalViewPr>
  <p:slideViewPr>
    <p:cSldViewPr>
      <p:cViewPr varScale="1">
        <p:scale>
          <a:sx n="59" d="100"/>
          <a:sy n="59" d="100"/>
        </p:scale>
        <p:origin x="1408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65725" y="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E5862-A67F-4B6E-8150-5A43E4636D22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19425" y="854075"/>
            <a:ext cx="3079750" cy="2306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1225" y="3287713"/>
            <a:ext cx="7296150" cy="269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8970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65725" y="648970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8B484-F0ED-4AFB-86DE-FBA75BF70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37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18600" cy="68326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15315" cy="1145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4001" y="1454403"/>
            <a:ext cx="6781165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67790" y="3623564"/>
            <a:ext cx="6383020" cy="1617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5930" y="1488249"/>
            <a:ext cx="3966591" cy="4270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96079" y="1488249"/>
            <a:ext cx="3966591" cy="4270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5473" y="510930"/>
            <a:ext cx="7022465" cy="527685"/>
          </a:xfrm>
          <a:custGeom>
            <a:avLst/>
            <a:gdLst/>
            <a:ahLst/>
            <a:cxnLst/>
            <a:rect l="l" t="t" r="r" b="b"/>
            <a:pathLst>
              <a:path w="7022465" h="527685">
                <a:moveTo>
                  <a:pt x="7021848" y="0"/>
                </a:moveTo>
                <a:lnTo>
                  <a:pt x="0" y="0"/>
                </a:lnTo>
                <a:lnTo>
                  <a:pt x="0" y="527332"/>
                </a:lnTo>
                <a:lnTo>
                  <a:pt x="16885" y="527332"/>
                </a:lnTo>
                <a:lnTo>
                  <a:pt x="16885" y="16885"/>
                </a:lnTo>
                <a:lnTo>
                  <a:pt x="7793" y="16885"/>
                </a:lnTo>
                <a:lnTo>
                  <a:pt x="16885" y="7793"/>
                </a:lnTo>
                <a:lnTo>
                  <a:pt x="7021848" y="7793"/>
                </a:lnTo>
                <a:lnTo>
                  <a:pt x="7021848" y="0"/>
                </a:lnTo>
                <a:close/>
              </a:path>
              <a:path w="7022465" h="527685">
                <a:moveTo>
                  <a:pt x="16885" y="7793"/>
                </a:moveTo>
                <a:lnTo>
                  <a:pt x="7793" y="16885"/>
                </a:lnTo>
                <a:lnTo>
                  <a:pt x="16885" y="16885"/>
                </a:lnTo>
                <a:lnTo>
                  <a:pt x="16885" y="7793"/>
                </a:lnTo>
                <a:close/>
              </a:path>
              <a:path w="7022465" h="527685">
                <a:moveTo>
                  <a:pt x="7021848" y="7793"/>
                </a:moveTo>
                <a:lnTo>
                  <a:pt x="16885" y="7793"/>
                </a:lnTo>
                <a:lnTo>
                  <a:pt x="16885" y="16885"/>
                </a:lnTo>
                <a:lnTo>
                  <a:pt x="7021848" y="16885"/>
                </a:lnTo>
                <a:lnTo>
                  <a:pt x="7021848" y="7793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5473" y="510930"/>
            <a:ext cx="7022465" cy="527685"/>
          </a:xfrm>
          <a:custGeom>
            <a:avLst/>
            <a:gdLst/>
            <a:ahLst/>
            <a:cxnLst/>
            <a:rect l="l" t="t" r="r" b="b"/>
            <a:pathLst>
              <a:path w="7022465" h="527685">
                <a:moveTo>
                  <a:pt x="7021848" y="0"/>
                </a:moveTo>
                <a:lnTo>
                  <a:pt x="0" y="0"/>
                </a:lnTo>
                <a:lnTo>
                  <a:pt x="0" y="527332"/>
                </a:lnTo>
                <a:lnTo>
                  <a:pt x="16885" y="527332"/>
                </a:lnTo>
                <a:lnTo>
                  <a:pt x="16885" y="16885"/>
                </a:lnTo>
                <a:lnTo>
                  <a:pt x="7793" y="16885"/>
                </a:lnTo>
                <a:lnTo>
                  <a:pt x="16885" y="7793"/>
                </a:lnTo>
                <a:lnTo>
                  <a:pt x="7021848" y="7793"/>
                </a:lnTo>
                <a:lnTo>
                  <a:pt x="7021848" y="0"/>
                </a:lnTo>
                <a:close/>
              </a:path>
              <a:path w="7022465" h="527685">
                <a:moveTo>
                  <a:pt x="16885" y="7793"/>
                </a:moveTo>
                <a:lnTo>
                  <a:pt x="7793" y="16885"/>
                </a:lnTo>
                <a:lnTo>
                  <a:pt x="16885" y="16885"/>
                </a:lnTo>
                <a:lnTo>
                  <a:pt x="16885" y="7793"/>
                </a:lnTo>
                <a:close/>
              </a:path>
              <a:path w="7022465" h="527685">
                <a:moveTo>
                  <a:pt x="7021848" y="7793"/>
                </a:moveTo>
                <a:lnTo>
                  <a:pt x="16885" y="7793"/>
                </a:lnTo>
                <a:lnTo>
                  <a:pt x="16885" y="16885"/>
                </a:lnTo>
                <a:lnTo>
                  <a:pt x="7021848" y="16885"/>
                </a:lnTo>
                <a:lnTo>
                  <a:pt x="7021848" y="7793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12306"/>
            <a:ext cx="9118600" cy="320675"/>
          </a:xfrm>
          <a:custGeom>
            <a:avLst/>
            <a:gdLst/>
            <a:ahLst/>
            <a:cxnLst/>
            <a:rect l="l" t="t" r="r" b="b"/>
            <a:pathLst>
              <a:path w="9118600" h="320675">
                <a:moveTo>
                  <a:pt x="0" y="320294"/>
                </a:moveTo>
                <a:lnTo>
                  <a:pt x="9118600" y="320294"/>
                </a:lnTo>
                <a:lnTo>
                  <a:pt x="9118600" y="0"/>
                </a:lnTo>
                <a:lnTo>
                  <a:pt x="0" y="0"/>
                </a:lnTo>
                <a:lnTo>
                  <a:pt x="0" y="32029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76275"/>
            <a:ext cx="9118600" cy="79247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18600" cy="22885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15316" cy="1145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3862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0324" y="6017704"/>
            <a:ext cx="2917952" cy="323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5930" y="6017704"/>
            <a:ext cx="2097278" cy="323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54321" y="6556071"/>
            <a:ext cx="270510" cy="18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21" Type="http://schemas.openxmlformats.org/officeDocument/2006/relationships/image" Target="../media/image42.png"/><Relationship Id="rId34" Type="http://schemas.openxmlformats.org/officeDocument/2006/relationships/image" Target="../media/image55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33" Type="http://schemas.openxmlformats.org/officeDocument/2006/relationships/image" Target="../media/image54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32" Type="http://schemas.openxmlformats.org/officeDocument/2006/relationships/image" Target="../media/image53.png"/><Relationship Id="rId37" Type="http://schemas.openxmlformats.org/officeDocument/2006/relationships/image" Target="../media/image58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28" Type="http://schemas.openxmlformats.org/officeDocument/2006/relationships/image" Target="../media/image49.png"/><Relationship Id="rId36" Type="http://schemas.openxmlformats.org/officeDocument/2006/relationships/image" Target="../media/image57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31" Type="http://schemas.openxmlformats.org/officeDocument/2006/relationships/image" Target="../media/image52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Relationship Id="rId30" Type="http://schemas.openxmlformats.org/officeDocument/2006/relationships/image" Target="../media/image51.png"/><Relationship Id="rId35" Type="http://schemas.openxmlformats.org/officeDocument/2006/relationships/image" Target="../media/image56.png"/><Relationship Id="rId8" Type="http://schemas.openxmlformats.org/officeDocument/2006/relationships/image" Target="../media/image29.png"/><Relationship Id="rId3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3" Type="http://schemas.openxmlformats.org/officeDocument/2006/relationships/image" Target="../media/image71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image" Target="../media/image70.png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7030A0"/>
                </a:solidFill>
              </a:rPr>
              <a:t>II.</a:t>
            </a:r>
            <a:r>
              <a:rPr sz="3200" spc="-45" dirty="0"/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loại</a:t>
            </a:r>
            <a:r>
              <a:rPr sz="3200" spc="-40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đồ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thị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801" y="930744"/>
            <a:ext cx="7663180" cy="1926589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Đơn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đồ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thị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vô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huớng</a:t>
            </a:r>
            <a:endParaRPr sz="28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440"/>
              </a:spcBef>
            </a:pPr>
            <a:r>
              <a:rPr sz="2000" dirty="0">
                <a:latin typeface="Arial"/>
                <a:cs typeface="Arial"/>
              </a:rPr>
              <a:t>Đồ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G=(V,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đơn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vô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hướng:</a:t>
            </a:r>
            <a:endParaRPr sz="20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V: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đỉnh</a:t>
            </a:r>
            <a:endParaRPr sz="200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E: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tập</a:t>
            </a:r>
            <a:r>
              <a:rPr sz="20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cặp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không</a:t>
            </a:r>
            <a:r>
              <a:rPr sz="20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có</a:t>
            </a:r>
            <a:r>
              <a:rPr sz="20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thứ</a:t>
            </a:r>
            <a:r>
              <a:rPr sz="2000" u="heavy" spc="-4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tự</a:t>
            </a:r>
            <a:r>
              <a:rPr sz="20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gồm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phần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tử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khác</a:t>
            </a:r>
            <a:r>
              <a:rPr sz="20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spc="-2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nhau</a:t>
            </a:r>
            <a:r>
              <a:rPr sz="20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V.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425" y="3035299"/>
            <a:ext cx="4105274" cy="2666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5002" y="5805422"/>
            <a:ext cx="49606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V={1,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1D528E"/>
                </a:solidFill>
                <a:latin typeface="Arial"/>
                <a:cs typeface="Arial"/>
              </a:rPr>
              <a:t>5}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E={(1,</a:t>
            </a:r>
            <a:r>
              <a:rPr sz="18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(1,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(1,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(2,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(4,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5)}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7030A0"/>
                </a:solidFill>
              </a:rPr>
              <a:t>II.</a:t>
            </a:r>
            <a:r>
              <a:rPr sz="3200" spc="-45" dirty="0">
                <a:solidFill>
                  <a:srgbClr val="7030A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loại</a:t>
            </a:r>
            <a:r>
              <a:rPr sz="3200" spc="-40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đồ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thị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801" y="930744"/>
            <a:ext cx="7756525" cy="259715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Đa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đồ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thị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vô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huớng</a:t>
            </a:r>
            <a:endParaRPr sz="28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440"/>
              </a:spcBef>
            </a:pPr>
            <a:r>
              <a:rPr sz="2000" dirty="0">
                <a:latin typeface="Arial"/>
                <a:cs typeface="Arial"/>
              </a:rPr>
              <a:t>Đồ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G=(V,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vô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hướng:</a:t>
            </a:r>
            <a:endParaRPr sz="2000">
              <a:latin typeface="Arial"/>
              <a:cs typeface="Arial"/>
            </a:endParaRPr>
          </a:p>
          <a:p>
            <a:pPr marL="755015" lvl="1" indent="-285750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V: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đỉnh</a:t>
            </a:r>
            <a:endParaRPr sz="2000">
              <a:latin typeface="Arial"/>
              <a:cs typeface="Arial"/>
            </a:endParaRPr>
          </a:p>
          <a:p>
            <a:pPr marL="755650" marR="83820" lvl="1" indent="-286385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E: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họ</a:t>
            </a:r>
            <a:r>
              <a:rPr sz="20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cặp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không</a:t>
            </a:r>
            <a:r>
              <a:rPr sz="20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có</a:t>
            </a:r>
            <a:r>
              <a:rPr sz="20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thứ</a:t>
            </a:r>
            <a:r>
              <a:rPr sz="2000" u="heavy" spc="-4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tự</a:t>
            </a:r>
            <a:r>
              <a:rPr sz="20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gồm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phần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tử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khác</a:t>
            </a:r>
            <a:r>
              <a:rPr sz="20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spc="-2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nhau</a:t>
            </a:r>
            <a:r>
              <a:rPr sz="20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V.</a:t>
            </a:r>
            <a:endParaRPr sz="2000">
              <a:latin typeface="Arial"/>
              <a:cs typeface="Arial"/>
            </a:endParaRPr>
          </a:p>
          <a:p>
            <a:pPr marL="755650" marR="5080" indent="-75565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latin typeface="Arial"/>
                <a:cs typeface="Arial"/>
              </a:rPr>
              <a:t>Hai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cạnh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e1,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e2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cạnh</a:t>
            </a:r>
            <a:r>
              <a:rPr sz="2000" u="heavy" spc="-4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lặp</a:t>
            </a:r>
            <a:r>
              <a:rPr sz="20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nếu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chúng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cùng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tương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ứng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với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cặp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đỉnh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202" y="5805422"/>
            <a:ext cx="7666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V={1,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1D528E"/>
                </a:solidFill>
                <a:latin typeface="Arial"/>
                <a:cs typeface="Arial"/>
              </a:rPr>
              <a:t>5}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E={(1,</a:t>
            </a:r>
            <a:r>
              <a:rPr sz="18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(1,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(1,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(2,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(4,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(1,</a:t>
            </a:r>
            <a:r>
              <a:rPr sz="1800" b="1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2),</a:t>
            </a:r>
            <a:r>
              <a:rPr sz="1800" b="1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(2,</a:t>
            </a:r>
            <a:r>
              <a:rPr sz="1800" b="1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1),</a:t>
            </a:r>
            <a:r>
              <a:rPr sz="1800" b="1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(5,</a:t>
            </a:r>
            <a:r>
              <a:rPr sz="1800" b="1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2),</a:t>
            </a:r>
            <a:r>
              <a:rPr sz="1800" b="1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(3,</a:t>
            </a:r>
            <a:r>
              <a:rPr sz="1800" b="1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5)</a:t>
            </a:r>
            <a:r>
              <a:rPr sz="1800" b="1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8217" y="3492499"/>
            <a:ext cx="4304926" cy="2286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II.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loại</a:t>
            </a:r>
            <a:r>
              <a:rPr sz="3200" spc="-40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đồ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thị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801" y="930744"/>
            <a:ext cx="7761605" cy="229235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Giả</a:t>
            </a:r>
            <a:r>
              <a:rPr sz="2800" spc="-2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đồ</a:t>
            </a:r>
            <a:r>
              <a:rPr sz="2800" spc="-3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thị</a:t>
            </a:r>
            <a:r>
              <a:rPr sz="2800" spc="-3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vô</a:t>
            </a:r>
            <a:r>
              <a:rPr sz="2800" spc="-2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6C0000"/>
                </a:solidFill>
                <a:latin typeface="Verdana"/>
                <a:cs typeface="Verdana"/>
              </a:rPr>
              <a:t>huớng</a:t>
            </a:r>
            <a:endParaRPr sz="2800">
              <a:solidFill>
                <a:srgbClr val="6C0000"/>
              </a:solidFill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440"/>
              </a:spcBef>
            </a:pPr>
            <a:r>
              <a:rPr sz="2000" dirty="0">
                <a:latin typeface="Arial"/>
                <a:cs typeface="Arial"/>
              </a:rPr>
              <a:t>Đồ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G=(V,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E)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giả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vô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hướng:</a:t>
            </a:r>
            <a:endParaRPr sz="2000">
              <a:latin typeface="Arial"/>
              <a:cs typeface="Arial"/>
            </a:endParaRPr>
          </a:p>
          <a:p>
            <a:pPr marL="755015" lvl="1" indent="-285750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V: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đỉnh</a:t>
            </a:r>
            <a:endParaRPr sz="2000">
              <a:latin typeface="Arial"/>
              <a:cs typeface="Arial"/>
            </a:endParaRPr>
          </a:p>
          <a:p>
            <a:pPr marL="755650" marR="5080" lvl="1" indent="-287020">
              <a:lnSpc>
                <a:spcPct val="100000"/>
              </a:lnSpc>
              <a:spcBef>
                <a:spcPts val="470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E: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họ</a:t>
            </a:r>
            <a:r>
              <a:rPr sz="200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cặp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không</a:t>
            </a:r>
            <a:r>
              <a:rPr sz="20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có</a:t>
            </a:r>
            <a:r>
              <a:rPr sz="20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thứ</a:t>
            </a:r>
            <a:r>
              <a:rPr sz="2000" u="heavy" spc="-4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tự</a:t>
            </a:r>
            <a:r>
              <a:rPr sz="20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gồm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phần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tử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không</a:t>
            </a:r>
            <a:r>
              <a:rPr sz="20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spc="-2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nhất</a:t>
            </a:r>
            <a:r>
              <a:rPr sz="20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thiết</a:t>
            </a:r>
            <a:r>
              <a:rPr sz="2000" u="heavy" spc="-5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khác</a:t>
            </a:r>
            <a:r>
              <a:rPr sz="2000" u="heavy" spc="-5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nhau</a:t>
            </a:r>
            <a:r>
              <a:rPr sz="20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V.</a:t>
            </a:r>
            <a:endParaRPr sz="2000">
              <a:latin typeface="Arial"/>
              <a:cs typeface="Arial"/>
            </a:endParaRPr>
          </a:p>
          <a:p>
            <a:pPr marL="68072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Cạnh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khuyên</a:t>
            </a:r>
            <a:r>
              <a:rPr sz="20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nếu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nó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dạng: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e=(u,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u)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4412" y="3416299"/>
            <a:ext cx="4876431" cy="24384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402" y="5856699"/>
            <a:ext cx="8037830" cy="497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V={1,</a:t>
            </a:r>
            <a:r>
              <a:rPr sz="16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2,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16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4,</a:t>
            </a:r>
            <a:r>
              <a:rPr sz="16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1D528E"/>
                </a:solidFill>
                <a:latin typeface="Arial"/>
                <a:cs typeface="Arial"/>
              </a:rPr>
              <a:t>5}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E={(1,</a:t>
            </a:r>
            <a:r>
              <a:rPr sz="16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2),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(1,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3),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(1,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(2,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4),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(4,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(1,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2),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(2,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1),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(5,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2),</a:t>
            </a:r>
            <a:r>
              <a:rPr sz="16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6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528E"/>
                </a:solidFill>
                <a:latin typeface="Arial"/>
                <a:cs typeface="Arial"/>
              </a:rPr>
              <a:t>5),</a:t>
            </a:r>
            <a:r>
              <a:rPr sz="1600" spc="-4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3300"/>
                </a:solidFill>
                <a:latin typeface="Arial"/>
                <a:cs typeface="Arial"/>
              </a:rPr>
              <a:t>(2,</a:t>
            </a:r>
            <a:r>
              <a:rPr sz="1600" b="1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3300"/>
                </a:solidFill>
                <a:latin typeface="Arial"/>
                <a:cs typeface="Arial"/>
              </a:rPr>
              <a:t>2),</a:t>
            </a:r>
            <a:r>
              <a:rPr sz="1600" b="1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3300"/>
                </a:solidFill>
                <a:latin typeface="Arial"/>
                <a:cs typeface="Arial"/>
              </a:rPr>
              <a:t>(3,</a:t>
            </a:r>
            <a:r>
              <a:rPr sz="1600" b="1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3300"/>
                </a:solidFill>
                <a:latin typeface="Arial"/>
                <a:cs typeface="Arial"/>
              </a:rPr>
              <a:t>3)</a:t>
            </a:r>
            <a:r>
              <a:rPr sz="1600" b="1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9721" y="6556071"/>
            <a:ext cx="207010" cy="180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5" dirty="0">
                <a:solidFill>
                  <a:srgbClr val="1D528E"/>
                </a:solidFill>
                <a:latin typeface="Verdana"/>
                <a:cs typeface="Verdana"/>
              </a:rPr>
              <a:t>11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7030A0"/>
                </a:solidFill>
              </a:rPr>
              <a:t>II.</a:t>
            </a:r>
            <a:r>
              <a:rPr sz="3200" spc="-45" dirty="0"/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loại</a:t>
            </a:r>
            <a:r>
              <a:rPr sz="3200" spc="-40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đồ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thị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801" y="930744"/>
            <a:ext cx="7774305" cy="1926589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Đơn</a:t>
            </a:r>
            <a:r>
              <a:rPr sz="2800" spc="-3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đồ</a:t>
            </a:r>
            <a:r>
              <a:rPr sz="2800" spc="-3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thị</a:t>
            </a:r>
            <a:r>
              <a:rPr sz="2800" spc="-4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có</a:t>
            </a:r>
            <a:r>
              <a:rPr sz="2800" spc="-3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6C0000"/>
                </a:solidFill>
                <a:latin typeface="Verdana"/>
                <a:cs typeface="Verdana"/>
              </a:rPr>
              <a:t>hướng</a:t>
            </a:r>
            <a:endParaRPr sz="2800">
              <a:solidFill>
                <a:srgbClr val="6C0000"/>
              </a:solidFill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440"/>
              </a:spcBef>
            </a:pPr>
            <a:r>
              <a:rPr sz="2000" dirty="0">
                <a:latin typeface="Arial"/>
                <a:cs typeface="Arial"/>
              </a:rPr>
              <a:t>Đồ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G=(V,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đơn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hướng:</a:t>
            </a:r>
            <a:endParaRPr sz="2000">
              <a:latin typeface="Arial"/>
              <a:cs typeface="Arial"/>
            </a:endParaRPr>
          </a:p>
          <a:p>
            <a:pPr marL="755015" lvl="1" indent="-285750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V: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đỉnh</a:t>
            </a:r>
            <a:endParaRPr sz="2000">
              <a:latin typeface="Arial"/>
              <a:cs typeface="Arial"/>
            </a:endParaRPr>
          </a:p>
          <a:p>
            <a:pPr marL="755015" marR="5080" lvl="1" indent="-286385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E: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tập</a:t>
            </a:r>
            <a:r>
              <a:rPr sz="20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cặp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có</a:t>
            </a:r>
            <a:r>
              <a:rPr sz="2000" u="heavy" spc="-4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thứ</a:t>
            </a:r>
            <a:r>
              <a:rPr sz="2000" u="heavy" spc="-4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tự</a:t>
            </a:r>
            <a:r>
              <a:rPr sz="20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gồm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phần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tử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khác</a:t>
            </a:r>
            <a:r>
              <a:rPr sz="20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nhau</a:t>
            </a:r>
            <a:r>
              <a:rPr sz="20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V. </a:t>
            </a:r>
            <a:r>
              <a:rPr sz="2000" dirty="0">
                <a:latin typeface="Arial"/>
                <a:cs typeface="Arial"/>
              </a:rPr>
              <a:t>(tập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spc="-2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cung</a:t>
            </a:r>
            <a:r>
              <a:rPr sz="2000" spc="-2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5402" y="5806946"/>
            <a:ext cx="7926704" cy="566822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V={1,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1D528E"/>
                </a:solidFill>
                <a:latin typeface="Arial"/>
                <a:cs typeface="Arial"/>
              </a:rPr>
              <a:t>5}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E={(2,</a:t>
            </a:r>
            <a:r>
              <a:rPr sz="18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1),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(1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1800" spc="-15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lang="en-US" spc="-15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),</a:t>
            </a:r>
            <a:r>
              <a:rPr sz="1800" spc="-15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(5,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),</a:t>
            </a:r>
            <a:r>
              <a:rPr sz="1800" spc="-15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lang="en-US" sz="1800">
                <a:solidFill>
                  <a:srgbClr val="1D528E"/>
                </a:solidFill>
                <a:latin typeface="Arial"/>
                <a:cs typeface="Arial"/>
              </a:rPr>
              <a:t>5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1800" spc="-15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),</a:t>
            </a:r>
            <a:r>
              <a:rPr sz="1800" spc="-1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lang="en-US" sz="180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1800" spc="-1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lang="en-US" spc="-1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),</a:t>
            </a:r>
            <a:r>
              <a:rPr lang="en-US" sz="180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800" spc="-1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),</a:t>
            </a:r>
            <a:r>
              <a:rPr sz="1800" spc="-1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(5,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4)}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3475" y="3416299"/>
            <a:ext cx="4695825" cy="2362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9721" y="6556071"/>
            <a:ext cx="207010" cy="180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5" dirty="0">
                <a:solidFill>
                  <a:srgbClr val="1D528E"/>
                </a:solidFill>
                <a:latin typeface="Verdana"/>
                <a:cs typeface="Verdana"/>
              </a:rPr>
              <a:t>12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II.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loại</a:t>
            </a:r>
            <a:r>
              <a:rPr sz="3200" spc="-40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đồ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thị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801" y="930744"/>
            <a:ext cx="7705090" cy="259715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Đa</a:t>
            </a:r>
            <a:r>
              <a:rPr sz="2800" spc="-3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đồ</a:t>
            </a:r>
            <a:r>
              <a:rPr sz="2800" spc="-3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thị</a:t>
            </a:r>
            <a:r>
              <a:rPr sz="2800" spc="-3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có</a:t>
            </a:r>
            <a:r>
              <a:rPr sz="2800" spc="-3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6C0000"/>
                </a:solidFill>
                <a:latin typeface="Verdana"/>
                <a:cs typeface="Verdana"/>
              </a:rPr>
              <a:t>hướng</a:t>
            </a:r>
            <a:endParaRPr sz="2800">
              <a:solidFill>
                <a:srgbClr val="6C0000"/>
              </a:solidFill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440"/>
              </a:spcBef>
            </a:pPr>
            <a:r>
              <a:rPr sz="2000" dirty="0">
                <a:latin typeface="Arial"/>
                <a:cs typeface="Arial"/>
              </a:rPr>
              <a:t>Đồ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G=(V,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đơn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hướng:</a:t>
            </a:r>
            <a:endParaRPr sz="2000">
              <a:latin typeface="Arial"/>
              <a:cs typeface="Arial"/>
            </a:endParaRPr>
          </a:p>
          <a:p>
            <a:pPr marL="755015" lvl="1" indent="-285750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V: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đỉnh</a:t>
            </a:r>
            <a:endParaRPr sz="2000">
              <a:latin typeface="Arial"/>
              <a:cs typeface="Arial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E: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họ</a:t>
            </a:r>
            <a:r>
              <a:rPr sz="200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cặp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có</a:t>
            </a:r>
            <a:r>
              <a:rPr sz="20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thứ</a:t>
            </a:r>
            <a:r>
              <a:rPr sz="2000" u="heavy" spc="-4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tự</a:t>
            </a:r>
            <a:r>
              <a:rPr sz="20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gồm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phần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tử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khác</a:t>
            </a:r>
            <a:r>
              <a:rPr sz="20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nhau</a:t>
            </a:r>
            <a:r>
              <a:rPr sz="20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V. </a:t>
            </a:r>
            <a:r>
              <a:rPr sz="2000" dirty="0">
                <a:latin typeface="Arial"/>
                <a:cs typeface="Arial"/>
              </a:rPr>
              <a:t>(tập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u="heavy" spc="-2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cung</a:t>
            </a:r>
            <a:r>
              <a:rPr sz="2000" spc="-2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751205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latin typeface="Arial"/>
                <a:cs typeface="Arial"/>
              </a:rPr>
              <a:t>Hai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cung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e1,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e2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gọi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cung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lặp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nếu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chúng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cùng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tương</a:t>
            </a:r>
            <a:endParaRPr sz="2000">
              <a:latin typeface="Arial"/>
              <a:cs typeface="Arial"/>
            </a:endParaRPr>
          </a:p>
          <a:p>
            <a:pPr marL="75565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ứng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cặp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đỉnh.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5402" y="5806946"/>
            <a:ext cx="6815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V={1,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1800" spc="-5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35">
                <a:solidFill>
                  <a:srgbClr val="1D528E"/>
                </a:solidFill>
                <a:latin typeface="Arial"/>
                <a:cs typeface="Arial"/>
              </a:rPr>
              <a:t>5</a:t>
            </a:r>
            <a:r>
              <a:rPr lang="en-US" sz="1800" spc="-35">
                <a:solidFill>
                  <a:srgbClr val="1D528E"/>
                </a:solidFill>
                <a:latin typeface="Arial"/>
                <a:cs typeface="Arial"/>
              </a:rPr>
              <a:t>, 6</a:t>
            </a:r>
            <a:r>
              <a:rPr sz="1800" spc="-35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E={(2,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1),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(1,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(6,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(3,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(6,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(4,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6),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(5,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(5,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6),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3300"/>
                </a:solidFill>
                <a:latin typeface="Arial"/>
                <a:cs typeface="Arial"/>
              </a:rPr>
              <a:t>(3,1),</a:t>
            </a:r>
            <a:r>
              <a:rPr sz="1800" b="1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3300"/>
                </a:solidFill>
                <a:latin typeface="Arial"/>
                <a:cs typeface="Arial"/>
              </a:rPr>
              <a:t>(6,2)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5400" y="3721099"/>
            <a:ext cx="4781550" cy="22288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13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7030A0"/>
                </a:solidFill>
              </a:rPr>
              <a:t>II.</a:t>
            </a:r>
            <a:r>
              <a:rPr sz="3200" spc="-45" dirty="0"/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loại</a:t>
            </a:r>
            <a:r>
              <a:rPr sz="3200" spc="-40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đồ</a:t>
            </a:r>
            <a:r>
              <a:rPr sz="3200" spc="-4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thị</a:t>
            </a:r>
            <a:endParaRPr sz="3200">
              <a:solidFill>
                <a:srgbClr val="6C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9737" y="990663"/>
            <a:ext cx="2545080" cy="5116195"/>
            <a:chOff x="439737" y="990663"/>
            <a:chExt cx="2545080" cy="5116195"/>
          </a:xfrm>
        </p:grpSpPr>
        <p:sp>
          <p:nvSpPr>
            <p:cNvPr id="4" name="object 4"/>
            <p:cNvSpPr/>
            <p:nvPr/>
          </p:nvSpPr>
          <p:spPr>
            <a:xfrm>
              <a:off x="1392427" y="1458721"/>
              <a:ext cx="1578610" cy="4634230"/>
            </a:xfrm>
            <a:custGeom>
              <a:avLst/>
              <a:gdLst/>
              <a:ahLst/>
              <a:cxnLst/>
              <a:rect l="l" t="t" r="r" b="b"/>
              <a:pathLst>
                <a:path w="1578610" h="4634230">
                  <a:moveTo>
                    <a:pt x="1578102" y="4633722"/>
                  </a:moveTo>
                  <a:lnTo>
                    <a:pt x="1261872" y="4633722"/>
                  </a:lnTo>
                  <a:lnTo>
                    <a:pt x="1261872" y="3475482"/>
                  </a:lnTo>
                </a:path>
                <a:path w="1578610" h="4634230">
                  <a:moveTo>
                    <a:pt x="1578102" y="3938778"/>
                  </a:moveTo>
                  <a:lnTo>
                    <a:pt x="1261872" y="3938778"/>
                  </a:lnTo>
                  <a:lnTo>
                    <a:pt x="1261872" y="3475482"/>
                  </a:lnTo>
                </a:path>
                <a:path w="1578610" h="4634230">
                  <a:moveTo>
                    <a:pt x="1578102" y="2548128"/>
                  </a:moveTo>
                  <a:lnTo>
                    <a:pt x="1261872" y="2548128"/>
                  </a:lnTo>
                  <a:lnTo>
                    <a:pt x="1261872" y="695706"/>
                  </a:lnTo>
                </a:path>
                <a:path w="1578610" h="4634230">
                  <a:moveTo>
                    <a:pt x="1578102" y="1854708"/>
                  </a:moveTo>
                  <a:lnTo>
                    <a:pt x="1261872" y="1854708"/>
                  </a:lnTo>
                  <a:lnTo>
                    <a:pt x="1261872" y="695706"/>
                  </a:lnTo>
                </a:path>
                <a:path w="1578610" h="4634230">
                  <a:moveTo>
                    <a:pt x="1578102" y="1159002"/>
                  </a:moveTo>
                  <a:lnTo>
                    <a:pt x="1261872" y="1159002"/>
                  </a:lnTo>
                  <a:lnTo>
                    <a:pt x="1261872" y="695706"/>
                  </a:lnTo>
                </a:path>
                <a:path w="1578610" h="4634230">
                  <a:moveTo>
                    <a:pt x="313944" y="3243072"/>
                  </a:moveTo>
                  <a:lnTo>
                    <a:pt x="0" y="3243072"/>
                  </a:lnTo>
                  <a:lnTo>
                    <a:pt x="0" y="0"/>
                  </a:lnTo>
                </a:path>
                <a:path w="1578610" h="4634230">
                  <a:moveTo>
                    <a:pt x="313944" y="464058"/>
                  </a:moveTo>
                  <a:lnTo>
                    <a:pt x="0" y="464058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4500" y="995425"/>
              <a:ext cx="1893570" cy="463550"/>
            </a:xfrm>
            <a:custGeom>
              <a:avLst/>
              <a:gdLst/>
              <a:ahLst/>
              <a:cxnLst/>
              <a:rect l="l" t="t" r="r" b="b"/>
              <a:pathLst>
                <a:path w="1893570" h="463550">
                  <a:moveTo>
                    <a:pt x="1893570" y="386333"/>
                  </a:moveTo>
                  <a:lnTo>
                    <a:pt x="1893570" y="76961"/>
                  </a:lnTo>
                  <a:lnTo>
                    <a:pt x="1887545" y="46934"/>
                  </a:lnTo>
                  <a:lnTo>
                    <a:pt x="1871090" y="22478"/>
                  </a:lnTo>
                  <a:lnTo>
                    <a:pt x="1846635" y="6024"/>
                  </a:lnTo>
                  <a:lnTo>
                    <a:pt x="1816608" y="0"/>
                  </a:lnTo>
                  <a:lnTo>
                    <a:pt x="76962" y="0"/>
                  </a:lnTo>
                  <a:lnTo>
                    <a:pt x="46934" y="6024"/>
                  </a:lnTo>
                  <a:lnTo>
                    <a:pt x="22479" y="22479"/>
                  </a:lnTo>
                  <a:lnTo>
                    <a:pt x="6024" y="46934"/>
                  </a:lnTo>
                  <a:lnTo>
                    <a:pt x="0" y="76962"/>
                  </a:lnTo>
                  <a:lnTo>
                    <a:pt x="0" y="386334"/>
                  </a:lnTo>
                  <a:lnTo>
                    <a:pt x="6024" y="416361"/>
                  </a:lnTo>
                  <a:lnTo>
                    <a:pt x="22479" y="440816"/>
                  </a:lnTo>
                  <a:lnTo>
                    <a:pt x="46934" y="457271"/>
                  </a:lnTo>
                  <a:lnTo>
                    <a:pt x="76962" y="463295"/>
                  </a:lnTo>
                  <a:lnTo>
                    <a:pt x="1816608" y="463295"/>
                  </a:lnTo>
                  <a:lnTo>
                    <a:pt x="1846635" y="457271"/>
                  </a:lnTo>
                  <a:lnTo>
                    <a:pt x="1871090" y="440816"/>
                  </a:lnTo>
                  <a:lnTo>
                    <a:pt x="1887545" y="416361"/>
                  </a:lnTo>
                  <a:lnTo>
                    <a:pt x="1893570" y="386333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4500" y="995425"/>
              <a:ext cx="1893570" cy="463550"/>
            </a:xfrm>
            <a:custGeom>
              <a:avLst/>
              <a:gdLst/>
              <a:ahLst/>
              <a:cxnLst/>
              <a:rect l="l" t="t" r="r" b="b"/>
              <a:pathLst>
                <a:path w="1893570" h="463550">
                  <a:moveTo>
                    <a:pt x="76962" y="0"/>
                  </a:moveTo>
                  <a:lnTo>
                    <a:pt x="46934" y="6024"/>
                  </a:lnTo>
                  <a:lnTo>
                    <a:pt x="22479" y="22479"/>
                  </a:lnTo>
                  <a:lnTo>
                    <a:pt x="6024" y="46934"/>
                  </a:lnTo>
                  <a:lnTo>
                    <a:pt x="0" y="76962"/>
                  </a:lnTo>
                  <a:lnTo>
                    <a:pt x="0" y="386334"/>
                  </a:lnTo>
                  <a:lnTo>
                    <a:pt x="6024" y="416361"/>
                  </a:lnTo>
                  <a:lnTo>
                    <a:pt x="22479" y="440816"/>
                  </a:lnTo>
                  <a:lnTo>
                    <a:pt x="46934" y="457271"/>
                  </a:lnTo>
                  <a:lnTo>
                    <a:pt x="76962" y="463295"/>
                  </a:lnTo>
                  <a:lnTo>
                    <a:pt x="1816608" y="463295"/>
                  </a:lnTo>
                  <a:lnTo>
                    <a:pt x="1846635" y="457271"/>
                  </a:lnTo>
                  <a:lnTo>
                    <a:pt x="1871090" y="440816"/>
                  </a:lnTo>
                  <a:lnTo>
                    <a:pt x="1887545" y="416361"/>
                  </a:lnTo>
                  <a:lnTo>
                    <a:pt x="1893570" y="386333"/>
                  </a:lnTo>
                  <a:lnTo>
                    <a:pt x="1893570" y="76961"/>
                  </a:lnTo>
                  <a:lnTo>
                    <a:pt x="1887545" y="46934"/>
                  </a:lnTo>
                  <a:lnTo>
                    <a:pt x="1871090" y="22478"/>
                  </a:lnTo>
                  <a:lnTo>
                    <a:pt x="1846635" y="6024"/>
                  </a:lnTo>
                  <a:lnTo>
                    <a:pt x="1816608" y="0"/>
                  </a:lnTo>
                  <a:lnTo>
                    <a:pt x="76962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29030" y="1095502"/>
            <a:ext cx="5232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500" spc="-25" dirty="0">
                <a:solidFill>
                  <a:srgbClr val="1D528E"/>
                </a:solidFill>
                <a:latin typeface="Arial"/>
                <a:cs typeface="Arial"/>
              </a:rPr>
              <a:t> thị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01609" y="1685607"/>
            <a:ext cx="1905635" cy="473709"/>
            <a:chOff x="1701609" y="1685607"/>
            <a:chExt cx="1905635" cy="473709"/>
          </a:xfrm>
        </p:grpSpPr>
        <p:sp>
          <p:nvSpPr>
            <p:cNvPr id="9" name="object 9"/>
            <p:cNvSpPr/>
            <p:nvPr/>
          </p:nvSpPr>
          <p:spPr>
            <a:xfrm>
              <a:off x="1706372" y="1690370"/>
              <a:ext cx="1896110" cy="464184"/>
            </a:xfrm>
            <a:custGeom>
              <a:avLst/>
              <a:gdLst/>
              <a:ahLst/>
              <a:cxnLst/>
              <a:rect l="l" t="t" r="r" b="b"/>
              <a:pathLst>
                <a:path w="1896110" h="464185">
                  <a:moveTo>
                    <a:pt x="1895856" y="386333"/>
                  </a:moveTo>
                  <a:lnTo>
                    <a:pt x="1895856" y="77723"/>
                  </a:lnTo>
                  <a:lnTo>
                    <a:pt x="1889712" y="47577"/>
                  </a:lnTo>
                  <a:lnTo>
                    <a:pt x="1872996" y="22859"/>
                  </a:lnTo>
                  <a:lnTo>
                    <a:pt x="1848278" y="6143"/>
                  </a:lnTo>
                  <a:lnTo>
                    <a:pt x="1818132" y="0"/>
                  </a:lnTo>
                  <a:lnTo>
                    <a:pt x="77724" y="0"/>
                  </a:lnTo>
                  <a:lnTo>
                    <a:pt x="47577" y="6143"/>
                  </a:lnTo>
                  <a:lnTo>
                    <a:pt x="22860" y="22860"/>
                  </a:lnTo>
                  <a:lnTo>
                    <a:pt x="6143" y="47577"/>
                  </a:lnTo>
                  <a:lnTo>
                    <a:pt x="0" y="77724"/>
                  </a:lnTo>
                  <a:lnTo>
                    <a:pt x="0" y="386334"/>
                  </a:lnTo>
                  <a:lnTo>
                    <a:pt x="6143" y="416480"/>
                  </a:lnTo>
                  <a:lnTo>
                    <a:pt x="22860" y="441198"/>
                  </a:lnTo>
                  <a:lnTo>
                    <a:pt x="47577" y="457914"/>
                  </a:lnTo>
                  <a:lnTo>
                    <a:pt x="77724" y="464058"/>
                  </a:lnTo>
                  <a:lnTo>
                    <a:pt x="1818132" y="464057"/>
                  </a:lnTo>
                  <a:lnTo>
                    <a:pt x="1848278" y="457914"/>
                  </a:lnTo>
                  <a:lnTo>
                    <a:pt x="1872995" y="441197"/>
                  </a:lnTo>
                  <a:lnTo>
                    <a:pt x="1889712" y="416480"/>
                  </a:lnTo>
                  <a:lnTo>
                    <a:pt x="1895856" y="386333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06372" y="1690370"/>
              <a:ext cx="1896110" cy="464184"/>
            </a:xfrm>
            <a:custGeom>
              <a:avLst/>
              <a:gdLst/>
              <a:ahLst/>
              <a:cxnLst/>
              <a:rect l="l" t="t" r="r" b="b"/>
              <a:pathLst>
                <a:path w="1896110" h="464185">
                  <a:moveTo>
                    <a:pt x="77724" y="0"/>
                  </a:moveTo>
                  <a:lnTo>
                    <a:pt x="47577" y="6143"/>
                  </a:lnTo>
                  <a:lnTo>
                    <a:pt x="22860" y="22860"/>
                  </a:lnTo>
                  <a:lnTo>
                    <a:pt x="6143" y="47577"/>
                  </a:lnTo>
                  <a:lnTo>
                    <a:pt x="0" y="77724"/>
                  </a:lnTo>
                  <a:lnTo>
                    <a:pt x="0" y="386334"/>
                  </a:lnTo>
                  <a:lnTo>
                    <a:pt x="6143" y="416480"/>
                  </a:lnTo>
                  <a:lnTo>
                    <a:pt x="22860" y="441198"/>
                  </a:lnTo>
                  <a:lnTo>
                    <a:pt x="47577" y="457914"/>
                  </a:lnTo>
                  <a:lnTo>
                    <a:pt x="77724" y="464058"/>
                  </a:lnTo>
                  <a:lnTo>
                    <a:pt x="1818132" y="464057"/>
                  </a:lnTo>
                  <a:lnTo>
                    <a:pt x="1848278" y="457914"/>
                  </a:lnTo>
                  <a:lnTo>
                    <a:pt x="1872995" y="441197"/>
                  </a:lnTo>
                  <a:lnTo>
                    <a:pt x="1889712" y="416480"/>
                  </a:lnTo>
                  <a:lnTo>
                    <a:pt x="1895856" y="386333"/>
                  </a:lnTo>
                  <a:lnTo>
                    <a:pt x="1895856" y="77723"/>
                  </a:lnTo>
                  <a:lnTo>
                    <a:pt x="1889712" y="47577"/>
                  </a:lnTo>
                  <a:lnTo>
                    <a:pt x="1872996" y="22859"/>
                  </a:lnTo>
                  <a:lnTo>
                    <a:pt x="1848278" y="6143"/>
                  </a:lnTo>
                  <a:lnTo>
                    <a:pt x="1818132" y="0"/>
                  </a:lnTo>
                  <a:lnTo>
                    <a:pt x="77724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52751" y="1791208"/>
            <a:ext cx="14027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A2529C"/>
                </a:solidFill>
                <a:latin typeface="Arial"/>
                <a:cs typeface="Arial"/>
              </a:rPr>
              <a:t>Đồ</a:t>
            </a:r>
            <a:r>
              <a:rPr sz="1500" spc="-20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A2529C"/>
                </a:solidFill>
                <a:latin typeface="Arial"/>
                <a:cs typeface="Arial"/>
              </a:rPr>
              <a:t>thị</a:t>
            </a:r>
            <a:r>
              <a:rPr sz="1500" spc="-15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A2529C"/>
                </a:solidFill>
                <a:latin typeface="Arial"/>
                <a:cs typeface="Arial"/>
              </a:rPr>
              <a:t>vô</a:t>
            </a:r>
            <a:r>
              <a:rPr sz="1500" spc="-15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A2529C"/>
                </a:solidFill>
                <a:latin typeface="Arial"/>
                <a:cs typeface="Arial"/>
              </a:rPr>
              <a:t>hướng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01609" y="4465383"/>
            <a:ext cx="1905635" cy="473709"/>
            <a:chOff x="1701609" y="4465383"/>
            <a:chExt cx="1905635" cy="473709"/>
          </a:xfrm>
        </p:grpSpPr>
        <p:sp>
          <p:nvSpPr>
            <p:cNvPr id="13" name="object 13"/>
            <p:cNvSpPr/>
            <p:nvPr/>
          </p:nvSpPr>
          <p:spPr>
            <a:xfrm>
              <a:off x="1706372" y="4470146"/>
              <a:ext cx="1896110" cy="464184"/>
            </a:xfrm>
            <a:custGeom>
              <a:avLst/>
              <a:gdLst/>
              <a:ahLst/>
              <a:cxnLst/>
              <a:rect l="l" t="t" r="r" b="b"/>
              <a:pathLst>
                <a:path w="1896110" h="464185">
                  <a:moveTo>
                    <a:pt x="1895856" y="386333"/>
                  </a:moveTo>
                  <a:lnTo>
                    <a:pt x="1895856" y="77723"/>
                  </a:lnTo>
                  <a:lnTo>
                    <a:pt x="1889712" y="47577"/>
                  </a:lnTo>
                  <a:lnTo>
                    <a:pt x="1872996" y="22859"/>
                  </a:lnTo>
                  <a:lnTo>
                    <a:pt x="1848278" y="6143"/>
                  </a:lnTo>
                  <a:lnTo>
                    <a:pt x="1818132" y="0"/>
                  </a:lnTo>
                  <a:lnTo>
                    <a:pt x="77724" y="0"/>
                  </a:lnTo>
                  <a:lnTo>
                    <a:pt x="47577" y="6143"/>
                  </a:lnTo>
                  <a:lnTo>
                    <a:pt x="22860" y="22860"/>
                  </a:lnTo>
                  <a:lnTo>
                    <a:pt x="6143" y="47577"/>
                  </a:lnTo>
                  <a:lnTo>
                    <a:pt x="0" y="77724"/>
                  </a:lnTo>
                  <a:lnTo>
                    <a:pt x="0" y="386334"/>
                  </a:lnTo>
                  <a:lnTo>
                    <a:pt x="6143" y="416480"/>
                  </a:lnTo>
                  <a:lnTo>
                    <a:pt x="22860" y="441198"/>
                  </a:lnTo>
                  <a:lnTo>
                    <a:pt x="47577" y="457914"/>
                  </a:lnTo>
                  <a:lnTo>
                    <a:pt x="77724" y="464058"/>
                  </a:lnTo>
                  <a:lnTo>
                    <a:pt x="1818132" y="464057"/>
                  </a:lnTo>
                  <a:lnTo>
                    <a:pt x="1848278" y="457914"/>
                  </a:lnTo>
                  <a:lnTo>
                    <a:pt x="1872995" y="441197"/>
                  </a:lnTo>
                  <a:lnTo>
                    <a:pt x="1889712" y="416480"/>
                  </a:lnTo>
                  <a:lnTo>
                    <a:pt x="1895856" y="386333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06372" y="4470146"/>
              <a:ext cx="1896110" cy="464184"/>
            </a:xfrm>
            <a:custGeom>
              <a:avLst/>
              <a:gdLst/>
              <a:ahLst/>
              <a:cxnLst/>
              <a:rect l="l" t="t" r="r" b="b"/>
              <a:pathLst>
                <a:path w="1896110" h="464185">
                  <a:moveTo>
                    <a:pt x="77724" y="0"/>
                  </a:moveTo>
                  <a:lnTo>
                    <a:pt x="47577" y="6143"/>
                  </a:lnTo>
                  <a:lnTo>
                    <a:pt x="22860" y="22860"/>
                  </a:lnTo>
                  <a:lnTo>
                    <a:pt x="6143" y="47577"/>
                  </a:lnTo>
                  <a:lnTo>
                    <a:pt x="0" y="77724"/>
                  </a:lnTo>
                  <a:lnTo>
                    <a:pt x="0" y="386334"/>
                  </a:lnTo>
                  <a:lnTo>
                    <a:pt x="6143" y="416480"/>
                  </a:lnTo>
                  <a:lnTo>
                    <a:pt x="22860" y="441198"/>
                  </a:lnTo>
                  <a:lnTo>
                    <a:pt x="47577" y="457914"/>
                  </a:lnTo>
                  <a:lnTo>
                    <a:pt x="77724" y="464058"/>
                  </a:lnTo>
                  <a:lnTo>
                    <a:pt x="1818132" y="464057"/>
                  </a:lnTo>
                  <a:lnTo>
                    <a:pt x="1848278" y="457914"/>
                  </a:lnTo>
                  <a:lnTo>
                    <a:pt x="1872995" y="441197"/>
                  </a:lnTo>
                  <a:lnTo>
                    <a:pt x="1889712" y="416480"/>
                  </a:lnTo>
                  <a:lnTo>
                    <a:pt x="1895856" y="386333"/>
                  </a:lnTo>
                  <a:lnTo>
                    <a:pt x="1895856" y="77723"/>
                  </a:lnTo>
                  <a:lnTo>
                    <a:pt x="1889712" y="47577"/>
                  </a:lnTo>
                  <a:lnTo>
                    <a:pt x="1872996" y="22859"/>
                  </a:lnTo>
                  <a:lnTo>
                    <a:pt x="1848278" y="6143"/>
                  </a:lnTo>
                  <a:lnTo>
                    <a:pt x="1818132" y="0"/>
                  </a:lnTo>
                  <a:lnTo>
                    <a:pt x="77724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52751" y="4570983"/>
            <a:ext cx="14027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A2529C"/>
                </a:solidFill>
                <a:latin typeface="Arial"/>
                <a:cs typeface="Arial"/>
              </a:rPr>
              <a:t>Đồ</a:t>
            </a:r>
            <a:r>
              <a:rPr sz="1500" spc="-20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A2529C"/>
                </a:solidFill>
                <a:latin typeface="Arial"/>
                <a:cs typeface="Arial"/>
              </a:rPr>
              <a:t>thị</a:t>
            </a:r>
            <a:r>
              <a:rPr sz="1500" spc="-15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A2529C"/>
                </a:solidFill>
                <a:latin typeface="Arial"/>
                <a:cs typeface="Arial"/>
              </a:rPr>
              <a:t>có</a:t>
            </a:r>
            <a:r>
              <a:rPr sz="1500" spc="-15" dirty="0">
                <a:solidFill>
                  <a:srgbClr val="A2529C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A2529C"/>
                </a:solidFill>
                <a:latin typeface="Arial"/>
                <a:cs typeface="Arial"/>
              </a:rPr>
              <a:t>hướng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965767" y="2381313"/>
            <a:ext cx="1903095" cy="473075"/>
            <a:chOff x="2965767" y="2381313"/>
            <a:chExt cx="1903095" cy="473075"/>
          </a:xfrm>
        </p:grpSpPr>
        <p:sp>
          <p:nvSpPr>
            <p:cNvPr id="17" name="object 17"/>
            <p:cNvSpPr/>
            <p:nvPr/>
          </p:nvSpPr>
          <p:spPr>
            <a:xfrm>
              <a:off x="2970529" y="2386076"/>
              <a:ext cx="1893570" cy="463550"/>
            </a:xfrm>
            <a:custGeom>
              <a:avLst/>
              <a:gdLst/>
              <a:ahLst/>
              <a:cxnLst/>
              <a:rect l="l" t="t" r="r" b="b"/>
              <a:pathLst>
                <a:path w="1893570" h="463550">
                  <a:moveTo>
                    <a:pt x="1893570" y="386333"/>
                  </a:moveTo>
                  <a:lnTo>
                    <a:pt x="1893570" y="76961"/>
                  </a:lnTo>
                  <a:lnTo>
                    <a:pt x="1887545" y="46934"/>
                  </a:lnTo>
                  <a:lnTo>
                    <a:pt x="1871090" y="22478"/>
                  </a:lnTo>
                  <a:lnTo>
                    <a:pt x="1846635" y="6024"/>
                  </a:lnTo>
                  <a:lnTo>
                    <a:pt x="1816608" y="0"/>
                  </a:lnTo>
                  <a:lnTo>
                    <a:pt x="76962" y="0"/>
                  </a:lnTo>
                  <a:lnTo>
                    <a:pt x="46934" y="6024"/>
                  </a:lnTo>
                  <a:lnTo>
                    <a:pt x="22479" y="22479"/>
                  </a:lnTo>
                  <a:lnTo>
                    <a:pt x="6024" y="46934"/>
                  </a:lnTo>
                  <a:lnTo>
                    <a:pt x="0" y="76962"/>
                  </a:lnTo>
                  <a:lnTo>
                    <a:pt x="0" y="386334"/>
                  </a:lnTo>
                  <a:lnTo>
                    <a:pt x="6024" y="416361"/>
                  </a:lnTo>
                  <a:lnTo>
                    <a:pt x="22479" y="440816"/>
                  </a:lnTo>
                  <a:lnTo>
                    <a:pt x="46934" y="457271"/>
                  </a:lnTo>
                  <a:lnTo>
                    <a:pt x="76962" y="463295"/>
                  </a:lnTo>
                  <a:lnTo>
                    <a:pt x="1816608" y="463295"/>
                  </a:lnTo>
                  <a:lnTo>
                    <a:pt x="1846635" y="457271"/>
                  </a:lnTo>
                  <a:lnTo>
                    <a:pt x="1871090" y="440816"/>
                  </a:lnTo>
                  <a:lnTo>
                    <a:pt x="1887545" y="416361"/>
                  </a:lnTo>
                  <a:lnTo>
                    <a:pt x="1893570" y="386333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70529" y="2386076"/>
              <a:ext cx="1893570" cy="463550"/>
            </a:xfrm>
            <a:custGeom>
              <a:avLst/>
              <a:gdLst/>
              <a:ahLst/>
              <a:cxnLst/>
              <a:rect l="l" t="t" r="r" b="b"/>
              <a:pathLst>
                <a:path w="1893570" h="463550">
                  <a:moveTo>
                    <a:pt x="76962" y="0"/>
                  </a:moveTo>
                  <a:lnTo>
                    <a:pt x="46934" y="6024"/>
                  </a:lnTo>
                  <a:lnTo>
                    <a:pt x="22479" y="22479"/>
                  </a:lnTo>
                  <a:lnTo>
                    <a:pt x="6024" y="46934"/>
                  </a:lnTo>
                  <a:lnTo>
                    <a:pt x="0" y="76962"/>
                  </a:lnTo>
                  <a:lnTo>
                    <a:pt x="0" y="386334"/>
                  </a:lnTo>
                  <a:lnTo>
                    <a:pt x="6024" y="416361"/>
                  </a:lnTo>
                  <a:lnTo>
                    <a:pt x="22479" y="440816"/>
                  </a:lnTo>
                  <a:lnTo>
                    <a:pt x="46934" y="457271"/>
                  </a:lnTo>
                  <a:lnTo>
                    <a:pt x="76962" y="463295"/>
                  </a:lnTo>
                  <a:lnTo>
                    <a:pt x="1816608" y="463295"/>
                  </a:lnTo>
                  <a:lnTo>
                    <a:pt x="1846635" y="457271"/>
                  </a:lnTo>
                  <a:lnTo>
                    <a:pt x="1871090" y="440816"/>
                  </a:lnTo>
                  <a:lnTo>
                    <a:pt x="1887545" y="416361"/>
                  </a:lnTo>
                  <a:lnTo>
                    <a:pt x="1893570" y="386333"/>
                  </a:lnTo>
                  <a:lnTo>
                    <a:pt x="1893570" y="76961"/>
                  </a:lnTo>
                  <a:lnTo>
                    <a:pt x="1887545" y="46934"/>
                  </a:lnTo>
                  <a:lnTo>
                    <a:pt x="1871090" y="22478"/>
                  </a:lnTo>
                  <a:lnTo>
                    <a:pt x="1846635" y="6024"/>
                  </a:lnTo>
                  <a:lnTo>
                    <a:pt x="1816608" y="0"/>
                  </a:lnTo>
                  <a:lnTo>
                    <a:pt x="76962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459226" y="2486152"/>
            <a:ext cx="9137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Đơn</a:t>
            </a:r>
            <a:r>
              <a:rPr sz="15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5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965767" y="3076257"/>
            <a:ext cx="1903095" cy="473709"/>
            <a:chOff x="2965767" y="3076257"/>
            <a:chExt cx="1903095" cy="473709"/>
          </a:xfrm>
        </p:grpSpPr>
        <p:sp>
          <p:nvSpPr>
            <p:cNvPr id="21" name="object 21"/>
            <p:cNvSpPr/>
            <p:nvPr/>
          </p:nvSpPr>
          <p:spPr>
            <a:xfrm>
              <a:off x="2970529" y="3081020"/>
              <a:ext cx="1893570" cy="464184"/>
            </a:xfrm>
            <a:custGeom>
              <a:avLst/>
              <a:gdLst/>
              <a:ahLst/>
              <a:cxnLst/>
              <a:rect l="l" t="t" r="r" b="b"/>
              <a:pathLst>
                <a:path w="1893570" h="464185">
                  <a:moveTo>
                    <a:pt x="1893570" y="386333"/>
                  </a:moveTo>
                  <a:lnTo>
                    <a:pt x="1893570" y="77723"/>
                  </a:lnTo>
                  <a:lnTo>
                    <a:pt x="1887545" y="47577"/>
                  </a:lnTo>
                  <a:lnTo>
                    <a:pt x="1871090" y="22859"/>
                  </a:lnTo>
                  <a:lnTo>
                    <a:pt x="1846635" y="6143"/>
                  </a:lnTo>
                  <a:lnTo>
                    <a:pt x="1816608" y="0"/>
                  </a:lnTo>
                  <a:lnTo>
                    <a:pt x="76962" y="0"/>
                  </a:lnTo>
                  <a:lnTo>
                    <a:pt x="46934" y="6143"/>
                  </a:lnTo>
                  <a:lnTo>
                    <a:pt x="22479" y="22860"/>
                  </a:lnTo>
                  <a:lnTo>
                    <a:pt x="6024" y="47577"/>
                  </a:lnTo>
                  <a:lnTo>
                    <a:pt x="0" y="77724"/>
                  </a:lnTo>
                  <a:lnTo>
                    <a:pt x="0" y="386334"/>
                  </a:lnTo>
                  <a:lnTo>
                    <a:pt x="6024" y="416480"/>
                  </a:lnTo>
                  <a:lnTo>
                    <a:pt x="22479" y="441198"/>
                  </a:lnTo>
                  <a:lnTo>
                    <a:pt x="46934" y="457914"/>
                  </a:lnTo>
                  <a:lnTo>
                    <a:pt x="76962" y="464058"/>
                  </a:lnTo>
                  <a:lnTo>
                    <a:pt x="1816608" y="464057"/>
                  </a:lnTo>
                  <a:lnTo>
                    <a:pt x="1846635" y="457914"/>
                  </a:lnTo>
                  <a:lnTo>
                    <a:pt x="1871090" y="441197"/>
                  </a:lnTo>
                  <a:lnTo>
                    <a:pt x="1887545" y="416480"/>
                  </a:lnTo>
                  <a:lnTo>
                    <a:pt x="1893570" y="386333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70529" y="3081020"/>
              <a:ext cx="1893570" cy="464184"/>
            </a:xfrm>
            <a:custGeom>
              <a:avLst/>
              <a:gdLst/>
              <a:ahLst/>
              <a:cxnLst/>
              <a:rect l="l" t="t" r="r" b="b"/>
              <a:pathLst>
                <a:path w="1893570" h="464185">
                  <a:moveTo>
                    <a:pt x="76962" y="0"/>
                  </a:moveTo>
                  <a:lnTo>
                    <a:pt x="46934" y="6143"/>
                  </a:lnTo>
                  <a:lnTo>
                    <a:pt x="22479" y="22860"/>
                  </a:lnTo>
                  <a:lnTo>
                    <a:pt x="6024" y="47577"/>
                  </a:lnTo>
                  <a:lnTo>
                    <a:pt x="0" y="77724"/>
                  </a:lnTo>
                  <a:lnTo>
                    <a:pt x="0" y="386334"/>
                  </a:lnTo>
                  <a:lnTo>
                    <a:pt x="6024" y="416480"/>
                  </a:lnTo>
                  <a:lnTo>
                    <a:pt x="22479" y="441198"/>
                  </a:lnTo>
                  <a:lnTo>
                    <a:pt x="46934" y="457914"/>
                  </a:lnTo>
                  <a:lnTo>
                    <a:pt x="76962" y="464058"/>
                  </a:lnTo>
                  <a:lnTo>
                    <a:pt x="1816608" y="464057"/>
                  </a:lnTo>
                  <a:lnTo>
                    <a:pt x="1846635" y="457914"/>
                  </a:lnTo>
                  <a:lnTo>
                    <a:pt x="1871090" y="441197"/>
                  </a:lnTo>
                  <a:lnTo>
                    <a:pt x="1887545" y="416480"/>
                  </a:lnTo>
                  <a:lnTo>
                    <a:pt x="1893570" y="386333"/>
                  </a:lnTo>
                  <a:lnTo>
                    <a:pt x="1893570" y="77723"/>
                  </a:lnTo>
                  <a:lnTo>
                    <a:pt x="1887545" y="47577"/>
                  </a:lnTo>
                  <a:lnTo>
                    <a:pt x="1871090" y="22859"/>
                  </a:lnTo>
                  <a:lnTo>
                    <a:pt x="1846635" y="6143"/>
                  </a:lnTo>
                  <a:lnTo>
                    <a:pt x="1816608" y="0"/>
                  </a:lnTo>
                  <a:lnTo>
                    <a:pt x="76962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522471" y="3181858"/>
            <a:ext cx="788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Đa</a:t>
            </a:r>
            <a:r>
              <a:rPr sz="15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5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965767" y="3770439"/>
            <a:ext cx="1903095" cy="473075"/>
            <a:chOff x="2965767" y="3770439"/>
            <a:chExt cx="1903095" cy="473075"/>
          </a:xfrm>
        </p:grpSpPr>
        <p:sp>
          <p:nvSpPr>
            <p:cNvPr id="25" name="object 25"/>
            <p:cNvSpPr/>
            <p:nvPr/>
          </p:nvSpPr>
          <p:spPr>
            <a:xfrm>
              <a:off x="2970529" y="3775202"/>
              <a:ext cx="1893570" cy="463550"/>
            </a:xfrm>
            <a:custGeom>
              <a:avLst/>
              <a:gdLst/>
              <a:ahLst/>
              <a:cxnLst/>
              <a:rect l="l" t="t" r="r" b="b"/>
              <a:pathLst>
                <a:path w="1893570" h="463550">
                  <a:moveTo>
                    <a:pt x="1893570" y="386333"/>
                  </a:moveTo>
                  <a:lnTo>
                    <a:pt x="1893570" y="76961"/>
                  </a:lnTo>
                  <a:lnTo>
                    <a:pt x="1887545" y="46934"/>
                  </a:lnTo>
                  <a:lnTo>
                    <a:pt x="1871090" y="22478"/>
                  </a:lnTo>
                  <a:lnTo>
                    <a:pt x="1846635" y="6024"/>
                  </a:lnTo>
                  <a:lnTo>
                    <a:pt x="1816608" y="0"/>
                  </a:lnTo>
                  <a:lnTo>
                    <a:pt x="76962" y="0"/>
                  </a:lnTo>
                  <a:lnTo>
                    <a:pt x="46934" y="6024"/>
                  </a:lnTo>
                  <a:lnTo>
                    <a:pt x="22479" y="22479"/>
                  </a:lnTo>
                  <a:lnTo>
                    <a:pt x="6024" y="46934"/>
                  </a:lnTo>
                  <a:lnTo>
                    <a:pt x="0" y="76962"/>
                  </a:lnTo>
                  <a:lnTo>
                    <a:pt x="0" y="386334"/>
                  </a:lnTo>
                  <a:lnTo>
                    <a:pt x="6024" y="416361"/>
                  </a:lnTo>
                  <a:lnTo>
                    <a:pt x="22479" y="440816"/>
                  </a:lnTo>
                  <a:lnTo>
                    <a:pt x="46934" y="457271"/>
                  </a:lnTo>
                  <a:lnTo>
                    <a:pt x="76962" y="463295"/>
                  </a:lnTo>
                  <a:lnTo>
                    <a:pt x="1816608" y="463295"/>
                  </a:lnTo>
                  <a:lnTo>
                    <a:pt x="1846635" y="457271"/>
                  </a:lnTo>
                  <a:lnTo>
                    <a:pt x="1871090" y="440816"/>
                  </a:lnTo>
                  <a:lnTo>
                    <a:pt x="1887545" y="416361"/>
                  </a:lnTo>
                  <a:lnTo>
                    <a:pt x="1893570" y="386333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70529" y="3775202"/>
              <a:ext cx="1893570" cy="463550"/>
            </a:xfrm>
            <a:custGeom>
              <a:avLst/>
              <a:gdLst/>
              <a:ahLst/>
              <a:cxnLst/>
              <a:rect l="l" t="t" r="r" b="b"/>
              <a:pathLst>
                <a:path w="1893570" h="463550">
                  <a:moveTo>
                    <a:pt x="76962" y="0"/>
                  </a:moveTo>
                  <a:lnTo>
                    <a:pt x="46934" y="6024"/>
                  </a:lnTo>
                  <a:lnTo>
                    <a:pt x="22479" y="22479"/>
                  </a:lnTo>
                  <a:lnTo>
                    <a:pt x="6024" y="46934"/>
                  </a:lnTo>
                  <a:lnTo>
                    <a:pt x="0" y="76962"/>
                  </a:lnTo>
                  <a:lnTo>
                    <a:pt x="0" y="386334"/>
                  </a:lnTo>
                  <a:lnTo>
                    <a:pt x="6024" y="416361"/>
                  </a:lnTo>
                  <a:lnTo>
                    <a:pt x="22479" y="440816"/>
                  </a:lnTo>
                  <a:lnTo>
                    <a:pt x="46934" y="457271"/>
                  </a:lnTo>
                  <a:lnTo>
                    <a:pt x="76962" y="463295"/>
                  </a:lnTo>
                  <a:lnTo>
                    <a:pt x="1816608" y="463295"/>
                  </a:lnTo>
                  <a:lnTo>
                    <a:pt x="1846635" y="457271"/>
                  </a:lnTo>
                  <a:lnTo>
                    <a:pt x="1871090" y="440816"/>
                  </a:lnTo>
                  <a:lnTo>
                    <a:pt x="1887545" y="416361"/>
                  </a:lnTo>
                  <a:lnTo>
                    <a:pt x="1893570" y="386333"/>
                  </a:lnTo>
                  <a:lnTo>
                    <a:pt x="1893570" y="76961"/>
                  </a:lnTo>
                  <a:lnTo>
                    <a:pt x="1887545" y="46934"/>
                  </a:lnTo>
                  <a:lnTo>
                    <a:pt x="1871090" y="22478"/>
                  </a:lnTo>
                  <a:lnTo>
                    <a:pt x="1846635" y="6024"/>
                  </a:lnTo>
                  <a:lnTo>
                    <a:pt x="1816608" y="0"/>
                  </a:lnTo>
                  <a:lnTo>
                    <a:pt x="76962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495802" y="3875278"/>
            <a:ext cx="8413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Giả</a:t>
            </a:r>
            <a:r>
              <a:rPr sz="15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5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965767" y="5161089"/>
            <a:ext cx="1901825" cy="473075"/>
            <a:chOff x="2965767" y="5161089"/>
            <a:chExt cx="1901825" cy="473075"/>
          </a:xfrm>
        </p:grpSpPr>
        <p:sp>
          <p:nvSpPr>
            <p:cNvPr id="29" name="object 29"/>
            <p:cNvSpPr/>
            <p:nvPr/>
          </p:nvSpPr>
          <p:spPr>
            <a:xfrm>
              <a:off x="2970529" y="5165852"/>
              <a:ext cx="1892300" cy="463550"/>
            </a:xfrm>
            <a:custGeom>
              <a:avLst/>
              <a:gdLst/>
              <a:ahLst/>
              <a:cxnLst/>
              <a:rect l="l" t="t" r="r" b="b"/>
              <a:pathLst>
                <a:path w="1892300" h="463550">
                  <a:moveTo>
                    <a:pt x="1892045" y="386333"/>
                  </a:moveTo>
                  <a:lnTo>
                    <a:pt x="1892045" y="76961"/>
                  </a:lnTo>
                  <a:lnTo>
                    <a:pt x="1885902" y="46934"/>
                  </a:lnTo>
                  <a:lnTo>
                    <a:pt x="1869186" y="22478"/>
                  </a:lnTo>
                  <a:lnTo>
                    <a:pt x="1844468" y="6024"/>
                  </a:lnTo>
                  <a:lnTo>
                    <a:pt x="1814322" y="0"/>
                  </a:lnTo>
                  <a:lnTo>
                    <a:pt x="76962" y="0"/>
                  </a:lnTo>
                  <a:lnTo>
                    <a:pt x="46934" y="6024"/>
                  </a:lnTo>
                  <a:lnTo>
                    <a:pt x="22479" y="22479"/>
                  </a:lnTo>
                  <a:lnTo>
                    <a:pt x="6024" y="46934"/>
                  </a:lnTo>
                  <a:lnTo>
                    <a:pt x="0" y="76962"/>
                  </a:lnTo>
                  <a:lnTo>
                    <a:pt x="0" y="386334"/>
                  </a:lnTo>
                  <a:lnTo>
                    <a:pt x="6024" y="416361"/>
                  </a:lnTo>
                  <a:lnTo>
                    <a:pt x="22479" y="440816"/>
                  </a:lnTo>
                  <a:lnTo>
                    <a:pt x="46934" y="457271"/>
                  </a:lnTo>
                  <a:lnTo>
                    <a:pt x="76962" y="463295"/>
                  </a:lnTo>
                  <a:lnTo>
                    <a:pt x="1814322" y="463295"/>
                  </a:lnTo>
                  <a:lnTo>
                    <a:pt x="1844468" y="457271"/>
                  </a:lnTo>
                  <a:lnTo>
                    <a:pt x="1869186" y="440816"/>
                  </a:lnTo>
                  <a:lnTo>
                    <a:pt x="1885902" y="416361"/>
                  </a:lnTo>
                  <a:lnTo>
                    <a:pt x="1892045" y="386333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70529" y="5165852"/>
              <a:ext cx="1892300" cy="463550"/>
            </a:xfrm>
            <a:custGeom>
              <a:avLst/>
              <a:gdLst/>
              <a:ahLst/>
              <a:cxnLst/>
              <a:rect l="l" t="t" r="r" b="b"/>
              <a:pathLst>
                <a:path w="1892300" h="463550">
                  <a:moveTo>
                    <a:pt x="76962" y="0"/>
                  </a:moveTo>
                  <a:lnTo>
                    <a:pt x="46934" y="6024"/>
                  </a:lnTo>
                  <a:lnTo>
                    <a:pt x="22479" y="22479"/>
                  </a:lnTo>
                  <a:lnTo>
                    <a:pt x="6024" y="46934"/>
                  </a:lnTo>
                  <a:lnTo>
                    <a:pt x="0" y="76962"/>
                  </a:lnTo>
                  <a:lnTo>
                    <a:pt x="0" y="386334"/>
                  </a:lnTo>
                  <a:lnTo>
                    <a:pt x="6024" y="416361"/>
                  </a:lnTo>
                  <a:lnTo>
                    <a:pt x="22479" y="440816"/>
                  </a:lnTo>
                  <a:lnTo>
                    <a:pt x="46934" y="457271"/>
                  </a:lnTo>
                  <a:lnTo>
                    <a:pt x="76962" y="463295"/>
                  </a:lnTo>
                  <a:lnTo>
                    <a:pt x="1814322" y="463295"/>
                  </a:lnTo>
                  <a:lnTo>
                    <a:pt x="1844468" y="457271"/>
                  </a:lnTo>
                  <a:lnTo>
                    <a:pt x="1869186" y="440816"/>
                  </a:lnTo>
                  <a:lnTo>
                    <a:pt x="1885902" y="416361"/>
                  </a:lnTo>
                  <a:lnTo>
                    <a:pt x="1892045" y="386333"/>
                  </a:lnTo>
                  <a:lnTo>
                    <a:pt x="1892045" y="76961"/>
                  </a:lnTo>
                  <a:lnTo>
                    <a:pt x="1885902" y="46934"/>
                  </a:lnTo>
                  <a:lnTo>
                    <a:pt x="1869186" y="22478"/>
                  </a:lnTo>
                  <a:lnTo>
                    <a:pt x="1844468" y="6024"/>
                  </a:lnTo>
                  <a:lnTo>
                    <a:pt x="1814322" y="0"/>
                  </a:lnTo>
                  <a:lnTo>
                    <a:pt x="76962" y="0"/>
                  </a:lnTo>
                  <a:close/>
                </a:path>
              </a:pathLst>
            </a:custGeom>
            <a:ln w="9524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459226" y="5265928"/>
            <a:ext cx="9137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Đơn</a:t>
            </a:r>
            <a:r>
              <a:rPr sz="15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5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965767" y="5856033"/>
            <a:ext cx="1901825" cy="473709"/>
            <a:chOff x="2965767" y="5856033"/>
            <a:chExt cx="1901825" cy="473709"/>
          </a:xfrm>
        </p:grpSpPr>
        <p:sp>
          <p:nvSpPr>
            <p:cNvPr id="33" name="object 33"/>
            <p:cNvSpPr/>
            <p:nvPr/>
          </p:nvSpPr>
          <p:spPr>
            <a:xfrm>
              <a:off x="2970529" y="5860796"/>
              <a:ext cx="1892300" cy="464184"/>
            </a:xfrm>
            <a:custGeom>
              <a:avLst/>
              <a:gdLst/>
              <a:ahLst/>
              <a:cxnLst/>
              <a:rect l="l" t="t" r="r" b="b"/>
              <a:pathLst>
                <a:path w="1892300" h="464185">
                  <a:moveTo>
                    <a:pt x="1892045" y="386333"/>
                  </a:moveTo>
                  <a:lnTo>
                    <a:pt x="1892045" y="77723"/>
                  </a:lnTo>
                  <a:lnTo>
                    <a:pt x="1885902" y="47577"/>
                  </a:lnTo>
                  <a:lnTo>
                    <a:pt x="1869186" y="22859"/>
                  </a:lnTo>
                  <a:lnTo>
                    <a:pt x="1844468" y="6143"/>
                  </a:lnTo>
                  <a:lnTo>
                    <a:pt x="1814322" y="0"/>
                  </a:lnTo>
                  <a:lnTo>
                    <a:pt x="76962" y="0"/>
                  </a:lnTo>
                  <a:lnTo>
                    <a:pt x="46934" y="6143"/>
                  </a:lnTo>
                  <a:lnTo>
                    <a:pt x="22479" y="22860"/>
                  </a:lnTo>
                  <a:lnTo>
                    <a:pt x="6024" y="47577"/>
                  </a:lnTo>
                  <a:lnTo>
                    <a:pt x="0" y="77724"/>
                  </a:lnTo>
                  <a:lnTo>
                    <a:pt x="0" y="386334"/>
                  </a:lnTo>
                  <a:lnTo>
                    <a:pt x="6024" y="416480"/>
                  </a:lnTo>
                  <a:lnTo>
                    <a:pt x="22479" y="441198"/>
                  </a:lnTo>
                  <a:lnTo>
                    <a:pt x="46934" y="457914"/>
                  </a:lnTo>
                  <a:lnTo>
                    <a:pt x="76962" y="464058"/>
                  </a:lnTo>
                  <a:lnTo>
                    <a:pt x="1814322" y="464057"/>
                  </a:lnTo>
                  <a:lnTo>
                    <a:pt x="1844468" y="457914"/>
                  </a:lnTo>
                  <a:lnTo>
                    <a:pt x="1869186" y="441197"/>
                  </a:lnTo>
                  <a:lnTo>
                    <a:pt x="1885902" y="416480"/>
                  </a:lnTo>
                  <a:lnTo>
                    <a:pt x="1892045" y="386333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970529" y="5860796"/>
              <a:ext cx="1892300" cy="464184"/>
            </a:xfrm>
            <a:custGeom>
              <a:avLst/>
              <a:gdLst/>
              <a:ahLst/>
              <a:cxnLst/>
              <a:rect l="l" t="t" r="r" b="b"/>
              <a:pathLst>
                <a:path w="1892300" h="464185">
                  <a:moveTo>
                    <a:pt x="76962" y="0"/>
                  </a:moveTo>
                  <a:lnTo>
                    <a:pt x="46934" y="6143"/>
                  </a:lnTo>
                  <a:lnTo>
                    <a:pt x="22479" y="22860"/>
                  </a:lnTo>
                  <a:lnTo>
                    <a:pt x="6024" y="47577"/>
                  </a:lnTo>
                  <a:lnTo>
                    <a:pt x="0" y="77724"/>
                  </a:lnTo>
                  <a:lnTo>
                    <a:pt x="0" y="386334"/>
                  </a:lnTo>
                  <a:lnTo>
                    <a:pt x="6024" y="416480"/>
                  </a:lnTo>
                  <a:lnTo>
                    <a:pt x="22479" y="441198"/>
                  </a:lnTo>
                  <a:lnTo>
                    <a:pt x="46934" y="457914"/>
                  </a:lnTo>
                  <a:lnTo>
                    <a:pt x="76962" y="464058"/>
                  </a:lnTo>
                  <a:lnTo>
                    <a:pt x="1814322" y="464057"/>
                  </a:lnTo>
                  <a:lnTo>
                    <a:pt x="1844468" y="457914"/>
                  </a:lnTo>
                  <a:lnTo>
                    <a:pt x="1869186" y="441197"/>
                  </a:lnTo>
                  <a:lnTo>
                    <a:pt x="1885902" y="416480"/>
                  </a:lnTo>
                  <a:lnTo>
                    <a:pt x="1892045" y="386333"/>
                  </a:lnTo>
                  <a:lnTo>
                    <a:pt x="1892045" y="77723"/>
                  </a:lnTo>
                  <a:lnTo>
                    <a:pt x="1885902" y="47577"/>
                  </a:lnTo>
                  <a:lnTo>
                    <a:pt x="1869186" y="22859"/>
                  </a:lnTo>
                  <a:lnTo>
                    <a:pt x="1844468" y="6143"/>
                  </a:lnTo>
                  <a:lnTo>
                    <a:pt x="1814322" y="0"/>
                  </a:lnTo>
                  <a:lnTo>
                    <a:pt x="76962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520947" y="5961632"/>
            <a:ext cx="788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Đa</a:t>
            </a:r>
            <a:r>
              <a:rPr sz="15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5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587559" y="1277937"/>
            <a:ext cx="4634230" cy="625475"/>
            <a:chOff x="3587559" y="1277937"/>
            <a:chExt cx="4634230" cy="625475"/>
          </a:xfrm>
        </p:grpSpPr>
        <p:sp>
          <p:nvSpPr>
            <p:cNvPr id="37" name="object 37"/>
            <p:cNvSpPr/>
            <p:nvPr/>
          </p:nvSpPr>
          <p:spPr>
            <a:xfrm>
              <a:off x="3592321" y="1282700"/>
              <a:ext cx="4624705" cy="615950"/>
            </a:xfrm>
            <a:custGeom>
              <a:avLst/>
              <a:gdLst/>
              <a:ahLst/>
              <a:cxnLst/>
              <a:rect l="l" t="t" r="r" b="b"/>
              <a:pathLst>
                <a:path w="4624705" h="615950">
                  <a:moveTo>
                    <a:pt x="4624578" y="457199"/>
                  </a:moveTo>
                  <a:lnTo>
                    <a:pt x="4624578" y="0"/>
                  </a:lnTo>
                  <a:lnTo>
                    <a:pt x="2338578" y="0"/>
                  </a:lnTo>
                  <a:lnTo>
                    <a:pt x="2338578" y="266700"/>
                  </a:lnTo>
                  <a:lnTo>
                    <a:pt x="0" y="615696"/>
                  </a:lnTo>
                  <a:lnTo>
                    <a:pt x="2338578" y="381000"/>
                  </a:lnTo>
                  <a:lnTo>
                    <a:pt x="2338578" y="457200"/>
                  </a:lnTo>
                  <a:lnTo>
                    <a:pt x="4624578" y="4571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592321" y="1282700"/>
              <a:ext cx="4624705" cy="615950"/>
            </a:xfrm>
            <a:custGeom>
              <a:avLst/>
              <a:gdLst/>
              <a:ahLst/>
              <a:cxnLst/>
              <a:rect l="l" t="t" r="r" b="b"/>
              <a:pathLst>
                <a:path w="4624705" h="615950">
                  <a:moveTo>
                    <a:pt x="2338578" y="0"/>
                  </a:moveTo>
                  <a:lnTo>
                    <a:pt x="2338578" y="266700"/>
                  </a:lnTo>
                  <a:lnTo>
                    <a:pt x="0" y="615696"/>
                  </a:lnTo>
                  <a:lnTo>
                    <a:pt x="2338578" y="381000"/>
                  </a:lnTo>
                  <a:lnTo>
                    <a:pt x="2338578" y="457200"/>
                  </a:lnTo>
                  <a:lnTo>
                    <a:pt x="4624578" y="457199"/>
                  </a:lnTo>
                  <a:lnTo>
                    <a:pt x="4624578" y="0"/>
                  </a:lnTo>
                  <a:lnTo>
                    <a:pt x="2719578" y="0"/>
                  </a:lnTo>
                  <a:lnTo>
                    <a:pt x="2338578" y="0"/>
                  </a:lnTo>
                  <a:close/>
                </a:path>
              </a:pathLst>
            </a:custGeom>
            <a:ln w="9524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235191" y="1314196"/>
            <a:ext cx="1677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Không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có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thứ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tự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866957" y="2039937"/>
            <a:ext cx="4116704" cy="548005"/>
            <a:chOff x="4866957" y="2039937"/>
            <a:chExt cx="4116704" cy="548005"/>
          </a:xfrm>
        </p:grpSpPr>
        <p:sp>
          <p:nvSpPr>
            <p:cNvPr id="41" name="object 41"/>
            <p:cNvSpPr/>
            <p:nvPr/>
          </p:nvSpPr>
          <p:spPr>
            <a:xfrm>
              <a:off x="4871720" y="2044700"/>
              <a:ext cx="4107179" cy="538480"/>
            </a:xfrm>
            <a:custGeom>
              <a:avLst/>
              <a:gdLst/>
              <a:ahLst/>
              <a:cxnLst/>
              <a:rect l="l" t="t" r="r" b="b"/>
              <a:pathLst>
                <a:path w="4107179" h="538480">
                  <a:moveTo>
                    <a:pt x="4107179" y="457199"/>
                  </a:moveTo>
                  <a:lnTo>
                    <a:pt x="4107179" y="0"/>
                  </a:lnTo>
                  <a:lnTo>
                    <a:pt x="373379" y="0"/>
                  </a:lnTo>
                  <a:lnTo>
                    <a:pt x="373379" y="457200"/>
                  </a:lnTo>
                  <a:lnTo>
                    <a:pt x="995933" y="457200"/>
                  </a:lnTo>
                  <a:lnTo>
                    <a:pt x="0" y="537972"/>
                  </a:lnTo>
                  <a:lnTo>
                    <a:pt x="1929383" y="457199"/>
                  </a:lnTo>
                  <a:lnTo>
                    <a:pt x="4107179" y="4571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871720" y="2044700"/>
              <a:ext cx="4107179" cy="538480"/>
            </a:xfrm>
            <a:custGeom>
              <a:avLst/>
              <a:gdLst/>
              <a:ahLst/>
              <a:cxnLst/>
              <a:rect l="l" t="t" r="r" b="b"/>
              <a:pathLst>
                <a:path w="4107179" h="538480">
                  <a:moveTo>
                    <a:pt x="373379" y="0"/>
                  </a:moveTo>
                  <a:lnTo>
                    <a:pt x="373379" y="457200"/>
                  </a:lnTo>
                  <a:lnTo>
                    <a:pt x="995933" y="457200"/>
                  </a:lnTo>
                  <a:lnTo>
                    <a:pt x="0" y="537972"/>
                  </a:lnTo>
                  <a:lnTo>
                    <a:pt x="1929383" y="457199"/>
                  </a:lnTo>
                  <a:lnTo>
                    <a:pt x="4107179" y="457199"/>
                  </a:lnTo>
                  <a:lnTo>
                    <a:pt x="4107179" y="0"/>
                  </a:lnTo>
                  <a:lnTo>
                    <a:pt x="995933" y="0"/>
                  </a:lnTo>
                  <a:lnTo>
                    <a:pt x="373379" y="0"/>
                  </a:lnTo>
                  <a:close/>
                </a:path>
              </a:pathLst>
            </a:custGeom>
            <a:ln w="9524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530341" y="2076196"/>
            <a:ext cx="3162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Không</a:t>
            </a:r>
            <a:r>
              <a:rPr sz="1800" spc="-2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cạnh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lặp,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không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khuyên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879911" y="2725737"/>
            <a:ext cx="4104004" cy="508000"/>
            <a:chOff x="4879911" y="2725737"/>
            <a:chExt cx="4104004" cy="508000"/>
          </a:xfrm>
        </p:grpSpPr>
        <p:sp>
          <p:nvSpPr>
            <p:cNvPr id="45" name="object 45"/>
            <p:cNvSpPr/>
            <p:nvPr/>
          </p:nvSpPr>
          <p:spPr>
            <a:xfrm>
              <a:off x="4884673" y="2730500"/>
              <a:ext cx="4094479" cy="498475"/>
            </a:xfrm>
            <a:custGeom>
              <a:avLst/>
              <a:gdLst/>
              <a:ahLst/>
              <a:cxnLst/>
              <a:rect l="l" t="t" r="r" b="b"/>
              <a:pathLst>
                <a:path w="4094479" h="498475">
                  <a:moveTo>
                    <a:pt x="4094226" y="457199"/>
                  </a:moveTo>
                  <a:lnTo>
                    <a:pt x="4094226" y="0"/>
                  </a:lnTo>
                  <a:lnTo>
                    <a:pt x="589026" y="0"/>
                  </a:lnTo>
                  <a:lnTo>
                    <a:pt x="589026" y="266700"/>
                  </a:lnTo>
                  <a:lnTo>
                    <a:pt x="0" y="498348"/>
                  </a:lnTo>
                  <a:lnTo>
                    <a:pt x="589026" y="381000"/>
                  </a:lnTo>
                  <a:lnTo>
                    <a:pt x="589026" y="457200"/>
                  </a:lnTo>
                  <a:lnTo>
                    <a:pt x="4094226" y="4571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884673" y="2730500"/>
              <a:ext cx="4094479" cy="498475"/>
            </a:xfrm>
            <a:custGeom>
              <a:avLst/>
              <a:gdLst/>
              <a:ahLst/>
              <a:cxnLst/>
              <a:rect l="l" t="t" r="r" b="b"/>
              <a:pathLst>
                <a:path w="4094479" h="498475">
                  <a:moveTo>
                    <a:pt x="589026" y="0"/>
                  </a:moveTo>
                  <a:lnTo>
                    <a:pt x="589026" y="266700"/>
                  </a:lnTo>
                  <a:lnTo>
                    <a:pt x="0" y="498348"/>
                  </a:lnTo>
                  <a:lnTo>
                    <a:pt x="589026" y="381000"/>
                  </a:lnTo>
                  <a:lnTo>
                    <a:pt x="589026" y="457200"/>
                  </a:lnTo>
                  <a:lnTo>
                    <a:pt x="4094226" y="457199"/>
                  </a:lnTo>
                  <a:lnTo>
                    <a:pt x="4094226" y="0"/>
                  </a:lnTo>
                  <a:lnTo>
                    <a:pt x="1173480" y="0"/>
                  </a:lnTo>
                  <a:lnTo>
                    <a:pt x="589026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828284" y="2761996"/>
            <a:ext cx="279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Có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cạnh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lặp,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không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 khuyên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879911" y="3487737"/>
            <a:ext cx="4104004" cy="533400"/>
            <a:chOff x="4879911" y="3487737"/>
            <a:chExt cx="4104004" cy="533400"/>
          </a:xfrm>
        </p:grpSpPr>
        <p:sp>
          <p:nvSpPr>
            <p:cNvPr id="49" name="object 49"/>
            <p:cNvSpPr/>
            <p:nvPr/>
          </p:nvSpPr>
          <p:spPr>
            <a:xfrm>
              <a:off x="4884673" y="3492500"/>
              <a:ext cx="4094479" cy="523875"/>
            </a:xfrm>
            <a:custGeom>
              <a:avLst/>
              <a:gdLst/>
              <a:ahLst/>
              <a:cxnLst/>
              <a:rect l="l" t="t" r="r" b="b"/>
              <a:pathLst>
                <a:path w="4094479" h="523875">
                  <a:moveTo>
                    <a:pt x="4094226" y="457199"/>
                  </a:moveTo>
                  <a:lnTo>
                    <a:pt x="4094226" y="0"/>
                  </a:lnTo>
                  <a:lnTo>
                    <a:pt x="589026" y="0"/>
                  </a:lnTo>
                  <a:lnTo>
                    <a:pt x="589026" y="266700"/>
                  </a:lnTo>
                  <a:lnTo>
                    <a:pt x="0" y="523494"/>
                  </a:lnTo>
                  <a:lnTo>
                    <a:pt x="589026" y="381000"/>
                  </a:lnTo>
                  <a:lnTo>
                    <a:pt x="589026" y="457200"/>
                  </a:lnTo>
                  <a:lnTo>
                    <a:pt x="4094226" y="4571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884673" y="3492500"/>
              <a:ext cx="4094479" cy="523875"/>
            </a:xfrm>
            <a:custGeom>
              <a:avLst/>
              <a:gdLst/>
              <a:ahLst/>
              <a:cxnLst/>
              <a:rect l="l" t="t" r="r" b="b"/>
              <a:pathLst>
                <a:path w="4094479" h="523875">
                  <a:moveTo>
                    <a:pt x="589026" y="0"/>
                  </a:moveTo>
                  <a:lnTo>
                    <a:pt x="589026" y="266700"/>
                  </a:lnTo>
                  <a:lnTo>
                    <a:pt x="0" y="523494"/>
                  </a:lnTo>
                  <a:lnTo>
                    <a:pt x="589026" y="381000"/>
                  </a:lnTo>
                  <a:lnTo>
                    <a:pt x="589026" y="457200"/>
                  </a:lnTo>
                  <a:lnTo>
                    <a:pt x="4094226" y="457199"/>
                  </a:lnTo>
                  <a:lnTo>
                    <a:pt x="4094226" y="0"/>
                  </a:lnTo>
                  <a:lnTo>
                    <a:pt x="1173480" y="0"/>
                  </a:lnTo>
                  <a:lnTo>
                    <a:pt x="589026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993638" y="3523995"/>
            <a:ext cx="246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Có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cạnh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lặp,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Có</a:t>
            </a:r>
            <a:r>
              <a:rPr sz="1800" spc="-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khuyên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554793" y="4249737"/>
            <a:ext cx="4667250" cy="466725"/>
            <a:chOff x="3554793" y="4249737"/>
            <a:chExt cx="4667250" cy="466725"/>
          </a:xfrm>
        </p:grpSpPr>
        <p:sp>
          <p:nvSpPr>
            <p:cNvPr id="53" name="object 53"/>
            <p:cNvSpPr/>
            <p:nvPr/>
          </p:nvSpPr>
          <p:spPr>
            <a:xfrm>
              <a:off x="3559555" y="4254500"/>
              <a:ext cx="4657725" cy="457200"/>
            </a:xfrm>
            <a:custGeom>
              <a:avLst/>
              <a:gdLst/>
              <a:ahLst/>
              <a:cxnLst/>
              <a:rect l="l" t="t" r="r" b="b"/>
              <a:pathLst>
                <a:path w="4657725" h="457200">
                  <a:moveTo>
                    <a:pt x="4657344" y="457199"/>
                  </a:moveTo>
                  <a:lnTo>
                    <a:pt x="4657344" y="0"/>
                  </a:lnTo>
                  <a:lnTo>
                    <a:pt x="2295144" y="0"/>
                  </a:lnTo>
                  <a:lnTo>
                    <a:pt x="2295144" y="266700"/>
                  </a:lnTo>
                  <a:lnTo>
                    <a:pt x="0" y="445770"/>
                  </a:lnTo>
                  <a:lnTo>
                    <a:pt x="2295144" y="381000"/>
                  </a:lnTo>
                  <a:lnTo>
                    <a:pt x="2295144" y="457200"/>
                  </a:lnTo>
                  <a:lnTo>
                    <a:pt x="4657344" y="4571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559555" y="4254500"/>
              <a:ext cx="4657725" cy="457200"/>
            </a:xfrm>
            <a:custGeom>
              <a:avLst/>
              <a:gdLst/>
              <a:ahLst/>
              <a:cxnLst/>
              <a:rect l="l" t="t" r="r" b="b"/>
              <a:pathLst>
                <a:path w="4657725" h="457200">
                  <a:moveTo>
                    <a:pt x="2295144" y="0"/>
                  </a:moveTo>
                  <a:lnTo>
                    <a:pt x="2295144" y="266700"/>
                  </a:lnTo>
                  <a:lnTo>
                    <a:pt x="0" y="445770"/>
                  </a:lnTo>
                  <a:lnTo>
                    <a:pt x="2295144" y="381000"/>
                  </a:lnTo>
                  <a:lnTo>
                    <a:pt x="2295144" y="457200"/>
                  </a:lnTo>
                  <a:lnTo>
                    <a:pt x="4657344" y="457199"/>
                  </a:lnTo>
                  <a:lnTo>
                    <a:pt x="4657344" y="0"/>
                  </a:lnTo>
                  <a:lnTo>
                    <a:pt x="2689098" y="0"/>
                  </a:lnTo>
                  <a:lnTo>
                    <a:pt x="2295144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533895" y="4285995"/>
            <a:ext cx="1003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Có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thứ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tự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840287" y="5011737"/>
            <a:ext cx="4143375" cy="466725"/>
            <a:chOff x="4840287" y="5011737"/>
            <a:chExt cx="4143375" cy="466725"/>
          </a:xfrm>
        </p:grpSpPr>
        <p:sp>
          <p:nvSpPr>
            <p:cNvPr id="57" name="object 57"/>
            <p:cNvSpPr/>
            <p:nvPr/>
          </p:nvSpPr>
          <p:spPr>
            <a:xfrm>
              <a:off x="4845050" y="5016500"/>
              <a:ext cx="4133850" cy="457200"/>
            </a:xfrm>
            <a:custGeom>
              <a:avLst/>
              <a:gdLst/>
              <a:ahLst/>
              <a:cxnLst/>
              <a:rect l="l" t="t" r="r" b="b"/>
              <a:pathLst>
                <a:path w="4133850" h="457200">
                  <a:moveTo>
                    <a:pt x="4133850" y="457200"/>
                  </a:moveTo>
                  <a:lnTo>
                    <a:pt x="4133850" y="0"/>
                  </a:lnTo>
                  <a:lnTo>
                    <a:pt x="628650" y="0"/>
                  </a:lnTo>
                  <a:lnTo>
                    <a:pt x="628650" y="266700"/>
                  </a:lnTo>
                  <a:lnTo>
                    <a:pt x="0" y="432054"/>
                  </a:lnTo>
                  <a:lnTo>
                    <a:pt x="628650" y="381000"/>
                  </a:lnTo>
                  <a:lnTo>
                    <a:pt x="628650" y="457200"/>
                  </a:lnTo>
                  <a:lnTo>
                    <a:pt x="4133850" y="457200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845050" y="5016500"/>
              <a:ext cx="4133850" cy="457200"/>
            </a:xfrm>
            <a:custGeom>
              <a:avLst/>
              <a:gdLst/>
              <a:ahLst/>
              <a:cxnLst/>
              <a:rect l="l" t="t" r="r" b="b"/>
              <a:pathLst>
                <a:path w="4133850" h="457200">
                  <a:moveTo>
                    <a:pt x="628650" y="0"/>
                  </a:moveTo>
                  <a:lnTo>
                    <a:pt x="628650" y="266700"/>
                  </a:lnTo>
                  <a:lnTo>
                    <a:pt x="0" y="432054"/>
                  </a:lnTo>
                  <a:lnTo>
                    <a:pt x="628650" y="381000"/>
                  </a:lnTo>
                  <a:lnTo>
                    <a:pt x="628650" y="457200"/>
                  </a:lnTo>
                  <a:lnTo>
                    <a:pt x="4133850" y="457200"/>
                  </a:lnTo>
                  <a:lnTo>
                    <a:pt x="4133850" y="0"/>
                  </a:lnTo>
                  <a:lnTo>
                    <a:pt x="1213104" y="0"/>
                  </a:lnTo>
                  <a:lnTo>
                    <a:pt x="628650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5644641" y="5047996"/>
            <a:ext cx="3162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Không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cung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lặp,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không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khuyên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853241" y="5697537"/>
            <a:ext cx="4130675" cy="466725"/>
            <a:chOff x="4853241" y="5697537"/>
            <a:chExt cx="4130675" cy="466725"/>
          </a:xfrm>
        </p:grpSpPr>
        <p:sp>
          <p:nvSpPr>
            <p:cNvPr id="61" name="object 61"/>
            <p:cNvSpPr/>
            <p:nvPr/>
          </p:nvSpPr>
          <p:spPr>
            <a:xfrm>
              <a:off x="4858003" y="5702300"/>
              <a:ext cx="4121150" cy="457200"/>
            </a:xfrm>
            <a:custGeom>
              <a:avLst/>
              <a:gdLst/>
              <a:ahLst/>
              <a:cxnLst/>
              <a:rect l="l" t="t" r="r" b="b"/>
              <a:pathLst>
                <a:path w="4121150" h="457200">
                  <a:moveTo>
                    <a:pt x="4120896" y="457199"/>
                  </a:moveTo>
                  <a:lnTo>
                    <a:pt x="4120896" y="0"/>
                  </a:lnTo>
                  <a:lnTo>
                    <a:pt x="615696" y="0"/>
                  </a:lnTo>
                  <a:lnTo>
                    <a:pt x="615696" y="266700"/>
                  </a:lnTo>
                  <a:lnTo>
                    <a:pt x="0" y="432054"/>
                  </a:lnTo>
                  <a:lnTo>
                    <a:pt x="615696" y="381000"/>
                  </a:lnTo>
                  <a:lnTo>
                    <a:pt x="615696" y="457200"/>
                  </a:lnTo>
                  <a:lnTo>
                    <a:pt x="4120896" y="4571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858003" y="5702300"/>
              <a:ext cx="4121150" cy="457200"/>
            </a:xfrm>
            <a:custGeom>
              <a:avLst/>
              <a:gdLst/>
              <a:ahLst/>
              <a:cxnLst/>
              <a:rect l="l" t="t" r="r" b="b"/>
              <a:pathLst>
                <a:path w="4121150" h="457200">
                  <a:moveTo>
                    <a:pt x="615696" y="0"/>
                  </a:moveTo>
                  <a:lnTo>
                    <a:pt x="615696" y="266700"/>
                  </a:lnTo>
                  <a:lnTo>
                    <a:pt x="0" y="432054"/>
                  </a:lnTo>
                  <a:lnTo>
                    <a:pt x="615696" y="381000"/>
                  </a:lnTo>
                  <a:lnTo>
                    <a:pt x="615696" y="457200"/>
                  </a:lnTo>
                  <a:lnTo>
                    <a:pt x="4120896" y="457199"/>
                  </a:lnTo>
                  <a:lnTo>
                    <a:pt x="4120896" y="0"/>
                  </a:lnTo>
                  <a:lnTo>
                    <a:pt x="1200150" y="0"/>
                  </a:lnTo>
                  <a:lnTo>
                    <a:pt x="615696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5828284" y="5733794"/>
            <a:ext cx="279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Có</a:t>
            </a:r>
            <a:r>
              <a:rPr sz="1800" spc="-2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cung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lặp,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00"/>
                </a:solidFill>
                <a:latin typeface="Arial"/>
                <a:cs typeface="Arial"/>
              </a:rPr>
              <a:t>không</a:t>
            </a:r>
            <a:r>
              <a:rPr sz="1800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Arial"/>
                <a:cs typeface="Arial"/>
              </a:rPr>
              <a:t>khuyên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14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7030A0"/>
                </a:solidFill>
              </a:rPr>
              <a:t>III.</a:t>
            </a:r>
            <a:r>
              <a:rPr sz="3200" spc="-55" dirty="0"/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thuật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ngữ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cơ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bản</a:t>
            </a:r>
            <a:endParaRPr sz="3200">
              <a:solidFill>
                <a:srgbClr val="6C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464472" y="3930739"/>
            <a:ext cx="1618615" cy="1619885"/>
            <a:chOff x="3464472" y="3930739"/>
            <a:chExt cx="1618615" cy="1619885"/>
          </a:xfrm>
        </p:grpSpPr>
        <p:sp>
          <p:nvSpPr>
            <p:cNvPr id="4" name="object 4"/>
            <p:cNvSpPr/>
            <p:nvPr/>
          </p:nvSpPr>
          <p:spPr>
            <a:xfrm>
              <a:off x="3557265" y="4028933"/>
              <a:ext cx="1433830" cy="1424305"/>
            </a:xfrm>
            <a:custGeom>
              <a:avLst/>
              <a:gdLst/>
              <a:ahLst/>
              <a:cxnLst/>
              <a:rect l="l" t="t" r="r" b="b"/>
              <a:pathLst>
                <a:path w="1433829" h="1424304">
                  <a:moveTo>
                    <a:pt x="1433333" y="0"/>
                  </a:moveTo>
                  <a:lnTo>
                    <a:pt x="1188731" y="243072"/>
                  </a:lnTo>
                  <a:lnTo>
                    <a:pt x="945647" y="484628"/>
                  </a:lnTo>
                  <a:lnTo>
                    <a:pt x="704857" y="723897"/>
                  </a:lnTo>
                  <a:lnTo>
                    <a:pt x="467869" y="959350"/>
                  </a:lnTo>
                  <a:lnTo>
                    <a:pt x="233175" y="1192528"/>
                  </a:lnTo>
                  <a:lnTo>
                    <a:pt x="0" y="1424176"/>
                  </a:lnTo>
                </a:path>
              </a:pathLst>
            </a:custGeom>
            <a:ln w="5573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4472" y="5354882"/>
              <a:ext cx="184833" cy="1955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7709" y="3930739"/>
              <a:ext cx="184830" cy="1954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47801" y="878517"/>
            <a:ext cx="7597775" cy="5055871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65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Kề</a:t>
            </a:r>
            <a:r>
              <a:rPr sz="2800" spc="-2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và</a:t>
            </a:r>
            <a:r>
              <a:rPr sz="2800" spc="-1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6C0000"/>
                </a:solidFill>
                <a:latin typeface="Verdana"/>
                <a:cs typeface="Verdana"/>
              </a:rPr>
              <a:t>liên</a:t>
            </a:r>
            <a:r>
              <a:rPr sz="2800" spc="-10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2800" spc="-20" dirty="0">
                <a:solidFill>
                  <a:srgbClr val="6C0000"/>
                </a:solidFill>
                <a:latin typeface="Verdana"/>
                <a:cs typeface="Verdana"/>
              </a:rPr>
              <a:t>thuộc</a:t>
            </a:r>
            <a:endParaRPr sz="2800">
              <a:solidFill>
                <a:srgbClr val="6C0000"/>
              </a:solidFill>
              <a:latin typeface="Verdana"/>
              <a:cs typeface="Verdana"/>
            </a:endParaRPr>
          </a:p>
          <a:p>
            <a:pPr marL="755650" marR="5080" lvl="1" indent="-317500">
              <a:lnSpc>
                <a:spcPct val="100000"/>
              </a:lnSpc>
              <a:spcBef>
                <a:spcPts val="400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  <a:tab pos="1966595" algn="l"/>
                <a:tab pos="4609465" algn="l"/>
              </a:tabLst>
            </a:pPr>
            <a:r>
              <a:rPr sz="2400" dirty="0">
                <a:latin typeface="Arial"/>
                <a:cs typeface="Arial"/>
              </a:rPr>
              <a:t>Giả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vô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hướng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</a:t>
            </a:r>
            <a:r>
              <a:rPr sz="2400" spc="-25" dirty="0">
                <a:latin typeface="Arial"/>
                <a:cs typeface="Arial"/>
              </a:rPr>
              <a:t> và </a:t>
            </a:r>
            <a:r>
              <a:rPr sz="2400" dirty="0">
                <a:latin typeface="Arial"/>
                <a:cs typeface="Arial"/>
              </a:rPr>
              <a:t>e=(u,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v)</a:t>
            </a:r>
            <a:r>
              <a:rPr sz="2400" dirty="0">
                <a:latin typeface="Arial"/>
                <a:cs typeface="Arial"/>
              </a:rPr>
              <a:t>	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cạnh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thị,</a:t>
            </a:r>
            <a:r>
              <a:rPr sz="2400" dirty="0">
                <a:latin typeface="Arial"/>
                <a:cs typeface="Arial"/>
              </a:rPr>
              <a:t>	khi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đó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nói:</a:t>
            </a:r>
            <a:endParaRPr sz="2400">
              <a:latin typeface="Arial"/>
              <a:cs typeface="Arial"/>
            </a:endParaRPr>
          </a:p>
          <a:p>
            <a:pPr marL="755650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Arial"/>
                <a:cs typeface="Arial"/>
              </a:rPr>
              <a:t>+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kề</a:t>
            </a:r>
            <a:r>
              <a:rPr sz="24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nhau</a:t>
            </a:r>
            <a:r>
              <a:rPr sz="24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liên</a:t>
            </a:r>
            <a:r>
              <a:rPr sz="2400" u="heavy" spc="-2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thuộc</a:t>
            </a:r>
            <a:r>
              <a:rPr sz="24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25" dirty="0">
                <a:latin typeface="Arial"/>
                <a:cs typeface="Arial"/>
              </a:rPr>
              <a:t> v.</a:t>
            </a:r>
            <a:endParaRPr sz="2400">
              <a:latin typeface="Arial"/>
              <a:cs typeface="Arial"/>
            </a:endParaRPr>
          </a:p>
          <a:p>
            <a:pPr marL="755650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Arial"/>
                <a:cs typeface="Arial"/>
              </a:rPr>
              <a:t>+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đỉnh</a:t>
            </a:r>
            <a:r>
              <a:rPr sz="2400" u="heavy" spc="-2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đầu</a:t>
            </a:r>
            <a:r>
              <a:rPr sz="24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cạnh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2400">
              <a:latin typeface="Arial"/>
              <a:cs typeface="Arial"/>
            </a:endParaRPr>
          </a:p>
          <a:p>
            <a:pPr marL="1500505" algn="ctr">
              <a:lnSpc>
                <a:spcPct val="100000"/>
              </a:lnSpc>
            </a:pPr>
            <a:r>
              <a:rPr sz="2900" spc="-50" dirty="0">
                <a:latin typeface="Arial"/>
                <a:cs typeface="Arial"/>
              </a:rPr>
              <a:t>v</a:t>
            </a:r>
            <a:endParaRPr sz="2900">
              <a:latin typeface="Arial"/>
              <a:cs typeface="Arial"/>
            </a:endParaRPr>
          </a:p>
          <a:p>
            <a:pPr marR="283845" algn="ctr">
              <a:lnSpc>
                <a:spcPct val="100000"/>
              </a:lnSpc>
              <a:spcBef>
                <a:spcPts val="1010"/>
              </a:spcBef>
            </a:pPr>
            <a:r>
              <a:rPr sz="2900" spc="-50" dirty="0">
                <a:latin typeface="Arial"/>
                <a:cs typeface="Arial"/>
              </a:rPr>
              <a:t>e</a:t>
            </a:r>
            <a:endParaRPr sz="2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2900">
              <a:latin typeface="Arial"/>
              <a:cs typeface="Arial"/>
            </a:endParaRPr>
          </a:p>
          <a:p>
            <a:pPr marR="1896110" algn="ctr">
              <a:lnSpc>
                <a:spcPct val="100000"/>
              </a:lnSpc>
            </a:pPr>
            <a:r>
              <a:rPr sz="2900" spc="-50" dirty="0">
                <a:latin typeface="Arial"/>
                <a:cs typeface="Arial"/>
              </a:rPr>
              <a:t>u</a:t>
            </a:r>
            <a:endParaRPr sz="2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7030A0"/>
                </a:solidFill>
              </a:rPr>
              <a:t>III.</a:t>
            </a:r>
            <a:r>
              <a:rPr sz="3200" spc="-55" dirty="0"/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thuật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ngữ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cơ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bản</a:t>
            </a:r>
            <a:endParaRPr sz="3200">
              <a:solidFill>
                <a:srgbClr val="6C0000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4025" y="1892300"/>
            <a:ext cx="4638675" cy="2590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7801" y="937767"/>
            <a:ext cx="7853680" cy="50018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3329"/>
              </a:lnSpc>
              <a:spcBef>
                <a:spcPts val="1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Bậc</a:t>
            </a:r>
            <a:r>
              <a:rPr sz="2800" spc="-5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của</a:t>
            </a:r>
            <a:r>
              <a:rPr sz="2800" spc="-4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spc="-20" dirty="0">
                <a:solidFill>
                  <a:srgbClr val="7030A0"/>
                </a:solidFill>
                <a:latin typeface="Verdana"/>
                <a:cs typeface="Verdana"/>
              </a:rPr>
              <a:t>đỉnh</a:t>
            </a:r>
            <a:endParaRPr sz="2800">
              <a:solidFill>
                <a:srgbClr val="7030A0"/>
              </a:solidFill>
              <a:latin typeface="Verdana"/>
              <a:cs typeface="Verdana"/>
            </a:endParaRPr>
          </a:p>
          <a:p>
            <a:pPr marL="755015" marR="41275" lvl="1" indent="-317500">
              <a:lnSpc>
                <a:spcPct val="79800"/>
              </a:lnSpc>
              <a:spcBef>
                <a:spcPts val="55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Bậc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vô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hướng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số</a:t>
            </a:r>
            <a:r>
              <a:rPr sz="24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cạnh</a:t>
            </a:r>
            <a:r>
              <a:rPr sz="2400" u="heavy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spc="-2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liên</a:t>
            </a:r>
            <a:r>
              <a:rPr sz="24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thuộc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nó.</a:t>
            </a:r>
            <a:endParaRPr sz="2400">
              <a:latin typeface="Arial"/>
              <a:cs typeface="Arial"/>
            </a:endParaRPr>
          </a:p>
          <a:p>
            <a:pPr marL="755015" lvl="1" indent="-317500">
              <a:lnSpc>
                <a:spcPts val="2875"/>
              </a:lnSpc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Ký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hiệu: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3300"/>
                </a:solidFill>
                <a:latin typeface="Arial"/>
                <a:cs typeface="Arial"/>
              </a:rPr>
              <a:t>deg(v)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610"/>
              </a:spcBef>
              <a:buClr>
                <a:srgbClr val="1B9AD9"/>
              </a:buClr>
              <a:buFont typeface="Wingdings"/>
              <a:buChar char="■"/>
            </a:pPr>
            <a:endParaRPr sz="24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deg(1)=</a:t>
            </a:r>
            <a:r>
              <a:rPr sz="18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2,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deg(2)=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 2,</a:t>
            </a:r>
            <a:endParaRPr sz="18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deg(3)=</a:t>
            </a:r>
            <a:r>
              <a:rPr sz="18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deg(4)=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 3,</a:t>
            </a:r>
            <a:endParaRPr sz="18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deg(5)=</a:t>
            </a:r>
            <a:r>
              <a:rPr sz="18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deg(6)=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 1,</a:t>
            </a:r>
            <a:endParaRPr sz="18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deg(7)=</a:t>
            </a:r>
            <a:r>
              <a:rPr sz="1800" spc="-3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0.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1800">
              <a:latin typeface="Arial"/>
              <a:cs typeface="Arial"/>
            </a:endParaRPr>
          </a:p>
          <a:p>
            <a:pPr marL="755015" marR="5080" lvl="1" indent="-317500">
              <a:lnSpc>
                <a:spcPct val="79800"/>
              </a:lnSpc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Đỉnh</a:t>
            </a:r>
            <a:r>
              <a:rPr sz="2400" u="heavy" spc="-4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treo</a:t>
            </a:r>
            <a:r>
              <a:rPr sz="24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chỉ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duy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nhất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cạnh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thuộc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nó.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35" dirty="0">
                <a:latin typeface="Wingdings"/>
                <a:cs typeface="Wingdings"/>
              </a:rPr>
              <a:t>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  <a:p>
            <a:pPr marL="755015" marR="22225" lvl="1" indent="-317500">
              <a:lnSpc>
                <a:spcPct val="8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Đỉnh</a:t>
            </a:r>
            <a:r>
              <a:rPr sz="2400" u="heavy" spc="-4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cô</a:t>
            </a:r>
            <a:r>
              <a:rPr sz="2400" u="heavy" spc="-4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lập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cạnh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nào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với </a:t>
            </a:r>
            <a:r>
              <a:rPr sz="2400" spc="-20" dirty="0">
                <a:latin typeface="Arial"/>
                <a:cs typeface="Arial"/>
              </a:rPr>
              <a:t>nó.</a:t>
            </a:r>
            <a:r>
              <a:rPr sz="2400" spc="-20" dirty="0">
                <a:latin typeface="Wingdings"/>
                <a:cs typeface="Wingdings"/>
              </a:rPr>
              <a:t>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12306"/>
            <a:ext cx="9118600" cy="320675"/>
          </a:xfrm>
          <a:custGeom>
            <a:avLst/>
            <a:gdLst/>
            <a:ahLst/>
            <a:cxnLst/>
            <a:rect l="l" t="t" r="r" b="b"/>
            <a:pathLst>
              <a:path w="9118600" h="320675">
                <a:moveTo>
                  <a:pt x="0" y="320294"/>
                </a:moveTo>
                <a:lnTo>
                  <a:pt x="9118600" y="320294"/>
                </a:lnTo>
                <a:lnTo>
                  <a:pt x="9118600" y="0"/>
                </a:lnTo>
                <a:lnTo>
                  <a:pt x="0" y="0"/>
                </a:lnTo>
                <a:lnTo>
                  <a:pt x="0" y="32029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18600" cy="969010"/>
            <a:chOff x="0" y="0"/>
            <a:chExt cx="9118600" cy="9690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6275"/>
              <a:ext cx="9118600" cy="7924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18600" cy="22885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15316" cy="11455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22401" y="139700"/>
            <a:ext cx="8169275" cy="271526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190"/>
              </a:spcBef>
            </a:pPr>
            <a:r>
              <a:rPr sz="3200" dirty="0">
                <a:solidFill>
                  <a:srgbClr val="6C0000"/>
                </a:solidFill>
                <a:latin typeface="Verdana"/>
                <a:cs typeface="Verdana"/>
              </a:rPr>
              <a:t>III.</a:t>
            </a:r>
            <a:r>
              <a:rPr sz="3200" spc="-5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6C0000"/>
                </a:solidFill>
                <a:latin typeface="Verdana"/>
                <a:cs typeface="Verdana"/>
              </a:rPr>
              <a:t>Các</a:t>
            </a:r>
            <a:r>
              <a:rPr sz="3200" spc="-5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6C0000"/>
                </a:solidFill>
                <a:latin typeface="Verdana"/>
                <a:cs typeface="Verdana"/>
              </a:rPr>
              <a:t>thuật</a:t>
            </a:r>
            <a:r>
              <a:rPr sz="3200" spc="-5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6C0000"/>
                </a:solidFill>
                <a:latin typeface="Verdana"/>
                <a:cs typeface="Verdana"/>
              </a:rPr>
              <a:t>ngữ</a:t>
            </a:r>
            <a:r>
              <a:rPr sz="3200" spc="-5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3200" dirty="0">
                <a:solidFill>
                  <a:srgbClr val="6C0000"/>
                </a:solidFill>
                <a:latin typeface="Verdana"/>
                <a:cs typeface="Verdana"/>
              </a:rPr>
              <a:t>cơ</a:t>
            </a:r>
            <a:r>
              <a:rPr sz="3200" spc="-55" dirty="0">
                <a:solidFill>
                  <a:srgbClr val="6C0000"/>
                </a:solidFill>
                <a:latin typeface="Verdana"/>
                <a:cs typeface="Verdana"/>
              </a:rPr>
              <a:t> </a:t>
            </a:r>
            <a:r>
              <a:rPr sz="3200" spc="-25" dirty="0">
                <a:solidFill>
                  <a:srgbClr val="6C0000"/>
                </a:solidFill>
                <a:latin typeface="Verdana"/>
                <a:cs typeface="Verdana"/>
              </a:rPr>
              <a:t>bản</a:t>
            </a:r>
            <a:endParaRPr sz="3200">
              <a:solidFill>
                <a:srgbClr val="6C0000"/>
              </a:solidFill>
              <a:latin typeface="Verdana"/>
              <a:cs typeface="Verdana"/>
            </a:endParaRPr>
          </a:p>
          <a:p>
            <a:pPr marL="380365" indent="-342265">
              <a:lnSpc>
                <a:spcPts val="3354"/>
              </a:lnSpc>
              <a:spcBef>
                <a:spcPts val="955"/>
              </a:spcBef>
              <a:buClr>
                <a:srgbClr val="65CCFF"/>
              </a:buClr>
              <a:buFont typeface="Wingdings"/>
              <a:buChar char=""/>
              <a:tabLst>
                <a:tab pos="380365" algn="l"/>
              </a:tabLst>
            </a:pP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Định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lý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bắt</a:t>
            </a:r>
            <a:r>
              <a:rPr sz="2800" spc="-25" dirty="0">
                <a:solidFill>
                  <a:srgbClr val="7030A0"/>
                </a:solidFill>
                <a:latin typeface="Verdana"/>
                <a:cs typeface="Verdana"/>
              </a:rPr>
              <a:t> tay</a:t>
            </a:r>
            <a:endParaRPr sz="2800">
              <a:solidFill>
                <a:srgbClr val="7030A0"/>
              </a:solidFill>
              <a:latin typeface="Verdana"/>
              <a:cs typeface="Verdana"/>
            </a:endParaRPr>
          </a:p>
          <a:p>
            <a:pPr marL="360680">
              <a:lnSpc>
                <a:spcPts val="2740"/>
              </a:lnSpc>
            </a:pPr>
            <a:r>
              <a:rPr sz="2400" i="1" dirty="0">
                <a:latin typeface="Verdana"/>
                <a:cs typeface="Verdana"/>
              </a:rPr>
              <a:t>Giả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sử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G=(V,E)</a:t>
            </a:r>
            <a:r>
              <a:rPr sz="2400" i="1" spc="-3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là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đồ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thị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vô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hướng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với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m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cạnh.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spc="-25" dirty="0">
                <a:latin typeface="Verdana"/>
                <a:cs typeface="Verdana"/>
              </a:rPr>
              <a:t>Khi</a:t>
            </a:r>
            <a:endParaRPr sz="2400">
              <a:latin typeface="Verdana"/>
              <a:cs typeface="Verdana"/>
            </a:endParaRPr>
          </a:p>
          <a:p>
            <a:pPr marL="380365">
              <a:lnSpc>
                <a:spcPts val="2705"/>
              </a:lnSpc>
            </a:pPr>
            <a:r>
              <a:rPr sz="2400" i="1" dirty="0">
                <a:latin typeface="Verdana"/>
                <a:cs typeface="Verdana"/>
              </a:rPr>
              <a:t>đó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tổng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tất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cả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các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bậc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của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đỉnh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trong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V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bằng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spc="-25" dirty="0">
                <a:latin typeface="Verdana"/>
                <a:cs typeface="Verdana"/>
              </a:rPr>
              <a:t>2m.</a:t>
            </a:r>
            <a:endParaRPr sz="2400">
              <a:latin typeface="Verdana"/>
              <a:cs typeface="Verdana"/>
            </a:endParaRPr>
          </a:p>
          <a:p>
            <a:pPr marL="2743835">
              <a:lnSpc>
                <a:spcPts val="4520"/>
              </a:lnSpc>
            </a:pPr>
            <a:r>
              <a:rPr sz="5700" baseline="-8771" dirty="0">
                <a:latin typeface="Symbol"/>
                <a:cs typeface="Symbol"/>
              </a:rPr>
              <a:t></a:t>
            </a:r>
            <a:r>
              <a:rPr sz="5700" spc="-127" baseline="-8771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deg(</a:t>
            </a:r>
            <a:r>
              <a:rPr sz="2500" spc="229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v</a:t>
            </a:r>
            <a:r>
              <a:rPr sz="2500" i="1" spc="-3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)</a:t>
            </a:r>
            <a:r>
              <a:rPr sz="2500" spc="2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3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2</a:t>
            </a:r>
            <a:r>
              <a:rPr sz="2500" spc="-340" dirty="0">
                <a:latin typeface="Times New Roman"/>
                <a:cs typeface="Times New Roman"/>
              </a:rPr>
              <a:t> </a:t>
            </a:r>
            <a:r>
              <a:rPr sz="2500" i="1" spc="-50" dirty="0">
                <a:latin typeface="Times New Roman"/>
                <a:cs typeface="Times New Roman"/>
              </a:rPr>
              <a:t>m</a:t>
            </a:r>
            <a:endParaRPr sz="2500">
              <a:latin typeface="Times New Roman"/>
              <a:cs typeface="Times New Roman"/>
            </a:endParaRPr>
          </a:p>
          <a:p>
            <a:pPr marL="2752725">
              <a:lnSpc>
                <a:spcPct val="100000"/>
              </a:lnSpc>
              <a:spcBef>
                <a:spcPts val="220"/>
              </a:spcBef>
            </a:pPr>
            <a:r>
              <a:rPr sz="1450" i="1" spc="-25" dirty="0">
                <a:latin typeface="Times New Roman"/>
                <a:cs typeface="Times New Roman"/>
              </a:rPr>
              <a:t>v</a:t>
            </a:r>
            <a:r>
              <a:rPr sz="1450" spc="-25" dirty="0">
                <a:latin typeface="Symbol"/>
                <a:cs typeface="Symbol"/>
              </a:rPr>
              <a:t></a:t>
            </a:r>
            <a:r>
              <a:rPr sz="1450" i="1" spc="-25" dirty="0">
                <a:latin typeface="Times New Roman"/>
                <a:cs typeface="Times New Roman"/>
              </a:rPr>
              <a:t>V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0605" y="4205075"/>
            <a:ext cx="2700020" cy="121094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0005">
              <a:lnSpc>
                <a:spcPts val="2885"/>
              </a:lnSpc>
              <a:spcBef>
                <a:spcPts val="140"/>
              </a:spcBef>
            </a:pPr>
            <a:r>
              <a:rPr sz="2500" i="1" dirty="0">
                <a:latin typeface="Times New Roman"/>
                <a:cs typeface="Times New Roman"/>
              </a:rPr>
              <a:t>m</a:t>
            </a:r>
            <a:r>
              <a:rPr sz="2500" i="1" spc="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7</a:t>
            </a:r>
            <a:endParaRPr sz="2500">
              <a:latin typeface="Times New Roman"/>
              <a:cs typeface="Times New Roman"/>
            </a:endParaRPr>
          </a:p>
          <a:p>
            <a:pPr marL="38100">
              <a:lnSpc>
                <a:spcPts val="4445"/>
              </a:lnSpc>
            </a:pPr>
            <a:r>
              <a:rPr sz="5700" baseline="-8771" dirty="0">
                <a:latin typeface="Symbol"/>
                <a:cs typeface="Symbol"/>
              </a:rPr>
              <a:t></a:t>
            </a:r>
            <a:r>
              <a:rPr sz="5700" spc="-839" baseline="-8771" dirty="0">
                <a:latin typeface="Times New Roman"/>
                <a:cs typeface="Times New Roman"/>
              </a:rPr>
              <a:t> </a:t>
            </a:r>
            <a:r>
              <a:rPr sz="2500" spc="50" dirty="0">
                <a:latin typeface="Times New Roman"/>
                <a:cs typeface="Times New Roman"/>
              </a:rPr>
              <a:t>deg(</a:t>
            </a:r>
            <a:r>
              <a:rPr sz="2500" i="1" spc="50" dirty="0">
                <a:latin typeface="Times New Roman"/>
                <a:cs typeface="Times New Roman"/>
              </a:rPr>
              <a:t>v</a:t>
            </a:r>
            <a:r>
              <a:rPr sz="2500" spc="50" dirty="0">
                <a:latin typeface="Times New Roman"/>
                <a:cs typeface="Times New Roman"/>
              </a:rPr>
              <a:t>)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55" dirty="0">
                <a:latin typeface="Times New Roman"/>
                <a:cs typeface="Times New Roman"/>
              </a:rPr>
              <a:t>2</a:t>
            </a:r>
            <a:r>
              <a:rPr sz="2500" i="1" spc="55" dirty="0">
                <a:latin typeface="Times New Roman"/>
                <a:cs typeface="Times New Roman"/>
              </a:rPr>
              <a:t>m</a:t>
            </a:r>
            <a:r>
              <a:rPr sz="2500" i="1" spc="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-26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14</a:t>
            </a:r>
            <a:endParaRPr sz="2500"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  <a:spcBef>
                <a:spcPts val="210"/>
              </a:spcBef>
            </a:pPr>
            <a:r>
              <a:rPr sz="1450" i="1" spc="-25" dirty="0">
                <a:latin typeface="Times New Roman"/>
                <a:cs typeface="Times New Roman"/>
              </a:rPr>
              <a:t>v</a:t>
            </a:r>
            <a:r>
              <a:rPr sz="1450" spc="-25" dirty="0">
                <a:latin typeface="Symbol"/>
                <a:cs typeface="Symbol"/>
              </a:rPr>
              <a:t></a:t>
            </a:r>
            <a:r>
              <a:rPr sz="1450" i="1" spc="-25" dirty="0">
                <a:latin typeface="Times New Roman"/>
                <a:cs typeface="Times New Roman"/>
              </a:rPr>
              <a:t>V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97350" y="3187700"/>
            <a:ext cx="4781549" cy="26670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18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III.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thuật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ngữ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cơ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bản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607" y="937767"/>
            <a:ext cx="8422640" cy="309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0530" indent="-342265">
              <a:lnSpc>
                <a:spcPts val="3354"/>
              </a:lnSpc>
              <a:spcBef>
                <a:spcPts val="100"/>
              </a:spcBef>
              <a:buClr>
                <a:srgbClr val="65CCFF"/>
              </a:buClr>
              <a:buFont typeface="Wingdings"/>
              <a:buChar char=""/>
              <a:tabLst>
                <a:tab pos="430530" algn="l"/>
              </a:tabLst>
            </a:pP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Định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lý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bắt</a:t>
            </a:r>
            <a:r>
              <a:rPr sz="2800" spc="-25" dirty="0">
                <a:solidFill>
                  <a:srgbClr val="7030A0"/>
                </a:solidFill>
                <a:latin typeface="Verdana"/>
                <a:cs typeface="Verdana"/>
              </a:rPr>
              <a:t> tay</a:t>
            </a:r>
            <a:endParaRPr sz="2800">
              <a:solidFill>
                <a:srgbClr val="7030A0"/>
              </a:solidFill>
              <a:latin typeface="Verdana"/>
              <a:cs typeface="Verdana"/>
            </a:endParaRPr>
          </a:p>
          <a:p>
            <a:pPr marL="411480">
              <a:lnSpc>
                <a:spcPts val="2875"/>
              </a:lnSpc>
            </a:pPr>
            <a:r>
              <a:rPr sz="2400" dirty="0">
                <a:latin typeface="Verdana"/>
                <a:cs typeface="Verdana"/>
              </a:rPr>
              <a:t>Chứng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minh?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400">
              <a:latin typeface="Verdana"/>
              <a:cs typeface="Verdana"/>
            </a:endParaRPr>
          </a:p>
          <a:p>
            <a:pPr marL="354965" marR="5080" indent="-342900">
              <a:lnSpc>
                <a:spcPct val="79800"/>
              </a:lnSpc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Mỗi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một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cạnh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nối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với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đúng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hai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đỉnh,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vì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thế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một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cạnh </a:t>
            </a:r>
            <a:r>
              <a:rPr sz="2400" dirty="0">
                <a:latin typeface="Verdana"/>
                <a:cs typeface="Verdana"/>
              </a:rPr>
              <a:t>đóng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góp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2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đơn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vị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vào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tổng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các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bậc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của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tất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cả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các </a:t>
            </a:r>
            <a:r>
              <a:rPr sz="2400" spc="-10" dirty="0">
                <a:latin typeface="Verdana"/>
                <a:cs typeface="Verdana"/>
              </a:rPr>
              <a:t>đỉnh.</a:t>
            </a:r>
            <a:endParaRPr sz="2400">
              <a:latin typeface="Verdana"/>
              <a:cs typeface="Verdana"/>
            </a:endParaRPr>
          </a:p>
          <a:p>
            <a:pPr marL="355600">
              <a:lnSpc>
                <a:spcPts val="2005"/>
              </a:lnSpc>
            </a:pP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tổng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các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bậc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của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tất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cả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các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đỉnh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gấp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đôi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số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cạnh</a:t>
            </a:r>
            <a:endParaRPr sz="2400">
              <a:latin typeface="Verdana"/>
              <a:cs typeface="Verdana"/>
            </a:endParaRPr>
          </a:p>
          <a:p>
            <a:pPr marL="355600">
              <a:lnSpc>
                <a:spcPts val="2595"/>
              </a:lnSpc>
            </a:pPr>
            <a:r>
              <a:rPr sz="2400" dirty="0">
                <a:latin typeface="Verdana"/>
                <a:cs typeface="Verdana"/>
              </a:rPr>
              <a:t>của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đồ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thị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III.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thuật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ngữ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cơ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bản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5402" y="877628"/>
            <a:ext cx="8604250" cy="93027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Hệ</a:t>
            </a:r>
            <a:r>
              <a:rPr sz="2800" spc="-4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quả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của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định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lý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bắt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7030A0"/>
                </a:solidFill>
                <a:latin typeface="Verdana"/>
                <a:cs typeface="Verdana"/>
              </a:rPr>
              <a:t>tay</a:t>
            </a:r>
            <a:endParaRPr sz="2800">
              <a:solidFill>
                <a:srgbClr val="7030A0"/>
              </a:solidFill>
              <a:latin typeface="Verdana"/>
              <a:cs typeface="Verdana"/>
            </a:endParaRPr>
          </a:p>
          <a:p>
            <a:pPr marL="335915">
              <a:lnSpc>
                <a:spcPct val="100000"/>
              </a:lnSpc>
              <a:spcBef>
                <a:spcPts val="405"/>
              </a:spcBef>
            </a:pPr>
            <a:r>
              <a:rPr sz="2400" i="1" dirty="0">
                <a:latin typeface="Verdana"/>
                <a:cs typeface="Verdana"/>
              </a:rPr>
              <a:t>Trong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đồ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thị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vô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hướng,</a:t>
            </a:r>
            <a:r>
              <a:rPr sz="2400" i="1" spc="-3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số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đỉnh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bậc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lẻ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là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một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số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spc="-10" dirty="0">
                <a:latin typeface="Verdana"/>
                <a:cs typeface="Verdana"/>
              </a:rPr>
              <a:t>chẵn.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63737" y="2082800"/>
            <a:ext cx="5267325" cy="2710180"/>
            <a:chOff x="1963737" y="2082800"/>
            <a:chExt cx="5267325" cy="27101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2350" y="2082800"/>
              <a:ext cx="4781550" cy="26670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68500" y="2730500"/>
              <a:ext cx="5257800" cy="2057400"/>
            </a:xfrm>
            <a:custGeom>
              <a:avLst/>
              <a:gdLst/>
              <a:ahLst/>
              <a:cxnLst/>
              <a:rect l="l" t="t" r="r" b="b"/>
              <a:pathLst>
                <a:path w="5257800" h="2057400">
                  <a:moveTo>
                    <a:pt x="342900" y="1447800"/>
                  </a:moveTo>
                  <a:lnTo>
                    <a:pt x="292147" y="1451103"/>
                  </a:lnTo>
                  <a:lnTo>
                    <a:pt x="243734" y="1460699"/>
                  </a:lnTo>
                  <a:lnTo>
                    <a:pt x="198186" y="1476118"/>
                  </a:lnTo>
                  <a:lnTo>
                    <a:pt x="156028" y="1496888"/>
                  </a:lnTo>
                  <a:lnTo>
                    <a:pt x="117786" y="1522540"/>
                  </a:lnTo>
                  <a:lnTo>
                    <a:pt x="83986" y="1552602"/>
                  </a:lnTo>
                  <a:lnTo>
                    <a:pt x="55152" y="1586604"/>
                  </a:lnTo>
                  <a:lnTo>
                    <a:pt x="31811" y="1624075"/>
                  </a:lnTo>
                  <a:lnTo>
                    <a:pt x="14488" y="1664545"/>
                  </a:lnTo>
                  <a:lnTo>
                    <a:pt x="3709" y="1707544"/>
                  </a:lnTo>
                  <a:lnTo>
                    <a:pt x="0" y="1752600"/>
                  </a:lnTo>
                  <a:lnTo>
                    <a:pt x="3709" y="1797655"/>
                  </a:lnTo>
                  <a:lnTo>
                    <a:pt x="14488" y="1840654"/>
                  </a:lnTo>
                  <a:lnTo>
                    <a:pt x="31811" y="1881124"/>
                  </a:lnTo>
                  <a:lnTo>
                    <a:pt x="55152" y="1918595"/>
                  </a:lnTo>
                  <a:lnTo>
                    <a:pt x="83986" y="1952597"/>
                  </a:lnTo>
                  <a:lnTo>
                    <a:pt x="117786" y="1982659"/>
                  </a:lnTo>
                  <a:lnTo>
                    <a:pt x="156028" y="2008311"/>
                  </a:lnTo>
                  <a:lnTo>
                    <a:pt x="198186" y="2029081"/>
                  </a:lnTo>
                  <a:lnTo>
                    <a:pt x="243734" y="2044500"/>
                  </a:lnTo>
                  <a:lnTo>
                    <a:pt x="292147" y="2054096"/>
                  </a:lnTo>
                  <a:lnTo>
                    <a:pt x="342900" y="2057400"/>
                  </a:lnTo>
                  <a:lnTo>
                    <a:pt x="393652" y="2054096"/>
                  </a:lnTo>
                  <a:lnTo>
                    <a:pt x="442065" y="2044500"/>
                  </a:lnTo>
                  <a:lnTo>
                    <a:pt x="487613" y="2029081"/>
                  </a:lnTo>
                  <a:lnTo>
                    <a:pt x="529771" y="2008311"/>
                  </a:lnTo>
                  <a:lnTo>
                    <a:pt x="568013" y="1982659"/>
                  </a:lnTo>
                  <a:lnTo>
                    <a:pt x="601813" y="1952597"/>
                  </a:lnTo>
                  <a:lnTo>
                    <a:pt x="630647" y="1918595"/>
                  </a:lnTo>
                  <a:lnTo>
                    <a:pt x="653988" y="1881124"/>
                  </a:lnTo>
                  <a:lnTo>
                    <a:pt x="671311" y="1840654"/>
                  </a:lnTo>
                  <a:lnTo>
                    <a:pt x="682090" y="1797655"/>
                  </a:lnTo>
                  <a:lnTo>
                    <a:pt x="685800" y="1752600"/>
                  </a:lnTo>
                  <a:lnTo>
                    <a:pt x="682090" y="1707544"/>
                  </a:lnTo>
                  <a:lnTo>
                    <a:pt x="671311" y="1664545"/>
                  </a:lnTo>
                  <a:lnTo>
                    <a:pt x="653988" y="1624075"/>
                  </a:lnTo>
                  <a:lnTo>
                    <a:pt x="630647" y="1586604"/>
                  </a:lnTo>
                  <a:lnTo>
                    <a:pt x="601813" y="1552602"/>
                  </a:lnTo>
                  <a:lnTo>
                    <a:pt x="568013" y="1522540"/>
                  </a:lnTo>
                  <a:lnTo>
                    <a:pt x="529771" y="1496888"/>
                  </a:lnTo>
                  <a:lnTo>
                    <a:pt x="487613" y="1476118"/>
                  </a:lnTo>
                  <a:lnTo>
                    <a:pt x="442065" y="1460699"/>
                  </a:lnTo>
                  <a:lnTo>
                    <a:pt x="393652" y="1451103"/>
                  </a:lnTo>
                  <a:lnTo>
                    <a:pt x="342900" y="1447800"/>
                  </a:lnTo>
                  <a:close/>
                </a:path>
                <a:path w="5257800" h="2057400">
                  <a:moveTo>
                    <a:pt x="3771900" y="0"/>
                  </a:moveTo>
                  <a:lnTo>
                    <a:pt x="3721147" y="3303"/>
                  </a:lnTo>
                  <a:lnTo>
                    <a:pt x="3672734" y="12899"/>
                  </a:lnTo>
                  <a:lnTo>
                    <a:pt x="3627186" y="28318"/>
                  </a:lnTo>
                  <a:lnTo>
                    <a:pt x="3585028" y="49088"/>
                  </a:lnTo>
                  <a:lnTo>
                    <a:pt x="3546786" y="74740"/>
                  </a:lnTo>
                  <a:lnTo>
                    <a:pt x="3512986" y="104802"/>
                  </a:lnTo>
                  <a:lnTo>
                    <a:pt x="3484152" y="138804"/>
                  </a:lnTo>
                  <a:lnTo>
                    <a:pt x="3460811" y="176275"/>
                  </a:lnTo>
                  <a:lnTo>
                    <a:pt x="3443488" y="216745"/>
                  </a:lnTo>
                  <a:lnTo>
                    <a:pt x="3432709" y="259744"/>
                  </a:lnTo>
                  <a:lnTo>
                    <a:pt x="3429000" y="304799"/>
                  </a:lnTo>
                  <a:lnTo>
                    <a:pt x="3432709" y="349855"/>
                  </a:lnTo>
                  <a:lnTo>
                    <a:pt x="3443488" y="392854"/>
                  </a:lnTo>
                  <a:lnTo>
                    <a:pt x="3460811" y="433324"/>
                  </a:lnTo>
                  <a:lnTo>
                    <a:pt x="3484152" y="470795"/>
                  </a:lnTo>
                  <a:lnTo>
                    <a:pt x="3512986" y="504797"/>
                  </a:lnTo>
                  <a:lnTo>
                    <a:pt x="3546786" y="534859"/>
                  </a:lnTo>
                  <a:lnTo>
                    <a:pt x="3585028" y="560511"/>
                  </a:lnTo>
                  <a:lnTo>
                    <a:pt x="3627186" y="581281"/>
                  </a:lnTo>
                  <a:lnTo>
                    <a:pt x="3672734" y="596700"/>
                  </a:lnTo>
                  <a:lnTo>
                    <a:pt x="3721147" y="606296"/>
                  </a:lnTo>
                  <a:lnTo>
                    <a:pt x="3771900" y="609599"/>
                  </a:lnTo>
                  <a:lnTo>
                    <a:pt x="3822652" y="606296"/>
                  </a:lnTo>
                  <a:lnTo>
                    <a:pt x="3871065" y="596700"/>
                  </a:lnTo>
                  <a:lnTo>
                    <a:pt x="3916613" y="581281"/>
                  </a:lnTo>
                  <a:lnTo>
                    <a:pt x="3958771" y="560511"/>
                  </a:lnTo>
                  <a:lnTo>
                    <a:pt x="3997013" y="534859"/>
                  </a:lnTo>
                  <a:lnTo>
                    <a:pt x="4030813" y="504797"/>
                  </a:lnTo>
                  <a:lnTo>
                    <a:pt x="4059647" y="470795"/>
                  </a:lnTo>
                  <a:lnTo>
                    <a:pt x="4082988" y="433324"/>
                  </a:lnTo>
                  <a:lnTo>
                    <a:pt x="4100311" y="392854"/>
                  </a:lnTo>
                  <a:lnTo>
                    <a:pt x="4111090" y="349855"/>
                  </a:lnTo>
                  <a:lnTo>
                    <a:pt x="4114800" y="304799"/>
                  </a:lnTo>
                  <a:lnTo>
                    <a:pt x="4111090" y="259744"/>
                  </a:lnTo>
                  <a:lnTo>
                    <a:pt x="4100311" y="216745"/>
                  </a:lnTo>
                  <a:lnTo>
                    <a:pt x="4082988" y="176275"/>
                  </a:lnTo>
                  <a:lnTo>
                    <a:pt x="4059647" y="138804"/>
                  </a:lnTo>
                  <a:lnTo>
                    <a:pt x="4030813" y="104802"/>
                  </a:lnTo>
                  <a:lnTo>
                    <a:pt x="3997013" y="74740"/>
                  </a:lnTo>
                  <a:lnTo>
                    <a:pt x="3958771" y="49088"/>
                  </a:lnTo>
                  <a:lnTo>
                    <a:pt x="3916613" y="28318"/>
                  </a:lnTo>
                  <a:lnTo>
                    <a:pt x="3871065" y="12899"/>
                  </a:lnTo>
                  <a:lnTo>
                    <a:pt x="3822652" y="3303"/>
                  </a:lnTo>
                  <a:lnTo>
                    <a:pt x="3771900" y="0"/>
                  </a:lnTo>
                  <a:close/>
                </a:path>
                <a:path w="5257800" h="2057400">
                  <a:moveTo>
                    <a:pt x="3543300" y="1295399"/>
                  </a:moveTo>
                  <a:lnTo>
                    <a:pt x="3492547" y="1298703"/>
                  </a:lnTo>
                  <a:lnTo>
                    <a:pt x="3444134" y="1308299"/>
                  </a:lnTo>
                  <a:lnTo>
                    <a:pt x="3398586" y="1323718"/>
                  </a:lnTo>
                  <a:lnTo>
                    <a:pt x="3356428" y="1344488"/>
                  </a:lnTo>
                  <a:lnTo>
                    <a:pt x="3318186" y="1370140"/>
                  </a:lnTo>
                  <a:lnTo>
                    <a:pt x="3284386" y="1400202"/>
                  </a:lnTo>
                  <a:lnTo>
                    <a:pt x="3255552" y="1434204"/>
                  </a:lnTo>
                  <a:lnTo>
                    <a:pt x="3232211" y="1471675"/>
                  </a:lnTo>
                  <a:lnTo>
                    <a:pt x="3214888" y="1512145"/>
                  </a:lnTo>
                  <a:lnTo>
                    <a:pt x="3204109" y="1555144"/>
                  </a:lnTo>
                  <a:lnTo>
                    <a:pt x="3200400" y="1600199"/>
                  </a:lnTo>
                  <a:lnTo>
                    <a:pt x="3204109" y="1645255"/>
                  </a:lnTo>
                  <a:lnTo>
                    <a:pt x="3214888" y="1688254"/>
                  </a:lnTo>
                  <a:lnTo>
                    <a:pt x="3232211" y="1728724"/>
                  </a:lnTo>
                  <a:lnTo>
                    <a:pt x="3255552" y="1766195"/>
                  </a:lnTo>
                  <a:lnTo>
                    <a:pt x="3284386" y="1800197"/>
                  </a:lnTo>
                  <a:lnTo>
                    <a:pt x="3318186" y="1830259"/>
                  </a:lnTo>
                  <a:lnTo>
                    <a:pt x="3356428" y="1855911"/>
                  </a:lnTo>
                  <a:lnTo>
                    <a:pt x="3398586" y="1876681"/>
                  </a:lnTo>
                  <a:lnTo>
                    <a:pt x="3444134" y="1892100"/>
                  </a:lnTo>
                  <a:lnTo>
                    <a:pt x="3492547" y="1901696"/>
                  </a:lnTo>
                  <a:lnTo>
                    <a:pt x="3543300" y="1905000"/>
                  </a:lnTo>
                  <a:lnTo>
                    <a:pt x="3594052" y="1901696"/>
                  </a:lnTo>
                  <a:lnTo>
                    <a:pt x="3642465" y="1892100"/>
                  </a:lnTo>
                  <a:lnTo>
                    <a:pt x="3688013" y="1876681"/>
                  </a:lnTo>
                  <a:lnTo>
                    <a:pt x="3730171" y="1855911"/>
                  </a:lnTo>
                  <a:lnTo>
                    <a:pt x="3768413" y="1830259"/>
                  </a:lnTo>
                  <a:lnTo>
                    <a:pt x="3802213" y="1800197"/>
                  </a:lnTo>
                  <a:lnTo>
                    <a:pt x="3831047" y="1766195"/>
                  </a:lnTo>
                  <a:lnTo>
                    <a:pt x="3854388" y="1728724"/>
                  </a:lnTo>
                  <a:lnTo>
                    <a:pt x="3871711" y="1688254"/>
                  </a:lnTo>
                  <a:lnTo>
                    <a:pt x="3882490" y="1645255"/>
                  </a:lnTo>
                  <a:lnTo>
                    <a:pt x="3886200" y="1600199"/>
                  </a:lnTo>
                  <a:lnTo>
                    <a:pt x="3882490" y="1555144"/>
                  </a:lnTo>
                  <a:lnTo>
                    <a:pt x="3871711" y="1512145"/>
                  </a:lnTo>
                  <a:lnTo>
                    <a:pt x="3854388" y="1471675"/>
                  </a:lnTo>
                  <a:lnTo>
                    <a:pt x="3831047" y="1434204"/>
                  </a:lnTo>
                  <a:lnTo>
                    <a:pt x="3802213" y="1400202"/>
                  </a:lnTo>
                  <a:lnTo>
                    <a:pt x="3768413" y="1370140"/>
                  </a:lnTo>
                  <a:lnTo>
                    <a:pt x="3730171" y="1344488"/>
                  </a:lnTo>
                  <a:lnTo>
                    <a:pt x="3688013" y="1323718"/>
                  </a:lnTo>
                  <a:lnTo>
                    <a:pt x="3642465" y="1308299"/>
                  </a:lnTo>
                  <a:lnTo>
                    <a:pt x="3594052" y="1298703"/>
                  </a:lnTo>
                  <a:lnTo>
                    <a:pt x="3543300" y="1295399"/>
                  </a:lnTo>
                  <a:close/>
                </a:path>
                <a:path w="5257800" h="2057400">
                  <a:moveTo>
                    <a:pt x="4914900" y="1219199"/>
                  </a:moveTo>
                  <a:lnTo>
                    <a:pt x="4864147" y="1222503"/>
                  </a:lnTo>
                  <a:lnTo>
                    <a:pt x="4815734" y="1232099"/>
                  </a:lnTo>
                  <a:lnTo>
                    <a:pt x="4770186" y="1247518"/>
                  </a:lnTo>
                  <a:lnTo>
                    <a:pt x="4728028" y="1268288"/>
                  </a:lnTo>
                  <a:lnTo>
                    <a:pt x="4689786" y="1293940"/>
                  </a:lnTo>
                  <a:lnTo>
                    <a:pt x="4655986" y="1324002"/>
                  </a:lnTo>
                  <a:lnTo>
                    <a:pt x="4627152" y="1358004"/>
                  </a:lnTo>
                  <a:lnTo>
                    <a:pt x="4603811" y="1395475"/>
                  </a:lnTo>
                  <a:lnTo>
                    <a:pt x="4586488" y="1435945"/>
                  </a:lnTo>
                  <a:lnTo>
                    <a:pt x="4575709" y="1478944"/>
                  </a:lnTo>
                  <a:lnTo>
                    <a:pt x="4572000" y="1523999"/>
                  </a:lnTo>
                  <a:lnTo>
                    <a:pt x="4575709" y="1569055"/>
                  </a:lnTo>
                  <a:lnTo>
                    <a:pt x="4586488" y="1612054"/>
                  </a:lnTo>
                  <a:lnTo>
                    <a:pt x="4603811" y="1652524"/>
                  </a:lnTo>
                  <a:lnTo>
                    <a:pt x="4627152" y="1689995"/>
                  </a:lnTo>
                  <a:lnTo>
                    <a:pt x="4655986" y="1723997"/>
                  </a:lnTo>
                  <a:lnTo>
                    <a:pt x="4689786" y="1754059"/>
                  </a:lnTo>
                  <a:lnTo>
                    <a:pt x="4728028" y="1779711"/>
                  </a:lnTo>
                  <a:lnTo>
                    <a:pt x="4770186" y="1800481"/>
                  </a:lnTo>
                  <a:lnTo>
                    <a:pt x="4815734" y="1815900"/>
                  </a:lnTo>
                  <a:lnTo>
                    <a:pt x="4864147" y="1825496"/>
                  </a:lnTo>
                  <a:lnTo>
                    <a:pt x="4914900" y="1828799"/>
                  </a:lnTo>
                  <a:lnTo>
                    <a:pt x="4965652" y="1825496"/>
                  </a:lnTo>
                  <a:lnTo>
                    <a:pt x="5014065" y="1815900"/>
                  </a:lnTo>
                  <a:lnTo>
                    <a:pt x="5059613" y="1800481"/>
                  </a:lnTo>
                  <a:lnTo>
                    <a:pt x="5101771" y="1779711"/>
                  </a:lnTo>
                  <a:lnTo>
                    <a:pt x="5140013" y="1754059"/>
                  </a:lnTo>
                  <a:lnTo>
                    <a:pt x="5173813" y="1723997"/>
                  </a:lnTo>
                  <a:lnTo>
                    <a:pt x="5202647" y="1689995"/>
                  </a:lnTo>
                  <a:lnTo>
                    <a:pt x="5225988" y="1652524"/>
                  </a:lnTo>
                  <a:lnTo>
                    <a:pt x="5243311" y="1612054"/>
                  </a:lnTo>
                  <a:lnTo>
                    <a:pt x="5254090" y="1569055"/>
                  </a:lnTo>
                  <a:lnTo>
                    <a:pt x="5257800" y="1523999"/>
                  </a:lnTo>
                  <a:lnTo>
                    <a:pt x="5254090" y="1478944"/>
                  </a:lnTo>
                  <a:lnTo>
                    <a:pt x="5243311" y="1435945"/>
                  </a:lnTo>
                  <a:lnTo>
                    <a:pt x="5225988" y="1395475"/>
                  </a:lnTo>
                  <a:lnTo>
                    <a:pt x="5202647" y="1358004"/>
                  </a:lnTo>
                  <a:lnTo>
                    <a:pt x="5173813" y="1324002"/>
                  </a:lnTo>
                  <a:lnTo>
                    <a:pt x="5140013" y="1293940"/>
                  </a:lnTo>
                  <a:lnTo>
                    <a:pt x="5101771" y="1268288"/>
                  </a:lnTo>
                  <a:lnTo>
                    <a:pt x="5059613" y="1247518"/>
                  </a:lnTo>
                  <a:lnTo>
                    <a:pt x="5014065" y="1232099"/>
                  </a:lnTo>
                  <a:lnTo>
                    <a:pt x="4965652" y="1222503"/>
                  </a:lnTo>
                  <a:lnTo>
                    <a:pt x="4914900" y="1219199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95601" y="5576822"/>
            <a:ext cx="3590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Các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bậc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lẻ: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5,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4,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6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175" dirty="0">
                <a:solidFill>
                  <a:srgbClr val="1D528E"/>
                </a:solidFill>
                <a:latin typeface="Wingdings"/>
                <a:cs typeface="Wingdings"/>
              </a:rPr>
              <a:t></a:t>
            </a:r>
            <a:r>
              <a:rPr sz="1800" spc="4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III.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thuật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ngữ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cơ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bản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0002" y="937767"/>
            <a:ext cx="8731885" cy="4524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42265">
              <a:lnSpc>
                <a:spcPts val="3354"/>
              </a:lnSpc>
              <a:spcBef>
                <a:spcPts val="100"/>
              </a:spcBef>
              <a:buClr>
                <a:srgbClr val="65CCFF"/>
              </a:buClr>
              <a:buFont typeface="Wingdings"/>
              <a:buChar char=""/>
              <a:tabLst>
                <a:tab pos="380365" algn="l"/>
              </a:tabLst>
            </a:pP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Hệ</a:t>
            </a:r>
            <a:r>
              <a:rPr sz="2800" spc="-4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quả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của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định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lý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bắt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7030A0"/>
                </a:solidFill>
                <a:latin typeface="Verdana"/>
                <a:cs typeface="Verdana"/>
              </a:rPr>
              <a:t>tay</a:t>
            </a:r>
            <a:endParaRPr sz="2800">
              <a:solidFill>
                <a:srgbClr val="7030A0"/>
              </a:solidFill>
              <a:latin typeface="Verdana"/>
              <a:cs typeface="Verdana"/>
            </a:endParaRPr>
          </a:p>
          <a:p>
            <a:pPr marL="361315">
              <a:lnSpc>
                <a:spcPts val="2875"/>
              </a:lnSpc>
            </a:pPr>
            <a:r>
              <a:rPr sz="2400" i="1" dirty="0">
                <a:latin typeface="Verdana"/>
                <a:cs typeface="Verdana"/>
              </a:rPr>
              <a:t>Trong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đồ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thị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vô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hướng,</a:t>
            </a:r>
            <a:r>
              <a:rPr sz="2400" i="1" spc="-3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số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đỉnh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bậc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lẻ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là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một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số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spc="-10" dirty="0">
                <a:latin typeface="Verdana"/>
                <a:cs typeface="Verdana"/>
              </a:rPr>
              <a:t>chẵn.</a:t>
            </a:r>
            <a:endParaRPr sz="2400">
              <a:latin typeface="Verdana"/>
              <a:cs typeface="Verdana"/>
            </a:endParaRPr>
          </a:p>
          <a:p>
            <a:pPr marL="360680">
              <a:lnSpc>
                <a:spcPct val="100000"/>
              </a:lnSpc>
              <a:spcBef>
                <a:spcPts val="1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Chứng</a:t>
            </a:r>
            <a:r>
              <a:rPr sz="2400" u="heavy" spc="-6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minh</a:t>
            </a:r>
            <a:r>
              <a:rPr sz="2400" spc="-10" dirty="0">
                <a:latin typeface="Verdana"/>
                <a:cs typeface="Verdana"/>
              </a:rPr>
              <a:t>:</a:t>
            </a:r>
            <a:r>
              <a:rPr sz="2800" spc="-10" dirty="0">
                <a:latin typeface="Verdana"/>
                <a:cs typeface="Verdana"/>
              </a:rPr>
              <a:t>?</a:t>
            </a:r>
            <a:endParaRPr sz="2800">
              <a:latin typeface="Verdana"/>
              <a:cs typeface="Verdana"/>
            </a:endParaRPr>
          </a:p>
          <a:p>
            <a:pPr marL="532130" marR="30480" lvl="1" indent="-342265">
              <a:lnSpc>
                <a:spcPct val="100000"/>
              </a:lnSpc>
              <a:spcBef>
                <a:spcPts val="565"/>
              </a:spcBef>
              <a:buClr>
                <a:srgbClr val="65CCFF"/>
              </a:buClr>
              <a:buFont typeface="Wingdings"/>
              <a:buChar char=""/>
              <a:tabLst>
                <a:tab pos="533400" algn="l"/>
              </a:tabLst>
            </a:pPr>
            <a:r>
              <a:rPr sz="2400" dirty="0">
                <a:latin typeface="Verdana"/>
                <a:cs typeface="Verdana"/>
              </a:rPr>
              <a:t>Gọi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và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lần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lượt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là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tập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các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đỉnh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bậc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lẻ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và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bậc</a:t>
            </a:r>
            <a:r>
              <a:rPr sz="2400" spc="-20" dirty="0">
                <a:latin typeface="Verdana"/>
                <a:cs typeface="Verdana"/>
              </a:rPr>
              <a:t> chẵn 	</a:t>
            </a:r>
            <a:r>
              <a:rPr sz="2400" dirty="0">
                <a:latin typeface="Verdana"/>
                <a:cs typeface="Verdana"/>
              </a:rPr>
              <a:t>của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đồ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thị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vô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hướng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G=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(V,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E).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Ta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có:</a:t>
            </a:r>
            <a:endParaRPr sz="2400">
              <a:latin typeface="Verdana"/>
              <a:cs typeface="Verdana"/>
            </a:endParaRPr>
          </a:p>
          <a:p>
            <a:pPr marR="155575" algn="ctr">
              <a:lnSpc>
                <a:spcPct val="100000"/>
              </a:lnSpc>
              <a:spcBef>
                <a:spcPts val="85"/>
              </a:spcBef>
            </a:pPr>
            <a:r>
              <a:rPr sz="2400" spc="-35" dirty="0">
                <a:latin typeface="Times New Roman"/>
                <a:cs typeface="Times New Roman"/>
              </a:rPr>
              <a:t>2</a:t>
            </a:r>
            <a:r>
              <a:rPr sz="2400" i="1" spc="-35" dirty="0">
                <a:latin typeface="Times New Roman"/>
                <a:cs typeface="Times New Roman"/>
              </a:rPr>
              <a:t>m</a:t>
            </a:r>
            <a:r>
              <a:rPr sz="2400" i="1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5400" spc="-30" baseline="-8487" dirty="0">
                <a:latin typeface="Symbol"/>
                <a:cs typeface="Symbol"/>
              </a:rPr>
              <a:t></a:t>
            </a:r>
            <a:r>
              <a:rPr sz="2400" spc="-20" dirty="0">
                <a:latin typeface="Times New Roman"/>
                <a:cs typeface="Times New Roman"/>
              </a:rPr>
              <a:t>deg(</a:t>
            </a:r>
            <a:r>
              <a:rPr sz="2400" i="1" spc="-20" dirty="0">
                <a:latin typeface="Times New Roman"/>
                <a:cs typeface="Times New Roman"/>
              </a:rPr>
              <a:t>v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5400" spc="-52" baseline="-8487" dirty="0">
                <a:latin typeface="Symbol"/>
                <a:cs typeface="Symbol"/>
              </a:rPr>
              <a:t></a:t>
            </a:r>
            <a:r>
              <a:rPr sz="2400" spc="-35" dirty="0">
                <a:latin typeface="Times New Roman"/>
                <a:cs typeface="Times New Roman"/>
              </a:rPr>
              <a:t>deg(</a:t>
            </a:r>
            <a:r>
              <a:rPr sz="2400" i="1" spc="-35" dirty="0">
                <a:latin typeface="Times New Roman"/>
                <a:cs typeface="Times New Roman"/>
              </a:rPr>
              <a:t>v</a:t>
            </a:r>
            <a:r>
              <a:rPr sz="2400" spc="-35" dirty="0">
                <a:latin typeface="Times New Roman"/>
                <a:cs typeface="Times New Roman"/>
              </a:rPr>
              <a:t>)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5400" spc="-15" baseline="-8487" dirty="0">
                <a:latin typeface="Symbol"/>
                <a:cs typeface="Symbol"/>
              </a:rPr>
              <a:t></a:t>
            </a:r>
            <a:r>
              <a:rPr sz="2400" spc="-10" dirty="0">
                <a:latin typeface="Times New Roman"/>
                <a:cs typeface="Times New Roman"/>
              </a:rPr>
              <a:t>deg(</a:t>
            </a:r>
            <a:r>
              <a:rPr sz="2400" i="1" spc="-10" dirty="0">
                <a:latin typeface="Times New Roman"/>
                <a:cs typeface="Times New Roman"/>
              </a:rPr>
              <a:t>v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R="278765" algn="ctr">
              <a:lnSpc>
                <a:spcPct val="100000"/>
              </a:lnSpc>
              <a:spcBef>
                <a:spcPts val="180"/>
              </a:spcBef>
              <a:tabLst>
                <a:tab pos="1386205" algn="l"/>
                <a:tab pos="2729230" algn="l"/>
              </a:tabLst>
            </a:pP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L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405765">
              <a:lnSpc>
                <a:spcPts val="2565"/>
              </a:lnSpc>
              <a:tabLst>
                <a:tab pos="1736725" algn="l"/>
                <a:tab pos="2444115" algn="l"/>
              </a:tabLst>
            </a:pPr>
            <a:endParaRPr lang="en-US" sz="2400">
              <a:latin typeface="Verdana"/>
              <a:cs typeface="Verdana"/>
            </a:endParaRPr>
          </a:p>
          <a:p>
            <a:pPr marL="405765">
              <a:lnSpc>
                <a:spcPts val="2565"/>
              </a:lnSpc>
              <a:tabLst>
                <a:tab pos="1736725" algn="l"/>
                <a:tab pos="2444115" algn="l"/>
              </a:tabLst>
            </a:pPr>
            <a:r>
              <a:rPr sz="2400">
                <a:latin typeface="Verdana"/>
                <a:cs typeface="Verdana"/>
              </a:rPr>
              <a:t>+</a:t>
            </a:r>
            <a:r>
              <a:rPr sz="2400" spc="-5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Tổng</a:t>
            </a:r>
            <a:r>
              <a:rPr sz="2400" dirty="0">
                <a:latin typeface="Verdana"/>
                <a:cs typeface="Verdana"/>
              </a:rPr>
              <a:t>	</a:t>
            </a:r>
            <a:r>
              <a:rPr sz="2400" spc="-25" dirty="0">
                <a:latin typeface="Verdana"/>
                <a:cs typeface="Verdana"/>
              </a:rPr>
              <a:t>2m</a:t>
            </a:r>
            <a:r>
              <a:rPr sz="2400" dirty="0">
                <a:latin typeface="Verdana"/>
                <a:cs typeface="Verdana"/>
              </a:rPr>
              <a:t>	</a:t>
            </a:r>
            <a:r>
              <a:rPr sz="2400" spc="-20" dirty="0">
                <a:latin typeface="Verdana"/>
                <a:cs typeface="Verdana"/>
              </a:rPr>
              <a:t>chẵn</a:t>
            </a:r>
            <a:endParaRPr sz="2400">
              <a:latin typeface="Verdana"/>
              <a:cs typeface="Verdana"/>
            </a:endParaRPr>
          </a:p>
          <a:p>
            <a:pPr marL="405130">
              <a:lnSpc>
                <a:spcPts val="4004"/>
              </a:lnSpc>
            </a:pPr>
            <a:r>
              <a:rPr sz="2400" dirty="0">
                <a:latin typeface="Verdana"/>
                <a:cs typeface="Verdana"/>
              </a:rPr>
              <a:t>+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Tổng</a:t>
            </a:r>
            <a:r>
              <a:rPr sz="2400" spc="245" dirty="0">
                <a:latin typeface="Verdana"/>
                <a:cs typeface="Verdana"/>
              </a:rPr>
              <a:t> </a:t>
            </a:r>
            <a:r>
              <a:rPr sz="5400" spc="-30" baseline="-10802" dirty="0">
                <a:latin typeface="Symbol"/>
                <a:cs typeface="Symbol"/>
              </a:rPr>
              <a:t></a:t>
            </a:r>
            <a:r>
              <a:rPr sz="3600" spc="-30" baseline="-2314" dirty="0">
                <a:latin typeface="Times New Roman"/>
                <a:cs typeface="Times New Roman"/>
              </a:rPr>
              <a:t>deg(</a:t>
            </a:r>
            <a:r>
              <a:rPr sz="3600" i="1" spc="-30" baseline="-2314" dirty="0">
                <a:latin typeface="Times New Roman"/>
                <a:cs typeface="Times New Roman"/>
              </a:rPr>
              <a:t>v</a:t>
            </a:r>
            <a:r>
              <a:rPr sz="3600" spc="-30" baseline="-2314" dirty="0">
                <a:latin typeface="Times New Roman"/>
                <a:cs typeface="Times New Roman"/>
              </a:rPr>
              <a:t>)</a:t>
            </a:r>
            <a:r>
              <a:rPr sz="3600" spc="-97" baseline="-2314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Verdana"/>
                <a:cs typeface="Verdana"/>
              </a:rPr>
              <a:t>chẵn</a:t>
            </a:r>
            <a:endParaRPr sz="2400">
              <a:latin typeface="Verdana"/>
              <a:cs typeface="Verdana"/>
            </a:endParaRPr>
          </a:p>
          <a:p>
            <a:pPr marL="1666875">
              <a:lnSpc>
                <a:spcPct val="100000"/>
              </a:lnSpc>
              <a:spcBef>
                <a:spcPts val="300"/>
              </a:spcBef>
            </a:pP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0890" y="5659577"/>
            <a:ext cx="1217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Verdana"/>
                <a:cs typeface="Verdana"/>
              </a:rPr>
              <a:t>Tổng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99707" y="5659577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Verdana"/>
                <a:cs typeface="Verdana"/>
              </a:rPr>
              <a:t>chẵn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6348" y="5428007"/>
            <a:ext cx="1160145" cy="86868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5"/>
              </a:spcBef>
            </a:pPr>
            <a:r>
              <a:rPr sz="5400" spc="-15" baseline="-8487" dirty="0">
                <a:latin typeface="Symbol"/>
                <a:cs typeface="Symbol"/>
              </a:rPr>
              <a:t></a:t>
            </a:r>
            <a:r>
              <a:rPr sz="2400" spc="-10" dirty="0">
                <a:latin typeface="Times New Roman"/>
                <a:cs typeface="Times New Roman"/>
              </a:rPr>
              <a:t>deg(</a:t>
            </a:r>
            <a:r>
              <a:rPr sz="2400" i="1" spc="-10" dirty="0">
                <a:latin typeface="Times New Roman"/>
                <a:cs typeface="Times New Roman"/>
              </a:rPr>
              <a:t>v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49530">
              <a:lnSpc>
                <a:spcPct val="100000"/>
              </a:lnSpc>
              <a:spcBef>
                <a:spcPts val="180"/>
              </a:spcBef>
            </a:pP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L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III.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thuật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ngữ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cơ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bản</a:t>
            </a:r>
            <a:endParaRPr sz="3200">
              <a:solidFill>
                <a:srgbClr val="6C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332468" y="4102772"/>
            <a:ext cx="1479550" cy="1130300"/>
            <a:chOff x="3332468" y="4102772"/>
            <a:chExt cx="1479550" cy="1130300"/>
          </a:xfrm>
        </p:grpSpPr>
        <p:sp>
          <p:nvSpPr>
            <p:cNvPr id="4" name="object 4"/>
            <p:cNvSpPr/>
            <p:nvPr/>
          </p:nvSpPr>
          <p:spPr>
            <a:xfrm>
              <a:off x="3416313" y="4214124"/>
              <a:ext cx="1252855" cy="950594"/>
            </a:xfrm>
            <a:custGeom>
              <a:avLst/>
              <a:gdLst/>
              <a:ahLst/>
              <a:cxnLst/>
              <a:rect l="l" t="t" r="r" b="b"/>
              <a:pathLst>
                <a:path w="1252854" h="950595">
                  <a:moveTo>
                    <a:pt x="1252725" y="3813"/>
                  </a:moveTo>
                  <a:lnTo>
                    <a:pt x="826010" y="326900"/>
                  </a:lnTo>
                  <a:lnTo>
                    <a:pt x="616453" y="485394"/>
                  </a:lnTo>
                  <a:lnTo>
                    <a:pt x="409947" y="641605"/>
                  </a:lnTo>
                  <a:lnTo>
                    <a:pt x="203455" y="797051"/>
                  </a:lnTo>
                  <a:lnTo>
                    <a:pt x="0" y="950214"/>
                  </a:lnTo>
                </a:path>
                <a:path w="1252854" h="950595">
                  <a:moveTo>
                    <a:pt x="1102609" y="0"/>
                  </a:moveTo>
                  <a:lnTo>
                    <a:pt x="1252725" y="3813"/>
                  </a:lnTo>
                  <a:lnTo>
                    <a:pt x="1247400" y="125724"/>
                  </a:lnTo>
                </a:path>
              </a:pathLst>
            </a:custGeom>
            <a:ln w="44714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2468" y="5096500"/>
              <a:ext cx="168453" cy="1364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45405" y="4105147"/>
              <a:ext cx="163830" cy="132715"/>
            </a:xfrm>
            <a:custGeom>
              <a:avLst/>
              <a:gdLst/>
              <a:ahLst/>
              <a:cxnLst/>
              <a:rect l="l" t="t" r="r" b="b"/>
              <a:pathLst>
                <a:path w="163829" h="132714">
                  <a:moveTo>
                    <a:pt x="163830" y="73151"/>
                  </a:moveTo>
                  <a:lnTo>
                    <a:pt x="163830" y="59435"/>
                  </a:lnTo>
                  <a:lnTo>
                    <a:pt x="161544" y="53339"/>
                  </a:lnTo>
                  <a:lnTo>
                    <a:pt x="160020" y="46481"/>
                  </a:lnTo>
                  <a:lnTo>
                    <a:pt x="158496" y="41147"/>
                  </a:lnTo>
                  <a:lnTo>
                    <a:pt x="154686" y="35813"/>
                  </a:lnTo>
                  <a:lnTo>
                    <a:pt x="150114" y="30479"/>
                  </a:lnTo>
                  <a:lnTo>
                    <a:pt x="146304" y="24383"/>
                  </a:lnTo>
                  <a:lnTo>
                    <a:pt x="139446" y="19049"/>
                  </a:lnTo>
                  <a:lnTo>
                    <a:pt x="128016" y="10667"/>
                  </a:lnTo>
                  <a:lnTo>
                    <a:pt x="112014" y="5333"/>
                  </a:lnTo>
                  <a:lnTo>
                    <a:pt x="105156" y="2285"/>
                  </a:lnTo>
                  <a:lnTo>
                    <a:pt x="96774" y="1523"/>
                  </a:lnTo>
                  <a:lnTo>
                    <a:pt x="89916" y="0"/>
                  </a:lnTo>
                  <a:lnTo>
                    <a:pt x="74676" y="0"/>
                  </a:lnTo>
                  <a:lnTo>
                    <a:pt x="66294" y="1523"/>
                  </a:lnTo>
                  <a:lnTo>
                    <a:pt x="59436" y="2285"/>
                  </a:lnTo>
                  <a:lnTo>
                    <a:pt x="51054" y="5333"/>
                  </a:lnTo>
                  <a:lnTo>
                    <a:pt x="44196" y="8381"/>
                  </a:lnTo>
                  <a:lnTo>
                    <a:pt x="37338" y="10667"/>
                  </a:lnTo>
                  <a:lnTo>
                    <a:pt x="30480" y="15239"/>
                  </a:lnTo>
                  <a:lnTo>
                    <a:pt x="23622" y="19049"/>
                  </a:lnTo>
                  <a:lnTo>
                    <a:pt x="18288" y="24383"/>
                  </a:lnTo>
                  <a:lnTo>
                    <a:pt x="12954" y="30479"/>
                  </a:lnTo>
                  <a:lnTo>
                    <a:pt x="6858" y="41147"/>
                  </a:lnTo>
                  <a:lnTo>
                    <a:pt x="3048" y="46481"/>
                  </a:lnTo>
                  <a:lnTo>
                    <a:pt x="1524" y="53339"/>
                  </a:lnTo>
                  <a:lnTo>
                    <a:pt x="1524" y="59435"/>
                  </a:lnTo>
                  <a:lnTo>
                    <a:pt x="0" y="66293"/>
                  </a:lnTo>
                  <a:lnTo>
                    <a:pt x="1524" y="73151"/>
                  </a:lnTo>
                  <a:lnTo>
                    <a:pt x="1524" y="78485"/>
                  </a:lnTo>
                  <a:lnTo>
                    <a:pt x="3048" y="85343"/>
                  </a:lnTo>
                  <a:lnTo>
                    <a:pt x="6858" y="90677"/>
                  </a:lnTo>
                  <a:lnTo>
                    <a:pt x="9906" y="96773"/>
                  </a:lnTo>
                  <a:lnTo>
                    <a:pt x="12954" y="102107"/>
                  </a:lnTo>
                  <a:lnTo>
                    <a:pt x="23622" y="112775"/>
                  </a:lnTo>
                  <a:lnTo>
                    <a:pt x="30480" y="117347"/>
                  </a:lnTo>
                  <a:lnTo>
                    <a:pt x="37338" y="121157"/>
                  </a:lnTo>
                  <a:lnTo>
                    <a:pt x="44196" y="125729"/>
                  </a:lnTo>
                  <a:lnTo>
                    <a:pt x="51054" y="128015"/>
                  </a:lnTo>
                  <a:lnTo>
                    <a:pt x="59436" y="129539"/>
                  </a:lnTo>
                  <a:lnTo>
                    <a:pt x="66294" y="131063"/>
                  </a:lnTo>
                  <a:lnTo>
                    <a:pt x="74676" y="132587"/>
                  </a:lnTo>
                  <a:lnTo>
                    <a:pt x="89916" y="132587"/>
                  </a:lnTo>
                  <a:lnTo>
                    <a:pt x="96774" y="131063"/>
                  </a:lnTo>
                  <a:lnTo>
                    <a:pt x="105156" y="129539"/>
                  </a:lnTo>
                  <a:lnTo>
                    <a:pt x="121158" y="125729"/>
                  </a:lnTo>
                  <a:lnTo>
                    <a:pt x="134112" y="117347"/>
                  </a:lnTo>
                  <a:lnTo>
                    <a:pt x="139446" y="112775"/>
                  </a:lnTo>
                  <a:lnTo>
                    <a:pt x="146304" y="107441"/>
                  </a:lnTo>
                  <a:lnTo>
                    <a:pt x="150114" y="102107"/>
                  </a:lnTo>
                  <a:lnTo>
                    <a:pt x="154686" y="96773"/>
                  </a:lnTo>
                  <a:lnTo>
                    <a:pt x="158496" y="90677"/>
                  </a:lnTo>
                  <a:lnTo>
                    <a:pt x="160020" y="85343"/>
                  </a:lnTo>
                  <a:lnTo>
                    <a:pt x="161544" y="78485"/>
                  </a:lnTo>
                  <a:lnTo>
                    <a:pt x="163830" y="73151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45350" y="4105084"/>
              <a:ext cx="163830" cy="132715"/>
            </a:xfrm>
            <a:custGeom>
              <a:avLst/>
              <a:gdLst/>
              <a:ahLst/>
              <a:cxnLst/>
              <a:rect l="l" t="t" r="r" b="b"/>
              <a:pathLst>
                <a:path w="163829" h="132714">
                  <a:moveTo>
                    <a:pt x="23618" y="112774"/>
                  </a:moveTo>
                  <a:lnTo>
                    <a:pt x="18292" y="107431"/>
                  </a:lnTo>
                  <a:lnTo>
                    <a:pt x="12953" y="102098"/>
                  </a:lnTo>
                  <a:lnTo>
                    <a:pt x="9902" y="96766"/>
                  </a:lnTo>
                  <a:lnTo>
                    <a:pt x="6850" y="90669"/>
                  </a:lnTo>
                  <a:lnTo>
                    <a:pt x="3051" y="85337"/>
                  </a:lnTo>
                  <a:lnTo>
                    <a:pt x="1525" y="78475"/>
                  </a:lnTo>
                  <a:lnTo>
                    <a:pt x="1525" y="73143"/>
                  </a:lnTo>
                  <a:lnTo>
                    <a:pt x="0" y="66292"/>
                  </a:lnTo>
                  <a:lnTo>
                    <a:pt x="1525" y="59430"/>
                  </a:lnTo>
                  <a:lnTo>
                    <a:pt x="1525" y="53333"/>
                  </a:lnTo>
                  <a:lnTo>
                    <a:pt x="3051" y="46470"/>
                  </a:lnTo>
                  <a:lnTo>
                    <a:pt x="6850" y="41138"/>
                  </a:lnTo>
                  <a:lnTo>
                    <a:pt x="9902" y="35806"/>
                  </a:lnTo>
                  <a:lnTo>
                    <a:pt x="12953" y="30474"/>
                  </a:lnTo>
                  <a:lnTo>
                    <a:pt x="18292" y="24377"/>
                  </a:lnTo>
                  <a:lnTo>
                    <a:pt x="23618" y="19045"/>
                  </a:lnTo>
                  <a:lnTo>
                    <a:pt x="30483" y="15231"/>
                  </a:lnTo>
                  <a:lnTo>
                    <a:pt x="37334" y="10664"/>
                  </a:lnTo>
                  <a:lnTo>
                    <a:pt x="44199" y="8380"/>
                  </a:lnTo>
                  <a:lnTo>
                    <a:pt x="51050" y="5332"/>
                  </a:lnTo>
                  <a:lnTo>
                    <a:pt x="59426" y="2283"/>
                  </a:lnTo>
                  <a:lnTo>
                    <a:pt x="66291" y="1518"/>
                  </a:lnTo>
                  <a:lnTo>
                    <a:pt x="74668" y="0"/>
                  </a:lnTo>
                  <a:lnTo>
                    <a:pt x="89910" y="0"/>
                  </a:lnTo>
                  <a:lnTo>
                    <a:pt x="96775" y="1518"/>
                  </a:lnTo>
                  <a:lnTo>
                    <a:pt x="105151" y="2283"/>
                  </a:lnTo>
                  <a:lnTo>
                    <a:pt x="112016" y="5332"/>
                  </a:lnTo>
                  <a:lnTo>
                    <a:pt x="121156" y="8380"/>
                  </a:lnTo>
                  <a:lnTo>
                    <a:pt x="128006" y="10664"/>
                  </a:lnTo>
                  <a:lnTo>
                    <a:pt x="134109" y="15231"/>
                  </a:lnTo>
                  <a:lnTo>
                    <a:pt x="139448" y="19045"/>
                  </a:lnTo>
                  <a:lnTo>
                    <a:pt x="146299" y="24377"/>
                  </a:lnTo>
                  <a:lnTo>
                    <a:pt x="150113" y="30474"/>
                  </a:lnTo>
                  <a:lnTo>
                    <a:pt x="154676" y="35806"/>
                  </a:lnTo>
                  <a:lnTo>
                    <a:pt x="158490" y="41138"/>
                  </a:lnTo>
                  <a:lnTo>
                    <a:pt x="160015" y="46470"/>
                  </a:lnTo>
                  <a:lnTo>
                    <a:pt x="161541" y="53333"/>
                  </a:lnTo>
                  <a:lnTo>
                    <a:pt x="163829" y="59430"/>
                  </a:lnTo>
                  <a:lnTo>
                    <a:pt x="163829" y="73143"/>
                  </a:lnTo>
                  <a:lnTo>
                    <a:pt x="161541" y="78475"/>
                  </a:lnTo>
                  <a:lnTo>
                    <a:pt x="160015" y="85337"/>
                  </a:lnTo>
                  <a:lnTo>
                    <a:pt x="158490" y="90669"/>
                  </a:lnTo>
                  <a:lnTo>
                    <a:pt x="154676" y="96766"/>
                  </a:lnTo>
                  <a:lnTo>
                    <a:pt x="150113" y="102098"/>
                  </a:lnTo>
                  <a:lnTo>
                    <a:pt x="146299" y="107431"/>
                  </a:lnTo>
                  <a:lnTo>
                    <a:pt x="139448" y="112774"/>
                  </a:lnTo>
                  <a:lnTo>
                    <a:pt x="134109" y="117341"/>
                  </a:lnTo>
                  <a:lnTo>
                    <a:pt x="128006" y="121155"/>
                  </a:lnTo>
                  <a:lnTo>
                    <a:pt x="121156" y="125722"/>
                  </a:lnTo>
                  <a:lnTo>
                    <a:pt x="112016" y="128006"/>
                  </a:lnTo>
                  <a:lnTo>
                    <a:pt x="105151" y="129536"/>
                  </a:lnTo>
                  <a:lnTo>
                    <a:pt x="96775" y="131054"/>
                  </a:lnTo>
                  <a:lnTo>
                    <a:pt x="89910" y="132584"/>
                  </a:lnTo>
                  <a:lnTo>
                    <a:pt x="74668" y="132584"/>
                  </a:lnTo>
                  <a:lnTo>
                    <a:pt x="66291" y="131054"/>
                  </a:lnTo>
                  <a:lnTo>
                    <a:pt x="59426" y="129536"/>
                  </a:lnTo>
                  <a:lnTo>
                    <a:pt x="51050" y="128006"/>
                  </a:lnTo>
                  <a:lnTo>
                    <a:pt x="44199" y="125722"/>
                  </a:lnTo>
                  <a:lnTo>
                    <a:pt x="37334" y="121155"/>
                  </a:lnTo>
                  <a:lnTo>
                    <a:pt x="30483" y="117341"/>
                  </a:lnTo>
                  <a:lnTo>
                    <a:pt x="23618" y="112774"/>
                  </a:lnTo>
                </a:path>
              </a:pathLst>
            </a:custGeom>
            <a:ln w="45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6802" y="878517"/>
            <a:ext cx="8723630" cy="4655762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65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Kề</a:t>
            </a:r>
            <a:r>
              <a:rPr sz="2800" spc="-4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trong</a:t>
            </a:r>
            <a:r>
              <a:rPr sz="2800" spc="-2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đồ</a:t>
            </a:r>
            <a:r>
              <a:rPr sz="2800" spc="-3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thị</a:t>
            </a:r>
            <a:r>
              <a:rPr sz="2800" spc="-3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có</a:t>
            </a:r>
            <a:r>
              <a:rPr sz="2800" spc="-3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7030A0"/>
                </a:solidFill>
                <a:latin typeface="Verdana"/>
                <a:cs typeface="Verdana"/>
              </a:rPr>
              <a:t>hướng</a:t>
            </a:r>
            <a:endParaRPr sz="2800">
              <a:solidFill>
                <a:srgbClr val="7030A0"/>
              </a:solidFill>
              <a:latin typeface="Verdana"/>
              <a:cs typeface="Verdana"/>
            </a:endParaRPr>
          </a:p>
          <a:p>
            <a:pPr marL="755650" marR="5080" lvl="1" indent="-317500">
              <a:lnSpc>
                <a:spcPct val="100000"/>
              </a:lnSpc>
              <a:spcBef>
                <a:spcPts val="400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Giả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hướng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e=(u,</a:t>
            </a:r>
            <a:r>
              <a:rPr sz="2400" spc="-25" dirty="0">
                <a:latin typeface="Arial"/>
                <a:cs typeface="Arial"/>
              </a:rPr>
              <a:t> v)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đó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nói: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Arial"/>
                <a:cs typeface="Arial"/>
              </a:rPr>
              <a:t>+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kề</a:t>
            </a:r>
            <a:r>
              <a:rPr sz="24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nhau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đi</a:t>
            </a:r>
            <a:r>
              <a:rPr sz="2400" u="heavy" spc="-2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ra</a:t>
            </a:r>
            <a:r>
              <a:rPr sz="24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khỏi</a:t>
            </a:r>
            <a:r>
              <a:rPr sz="24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đi</a:t>
            </a:r>
            <a:r>
              <a:rPr sz="24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vào</a:t>
            </a:r>
            <a:r>
              <a:rPr sz="24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v.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Arial"/>
                <a:cs typeface="Arial"/>
              </a:rPr>
              <a:t>+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đỉnh</a:t>
            </a:r>
            <a:r>
              <a:rPr sz="2400" u="heavy" spc="-3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đầu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đỉnh</a:t>
            </a:r>
            <a:r>
              <a:rPr sz="2400" u="heavy" spc="-2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cuối</a:t>
            </a:r>
            <a:r>
              <a:rPr sz="24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cạnh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400">
              <a:latin typeface="Arial"/>
              <a:cs typeface="Arial"/>
            </a:endParaRPr>
          </a:p>
          <a:p>
            <a:pPr marL="568960" algn="ctr">
              <a:lnSpc>
                <a:spcPct val="100000"/>
              </a:lnSpc>
            </a:pPr>
            <a:r>
              <a:rPr sz="2000" spc="-50" dirty="0">
                <a:latin typeface="Arial"/>
                <a:cs typeface="Arial"/>
              </a:rPr>
              <a:t>v</a:t>
            </a:r>
            <a:endParaRPr sz="2000">
              <a:latin typeface="Arial"/>
              <a:cs typeface="Arial"/>
            </a:endParaRPr>
          </a:p>
          <a:p>
            <a:pPr marR="1066165" algn="ctr">
              <a:lnSpc>
                <a:spcPct val="100000"/>
              </a:lnSpc>
              <a:spcBef>
                <a:spcPts val="735"/>
              </a:spcBef>
            </a:pPr>
            <a:r>
              <a:rPr sz="2000" spc="-5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2000">
              <a:latin typeface="Arial"/>
              <a:cs typeface="Arial"/>
            </a:endParaRPr>
          </a:p>
          <a:p>
            <a:pPr marR="2541905" algn="ctr">
              <a:lnSpc>
                <a:spcPct val="100000"/>
              </a:lnSpc>
            </a:pPr>
            <a:r>
              <a:rPr sz="2000" spc="-50" dirty="0">
                <a:latin typeface="Arial"/>
                <a:cs typeface="Arial"/>
              </a:rPr>
              <a:t>u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III.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thuật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ngữ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cơ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bản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802" y="878517"/>
            <a:ext cx="8682355" cy="129413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65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Bán</a:t>
            </a:r>
            <a:r>
              <a:rPr sz="2800" spc="-4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bậc</a:t>
            </a:r>
            <a:r>
              <a:rPr sz="2800" spc="-4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vào</a:t>
            </a:r>
            <a:r>
              <a:rPr sz="2800" spc="-4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và</a:t>
            </a:r>
            <a:r>
              <a:rPr sz="2800" spc="-4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bán</a:t>
            </a:r>
            <a:r>
              <a:rPr sz="2800" spc="-4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bậc</a:t>
            </a:r>
            <a:r>
              <a:rPr sz="2800" spc="-4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ra</a:t>
            </a:r>
            <a:r>
              <a:rPr sz="2800" spc="-35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của</a:t>
            </a:r>
            <a:r>
              <a:rPr sz="2800" spc="-5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spc="-20" dirty="0">
                <a:solidFill>
                  <a:srgbClr val="7030A0"/>
                </a:solidFill>
                <a:latin typeface="Verdana"/>
                <a:cs typeface="Verdana"/>
              </a:rPr>
              <a:t>đỉnh</a:t>
            </a:r>
            <a:endParaRPr sz="2800">
              <a:solidFill>
                <a:srgbClr val="7030A0"/>
              </a:solidFill>
              <a:latin typeface="Verdana"/>
              <a:cs typeface="Verdana"/>
            </a:endParaRPr>
          </a:p>
          <a:p>
            <a:pPr marL="755015" marR="5080" lvl="1" indent="-317500">
              <a:lnSpc>
                <a:spcPct val="100000"/>
              </a:lnSpc>
              <a:spcBef>
                <a:spcPts val="40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Bán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bậc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(bán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bậc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vào)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hướng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khỏi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nó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(đi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nó).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306" y="2219299"/>
            <a:ext cx="1412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297815" algn="l"/>
              </a:tabLst>
            </a:pPr>
            <a:r>
              <a:rPr sz="2400" dirty="0">
                <a:latin typeface="Arial"/>
                <a:cs typeface="Arial"/>
              </a:rPr>
              <a:t>Ký</a:t>
            </a:r>
            <a:r>
              <a:rPr sz="2400" spc="-10" dirty="0">
                <a:latin typeface="Arial"/>
                <a:cs typeface="Arial"/>
              </a:rPr>
              <a:t> hiệu: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02557" y="2142746"/>
            <a:ext cx="3765550" cy="5238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1994535" algn="l"/>
                <a:tab pos="3612515" algn="l"/>
              </a:tabLst>
            </a:pPr>
            <a:r>
              <a:rPr sz="3250" dirty="0">
                <a:latin typeface="Times New Roman"/>
                <a:cs typeface="Times New Roman"/>
              </a:rPr>
              <a:t>deg</a:t>
            </a:r>
            <a:r>
              <a:rPr sz="3250" spc="-509" dirty="0">
                <a:latin typeface="Times New Roman"/>
                <a:cs typeface="Times New Roman"/>
              </a:rPr>
              <a:t> </a:t>
            </a:r>
            <a:r>
              <a:rPr sz="2850" baseline="42397" dirty="0">
                <a:latin typeface="Symbol"/>
                <a:cs typeface="Symbol"/>
              </a:rPr>
              <a:t></a:t>
            </a:r>
            <a:r>
              <a:rPr sz="2850" spc="75" baseline="42397" dirty="0">
                <a:latin typeface="Times New Roman"/>
                <a:cs typeface="Times New Roman"/>
              </a:rPr>
              <a:t> </a:t>
            </a:r>
            <a:r>
              <a:rPr sz="3250" spc="-25" dirty="0">
                <a:latin typeface="Times New Roman"/>
                <a:cs typeface="Times New Roman"/>
              </a:rPr>
              <a:t>(</a:t>
            </a:r>
            <a:r>
              <a:rPr sz="3250" i="1" spc="-25" dirty="0">
                <a:latin typeface="Times New Roman"/>
                <a:cs typeface="Times New Roman"/>
              </a:rPr>
              <a:t>v</a:t>
            </a:r>
            <a:r>
              <a:rPr sz="3250" spc="-25" dirty="0">
                <a:latin typeface="Times New Roman"/>
                <a:cs typeface="Times New Roman"/>
              </a:rPr>
              <a:t>)</a:t>
            </a:r>
            <a:r>
              <a:rPr sz="3250" dirty="0">
                <a:latin typeface="Times New Roman"/>
                <a:cs typeface="Times New Roman"/>
              </a:rPr>
              <a:t>	</a:t>
            </a:r>
            <a:r>
              <a:rPr sz="3600" baseline="5787" dirty="0">
                <a:latin typeface="Arial"/>
                <a:cs typeface="Arial"/>
              </a:rPr>
              <a:t>(</a:t>
            </a:r>
            <a:r>
              <a:rPr sz="3250" dirty="0">
                <a:latin typeface="Times New Roman"/>
                <a:cs typeface="Times New Roman"/>
              </a:rPr>
              <a:t>deg</a:t>
            </a:r>
            <a:r>
              <a:rPr sz="3250" spc="-495" dirty="0">
                <a:latin typeface="Times New Roman"/>
                <a:cs typeface="Times New Roman"/>
              </a:rPr>
              <a:t> </a:t>
            </a:r>
            <a:r>
              <a:rPr sz="2850" baseline="42397" dirty="0">
                <a:latin typeface="Symbol"/>
                <a:cs typeface="Symbol"/>
              </a:rPr>
              <a:t></a:t>
            </a:r>
            <a:r>
              <a:rPr sz="2850" spc="89" baseline="42397" dirty="0">
                <a:latin typeface="Times New Roman"/>
                <a:cs typeface="Times New Roman"/>
              </a:rPr>
              <a:t> </a:t>
            </a:r>
            <a:r>
              <a:rPr sz="3250" spc="-25" dirty="0">
                <a:latin typeface="Times New Roman"/>
                <a:cs typeface="Times New Roman"/>
              </a:rPr>
              <a:t>(</a:t>
            </a:r>
            <a:r>
              <a:rPr sz="3250" i="1" spc="-25" dirty="0">
                <a:latin typeface="Times New Roman"/>
                <a:cs typeface="Times New Roman"/>
              </a:rPr>
              <a:t>v</a:t>
            </a:r>
            <a:r>
              <a:rPr sz="3250" spc="-25" dirty="0">
                <a:latin typeface="Times New Roman"/>
                <a:cs typeface="Times New Roman"/>
              </a:rPr>
              <a:t>)</a:t>
            </a:r>
            <a:r>
              <a:rPr sz="3250" dirty="0">
                <a:latin typeface="Times New Roman"/>
                <a:cs typeface="Times New Roman"/>
              </a:rPr>
              <a:t>	</a:t>
            </a:r>
            <a:r>
              <a:rPr sz="3600" spc="-75" baseline="5787" dirty="0">
                <a:latin typeface="Arial"/>
                <a:cs typeface="Arial"/>
              </a:rPr>
              <a:t>)</a:t>
            </a:r>
            <a:endParaRPr sz="3600" baseline="578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2736" y="3631691"/>
            <a:ext cx="3493135" cy="124460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40"/>
              </a:spcBef>
            </a:pPr>
            <a:r>
              <a:rPr sz="2800" spc="55" dirty="0">
                <a:latin typeface="Times New Roman"/>
                <a:cs typeface="Times New Roman"/>
              </a:rPr>
              <a:t>deg</a:t>
            </a:r>
            <a:r>
              <a:rPr sz="2400" spc="82" baseline="43402" dirty="0">
                <a:latin typeface="Symbol"/>
                <a:cs typeface="Symbol"/>
              </a:rPr>
              <a:t></a:t>
            </a:r>
            <a:r>
              <a:rPr sz="2400" spc="-15" baseline="43402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(2)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Symbol"/>
                <a:cs typeface="Symbol"/>
              </a:rPr>
              <a:t></a:t>
            </a:r>
            <a:r>
              <a:rPr sz="2800" spc="-31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1,</a:t>
            </a:r>
            <a:r>
              <a:rPr sz="2800" spc="-370" dirty="0">
                <a:latin typeface="Times New Roman"/>
                <a:cs typeface="Times New Roman"/>
              </a:rPr>
              <a:t> </a:t>
            </a:r>
            <a:r>
              <a:rPr sz="2800" spc="55" dirty="0">
                <a:latin typeface="Times New Roman"/>
                <a:cs typeface="Times New Roman"/>
              </a:rPr>
              <a:t>deg</a:t>
            </a:r>
            <a:r>
              <a:rPr sz="2400" spc="82" baseline="43402" dirty="0">
                <a:latin typeface="Symbol"/>
                <a:cs typeface="Symbol"/>
              </a:rPr>
              <a:t></a:t>
            </a:r>
            <a:r>
              <a:rPr sz="2400" spc="-60" baseline="43402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(2)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Symbol"/>
                <a:cs typeface="Symbol"/>
              </a:rPr>
              <a:t>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440"/>
              </a:spcBef>
            </a:pPr>
            <a:r>
              <a:rPr sz="2800" spc="55" dirty="0">
                <a:latin typeface="Times New Roman"/>
                <a:cs typeface="Times New Roman"/>
              </a:rPr>
              <a:t>deg</a:t>
            </a:r>
            <a:r>
              <a:rPr sz="2400" spc="82" baseline="43402" dirty="0">
                <a:latin typeface="Symbol"/>
                <a:cs typeface="Symbol"/>
              </a:rPr>
              <a:t></a:t>
            </a:r>
            <a:r>
              <a:rPr sz="2400" spc="-22" baseline="43402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(6)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Symbol"/>
                <a:cs typeface="Symbol"/>
              </a:rPr>
              <a:t>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2,</a:t>
            </a:r>
            <a:r>
              <a:rPr sz="2800" spc="-375" dirty="0">
                <a:latin typeface="Times New Roman"/>
                <a:cs typeface="Times New Roman"/>
              </a:rPr>
              <a:t> </a:t>
            </a:r>
            <a:r>
              <a:rPr sz="2800" spc="55" dirty="0">
                <a:latin typeface="Times New Roman"/>
                <a:cs typeface="Times New Roman"/>
              </a:rPr>
              <a:t>deg</a:t>
            </a:r>
            <a:r>
              <a:rPr sz="2400" spc="82" baseline="43402" dirty="0">
                <a:latin typeface="Symbol"/>
                <a:cs typeface="Symbol"/>
              </a:rPr>
              <a:t></a:t>
            </a:r>
            <a:r>
              <a:rPr sz="2400" spc="-67" baseline="43402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(6)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Symbol"/>
                <a:cs typeface="Symbol"/>
              </a:rPr>
              <a:t></a:t>
            </a:r>
            <a:r>
              <a:rPr sz="2800" spc="-33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0675" y="3035299"/>
            <a:ext cx="4619625" cy="32765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23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6C0000"/>
                </a:solidFill>
              </a:rPr>
              <a:t>III.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Các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thuật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ngữ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dirty="0">
                <a:solidFill>
                  <a:srgbClr val="6C0000"/>
                </a:solidFill>
              </a:rPr>
              <a:t>cơ</a:t>
            </a:r>
            <a:r>
              <a:rPr sz="3200" spc="-55" dirty="0">
                <a:solidFill>
                  <a:srgbClr val="6C0000"/>
                </a:solidFill>
              </a:rPr>
              <a:t> </a:t>
            </a:r>
            <a:r>
              <a:rPr sz="3200" spc="-25" dirty="0">
                <a:solidFill>
                  <a:srgbClr val="6C0000"/>
                </a:solidFill>
              </a:rPr>
              <a:t>bản</a:t>
            </a:r>
            <a:endParaRPr sz="3200">
              <a:solidFill>
                <a:srgbClr val="6C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102" y="937767"/>
            <a:ext cx="8691245" cy="21790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42265">
              <a:lnSpc>
                <a:spcPts val="3354"/>
              </a:lnSpc>
              <a:spcBef>
                <a:spcPts val="100"/>
              </a:spcBef>
              <a:buClr>
                <a:srgbClr val="65CCFF"/>
              </a:buClr>
              <a:buFont typeface="Wingdings"/>
              <a:buChar char=""/>
              <a:tabLst>
                <a:tab pos="367665" algn="l"/>
              </a:tabLst>
            </a:pPr>
            <a:r>
              <a:rPr sz="2800" dirty="0">
                <a:solidFill>
                  <a:srgbClr val="7030A0"/>
                </a:solidFill>
                <a:latin typeface="Verdana"/>
                <a:cs typeface="Verdana"/>
              </a:rPr>
              <a:t>Định</a:t>
            </a:r>
            <a:r>
              <a:rPr sz="2800" spc="-50" dirty="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7030A0"/>
                </a:solidFill>
                <a:latin typeface="Verdana"/>
                <a:cs typeface="Verdana"/>
              </a:rPr>
              <a:t>lý</a:t>
            </a:r>
            <a:endParaRPr sz="2800">
              <a:solidFill>
                <a:srgbClr val="7030A0"/>
              </a:solidFill>
              <a:latin typeface="Verdana"/>
              <a:cs typeface="Verdana"/>
            </a:endParaRPr>
          </a:p>
          <a:p>
            <a:pPr marL="367665" marR="17780" indent="-19685">
              <a:lnSpc>
                <a:spcPct val="79800"/>
              </a:lnSpc>
              <a:spcBef>
                <a:spcPts val="580"/>
              </a:spcBef>
              <a:tabLst>
                <a:tab pos="6364605" algn="l"/>
              </a:tabLst>
            </a:pPr>
            <a:r>
              <a:rPr sz="2400" i="1" dirty="0">
                <a:latin typeface="Verdana"/>
                <a:cs typeface="Verdana"/>
              </a:rPr>
              <a:t>Giả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sử</a:t>
            </a:r>
            <a:r>
              <a:rPr sz="2400" i="1" spc="-1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G=(V,E)</a:t>
            </a:r>
            <a:r>
              <a:rPr sz="2400" i="1" spc="-3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là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đồ</a:t>
            </a:r>
            <a:r>
              <a:rPr sz="2400" i="1" spc="-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thị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có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hướng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spc="-25" dirty="0">
                <a:latin typeface="Verdana"/>
                <a:cs typeface="Verdana"/>
              </a:rPr>
              <a:t>với</a:t>
            </a:r>
            <a:r>
              <a:rPr sz="2400" i="1" dirty="0">
                <a:latin typeface="Verdana"/>
                <a:cs typeface="Verdana"/>
              </a:rPr>
              <a:t>	m</a:t>
            </a:r>
            <a:r>
              <a:rPr sz="2400" i="1" spc="-3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cung,</a:t>
            </a:r>
            <a:r>
              <a:rPr sz="2400" i="1" spc="-3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khi</a:t>
            </a:r>
            <a:r>
              <a:rPr sz="2400" i="1" spc="-45" dirty="0">
                <a:latin typeface="Verdana"/>
                <a:cs typeface="Verdana"/>
              </a:rPr>
              <a:t> </a:t>
            </a:r>
            <a:r>
              <a:rPr sz="2400" i="1" spc="-25" dirty="0">
                <a:latin typeface="Verdana"/>
                <a:cs typeface="Verdana"/>
              </a:rPr>
              <a:t>đó </a:t>
            </a:r>
            <a:r>
              <a:rPr sz="2400" i="1" dirty="0">
                <a:latin typeface="Verdana"/>
                <a:cs typeface="Verdana"/>
              </a:rPr>
              <a:t>tổng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tất</a:t>
            </a:r>
            <a:r>
              <a:rPr sz="2400" i="1" spc="-1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cả</a:t>
            </a:r>
            <a:r>
              <a:rPr sz="2400" i="1" spc="-3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các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bán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bậc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ra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bằng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tổng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tất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cả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các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spc="-25" dirty="0">
                <a:latin typeface="Verdana"/>
                <a:cs typeface="Verdana"/>
              </a:rPr>
              <a:t>bán </a:t>
            </a:r>
            <a:r>
              <a:rPr sz="2400" i="1" dirty="0">
                <a:latin typeface="Verdana"/>
                <a:cs typeface="Verdana"/>
              </a:rPr>
              <a:t>bậc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vào</a:t>
            </a:r>
            <a:r>
              <a:rPr sz="2400" i="1" spc="-1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và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bằng</a:t>
            </a:r>
            <a:r>
              <a:rPr sz="2400" i="1" spc="-20" dirty="0">
                <a:latin typeface="Verdana"/>
                <a:cs typeface="Verdana"/>
              </a:rPr>
              <a:t> </a:t>
            </a:r>
            <a:r>
              <a:rPr sz="2400" i="1" spc="-25" dirty="0">
                <a:latin typeface="Verdana"/>
                <a:cs typeface="Verdana"/>
              </a:rPr>
              <a:t>m.</a:t>
            </a:r>
            <a:endParaRPr sz="2400">
              <a:latin typeface="Verdana"/>
              <a:cs typeface="Verdana"/>
            </a:endParaRPr>
          </a:p>
          <a:p>
            <a:pPr marL="2038985">
              <a:lnSpc>
                <a:spcPts val="4100"/>
              </a:lnSpc>
            </a:pPr>
            <a:r>
              <a:rPr sz="5400" baseline="-8487" dirty="0">
                <a:latin typeface="Symbol"/>
                <a:cs typeface="Symbol"/>
              </a:rPr>
              <a:t></a:t>
            </a:r>
            <a:r>
              <a:rPr sz="5400" spc="-509" baseline="-848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deg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100" baseline="41666" dirty="0">
                <a:latin typeface="Symbol"/>
                <a:cs typeface="Symbol"/>
              </a:rPr>
              <a:t></a:t>
            </a:r>
            <a:r>
              <a:rPr sz="2100" spc="195" baseline="41666" dirty="0">
                <a:latin typeface="Times New Roman"/>
                <a:cs typeface="Times New Roman"/>
              </a:rPr>
              <a:t> </a:t>
            </a:r>
            <a:r>
              <a:rPr sz="2400" spc="100" dirty="0">
                <a:latin typeface="Times New Roman"/>
                <a:cs typeface="Times New Roman"/>
              </a:rPr>
              <a:t>(</a:t>
            </a:r>
            <a:r>
              <a:rPr sz="2400" i="1" spc="100" dirty="0">
                <a:latin typeface="Times New Roman"/>
                <a:cs typeface="Times New Roman"/>
              </a:rPr>
              <a:t>v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5400" baseline="-8487" dirty="0">
                <a:latin typeface="Symbol"/>
                <a:cs typeface="Symbol"/>
              </a:rPr>
              <a:t></a:t>
            </a:r>
            <a:r>
              <a:rPr sz="5400" spc="-509" baseline="-848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deg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100" baseline="41666" dirty="0">
                <a:latin typeface="Symbol"/>
                <a:cs typeface="Symbol"/>
              </a:rPr>
              <a:t></a:t>
            </a:r>
            <a:r>
              <a:rPr sz="2100" spc="157" baseline="41666" dirty="0">
                <a:latin typeface="Times New Roman"/>
                <a:cs typeface="Times New Roman"/>
              </a:rPr>
              <a:t> </a:t>
            </a:r>
            <a:r>
              <a:rPr sz="2400" spc="100" dirty="0">
                <a:latin typeface="Times New Roman"/>
                <a:cs typeface="Times New Roman"/>
              </a:rPr>
              <a:t>(</a:t>
            </a:r>
            <a:r>
              <a:rPr sz="2400" i="1" spc="100" dirty="0">
                <a:latin typeface="Times New Roman"/>
                <a:cs typeface="Times New Roman"/>
              </a:rPr>
              <a:t>v</a:t>
            </a:r>
            <a:r>
              <a:rPr sz="2400" spc="100" dirty="0">
                <a:latin typeface="Times New Roman"/>
                <a:cs typeface="Times New Roman"/>
              </a:rPr>
              <a:t>)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  <a:p>
            <a:pPr marL="2049780">
              <a:lnSpc>
                <a:spcPct val="100000"/>
              </a:lnSpc>
              <a:spcBef>
                <a:spcPts val="170"/>
              </a:spcBef>
              <a:tabLst>
                <a:tab pos="3856990" algn="l"/>
              </a:tabLst>
            </a:pP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241" y="4132612"/>
            <a:ext cx="3383279" cy="86868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55"/>
              </a:spcBef>
            </a:pPr>
            <a:r>
              <a:rPr sz="5400" spc="75" baseline="-8487" dirty="0">
                <a:latin typeface="Symbol"/>
                <a:cs typeface="Symbol"/>
              </a:rPr>
              <a:t></a:t>
            </a:r>
            <a:r>
              <a:rPr sz="2400" spc="50" dirty="0">
                <a:latin typeface="Times New Roman"/>
                <a:cs typeface="Times New Roman"/>
              </a:rPr>
              <a:t>deg</a:t>
            </a:r>
            <a:r>
              <a:rPr sz="2100" spc="75" baseline="41666" dirty="0">
                <a:latin typeface="Symbol"/>
                <a:cs typeface="Symbol"/>
              </a:rPr>
              <a:t></a:t>
            </a:r>
            <a:r>
              <a:rPr sz="2100" spc="-112" baseline="41666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5400" spc="75" baseline="-8487" dirty="0">
                <a:latin typeface="Symbol"/>
                <a:cs typeface="Symbol"/>
              </a:rPr>
              <a:t></a:t>
            </a:r>
            <a:r>
              <a:rPr sz="2400" spc="50" dirty="0">
                <a:latin typeface="Times New Roman"/>
                <a:cs typeface="Times New Roman"/>
              </a:rPr>
              <a:t>deg</a:t>
            </a:r>
            <a:r>
              <a:rPr sz="2100" spc="75" baseline="41666" dirty="0">
                <a:latin typeface="Symbol"/>
                <a:cs typeface="Symbol"/>
              </a:rPr>
              <a:t></a:t>
            </a:r>
            <a:r>
              <a:rPr sz="2100" spc="-135" baseline="41666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180"/>
              </a:spcBef>
              <a:tabLst>
                <a:tab pos="1624330" algn="l"/>
              </a:tabLst>
            </a:pP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Symbol"/>
                <a:cs typeface="Symbol"/>
              </a:rPr>
              <a:t></a:t>
            </a:r>
            <a:r>
              <a:rPr sz="1400" i="1" spc="-25" dirty="0">
                <a:latin typeface="Times New Roman"/>
                <a:cs typeface="Times New Roman"/>
              </a:rPr>
              <a:t>V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9275" y="3187699"/>
            <a:ext cx="4619624" cy="3124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1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Các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khái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niệm</a:t>
            </a:r>
            <a:r>
              <a:rPr sz="1400" spc="-2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cơ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bản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IV.</a:t>
            </a:r>
            <a:r>
              <a:rPr sz="3200" spc="-45" dirty="0"/>
              <a:t> </a:t>
            </a:r>
            <a:r>
              <a:rPr sz="3200" dirty="0"/>
              <a:t>Đường</a:t>
            </a:r>
            <a:r>
              <a:rPr sz="3200" spc="-40" dirty="0"/>
              <a:t> </a:t>
            </a:r>
            <a:r>
              <a:rPr sz="3200" dirty="0"/>
              <a:t>đi,</a:t>
            </a:r>
            <a:r>
              <a:rPr sz="3200" spc="-50" dirty="0"/>
              <a:t> </a:t>
            </a:r>
            <a:r>
              <a:rPr sz="3200" dirty="0"/>
              <a:t>chu</a:t>
            </a:r>
            <a:r>
              <a:rPr sz="3200" spc="-50" dirty="0"/>
              <a:t> </a:t>
            </a:r>
            <a:r>
              <a:rPr sz="3200" spc="-10" dirty="0"/>
              <a:t>trình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1249" y="1010158"/>
            <a:ext cx="8776335" cy="4380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marR="10668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80365" algn="l"/>
                <a:tab pos="3338829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Đường</a:t>
            </a:r>
            <a:r>
              <a:rPr kumimoji="0" sz="2400" b="0" i="0" u="heavy" strike="noStrike" kern="0" cap="none" spc="-3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đi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độ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dài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	từ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u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đến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trên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vô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hướng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G=(V,E)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dãy(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B9AD9"/>
                </a:solidFill>
                <a:effectLst/>
                <a:uLnTx/>
                <a:uFillTx/>
                <a:latin typeface="Verdana"/>
                <a:cs typeface="Verdana"/>
              </a:rPr>
              <a:t>theo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1B9AD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B9AD9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):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0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…,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-1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n-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x</a:t>
            </a:r>
            <a:r>
              <a:rPr kumimoji="0" sz="2400" b="0" i="0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n.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Trong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đó: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81000" marR="0" lvl="0" indent="0" defTabSz="914400" eaLnBrk="1" fontAlgn="auto" latinLnBrk="0" hangingPunct="1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+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u=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0</a:t>
            </a:r>
            <a:endParaRPr kumimoji="0" sz="2400" b="0" i="0" u="none" strike="noStrike" kern="0" cap="none" spc="0" normalizeH="0" baseline="-20833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81000" marR="0" lvl="0" indent="0" defTabSz="91440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+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v=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endParaRPr kumimoji="0" sz="2400" b="0" i="0" u="none" strike="noStrike" kern="0" cap="none" spc="0" normalizeH="0" baseline="-20833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81000" marR="0" lvl="0" indent="0" defTabSz="914400" eaLnBrk="1" fontAlgn="auto" latinLnBrk="0" hangingPunct="1">
              <a:lnSpc>
                <a:spcPts val="28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+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(x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i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i+1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)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</a:t>
            </a:r>
            <a:r>
              <a:rPr kumimoji="0" sz="2400" b="0" i="0" u="none" strike="noStrike" kern="0" cap="none" spc="2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80365" marR="0" lvl="0" indent="-342265" defTabSz="91440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8036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Hay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B9AD9"/>
                </a:solidFill>
                <a:effectLst/>
                <a:uLnTx/>
                <a:uFillTx/>
                <a:latin typeface="Verdana"/>
                <a:cs typeface="Verdana"/>
              </a:rPr>
              <a:t>theo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1B9AD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B9AD9"/>
                </a:solidFill>
                <a:effectLst/>
                <a:uLnTx/>
                <a:uFillTx/>
                <a:latin typeface="Verdana"/>
                <a:cs typeface="Verdana"/>
              </a:rPr>
              <a:t>cạnh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(x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0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),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(x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2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),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…,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(x</a:t>
            </a:r>
            <a:r>
              <a:rPr kumimoji="0" sz="2400" b="0" i="0" u="none" strike="noStrike" kern="0" cap="none" spc="-3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n-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-3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).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79730" marR="30480" lvl="0" indent="-342265" defTabSz="914400" eaLnBrk="1" fontAlgn="auto" latinLnBrk="0" hangingPunct="1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810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Khi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đó: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u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gọi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đỉnh</a:t>
            </a:r>
            <a:r>
              <a:rPr kumimoji="0" sz="2400" b="0" i="0" u="heavy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đầu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gọi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đỉnh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cuối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của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đường 	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đi.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12573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Theo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đỉnh: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(1,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3,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5,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6)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573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Theo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cạnh: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(b,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c,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h,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g)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7000" y="4330699"/>
            <a:ext cx="3543299" cy="2133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28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IV.</a:t>
            </a:r>
            <a:r>
              <a:rPr sz="3200" spc="-45" dirty="0"/>
              <a:t> </a:t>
            </a:r>
            <a:r>
              <a:rPr sz="3200" dirty="0"/>
              <a:t>Đường</a:t>
            </a:r>
            <a:r>
              <a:rPr sz="3200" spc="-40" dirty="0"/>
              <a:t> </a:t>
            </a:r>
            <a:r>
              <a:rPr sz="3200" dirty="0"/>
              <a:t>đi,</a:t>
            </a:r>
            <a:r>
              <a:rPr sz="3200" spc="-50" dirty="0"/>
              <a:t> </a:t>
            </a:r>
            <a:r>
              <a:rPr sz="3200" dirty="0"/>
              <a:t>chu</a:t>
            </a:r>
            <a:r>
              <a:rPr sz="3200" spc="-50" dirty="0"/>
              <a:t> </a:t>
            </a:r>
            <a:r>
              <a:rPr sz="3200" spc="-10" dirty="0"/>
              <a:t>trình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6802" y="1010158"/>
            <a:ext cx="8380095" cy="1420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lvl="0" indent="-34290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5600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Đường</a:t>
            </a:r>
            <a:r>
              <a:rPr kumimoji="0" sz="2400" b="0" i="0" u="heavy" strike="noStrike" kern="0" cap="none" spc="-3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đi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có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đầu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và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cuối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trùng</a:t>
            </a:r>
            <a:r>
              <a:rPr kumimoji="0" sz="2400" b="0" i="0" u="heavy" strike="noStrike" kern="0" cap="none" spc="-3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nhau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gọi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Verdana"/>
                <a:cs typeface="Verdana"/>
              </a:rPr>
              <a:t>chu</a:t>
            </a:r>
            <a:r>
              <a:rPr kumimoji="0" sz="2400" b="0" i="0" u="heavy" strike="noStrike" kern="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Verdana"/>
                <a:cs typeface="Verdana"/>
              </a:rPr>
              <a:t>trình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755015" marR="107314" lvl="1" indent="-285750" defTabSz="91440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1B9AD9"/>
              </a:buClr>
              <a:buSzTx/>
              <a:buFont typeface="Wingdings"/>
              <a:buChar char="■"/>
              <a:tabLst>
                <a:tab pos="75501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Đường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đi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(hay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chu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trình)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được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gọi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là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đơn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nếu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nó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không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đi</a:t>
            </a:r>
            <a:r>
              <a:rPr kumimoji="0" sz="2000" b="0" i="0" u="heavy" strike="noStrike" kern="0" cap="none" spc="-4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kumimoji="0" sz="20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qua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một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cạnh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nào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quá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một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lần.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5002" y="5576822"/>
            <a:ext cx="5242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Chu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trình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đơn: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(1,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2,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6,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3,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1)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Chu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trình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không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phải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chu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trình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đơn: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(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2,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6,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4,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3,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6,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9050" y="2654299"/>
            <a:ext cx="5200650" cy="2743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29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IV.</a:t>
            </a:r>
            <a:r>
              <a:rPr sz="3200" spc="-45" dirty="0"/>
              <a:t> </a:t>
            </a:r>
            <a:r>
              <a:rPr sz="3200" dirty="0"/>
              <a:t>Đường</a:t>
            </a:r>
            <a:r>
              <a:rPr sz="3200" spc="-40" dirty="0"/>
              <a:t> </a:t>
            </a:r>
            <a:r>
              <a:rPr sz="3200" dirty="0"/>
              <a:t>đi,</a:t>
            </a:r>
            <a:r>
              <a:rPr sz="3200" spc="-50" dirty="0"/>
              <a:t> </a:t>
            </a:r>
            <a:r>
              <a:rPr sz="3200" dirty="0"/>
              <a:t>chu</a:t>
            </a:r>
            <a:r>
              <a:rPr sz="3200" spc="-50" dirty="0"/>
              <a:t> </a:t>
            </a:r>
            <a:r>
              <a:rPr sz="3200" spc="-10" dirty="0"/>
              <a:t>trình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4102" y="845564"/>
            <a:ext cx="8782685" cy="275907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367665" marR="0" lvl="0" indent="-342265" defTabSz="914400" eaLnBrk="1" fontAlgn="auto" latinLnBrk="0" hangingPunct="1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Đường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đi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và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chu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trình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trong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có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hướng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254000" marR="0" lvl="0" indent="0" defTabSz="914400" eaLnBrk="1" fontAlgn="auto" latinLnBrk="0" hangingPunct="1">
              <a:lnSpc>
                <a:spcPts val="2850"/>
              </a:lnSpc>
              <a:spcBef>
                <a:spcPts val="12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Đường</a:t>
            </a:r>
            <a:r>
              <a:rPr kumimoji="0" sz="2400" b="1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đi</a:t>
            </a:r>
            <a:r>
              <a:rPr kumimoji="0" sz="2400" b="1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độ</a:t>
            </a:r>
            <a:r>
              <a:rPr kumimoji="0" sz="24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dài</a:t>
            </a:r>
            <a:r>
              <a:rPr kumimoji="0" sz="24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(n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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0" normalizeH="0" baseline="2430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)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từ</a:t>
            </a:r>
            <a:r>
              <a:rPr kumimoji="0" sz="24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đến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trên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có</a:t>
            </a:r>
            <a:r>
              <a:rPr kumimoji="0" sz="2400" b="1" i="0" u="heavy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hướng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596900" marR="0" lvl="0" indent="0" defTabSz="91440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G=(V,E)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dãy: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558800" marR="0" lvl="0" indent="0" defTabSz="914400" eaLnBrk="1" fontAlgn="auto" latinLnBrk="0" hangingPunct="1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0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...,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-1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n-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558800" marR="0" lvl="0" indent="0" defTabSz="914400" eaLnBrk="1" fontAlgn="auto" latinLnBrk="0" hangingPunct="1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Trong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đó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0</a:t>
            </a:r>
            <a:r>
              <a:rPr kumimoji="0" sz="2400" b="0" i="0" u="none" strike="noStrike" kern="0" cap="none" spc="-1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)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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54000" marR="0" lvl="0" indent="0" defTabSz="914400" eaLnBrk="1" fontAlgn="auto" latinLnBrk="0" hangingPunct="1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Hay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theo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các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cung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: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0</a:t>
            </a:r>
            <a:r>
              <a:rPr kumimoji="0" sz="2400" b="0" i="0" u="none" strike="noStrike" kern="0" cap="none" spc="-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-1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),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2400" b="0" i="0" u="none" strike="noStrike" kern="0" cap="none" spc="-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),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...,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(x</a:t>
            </a:r>
            <a:r>
              <a:rPr kumimoji="0" sz="2400" b="0" i="0" u="none" strike="noStrike" kern="0" cap="none" spc="-3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n-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-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).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43323" y="6145276"/>
            <a:ext cx="2070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30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51139" y="4022661"/>
            <a:ext cx="4200525" cy="2263775"/>
            <a:chOff x="1751139" y="4022661"/>
            <a:chExt cx="4200525" cy="22637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8339" y="5622861"/>
              <a:ext cx="161925" cy="12992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5139" y="4022661"/>
              <a:ext cx="161925" cy="1299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0139" y="4403661"/>
              <a:ext cx="161925" cy="1299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3539" y="5394261"/>
              <a:ext cx="238125" cy="12992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1139" y="4479861"/>
              <a:ext cx="161925" cy="12992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865630" y="4072813"/>
              <a:ext cx="3013710" cy="2056764"/>
            </a:xfrm>
            <a:custGeom>
              <a:avLst/>
              <a:gdLst/>
              <a:ahLst/>
              <a:cxnLst/>
              <a:rect l="l" t="t" r="r" b="b"/>
              <a:pathLst>
                <a:path w="3013710" h="2056764">
                  <a:moveTo>
                    <a:pt x="361188" y="1518234"/>
                  </a:moveTo>
                  <a:lnTo>
                    <a:pt x="66535" y="636447"/>
                  </a:lnTo>
                  <a:lnTo>
                    <a:pt x="44500" y="617118"/>
                  </a:lnTo>
                  <a:lnTo>
                    <a:pt x="49530" y="621525"/>
                  </a:lnTo>
                  <a:lnTo>
                    <a:pt x="100584" y="666318"/>
                  </a:lnTo>
                  <a:lnTo>
                    <a:pt x="126492" y="658698"/>
                  </a:lnTo>
                  <a:lnTo>
                    <a:pt x="125730" y="649554"/>
                  </a:lnTo>
                  <a:lnTo>
                    <a:pt x="26670" y="562686"/>
                  </a:lnTo>
                  <a:lnTo>
                    <a:pt x="0" y="691464"/>
                  </a:lnTo>
                  <a:lnTo>
                    <a:pt x="4572" y="699084"/>
                  </a:lnTo>
                  <a:lnTo>
                    <a:pt x="12192" y="700608"/>
                  </a:lnTo>
                  <a:lnTo>
                    <a:pt x="20574" y="702894"/>
                  </a:lnTo>
                  <a:lnTo>
                    <a:pt x="22098" y="701713"/>
                  </a:lnTo>
                  <a:lnTo>
                    <a:pt x="27432" y="697560"/>
                  </a:lnTo>
                  <a:lnTo>
                    <a:pt x="29718" y="689940"/>
                  </a:lnTo>
                  <a:lnTo>
                    <a:pt x="38950" y="644436"/>
                  </a:lnTo>
                  <a:lnTo>
                    <a:pt x="22098" y="593928"/>
                  </a:lnTo>
                  <a:lnTo>
                    <a:pt x="25908" y="605345"/>
                  </a:lnTo>
                  <a:lnTo>
                    <a:pt x="38950" y="644436"/>
                  </a:lnTo>
                  <a:lnTo>
                    <a:pt x="333756" y="1527378"/>
                  </a:lnTo>
                  <a:lnTo>
                    <a:pt x="361188" y="1518234"/>
                  </a:lnTo>
                  <a:close/>
                </a:path>
                <a:path w="3013710" h="2056764">
                  <a:moveTo>
                    <a:pt x="1413510" y="77292"/>
                  </a:moveTo>
                  <a:lnTo>
                    <a:pt x="1178052" y="1092"/>
                  </a:lnTo>
                  <a:lnTo>
                    <a:pt x="1166660" y="0"/>
                  </a:lnTo>
                  <a:lnTo>
                    <a:pt x="1156144" y="3187"/>
                  </a:lnTo>
                  <a:lnTo>
                    <a:pt x="1147610" y="10096"/>
                  </a:lnTo>
                  <a:lnTo>
                    <a:pt x="1142238" y="20142"/>
                  </a:lnTo>
                  <a:lnTo>
                    <a:pt x="1141018" y="31102"/>
                  </a:lnTo>
                  <a:lnTo>
                    <a:pt x="1143952" y="41478"/>
                  </a:lnTo>
                  <a:lnTo>
                    <a:pt x="1150594" y="50152"/>
                  </a:lnTo>
                  <a:lnTo>
                    <a:pt x="1160526" y="55956"/>
                  </a:lnTo>
                  <a:lnTo>
                    <a:pt x="1248803" y="84086"/>
                  </a:lnTo>
                  <a:lnTo>
                    <a:pt x="36576" y="352374"/>
                  </a:lnTo>
                  <a:lnTo>
                    <a:pt x="48768" y="408000"/>
                  </a:lnTo>
                  <a:lnTo>
                    <a:pt x="1261579" y="139738"/>
                  </a:lnTo>
                  <a:lnTo>
                    <a:pt x="1193292" y="203022"/>
                  </a:lnTo>
                  <a:lnTo>
                    <a:pt x="1186726" y="212229"/>
                  </a:lnTo>
                  <a:lnTo>
                    <a:pt x="1184236" y="222935"/>
                  </a:lnTo>
                  <a:lnTo>
                    <a:pt x="1185887" y="233781"/>
                  </a:lnTo>
                  <a:lnTo>
                    <a:pt x="1191768" y="243408"/>
                  </a:lnTo>
                  <a:lnTo>
                    <a:pt x="1200861" y="249974"/>
                  </a:lnTo>
                  <a:lnTo>
                    <a:pt x="1211389" y="252463"/>
                  </a:lnTo>
                  <a:lnTo>
                    <a:pt x="1222197" y="250812"/>
                  </a:lnTo>
                  <a:lnTo>
                    <a:pt x="1232154" y="244932"/>
                  </a:lnTo>
                  <a:lnTo>
                    <a:pt x="1364742" y="122377"/>
                  </a:lnTo>
                  <a:lnTo>
                    <a:pt x="1413510" y="77292"/>
                  </a:lnTo>
                  <a:close/>
                </a:path>
                <a:path w="3013710" h="2056764">
                  <a:moveTo>
                    <a:pt x="3013710" y="2056206"/>
                  </a:moveTo>
                  <a:lnTo>
                    <a:pt x="2985516" y="1810080"/>
                  </a:lnTo>
                  <a:lnTo>
                    <a:pt x="2953512" y="1784934"/>
                  </a:lnTo>
                  <a:lnTo>
                    <a:pt x="2942945" y="1788655"/>
                  </a:lnTo>
                  <a:lnTo>
                    <a:pt x="2934741" y="1795792"/>
                  </a:lnTo>
                  <a:lnTo>
                    <a:pt x="2929826" y="1805508"/>
                  </a:lnTo>
                  <a:lnTo>
                    <a:pt x="2929128" y="1816938"/>
                  </a:lnTo>
                  <a:lnTo>
                    <a:pt x="2939834" y="1909483"/>
                  </a:lnTo>
                  <a:lnTo>
                    <a:pt x="1573530" y="87960"/>
                  </a:lnTo>
                  <a:lnTo>
                    <a:pt x="1527810" y="122250"/>
                  </a:lnTo>
                  <a:lnTo>
                    <a:pt x="2894241" y="1943925"/>
                  </a:lnTo>
                  <a:lnTo>
                    <a:pt x="2807970" y="1907616"/>
                  </a:lnTo>
                  <a:lnTo>
                    <a:pt x="2796883" y="1905393"/>
                  </a:lnTo>
                  <a:lnTo>
                    <a:pt x="2786151" y="1907527"/>
                  </a:lnTo>
                  <a:lnTo>
                    <a:pt x="2776994" y="1913521"/>
                  </a:lnTo>
                  <a:lnTo>
                    <a:pt x="2770632" y="1922856"/>
                  </a:lnTo>
                  <a:lnTo>
                    <a:pt x="2768396" y="1933943"/>
                  </a:lnTo>
                  <a:lnTo>
                    <a:pt x="2770530" y="1944674"/>
                  </a:lnTo>
                  <a:lnTo>
                    <a:pt x="2776524" y="1953831"/>
                  </a:lnTo>
                  <a:lnTo>
                    <a:pt x="2785872" y="1960194"/>
                  </a:lnTo>
                  <a:lnTo>
                    <a:pt x="3003042" y="2051723"/>
                  </a:lnTo>
                  <a:lnTo>
                    <a:pt x="3013710" y="2056206"/>
                  </a:lnTo>
                  <a:close/>
                </a:path>
              </a:pathLst>
            </a:custGeom>
            <a:solidFill>
              <a:srgbClr val="1D528D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99139" y="6156261"/>
              <a:ext cx="161925" cy="12992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349500" y="4456429"/>
              <a:ext cx="3451860" cy="1708785"/>
            </a:xfrm>
            <a:custGeom>
              <a:avLst/>
              <a:gdLst/>
              <a:ahLst/>
              <a:cxnLst/>
              <a:rect l="l" t="t" r="r" b="b"/>
              <a:pathLst>
                <a:path w="3451860" h="1708785">
                  <a:moveTo>
                    <a:pt x="2459736" y="1680222"/>
                  </a:moveTo>
                  <a:lnTo>
                    <a:pt x="82727" y="1245527"/>
                  </a:lnTo>
                  <a:lnTo>
                    <a:pt x="126492" y="1229880"/>
                  </a:lnTo>
                  <a:lnTo>
                    <a:pt x="134112" y="1227594"/>
                  </a:lnTo>
                  <a:lnTo>
                    <a:pt x="137922" y="1219212"/>
                  </a:lnTo>
                  <a:lnTo>
                    <a:pt x="134874" y="1211592"/>
                  </a:lnTo>
                  <a:lnTo>
                    <a:pt x="132588" y="1203972"/>
                  </a:lnTo>
                  <a:lnTo>
                    <a:pt x="124206" y="1200162"/>
                  </a:lnTo>
                  <a:lnTo>
                    <a:pt x="116586" y="1203210"/>
                  </a:lnTo>
                  <a:lnTo>
                    <a:pt x="0" y="1245120"/>
                  </a:lnTo>
                  <a:lnTo>
                    <a:pt x="25908" y="1267256"/>
                  </a:lnTo>
                  <a:lnTo>
                    <a:pt x="94488" y="1325892"/>
                  </a:lnTo>
                  <a:lnTo>
                    <a:pt x="100584" y="1331226"/>
                  </a:lnTo>
                  <a:lnTo>
                    <a:pt x="108966" y="1330464"/>
                  </a:lnTo>
                  <a:lnTo>
                    <a:pt x="119634" y="1318272"/>
                  </a:lnTo>
                  <a:lnTo>
                    <a:pt x="118872" y="1309128"/>
                  </a:lnTo>
                  <a:lnTo>
                    <a:pt x="112776" y="1303794"/>
                  </a:lnTo>
                  <a:lnTo>
                    <a:pt x="77114" y="1273530"/>
                  </a:lnTo>
                  <a:lnTo>
                    <a:pt x="25908" y="1264170"/>
                  </a:lnTo>
                  <a:lnTo>
                    <a:pt x="32766" y="1265415"/>
                  </a:lnTo>
                  <a:lnTo>
                    <a:pt x="77114" y="1273530"/>
                  </a:lnTo>
                  <a:lnTo>
                    <a:pt x="2454402" y="1708416"/>
                  </a:lnTo>
                  <a:lnTo>
                    <a:pt x="2459736" y="1680222"/>
                  </a:lnTo>
                  <a:close/>
                </a:path>
                <a:path w="3451860" h="1708785">
                  <a:moveTo>
                    <a:pt x="2830068" y="53340"/>
                  </a:moveTo>
                  <a:lnTo>
                    <a:pt x="2808732" y="0"/>
                  </a:lnTo>
                  <a:lnTo>
                    <a:pt x="156718" y="1053020"/>
                  </a:lnTo>
                  <a:lnTo>
                    <a:pt x="214122" y="979932"/>
                  </a:lnTo>
                  <a:lnTo>
                    <a:pt x="208788" y="939546"/>
                  </a:lnTo>
                  <a:lnTo>
                    <a:pt x="187833" y="933640"/>
                  </a:lnTo>
                  <a:lnTo>
                    <a:pt x="177495" y="937196"/>
                  </a:lnTo>
                  <a:lnTo>
                    <a:pt x="169164" y="944880"/>
                  </a:lnTo>
                  <a:lnTo>
                    <a:pt x="16002" y="1139190"/>
                  </a:lnTo>
                  <a:lnTo>
                    <a:pt x="58674" y="1145705"/>
                  </a:lnTo>
                  <a:lnTo>
                    <a:pt x="260604" y="1176528"/>
                  </a:lnTo>
                  <a:lnTo>
                    <a:pt x="272148" y="1175943"/>
                  </a:lnTo>
                  <a:lnTo>
                    <a:pt x="282130" y="1171194"/>
                  </a:lnTo>
                  <a:lnTo>
                    <a:pt x="289534" y="1163027"/>
                  </a:lnTo>
                  <a:lnTo>
                    <a:pt x="293370" y="1152144"/>
                  </a:lnTo>
                  <a:lnTo>
                    <a:pt x="292785" y="1141044"/>
                  </a:lnTo>
                  <a:lnTo>
                    <a:pt x="288124" y="1131290"/>
                  </a:lnTo>
                  <a:lnTo>
                    <a:pt x="280187" y="1123962"/>
                  </a:lnTo>
                  <a:lnTo>
                    <a:pt x="269748" y="1120140"/>
                  </a:lnTo>
                  <a:lnTo>
                    <a:pt x="177660" y="1106220"/>
                  </a:lnTo>
                  <a:lnTo>
                    <a:pt x="2830068" y="53340"/>
                  </a:lnTo>
                  <a:close/>
                </a:path>
                <a:path w="3451860" h="1708785">
                  <a:moveTo>
                    <a:pt x="2969844" y="351243"/>
                  </a:moveTo>
                  <a:lnTo>
                    <a:pt x="2968752" y="339864"/>
                  </a:lnTo>
                  <a:lnTo>
                    <a:pt x="2895600" y="103644"/>
                  </a:lnTo>
                  <a:lnTo>
                    <a:pt x="2725674" y="283476"/>
                  </a:lnTo>
                  <a:lnTo>
                    <a:pt x="2719679" y="293001"/>
                  </a:lnTo>
                  <a:lnTo>
                    <a:pt x="2717762" y="303669"/>
                  </a:lnTo>
                  <a:lnTo>
                    <a:pt x="2719984" y="314337"/>
                  </a:lnTo>
                  <a:lnTo>
                    <a:pt x="2757614" y="328891"/>
                  </a:lnTo>
                  <a:lnTo>
                    <a:pt x="2830588" y="254990"/>
                  </a:lnTo>
                  <a:lnTo>
                    <a:pt x="2502408" y="1666506"/>
                  </a:lnTo>
                  <a:lnTo>
                    <a:pt x="2558034" y="1679460"/>
                  </a:lnTo>
                  <a:lnTo>
                    <a:pt x="2886722" y="268808"/>
                  </a:lnTo>
                  <a:lnTo>
                    <a:pt x="2910840" y="346760"/>
                  </a:lnTo>
                  <a:lnTo>
                    <a:pt x="2913888" y="356628"/>
                  </a:lnTo>
                  <a:lnTo>
                    <a:pt x="2919260" y="366674"/>
                  </a:lnTo>
                  <a:lnTo>
                    <a:pt x="2927794" y="373583"/>
                  </a:lnTo>
                  <a:lnTo>
                    <a:pt x="2938310" y="376770"/>
                  </a:lnTo>
                  <a:lnTo>
                    <a:pt x="2949702" y="375678"/>
                  </a:lnTo>
                  <a:lnTo>
                    <a:pt x="2959747" y="370293"/>
                  </a:lnTo>
                  <a:lnTo>
                    <a:pt x="2966656" y="361772"/>
                  </a:lnTo>
                  <a:lnTo>
                    <a:pt x="2969844" y="351243"/>
                  </a:lnTo>
                  <a:close/>
                </a:path>
                <a:path w="3451860" h="1708785">
                  <a:moveTo>
                    <a:pt x="3445002" y="910590"/>
                  </a:moveTo>
                  <a:lnTo>
                    <a:pt x="3440430" y="787146"/>
                  </a:lnTo>
                  <a:lnTo>
                    <a:pt x="3440430" y="778764"/>
                  </a:lnTo>
                  <a:lnTo>
                    <a:pt x="3433572" y="772668"/>
                  </a:lnTo>
                  <a:lnTo>
                    <a:pt x="3425952" y="773430"/>
                  </a:lnTo>
                  <a:lnTo>
                    <a:pt x="3418332" y="773430"/>
                  </a:lnTo>
                  <a:lnTo>
                    <a:pt x="3411474" y="780288"/>
                  </a:lnTo>
                  <a:lnTo>
                    <a:pt x="3412236" y="787908"/>
                  </a:lnTo>
                  <a:lnTo>
                    <a:pt x="3413658" y="834339"/>
                  </a:lnTo>
                  <a:lnTo>
                    <a:pt x="2999994" y="176022"/>
                  </a:lnTo>
                  <a:lnTo>
                    <a:pt x="2975610" y="191262"/>
                  </a:lnTo>
                  <a:lnTo>
                    <a:pt x="3389236" y="849515"/>
                  </a:lnTo>
                  <a:lnTo>
                    <a:pt x="3348228" y="828294"/>
                  </a:lnTo>
                  <a:lnTo>
                    <a:pt x="3341370" y="824484"/>
                  </a:lnTo>
                  <a:lnTo>
                    <a:pt x="3332988" y="826770"/>
                  </a:lnTo>
                  <a:lnTo>
                    <a:pt x="3329178" y="834390"/>
                  </a:lnTo>
                  <a:lnTo>
                    <a:pt x="3325368" y="841248"/>
                  </a:lnTo>
                  <a:lnTo>
                    <a:pt x="3328416" y="849630"/>
                  </a:lnTo>
                  <a:lnTo>
                    <a:pt x="3335274" y="853440"/>
                  </a:lnTo>
                  <a:lnTo>
                    <a:pt x="3441954" y="909002"/>
                  </a:lnTo>
                  <a:lnTo>
                    <a:pt x="3445002" y="910590"/>
                  </a:lnTo>
                  <a:close/>
                </a:path>
                <a:path w="3451860" h="1708785">
                  <a:moveTo>
                    <a:pt x="3451860" y="1200912"/>
                  </a:moveTo>
                  <a:lnTo>
                    <a:pt x="3437382" y="1176528"/>
                  </a:lnTo>
                  <a:lnTo>
                    <a:pt x="2670429" y="1619300"/>
                  </a:lnTo>
                  <a:lnTo>
                    <a:pt x="2692908" y="1579626"/>
                  </a:lnTo>
                  <a:lnTo>
                    <a:pt x="2696718" y="1572768"/>
                  </a:lnTo>
                  <a:lnTo>
                    <a:pt x="2694432" y="1563624"/>
                  </a:lnTo>
                  <a:lnTo>
                    <a:pt x="2680716" y="1556004"/>
                  </a:lnTo>
                  <a:lnTo>
                    <a:pt x="2672334" y="1558290"/>
                  </a:lnTo>
                  <a:lnTo>
                    <a:pt x="2668524" y="1565148"/>
                  </a:lnTo>
                  <a:lnTo>
                    <a:pt x="2606802" y="1672590"/>
                  </a:lnTo>
                  <a:lnTo>
                    <a:pt x="2624328" y="1672704"/>
                  </a:lnTo>
                  <a:lnTo>
                    <a:pt x="2730246" y="1673352"/>
                  </a:lnTo>
                  <a:lnTo>
                    <a:pt x="2738628" y="1673352"/>
                  </a:lnTo>
                  <a:lnTo>
                    <a:pt x="2744724" y="1667256"/>
                  </a:lnTo>
                  <a:lnTo>
                    <a:pt x="2744724" y="1651254"/>
                  </a:lnTo>
                  <a:lnTo>
                    <a:pt x="2738628" y="1644396"/>
                  </a:lnTo>
                  <a:lnTo>
                    <a:pt x="2684919" y="1644408"/>
                  </a:lnTo>
                  <a:lnTo>
                    <a:pt x="2656217" y="1644396"/>
                  </a:lnTo>
                  <a:lnTo>
                    <a:pt x="2684919" y="1644396"/>
                  </a:lnTo>
                  <a:lnTo>
                    <a:pt x="3451860" y="1200912"/>
                  </a:lnTo>
                  <a:close/>
                </a:path>
              </a:pathLst>
            </a:custGeom>
            <a:solidFill>
              <a:srgbClr val="1D528D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14602" y="4340097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30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7153402" y="6585520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12286" y="6049976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6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16896" y="4054347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69007" y="3902041"/>
            <a:ext cx="1993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30890" y="5273502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12010" y="3948302"/>
            <a:ext cx="283210" cy="93980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88265" marR="0" lvl="0" indent="0" defTabSz="914400" eaLnBrk="1" fontAlgn="auto" latinLnBrk="0" hangingPunct="1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45711" y="4663569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93405" y="5806572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83827" y="5044688"/>
            <a:ext cx="1479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83552" y="6049620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59212" y="4861850"/>
            <a:ext cx="20764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429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 3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56502" y="4584446"/>
            <a:ext cx="2209800" cy="1383030"/>
          </a:xfrm>
          <a:prstGeom prst="rect">
            <a:avLst/>
          </a:prstGeom>
          <a:ln w="9525">
            <a:solidFill>
              <a:srgbClr val="1D528D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6520" marR="0" lvl="0" indent="0" defTabSz="91440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(1,</a:t>
            </a: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2,</a:t>
            </a: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6,</a:t>
            </a:r>
            <a:r>
              <a:rPr kumimoji="0" sz="2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4,</a:t>
            </a: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3)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96520" marR="0" lvl="0" indent="0" defTabSz="91440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(a,</a:t>
            </a:r>
            <a:r>
              <a:rPr kumimoji="0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c,</a:t>
            </a:r>
            <a:r>
              <a:rPr kumimoji="0" sz="28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f,</a:t>
            </a:r>
            <a:r>
              <a:rPr kumimoji="0" sz="28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d)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9652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(1,</a:t>
            </a: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3,</a:t>
            </a: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4,</a:t>
            </a:r>
            <a:r>
              <a:rPr kumimoji="0" sz="28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5,</a:t>
            </a: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6)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26400" y="5273535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5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V.Đồ</a:t>
            </a:r>
            <a:r>
              <a:rPr sz="3600" b="1" spc="-5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thị</a:t>
            </a:r>
            <a:r>
              <a:rPr sz="3600" b="1" spc="-3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liên</a:t>
            </a:r>
            <a:r>
              <a:rPr sz="3600" b="1" spc="-4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thông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5402" y="1238758"/>
            <a:ext cx="833247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lvl="0" indent="-34290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56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vô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hướng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G=(V,E)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được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gọi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liên</a:t>
            </a:r>
            <a:r>
              <a:rPr kumimoji="0" sz="2400" b="0" i="0" u="heavy" strike="noStrike" kern="0" cap="none" spc="-3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Verdana"/>
                <a:cs typeface="Verdana"/>
              </a:rPr>
              <a:t>thông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nếu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luôn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tìm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được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đường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giữa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2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bất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kỳ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của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nó.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3100" y="2730499"/>
            <a:ext cx="3581399" cy="304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8802" y="3824223"/>
            <a:ext cx="2256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Đường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đi: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1,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3,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2,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5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32</a:t>
            </a: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V.Đồ</a:t>
            </a:r>
            <a:r>
              <a:rPr sz="3600" b="1" spc="-5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thị</a:t>
            </a:r>
            <a:r>
              <a:rPr sz="3600" b="1" spc="-3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liên</a:t>
            </a:r>
            <a:r>
              <a:rPr sz="3600" b="1" spc="-4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thông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802" y="1154176"/>
            <a:ext cx="8253730" cy="76200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54330" marR="5080" lvl="0" indent="-342265" defTabSz="914400" eaLnBrk="1" fontAlgn="auto" latinLnBrk="0" hangingPunct="1">
              <a:lnSpc>
                <a:spcPct val="101299"/>
              </a:lnSpc>
              <a:spcBef>
                <a:spcPts val="6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5600" algn="l"/>
                <a:tab pos="2162810" algn="l"/>
                <a:tab pos="713295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H=(W,F)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được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gọi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là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24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</a:t>
            </a:r>
            <a:r>
              <a:rPr kumimoji="0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của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G=(V,E)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nếu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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và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</a:t>
            </a:r>
            <a:r>
              <a:rPr kumimoji="0" sz="24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003" y="2273300"/>
            <a:ext cx="7688171" cy="3048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81602" y="5500623"/>
            <a:ext cx="1607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V={1,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2,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3,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5}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E={a,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b,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c,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d,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e}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33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10507" y="5500623"/>
            <a:ext cx="14166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W={1,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2,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5}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F={a,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d,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e}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402" y="6534657"/>
            <a:ext cx="30372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435101" y="1004062"/>
            <a:ext cx="7037705" cy="9017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67665" marR="0" lvl="0" indent="-342265" defTabSz="91440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Bài</a:t>
            </a:r>
            <a:r>
              <a:rPr kumimoji="0" sz="2400" b="0" i="0" u="heavy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tập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5400" marR="0" lvl="0" indent="0" defTabSz="914400" eaLnBrk="1" fontAlgn="auto" latinLnBrk="0" hangingPunct="1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1.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</a:t>
            </a:r>
            <a:r>
              <a:rPr kumimoji="0" sz="2400" b="0" i="0" u="none" strike="noStrike" kern="0" cap="none" spc="27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bao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nhiêu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ít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nhất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?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00497" y="2334336"/>
            <a:ext cx="1035685" cy="577215"/>
            <a:chOff x="2100497" y="2334336"/>
            <a:chExt cx="1035685" cy="577215"/>
          </a:xfrm>
        </p:grpSpPr>
        <p:sp>
          <p:nvSpPr>
            <p:cNvPr id="6" name="object 6"/>
            <p:cNvSpPr/>
            <p:nvPr/>
          </p:nvSpPr>
          <p:spPr>
            <a:xfrm>
              <a:off x="2152903" y="2375407"/>
              <a:ext cx="931544" cy="494665"/>
            </a:xfrm>
            <a:custGeom>
              <a:avLst/>
              <a:gdLst/>
              <a:ahLst/>
              <a:cxnLst/>
              <a:rect l="l" t="t" r="r" b="b"/>
              <a:pathLst>
                <a:path w="931544" h="494664">
                  <a:moveTo>
                    <a:pt x="300227" y="0"/>
                  </a:moveTo>
                  <a:lnTo>
                    <a:pt x="198119" y="168402"/>
                  </a:lnTo>
                  <a:lnTo>
                    <a:pt x="97535" y="332994"/>
                  </a:lnTo>
                  <a:lnTo>
                    <a:pt x="0" y="494538"/>
                  </a:lnTo>
                </a:path>
                <a:path w="931544" h="494664">
                  <a:moveTo>
                    <a:pt x="931163" y="494538"/>
                  </a:moveTo>
                  <a:lnTo>
                    <a:pt x="0" y="494538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0497" y="2828969"/>
              <a:ext cx="104051" cy="8195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53131" y="2375407"/>
              <a:ext cx="631190" cy="494665"/>
            </a:xfrm>
            <a:custGeom>
              <a:avLst/>
              <a:gdLst/>
              <a:ahLst/>
              <a:cxnLst/>
              <a:rect l="l" t="t" r="r" b="b"/>
              <a:pathLst>
                <a:path w="631189" h="494664">
                  <a:moveTo>
                    <a:pt x="630936" y="494538"/>
                  </a:moveTo>
                  <a:lnTo>
                    <a:pt x="416814" y="326136"/>
                  </a:lnTo>
                  <a:lnTo>
                    <a:pt x="205740" y="161544"/>
                  </a:lnTo>
                  <a:lnTo>
                    <a:pt x="0" y="0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32780" y="2829195"/>
              <a:ext cx="103336" cy="815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01523" y="2334336"/>
              <a:ext cx="103658" cy="81822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3353225" y="2334336"/>
            <a:ext cx="1035685" cy="577215"/>
            <a:chOff x="3353225" y="2334336"/>
            <a:chExt cx="1035685" cy="577215"/>
          </a:xfrm>
        </p:grpSpPr>
        <p:sp>
          <p:nvSpPr>
            <p:cNvPr id="12" name="object 12"/>
            <p:cNvSpPr/>
            <p:nvPr/>
          </p:nvSpPr>
          <p:spPr>
            <a:xfrm>
              <a:off x="3404870" y="2375407"/>
              <a:ext cx="300990" cy="494665"/>
            </a:xfrm>
            <a:custGeom>
              <a:avLst/>
              <a:gdLst/>
              <a:ahLst/>
              <a:cxnLst/>
              <a:rect l="l" t="t" r="r" b="b"/>
              <a:pathLst>
                <a:path w="300989" h="494664">
                  <a:moveTo>
                    <a:pt x="300989" y="0"/>
                  </a:moveTo>
                  <a:lnTo>
                    <a:pt x="198119" y="168402"/>
                  </a:lnTo>
                  <a:lnTo>
                    <a:pt x="98297" y="332994"/>
                  </a:lnTo>
                  <a:lnTo>
                    <a:pt x="0" y="494538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3225" y="2828969"/>
              <a:ext cx="104051" cy="819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05860" y="2375407"/>
              <a:ext cx="631190" cy="494665"/>
            </a:xfrm>
            <a:custGeom>
              <a:avLst/>
              <a:gdLst/>
              <a:ahLst/>
              <a:cxnLst/>
              <a:rect l="l" t="t" r="r" b="b"/>
              <a:pathLst>
                <a:path w="631189" h="494664">
                  <a:moveTo>
                    <a:pt x="630936" y="494538"/>
                  </a:moveTo>
                  <a:lnTo>
                    <a:pt x="416052" y="326136"/>
                  </a:lnTo>
                  <a:lnTo>
                    <a:pt x="205740" y="161544"/>
                  </a:lnTo>
                  <a:lnTo>
                    <a:pt x="0" y="0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5068" y="2829195"/>
              <a:ext cx="103455" cy="815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53810" y="2334336"/>
              <a:ext cx="103336" cy="81822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4635671" y="2334336"/>
            <a:ext cx="1035685" cy="577215"/>
            <a:chOff x="4635671" y="2334336"/>
            <a:chExt cx="1035685" cy="577215"/>
          </a:xfrm>
        </p:grpSpPr>
        <p:sp>
          <p:nvSpPr>
            <p:cNvPr id="18" name="object 18"/>
            <p:cNvSpPr/>
            <p:nvPr/>
          </p:nvSpPr>
          <p:spPr>
            <a:xfrm>
              <a:off x="4687315" y="2375407"/>
              <a:ext cx="932180" cy="494665"/>
            </a:xfrm>
            <a:custGeom>
              <a:avLst/>
              <a:gdLst/>
              <a:ahLst/>
              <a:cxnLst/>
              <a:rect l="l" t="t" r="r" b="b"/>
              <a:pathLst>
                <a:path w="932179" h="494664">
                  <a:moveTo>
                    <a:pt x="300989" y="0"/>
                  </a:moveTo>
                  <a:lnTo>
                    <a:pt x="198119" y="168402"/>
                  </a:lnTo>
                  <a:lnTo>
                    <a:pt x="98297" y="332994"/>
                  </a:lnTo>
                  <a:lnTo>
                    <a:pt x="0" y="494538"/>
                  </a:lnTo>
                </a:path>
                <a:path w="932179" h="494664">
                  <a:moveTo>
                    <a:pt x="931926" y="494538"/>
                  </a:moveTo>
                  <a:lnTo>
                    <a:pt x="0" y="494538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35671" y="2828969"/>
              <a:ext cx="104051" cy="8195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67513" y="2829195"/>
              <a:ext cx="103336" cy="815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36256" y="2334336"/>
              <a:ext cx="103336" cy="81822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5892971" y="2349135"/>
            <a:ext cx="1035685" cy="576580"/>
            <a:chOff x="5892971" y="2349135"/>
            <a:chExt cx="1035685" cy="576580"/>
          </a:xfrm>
        </p:grpSpPr>
        <p:sp>
          <p:nvSpPr>
            <p:cNvPr id="23" name="object 23"/>
            <p:cNvSpPr/>
            <p:nvPr/>
          </p:nvSpPr>
          <p:spPr>
            <a:xfrm>
              <a:off x="5944615" y="2884424"/>
              <a:ext cx="932180" cy="0"/>
            </a:xfrm>
            <a:custGeom>
              <a:avLst/>
              <a:gdLst/>
              <a:ahLst/>
              <a:cxnLst/>
              <a:rect l="l" t="t" r="r" b="b"/>
              <a:pathLst>
                <a:path w="932179">
                  <a:moveTo>
                    <a:pt x="931926" y="0"/>
                  </a:moveTo>
                  <a:lnTo>
                    <a:pt x="0" y="0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92971" y="2843447"/>
              <a:ext cx="104051" cy="8195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245605" y="2389886"/>
              <a:ext cx="631190" cy="494665"/>
            </a:xfrm>
            <a:custGeom>
              <a:avLst/>
              <a:gdLst/>
              <a:ahLst/>
              <a:cxnLst/>
              <a:rect l="l" t="t" r="r" b="b"/>
              <a:pathLst>
                <a:path w="631190" h="494664">
                  <a:moveTo>
                    <a:pt x="630936" y="494538"/>
                  </a:moveTo>
                  <a:lnTo>
                    <a:pt x="416052" y="326136"/>
                  </a:lnTo>
                  <a:lnTo>
                    <a:pt x="205740" y="161544"/>
                  </a:lnTo>
                  <a:lnTo>
                    <a:pt x="0" y="0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24813" y="2843673"/>
              <a:ext cx="103443" cy="8182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93556" y="2349135"/>
              <a:ext cx="103336" cy="81500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2070779" y="3105801"/>
            <a:ext cx="404495" cy="576580"/>
            <a:chOff x="2070779" y="3105801"/>
            <a:chExt cx="404495" cy="576580"/>
          </a:xfrm>
        </p:grpSpPr>
        <p:sp>
          <p:nvSpPr>
            <p:cNvPr id="29" name="object 29"/>
            <p:cNvSpPr/>
            <p:nvPr/>
          </p:nvSpPr>
          <p:spPr>
            <a:xfrm>
              <a:off x="2122423" y="3146552"/>
              <a:ext cx="300990" cy="494665"/>
            </a:xfrm>
            <a:custGeom>
              <a:avLst/>
              <a:gdLst/>
              <a:ahLst/>
              <a:cxnLst/>
              <a:rect l="l" t="t" r="r" b="b"/>
              <a:pathLst>
                <a:path w="300989" h="494664">
                  <a:moveTo>
                    <a:pt x="300989" y="0"/>
                  </a:moveTo>
                  <a:lnTo>
                    <a:pt x="198119" y="168402"/>
                  </a:lnTo>
                  <a:lnTo>
                    <a:pt x="98297" y="332994"/>
                  </a:lnTo>
                  <a:lnTo>
                    <a:pt x="0" y="494538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70779" y="3600113"/>
              <a:ext cx="104051" cy="8195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71364" y="3105801"/>
              <a:ext cx="103658" cy="81500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002622" y="3600339"/>
            <a:ext cx="103455" cy="8192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408089" y="3614591"/>
            <a:ext cx="104051" cy="82715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3708996" y="3120279"/>
            <a:ext cx="735330" cy="576580"/>
            <a:chOff x="3708996" y="3120279"/>
            <a:chExt cx="735330" cy="576580"/>
          </a:xfrm>
        </p:grpSpPr>
        <p:sp>
          <p:nvSpPr>
            <p:cNvPr id="35" name="object 35"/>
            <p:cNvSpPr/>
            <p:nvPr/>
          </p:nvSpPr>
          <p:spPr>
            <a:xfrm>
              <a:off x="3760723" y="3161030"/>
              <a:ext cx="631190" cy="494665"/>
            </a:xfrm>
            <a:custGeom>
              <a:avLst/>
              <a:gdLst/>
              <a:ahLst/>
              <a:cxnLst/>
              <a:rect l="l" t="t" r="r" b="b"/>
              <a:pathLst>
                <a:path w="631189" h="494664">
                  <a:moveTo>
                    <a:pt x="630936" y="494538"/>
                  </a:moveTo>
                  <a:lnTo>
                    <a:pt x="416052" y="326136"/>
                  </a:lnTo>
                  <a:lnTo>
                    <a:pt x="205740" y="161544"/>
                  </a:lnTo>
                  <a:lnTo>
                    <a:pt x="0" y="0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40051" y="3614817"/>
              <a:ext cx="103658" cy="8192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08996" y="3120279"/>
              <a:ext cx="103455" cy="81500"/>
            </a:xfrm>
            <a:prstGeom prst="rect">
              <a:avLst/>
            </a:prstGeom>
          </p:spPr>
        </p:pic>
      </p:grp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1601977" y="2055367"/>
          <a:ext cx="5610858" cy="44215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2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2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0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4677BF"/>
                      </a:solidFill>
                      <a:prstDash val="solid"/>
                    </a:lnR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0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9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T w="3175">
                      <a:solidFill>
                        <a:srgbClr val="4677BF"/>
                      </a:solidFill>
                      <a:prstDash val="solid"/>
                    </a:lnT>
                    <a:lnB w="3175">
                      <a:solidFill>
                        <a:srgbClr val="4677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0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R w="3175">
                      <a:solidFill>
                        <a:srgbClr val="4677BF"/>
                      </a:solidFill>
                      <a:prstDash val="solid"/>
                    </a:lnR>
                    <a:lnT w="3175">
                      <a:solidFill>
                        <a:srgbClr val="4677B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4677BF"/>
                      </a:solidFill>
                      <a:prstDash val="solid"/>
                    </a:lnL>
                    <a:lnT w="3175">
                      <a:solidFill>
                        <a:srgbClr val="4677B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9" name="object 39"/>
          <p:cNvGrpSpPr/>
          <p:nvPr/>
        </p:nvGrpSpPr>
        <p:grpSpPr>
          <a:xfrm>
            <a:off x="4665389" y="3643547"/>
            <a:ext cx="1035685" cy="83185"/>
            <a:chOff x="4665389" y="3643547"/>
            <a:chExt cx="1035685" cy="83185"/>
          </a:xfrm>
        </p:grpSpPr>
        <p:sp>
          <p:nvSpPr>
            <p:cNvPr id="40" name="object 40"/>
            <p:cNvSpPr/>
            <p:nvPr/>
          </p:nvSpPr>
          <p:spPr>
            <a:xfrm>
              <a:off x="4717795" y="3685285"/>
              <a:ext cx="931544" cy="0"/>
            </a:xfrm>
            <a:custGeom>
              <a:avLst/>
              <a:gdLst/>
              <a:ahLst/>
              <a:cxnLst/>
              <a:rect l="l" t="t" r="r" b="b"/>
              <a:pathLst>
                <a:path w="931545">
                  <a:moveTo>
                    <a:pt x="931163" y="0"/>
                  </a:moveTo>
                  <a:lnTo>
                    <a:pt x="0" y="0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65389" y="3643547"/>
              <a:ext cx="104051" cy="8271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597350" y="3644106"/>
              <a:ext cx="103658" cy="81595"/>
            </a:xfrm>
            <a:prstGeom prst="rect">
              <a:avLst/>
            </a:prstGeom>
          </p:spPr>
        </p:pic>
      </p:grpSp>
      <p:pic>
        <p:nvPicPr>
          <p:cNvPr id="43" name="object 4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966296" y="3149235"/>
            <a:ext cx="103455" cy="8192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947835" y="3643547"/>
            <a:ext cx="104051" cy="8271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879690" y="3644107"/>
            <a:ext cx="103443" cy="81595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248742" y="3149235"/>
            <a:ext cx="103443" cy="81929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2020487" y="3935191"/>
            <a:ext cx="404495" cy="577215"/>
            <a:chOff x="2020487" y="3935191"/>
            <a:chExt cx="404495" cy="577215"/>
          </a:xfrm>
        </p:grpSpPr>
        <p:sp>
          <p:nvSpPr>
            <p:cNvPr id="48" name="object 48"/>
            <p:cNvSpPr/>
            <p:nvPr/>
          </p:nvSpPr>
          <p:spPr>
            <a:xfrm>
              <a:off x="2072894" y="3976370"/>
              <a:ext cx="300355" cy="494665"/>
            </a:xfrm>
            <a:custGeom>
              <a:avLst/>
              <a:gdLst/>
              <a:ahLst/>
              <a:cxnLst/>
              <a:rect l="l" t="t" r="r" b="b"/>
              <a:pathLst>
                <a:path w="300355" h="494664">
                  <a:moveTo>
                    <a:pt x="300227" y="0"/>
                  </a:moveTo>
                  <a:lnTo>
                    <a:pt x="198119" y="168402"/>
                  </a:lnTo>
                  <a:lnTo>
                    <a:pt x="97535" y="332994"/>
                  </a:lnTo>
                  <a:lnTo>
                    <a:pt x="0" y="494538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9" name="object 4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020487" y="4429931"/>
              <a:ext cx="104051" cy="8195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321394" y="3935191"/>
              <a:ext cx="103455" cy="81595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3708996" y="3978732"/>
            <a:ext cx="735330" cy="576580"/>
            <a:chOff x="3708996" y="3978732"/>
            <a:chExt cx="735330" cy="576580"/>
          </a:xfrm>
        </p:grpSpPr>
        <p:sp>
          <p:nvSpPr>
            <p:cNvPr id="52" name="object 52"/>
            <p:cNvSpPr/>
            <p:nvPr/>
          </p:nvSpPr>
          <p:spPr>
            <a:xfrm>
              <a:off x="3760723" y="4019804"/>
              <a:ext cx="631190" cy="494665"/>
            </a:xfrm>
            <a:custGeom>
              <a:avLst/>
              <a:gdLst/>
              <a:ahLst/>
              <a:cxnLst/>
              <a:rect l="l" t="t" r="r" b="b"/>
              <a:pathLst>
                <a:path w="631189" h="494664">
                  <a:moveTo>
                    <a:pt x="630936" y="494538"/>
                  </a:moveTo>
                  <a:lnTo>
                    <a:pt x="416052" y="326136"/>
                  </a:lnTo>
                  <a:lnTo>
                    <a:pt x="205740" y="161544"/>
                  </a:lnTo>
                  <a:lnTo>
                    <a:pt x="0" y="0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3" name="object 5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340051" y="4473591"/>
              <a:ext cx="103658" cy="815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708996" y="3978732"/>
              <a:ext cx="103455" cy="81822"/>
            </a:xfrm>
            <a:prstGeom prst="rect">
              <a:avLst/>
            </a:prstGeom>
          </p:spPr>
        </p:pic>
      </p:grpSp>
      <p:grpSp>
        <p:nvGrpSpPr>
          <p:cNvPr id="55" name="object 55"/>
          <p:cNvGrpSpPr/>
          <p:nvPr/>
        </p:nvGrpSpPr>
        <p:grpSpPr>
          <a:xfrm>
            <a:off x="4665389" y="4487843"/>
            <a:ext cx="1035685" cy="82550"/>
            <a:chOff x="4665389" y="4487843"/>
            <a:chExt cx="1035685" cy="82550"/>
          </a:xfrm>
        </p:grpSpPr>
        <p:sp>
          <p:nvSpPr>
            <p:cNvPr id="56" name="object 56"/>
            <p:cNvSpPr/>
            <p:nvPr/>
          </p:nvSpPr>
          <p:spPr>
            <a:xfrm>
              <a:off x="4717795" y="4528820"/>
              <a:ext cx="931544" cy="0"/>
            </a:xfrm>
            <a:custGeom>
              <a:avLst/>
              <a:gdLst/>
              <a:ahLst/>
              <a:cxnLst/>
              <a:rect l="l" t="t" r="r" b="b"/>
              <a:pathLst>
                <a:path w="931545">
                  <a:moveTo>
                    <a:pt x="931163" y="0"/>
                  </a:moveTo>
                  <a:lnTo>
                    <a:pt x="0" y="0"/>
                  </a:lnTo>
                </a:path>
              </a:pathLst>
            </a:custGeom>
            <a:ln w="24041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7" name="object 5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665389" y="4487843"/>
              <a:ext cx="104051" cy="81953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597350" y="4488069"/>
              <a:ext cx="103658" cy="81822"/>
            </a:xfrm>
            <a:prstGeom prst="rect">
              <a:avLst/>
            </a:prstGeom>
          </p:spPr>
        </p:pic>
      </p:grpSp>
      <p:pic>
        <p:nvPicPr>
          <p:cNvPr id="59" name="object 5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01081" y="5332139"/>
            <a:ext cx="104051" cy="81953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501666" y="4837398"/>
            <a:ext cx="103336" cy="81595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365090" y="5390277"/>
            <a:ext cx="103443" cy="81929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734142" y="4895739"/>
            <a:ext cx="103336" cy="81500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690535" y="5419007"/>
            <a:ext cx="104051" cy="82715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622390" y="5419566"/>
            <a:ext cx="103443" cy="81595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311488" y="5826903"/>
            <a:ext cx="103443" cy="81822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553559" y="6117987"/>
            <a:ext cx="103443" cy="81500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5477276" y="6117987"/>
            <a:ext cx="103336" cy="81500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7305802" y="6527800"/>
            <a:ext cx="14414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379721" y="6556754"/>
            <a:ext cx="2070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34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V.Đồ</a:t>
            </a:r>
            <a:r>
              <a:rPr sz="3600" b="1" spc="-5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thị</a:t>
            </a:r>
            <a:r>
              <a:rPr sz="3600" b="1" spc="-3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liên</a:t>
            </a:r>
            <a:r>
              <a:rPr sz="3600" b="1" spc="-4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thông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802" y="1152651"/>
            <a:ext cx="8390890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56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không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liên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thông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sẽ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phân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rã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thành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các 	</a:t>
            </a:r>
            <a:r>
              <a:rPr kumimoji="0" sz="28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thành</a:t>
            </a:r>
            <a:r>
              <a:rPr kumimoji="0" sz="2800" b="0" i="0" u="heavy" strike="noStrike" kern="0" cap="none" spc="-3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phần</a:t>
            </a:r>
            <a:r>
              <a:rPr kumimoji="0" sz="2800" b="0" i="0" u="heavy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liên</a:t>
            </a:r>
            <a:r>
              <a:rPr kumimoji="0" sz="2800" b="0" i="0" u="heavy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thông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mỗi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thành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phần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liên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thông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này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ban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đầu.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348" y="2806699"/>
            <a:ext cx="8085226" cy="3428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35</a:t>
            </a:r>
          </a:p>
        </p:txBody>
      </p: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V.Đồ</a:t>
            </a:r>
            <a:r>
              <a:rPr sz="3600" b="1" spc="-5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thị</a:t>
            </a:r>
            <a:r>
              <a:rPr sz="3600" b="1" spc="-3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liên</a:t>
            </a:r>
            <a:r>
              <a:rPr sz="3600" b="1" spc="-4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thông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5382" y="1076451"/>
            <a:ext cx="8376920" cy="20885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marR="5715" lvl="0" indent="-341630" algn="just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65CCFF"/>
              </a:buClr>
              <a:buSzTx/>
              <a:buFontTx/>
              <a:buChar char="•"/>
              <a:tabLst>
                <a:tab pos="354965" algn="l"/>
              </a:tabLst>
              <a:defRPr/>
            </a:pPr>
            <a:r>
              <a:rPr kumimoji="0" sz="26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Đỉnh</a:t>
            </a:r>
            <a:r>
              <a:rPr kumimoji="0" sz="2600" b="0" i="0" u="heavy" strike="noStrike" kern="0" cap="none" spc="25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6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v</a:t>
            </a:r>
            <a:r>
              <a:rPr kumimoji="0" sz="2600" b="0" i="0" u="none" strike="noStrike" kern="0" cap="none" spc="254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600" b="0" i="0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gọi</a:t>
            </a:r>
            <a:r>
              <a:rPr kumimoji="0" sz="2600" b="0" i="0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600" b="0" i="0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đỉnh</a:t>
            </a:r>
            <a:r>
              <a:rPr kumimoji="0" sz="2600" b="0" i="0" u="heavy" strike="noStrike" kern="0" cap="none" spc="254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6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rẽ</a:t>
            </a:r>
            <a:r>
              <a:rPr kumimoji="0" sz="2600" b="0" i="0" u="heavy" strike="noStrike" kern="0" cap="none" spc="25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6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nhánh</a:t>
            </a:r>
            <a:r>
              <a:rPr kumimoji="0" sz="2600" b="0" i="0" u="none" strike="noStrike" kern="0" cap="none" spc="25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nếu</a:t>
            </a:r>
            <a:r>
              <a:rPr kumimoji="0" sz="2600" b="0" i="0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việc</a:t>
            </a:r>
            <a:r>
              <a:rPr kumimoji="0" sz="2600" b="0" i="0" u="none" strike="noStrike" kern="0" cap="none" spc="2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loại</a:t>
            </a:r>
            <a:r>
              <a:rPr kumimoji="0" sz="2600" b="0" i="0" u="none" strike="noStrike" kern="0" cap="none" spc="2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bỏ</a:t>
            </a:r>
            <a:r>
              <a:rPr kumimoji="0" sz="2600" b="0" i="0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600" b="0" i="0" u="none" strike="noStrike" kern="0" cap="none" spc="2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cùng 	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các</a:t>
            </a:r>
            <a:r>
              <a:rPr kumimoji="0" sz="2600" b="0" i="0" u="none" strike="noStrike" kern="0" cap="none" spc="2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600" b="0" i="0" u="none" strike="noStrike" kern="0" cap="none" spc="2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liên</a:t>
            </a:r>
            <a:r>
              <a:rPr kumimoji="0" sz="2600" b="0" i="0" u="none" strike="noStrike" kern="0" cap="none" spc="2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thuộc</a:t>
            </a:r>
            <a:r>
              <a:rPr kumimoji="0" sz="2600" b="0" i="0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600" b="0" i="0" u="none" strike="noStrike" kern="0" cap="none" spc="2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nó</a:t>
            </a:r>
            <a:r>
              <a:rPr kumimoji="0" sz="2600" b="0" i="0" u="none" strike="noStrike" kern="0" cap="none" spc="2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sẽ</a:t>
            </a:r>
            <a:r>
              <a:rPr kumimoji="0" sz="2600" b="0" i="0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làm</a:t>
            </a:r>
            <a:r>
              <a:rPr kumimoji="0" sz="2600" b="0" i="0" u="none" strike="noStrike" kern="0" cap="none" spc="2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tăng</a:t>
            </a:r>
            <a:r>
              <a:rPr kumimoji="0" sz="2600" b="0" i="0" u="none" strike="noStrike" kern="0" cap="none" spc="2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</a:t>
            </a:r>
            <a:r>
              <a:rPr kumimoji="0" sz="2600" b="0" i="0" u="none" strike="noStrike" kern="0" cap="none" spc="2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thành</a:t>
            </a:r>
            <a:r>
              <a:rPr kumimoji="0" sz="2600" b="0" i="0" u="none" strike="noStrike" kern="0" cap="none" spc="2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phần</a:t>
            </a:r>
            <a:r>
              <a:rPr kumimoji="0" sz="2600" b="0" i="0" u="none" strike="noStrike" kern="0" cap="none" spc="2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liên 	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thông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3695" marR="5080" lvl="0" indent="-341630" algn="just" defTabSz="914400" eaLnBrk="1" fontAlgn="auto" latinLnBrk="0" hangingPunct="1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rgbClr val="65CCFF"/>
              </a:buClr>
              <a:buSzTx/>
              <a:buFontTx/>
              <a:buChar char="•"/>
              <a:tabLst>
                <a:tab pos="355600" algn="l"/>
              </a:tabLst>
              <a:defRPr/>
            </a:pPr>
            <a:r>
              <a:rPr kumimoji="0" sz="26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Cạnh</a:t>
            </a:r>
            <a:r>
              <a:rPr kumimoji="0" sz="2600" b="0" i="0" u="heavy" strike="noStrike" kern="0" cap="none" spc="19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6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e</a:t>
            </a:r>
            <a:r>
              <a:rPr kumimoji="0" sz="2600" b="0" i="0" u="none" strike="noStrike" kern="0" cap="none" spc="19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600" b="0" i="0" u="none" strike="noStrike" kern="0" cap="none" spc="1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gọi</a:t>
            </a:r>
            <a:r>
              <a:rPr kumimoji="0" sz="2600" b="0" i="0" u="none" strike="noStrike" kern="0" cap="none" spc="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600" b="0" i="0" u="none" strike="noStrike" kern="0" cap="none" spc="1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cầu</a:t>
            </a:r>
            <a:r>
              <a:rPr kumimoji="0" sz="2600" b="0" i="0" u="none" strike="noStrike" kern="0" cap="none" spc="20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nếu</a:t>
            </a:r>
            <a:r>
              <a:rPr kumimoji="0" sz="2600" b="0" i="0" u="none" strike="noStrike" kern="0" cap="none" spc="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việc</a:t>
            </a:r>
            <a:r>
              <a:rPr kumimoji="0" sz="2600" b="0" i="0" u="none" strike="noStrike" kern="0" cap="none" spc="2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loại</a:t>
            </a:r>
            <a:r>
              <a:rPr kumimoji="0" sz="2600" b="0" i="0" u="none" strike="noStrike" kern="0" cap="none" spc="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bỏ</a:t>
            </a:r>
            <a:r>
              <a:rPr kumimoji="0" sz="2600" b="0" i="0" u="none" strike="noStrike" kern="0" cap="none" spc="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nó</a:t>
            </a:r>
            <a:r>
              <a:rPr kumimoji="0" sz="2600" b="0" i="0" u="none" strike="noStrike" kern="0" cap="none" spc="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sẽ</a:t>
            </a:r>
            <a:r>
              <a:rPr kumimoji="0" sz="2600" b="0" i="0" u="none" strike="noStrike" kern="0" cap="none" spc="2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làm</a:t>
            </a:r>
            <a:r>
              <a:rPr kumimoji="0" sz="2600" b="0" i="0" u="none" strike="noStrike" kern="0" cap="none" spc="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tăng</a:t>
            </a:r>
            <a:r>
              <a:rPr kumimoji="0" sz="2600" b="0" i="0" u="none" strike="noStrike" kern="0" cap="none" spc="20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 	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thành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phần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liên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thông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96937" y="3944937"/>
            <a:ext cx="2143125" cy="1914525"/>
            <a:chOff x="896937" y="3944937"/>
            <a:chExt cx="2143125" cy="19145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5537" y="3944937"/>
              <a:ext cx="161925" cy="1619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6937" y="5164137"/>
              <a:ext cx="161925" cy="1619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8537" y="3944937"/>
              <a:ext cx="161925" cy="1619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8137" y="4859337"/>
              <a:ext cx="161925" cy="1619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1337" y="5697537"/>
              <a:ext cx="161925" cy="1619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77900" y="4102100"/>
              <a:ext cx="914400" cy="1600200"/>
            </a:xfrm>
            <a:custGeom>
              <a:avLst/>
              <a:gdLst/>
              <a:ahLst/>
              <a:cxnLst/>
              <a:rect l="l" t="t" r="r" b="b"/>
              <a:pathLst>
                <a:path w="914400" h="1600200">
                  <a:moveTo>
                    <a:pt x="0" y="1066800"/>
                  </a:moveTo>
                  <a:lnTo>
                    <a:pt x="228599" y="0"/>
                  </a:lnTo>
                  <a:lnTo>
                    <a:pt x="914400" y="1600200"/>
                  </a:lnTo>
                </a:path>
                <a:path w="914400" h="1600200">
                  <a:moveTo>
                    <a:pt x="76200" y="1143000"/>
                  </a:moveTo>
                  <a:lnTo>
                    <a:pt x="838200" y="1600200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282700" y="4025900"/>
              <a:ext cx="1600200" cy="838200"/>
            </a:xfrm>
            <a:custGeom>
              <a:avLst/>
              <a:gdLst/>
              <a:ahLst/>
              <a:cxnLst/>
              <a:rect l="l" t="t" r="r" b="b"/>
              <a:pathLst>
                <a:path w="1600200" h="838200">
                  <a:moveTo>
                    <a:pt x="1600200" y="838200"/>
                  </a:moveTo>
                  <a:lnTo>
                    <a:pt x="1143000" y="76200"/>
                  </a:lnTo>
                </a:path>
                <a:path w="1600200" h="838200">
                  <a:moveTo>
                    <a:pt x="990600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505201" y="3520947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36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324633" y="3514898"/>
            <a:ext cx="277812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Các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rẽ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nhánh?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Các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cầu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?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8773" y="3749406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0315" y="4771323"/>
            <a:ext cx="1654810" cy="127444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6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459865" marR="0" lvl="0" indent="0" defTabSz="914400" eaLnBrk="1" fontAlgn="auto" latinLnBrk="0" hangingPunct="1">
              <a:lnSpc>
                <a:spcPct val="100000"/>
              </a:lnSpc>
              <a:spcBef>
                <a:spcPts val="15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71801" y="4442205"/>
            <a:ext cx="3479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UD Digi Kyokasho NK-B"/>
                <a:cs typeface="UD Digi Kyokasho NK-B"/>
              </a:rPr>
              <a:t>G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UD Digi Kyokasho NK-B"/>
              <a:cs typeface="UD Digi Kyokasho NK-B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14801" y="4587747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5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7537" y="4325937"/>
            <a:ext cx="161925" cy="1619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810001" y="5973826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58937" y="4325937"/>
            <a:ext cx="2143125" cy="1914525"/>
            <a:chOff x="1658937" y="4325937"/>
            <a:chExt cx="2143125" cy="19145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8937" y="5545137"/>
              <a:ext cx="161925" cy="1619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0537" y="4325937"/>
              <a:ext cx="161925" cy="1619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0137" y="5240337"/>
              <a:ext cx="161925" cy="1619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3337" y="6078537"/>
              <a:ext cx="161925" cy="16192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26184" y="4340605"/>
              <a:ext cx="1931035" cy="1755139"/>
            </a:xfrm>
            <a:custGeom>
              <a:avLst/>
              <a:gdLst/>
              <a:ahLst/>
              <a:cxnLst/>
              <a:rect l="l" t="t" r="r" b="b"/>
              <a:pathLst>
                <a:path w="1931035" h="1755139">
                  <a:moveTo>
                    <a:pt x="283464" y="267462"/>
                  </a:moveTo>
                  <a:lnTo>
                    <a:pt x="242316" y="142494"/>
                  </a:lnTo>
                  <a:lnTo>
                    <a:pt x="159258" y="233934"/>
                  </a:lnTo>
                  <a:lnTo>
                    <a:pt x="153924" y="240030"/>
                  </a:lnTo>
                  <a:lnTo>
                    <a:pt x="153924" y="249174"/>
                  </a:lnTo>
                  <a:lnTo>
                    <a:pt x="160020" y="254508"/>
                  </a:lnTo>
                  <a:lnTo>
                    <a:pt x="165354" y="259842"/>
                  </a:lnTo>
                  <a:lnTo>
                    <a:pt x="174498" y="259080"/>
                  </a:lnTo>
                  <a:lnTo>
                    <a:pt x="179832" y="253746"/>
                  </a:lnTo>
                  <a:lnTo>
                    <a:pt x="211543" y="218795"/>
                  </a:lnTo>
                  <a:lnTo>
                    <a:pt x="0" y="1206246"/>
                  </a:lnTo>
                  <a:lnTo>
                    <a:pt x="27432" y="1212342"/>
                  </a:lnTo>
                  <a:lnTo>
                    <a:pt x="239039" y="224548"/>
                  </a:lnTo>
                  <a:lnTo>
                    <a:pt x="249936" y="257467"/>
                  </a:lnTo>
                  <a:lnTo>
                    <a:pt x="253746" y="268986"/>
                  </a:lnTo>
                  <a:lnTo>
                    <a:pt x="256032" y="276606"/>
                  </a:lnTo>
                  <a:lnTo>
                    <a:pt x="264414" y="280416"/>
                  </a:lnTo>
                  <a:lnTo>
                    <a:pt x="272034" y="278130"/>
                  </a:lnTo>
                  <a:lnTo>
                    <a:pt x="278892" y="275844"/>
                  </a:lnTo>
                  <a:lnTo>
                    <a:pt x="283464" y="267462"/>
                  </a:lnTo>
                  <a:close/>
                </a:path>
                <a:path w="1931035" h="1755139">
                  <a:moveTo>
                    <a:pt x="859536" y="1730502"/>
                  </a:moveTo>
                  <a:lnTo>
                    <a:pt x="167716" y="1315275"/>
                  </a:lnTo>
                  <a:lnTo>
                    <a:pt x="213360" y="1315974"/>
                  </a:lnTo>
                  <a:lnTo>
                    <a:pt x="220980" y="1315974"/>
                  </a:lnTo>
                  <a:lnTo>
                    <a:pt x="227838" y="1309116"/>
                  </a:lnTo>
                  <a:lnTo>
                    <a:pt x="227838" y="1293876"/>
                  </a:lnTo>
                  <a:lnTo>
                    <a:pt x="221742" y="1287018"/>
                  </a:lnTo>
                  <a:lnTo>
                    <a:pt x="213360" y="1287018"/>
                  </a:lnTo>
                  <a:lnTo>
                    <a:pt x="89916" y="1285494"/>
                  </a:lnTo>
                  <a:lnTo>
                    <a:pt x="106680" y="1316024"/>
                  </a:lnTo>
                  <a:lnTo>
                    <a:pt x="149352" y="1393698"/>
                  </a:lnTo>
                  <a:lnTo>
                    <a:pt x="153162" y="1401318"/>
                  </a:lnTo>
                  <a:lnTo>
                    <a:pt x="162306" y="1403604"/>
                  </a:lnTo>
                  <a:lnTo>
                    <a:pt x="176022" y="1395984"/>
                  </a:lnTo>
                  <a:lnTo>
                    <a:pt x="178308" y="1386840"/>
                  </a:lnTo>
                  <a:lnTo>
                    <a:pt x="174498" y="1379982"/>
                  </a:lnTo>
                  <a:lnTo>
                    <a:pt x="152603" y="1339735"/>
                  </a:lnTo>
                  <a:lnTo>
                    <a:pt x="844296" y="1754886"/>
                  </a:lnTo>
                  <a:lnTo>
                    <a:pt x="859536" y="1730502"/>
                  </a:lnTo>
                  <a:close/>
                </a:path>
                <a:path w="1931035" h="1755139">
                  <a:moveTo>
                    <a:pt x="1309116" y="51816"/>
                  </a:moveTo>
                  <a:lnTo>
                    <a:pt x="400278" y="51816"/>
                  </a:lnTo>
                  <a:lnTo>
                    <a:pt x="439674" y="28956"/>
                  </a:lnTo>
                  <a:lnTo>
                    <a:pt x="446532" y="24384"/>
                  </a:lnTo>
                  <a:lnTo>
                    <a:pt x="448818" y="16002"/>
                  </a:lnTo>
                  <a:lnTo>
                    <a:pt x="441198" y="2286"/>
                  </a:lnTo>
                  <a:lnTo>
                    <a:pt x="432054" y="0"/>
                  </a:lnTo>
                  <a:lnTo>
                    <a:pt x="425958" y="3810"/>
                  </a:lnTo>
                  <a:lnTo>
                    <a:pt x="318516" y="66294"/>
                  </a:lnTo>
                  <a:lnTo>
                    <a:pt x="304800" y="70866"/>
                  </a:lnTo>
                  <a:lnTo>
                    <a:pt x="887336" y="1671396"/>
                  </a:lnTo>
                  <a:lnTo>
                    <a:pt x="851154" y="1641348"/>
                  </a:lnTo>
                  <a:lnTo>
                    <a:pt x="845058" y="1636014"/>
                  </a:lnTo>
                  <a:lnTo>
                    <a:pt x="835914" y="1636776"/>
                  </a:lnTo>
                  <a:lnTo>
                    <a:pt x="831342" y="1642872"/>
                  </a:lnTo>
                  <a:lnTo>
                    <a:pt x="826008" y="1648968"/>
                  </a:lnTo>
                  <a:lnTo>
                    <a:pt x="826770" y="1658112"/>
                  </a:lnTo>
                  <a:lnTo>
                    <a:pt x="832866" y="1663446"/>
                  </a:lnTo>
                  <a:lnTo>
                    <a:pt x="928116" y="1742694"/>
                  </a:lnTo>
                  <a:lnTo>
                    <a:pt x="931926" y="1721675"/>
                  </a:lnTo>
                  <a:lnTo>
                    <a:pt x="950214" y="1620774"/>
                  </a:lnTo>
                  <a:lnTo>
                    <a:pt x="951738" y="1613154"/>
                  </a:lnTo>
                  <a:lnTo>
                    <a:pt x="946404" y="1605534"/>
                  </a:lnTo>
                  <a:lnTo>
                    <a:pt x="931164" y="1602486"/>
                  </a:lnTo>
                  <a:lnTo>
                    <a:pt x="923544" y="1607820"/>
                  </a:lnTo>
                  <a:lnTo>
                    <a:pt x="922020" y="1615440"/>
                  </a:lnTo>
                  <a:lnTo>
                    <a:pt x="913828" y="1660969"/>
                  </a:lnTo>
                  <a:lnTo>
                    <a:pt x="338023" y="77647"/>
                  </a:lnTo>
                  <a:lnTo>
                    <a:pt x="346710" y="82702"/>
                  </a:lnTo>
                  <a:lnTo>
                    <a:pt x="425958" y="128778"/>
                  </a:lnTo>
                  <a:lnTo>
                    <a:pt x="432054" y="132588"/>
                  </a:lnTo>
                  <a:lnTo>
                    <a:pt x="441198" y="130302"/>
                  </a:lnTo>
                  <a:lnTo>
                    <a:pt x="448818" y="116586"/>
                  </a:lnTo>
                  <a:lnTo>
                    <a:pt x="446532" y="108204"/>
                  </a:lnTo>
                  <a:lnTo>
                    <a:pt x="439674" y="103632"/>
                  </a:lnTo>
                  <a:lnTo>
                    <a:pt x="400278" y="80772"/>
                  </a:lnTo>
                  <a:lnTo>
                    <a:pt x="1309116" y="80772"/>
                  </a:lnTo>
                  <a:lnTo>
                    <a:pt x="1309116" y="51816"/>
                  </a:lnTo>
                  <a:close/>
                </a:path>
                <a:path w="1931035" h="1755139">
                  <a:moveTo>
                    <a:pt x="1930908" y="896886"/>
                  </a:moveTo>
                  <a:lnTo>
                    <a:pt x="1515745" y="205193"/>
                  </a:lnTo>
                  <a:lnTo>
                    <a:pt x="1556004" y="227088"/>
                  </a:lnTo>
                  <a:lnTo>
                    <a:pt x="1562862" y="230898"/>
                  </a:lnTo>
                  <a:lnTo>
                    <a:pt x="1572006" y="228612"/>
                  </a:lnTo>
                  <a:lnTo>
                    <a:pt x="1579626" y="214896"/>
                  </a:lnTo>
                  <a:lnTo>
                    <a:pt x="1577340" y="205752"/>
                  </a:lnTo>
                  <a:lnTo>
                    <a:pt x="1569720" y="201942"/>
                  </a:lnTo>
                  <a:lnTo>
                    <a:pt x="1461516" y="142506"/>
                  </a:lnTo>
                  <a:lnTo>
                    <a:pt x="1463040" y="266712"/>
                  </a:lnTo>
                  <a:lnTo>
                    <a:pt x="1463040" y="274332"/>
                  </a:lnTo>
                  <a:lnTo>
                    <a:pt x="1463802" y="275005"/>
                  </a:lnTo>
                  <a:lnTo>
                    <a:pt x="1469898" y="280428"/>
                  </a:lnTo>
                  <a:lnTo>
                    <a:pt x="1485138" y="280428"/>
                  </a:lnTo>
                  <a:lnTo>
                    <a:pt x="1491996" y="273570"/>
                  </a:lnTo>
                  <a:lnTo>
                    <a:pt x="1491996" y="265950"/>
                  </a:lnTo>
                  <a:lnTo>
                    <a:pt x="1491284" y="220306"/>
                  </a:lnTo>
                  <a:lnTo>
                    <a:pt x="1463802" y="174510"/>
                  </a:lnTo>
                  <a:lnTo>
                    <a:pt x="1469136" y="183388"/>
                  </a:lnTo>
                  <a:lnTo>
                    <a:pt x="1491284" y="220306"/>
                  </a:lnTo>
                  <a:lnTo>
                    <a:pt x="1906524" y="912126"/>
                  </a:lnTo>
                  <a:lnTo>
                    <a:pt x="1930908" y="896886"/>
                  </a:lnTo>
                  <a:close/>
                </a:path>
              </a:pathLst>
            </a:custGeom>
            <a:solidFill>
              <a:srgbClr val="1D528D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621337" y="4173537"/>
            <a:ext cx="2295525" cy="1838325"/>
            <a:chOff x="5621337" y="4173537"/>
            <a:chExt cx="2295525" cy="183832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1337" y="4783137"/>
              <a:ext cx="161925" cy="1619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7537" y="5697537"/>
              <a:ext cx="161925" cy="1619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2937" y="5849937"/>
              <a:ext cx="161925" cy="1619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8137" y="4173537"/>
              <a:ext cx="161925" cy="161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54937" y="5087937"/>
              <a:ext cx="161925" cy="1619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687822" y="4928869"/>
              <a:ext cx="1310005" cy="1052830"/>
            </a:xfrm>
            <a:custGeom>
              <a:avLst/>
              <a:gdLst/>
              <a:ahLst/>
              <a:cxnLst/>
              <a:rect l="l" t="t" r="r" b="b"/>
              <a:pathLst>
                <a:path w="1310004" h="1052829">
                  <a:moveTo>
                    <a:pt x="1309878" y="1002030"/>
                  </a:moveTo>
                  <a:lnTo>
                    <a:pt x="1211580" y="925830"/>
                  </a:lnTo>
                  <a:lnTo>
                    <a:pt x="1205484" y="921258"/>
                  </a:lnTo>
                  <a:lnTo>
                    <a:pt x="1197102" y="922020"/>
                  </a:lnTo>
                  <a:lnTo>
                    <a:pt x="1191768" y="928878"/>
                  </a:lnTo>
                  <a:lnTo>
                    <a:pt x="1187196" y="934974"/>
                  </a:lnTo>
                  <a:lnTo>
                    <a:pt x="1187958" y="944118"/>
                  </a:lnTo>
                  <a:lnTo>
                    <a:pt x="1194054" y="948690"/>
                  </a:lnTo>
                  <a:lnTo>
                    <a:pt x="1230058" y="976668"/>
                  </a:lnTo>
                  <a:lnTo>
                    <a:pt x="168402" y="835152"/>
                  </a:lnTo>
                  <a:lnTo>
                    <a:pt x="164592" y="864108"/>
                  </a:lnTo>
                  <a:lnTo>
                    <a:pt x="1226896" y="1005713"/>
                  </a:lnTo>
                  <a:lnTo>
                    <a:pt x="1184148" y="1023366"/>
                  </a:lnTo>
                  <a:lnTo>
                    <a:pt x="1177290" y="1026414"/>
                  </a:lnTo>
                  <a:lnTo>
                    <a:pt x="1173480" y="1034796"/>
                  </a:lnTo>
                  <a:lnTo>
                    <a:pt x="1176528" y="1041654"/>
                  </a:lnTo>
                  <a:lnTo>
                    <a:pt x="1179576" y="1049274"/>
                  </a:lnTo>
                  <a:lnTo>
                    <a:pt x="1187958" y="1052322"/>
                  </a:lnTo>
                  <a:lnTo>
                    <a:pt x="1195578" y="1049274"/>
                  </a:lnTo>
                  <a:lnTo>
                    <a:pt x="1283208" y="1013053"/>
                  </a:lnTo>
                  <a:lnTo>
                    <a:pt x="1309878" y="1002030"/>
                  </a:lnTo>
                  <a:close/>
                </a:path>
                <a:path w="1310004" h="1052829">
                  <a:moveTo>
                    <a:pt x="1309878" y="925830"/>
                  </a:moveTo>
                  <a:lnTo>
                    <a:pt x="1258062" y="813054"/>
                  </a:lnTo>
                  <a:lnTo>
                    <a:pt x="1255014" y="806196"/>
                  </a:lnTo>
                  <a:lnTo>
                    <a:pt x="1246632" y="802386"/>
                  </a:lnTo>
                  <a:lnTo>
                    <a:pt x="1239012" y="806196"/>
                  </a:lnTo>
                  <a:lnTo>
                    <a:pt x="1232154" y="809244"/>
                  </a:lnTo>
                  <a:lnTo>
                    <a:pt x="1229106" y="817626"/>
                  </a:lnTo>
                  <a:lnTo>
                    <a:pt x="1232154" y="825246"/>
                  </a:lnTo>
                  <a:lnTo>
                    <a:pt x="1251267" y="867041"/>
                  </a:lnTo>
                  <a:lnTo>
                    <a:pt x="22860" y="0"/>
                  </a:lnTo>
                  <a:lnTo>
                    <a:pt x="14478" y="11430"/>
                  </a:lnTo>
                  <a:lnTo>
                    <a:pt x="0" y="12954"/>
                  </a:lnTo>
                  <a:lnTo>
                    <a:pt x="68630" y="694436"/>
                  </a:lnTo>
                  <a:lnTo>
                    <a:pt x="41148" y="656082"/>
                  </a:lnTo>
                  <a:lnTo>
                    <a:pt x="36576" y="649986"/>
                  </a:lnTo>
                  <a:lnTo>
                    <a:pt x="27432" y="648462"/>
                  </a:lnTo>
                  <a:lnTo>
                    <a:pt x="21336" y="653034"/>
                  </a:lnTo>
                  <a:lnTo>
                    <a:pt x="14478" y="657606"/>
                  </a:lnTo>
                  <a:lnTo>
                    <a:pt x="12954" y="666750"/>
                  </a:lnTo>
                  <a:lnTo>
                    <a:pt x="18288" y="672846"/>
                  </a:lnTo>
                  <a:lnTo>
                    <a:pt x="90678" y="773430"/>
                  </a:lnTo>
                  <a:lnTo>
                    <a:pt x="102108" y="748182"/>
                  </a:lnTo>
                  <a:lnTo>
                    <a:pt x="141732" y="660654"/>
                  </a:lnTo>
                  <a:lnTo>
                    <a:pt x="145542" y="653796"/>
                  </a:lnTo>
                  <a:lnTo>
                    <a:pt x="142494" y="644652"/>
                  </a:lnTo>
                  <a:lnTo>
                    <a:pt x="134874" y="641604"/>
                  </a:lnTo>
                  <a:lnTo>
                    <a:pt x="128016" y="638556"/>
                  </a:lnTo>
                  <a:lnTo>
                    <a:pt x="119634" y="641604"/>
                  </a:lnTo>
                  <a:lnTo>
                    <a:pt x="115824" y="648462"/>
                  </a:lnTo>
                  <a:lnTo>
                    <a:pt x="96786" y="690410"/>
                  </a:lnTo>
                  <a:lnTo>
                    <a:pt x="32067" y="41211"/>
                  </a:lnTo>
                  <a:lnTo>
                    <a:pt x="1235036" y="890485"/>
                  </a:lnTo>
                  <a:lnTo>
                    <a:pt x="1188720" y="886206"/>
                  </a:lnTo>
                  <a:lnTo>
                    <a:pt x="1181100" y="886206"/>
                  </a:lnTo>
                  <a:lnTo>
                    <a:pt x="1174242" y="891540"/>
                  </a:lnTo>
                  <a:lnTo>
                    <a:pt x="1172718" y="907542"/>
                  </a:lnTo>
                  <a:lnTo>
                    <a:pt x="1178814" y="914400"/>
                  </a:lnTo>
                  <a:lnTo>
                    <a:pt x="1186434" y="915162"/>
                  </a:lnTo>
                  <a:lnTo>
                    <a:pt x="1294638" y="924521"/>
                  </a:lnTo>
                  <a:lnTo>
                    <a:pt x="1309878" y="925830"/>
                  </a:lnTo>
                  <a:close/>
                </a:path>
              </a:pathLst>
            </a:custGeom>
            <a:solidFill>
              <a:srgbClr val="1D528D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76802" y="4968747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5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67224" y="4054203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90795" y="4130356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62337" y="5349511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33801" y="4823205"/>
            <a:ext cx="3479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UD Digi Kyokasho NK-B"/>
                <a:cs typeface="UD Digi Kyokasho NK-B"/>
              </a:rPr>
              <a:t>G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UD Digi Kyokasho NK-B"/>
              <a:cs typeface="UD Digi Kyokasho NK-B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96162" y="4899561"/>
            <a:ext cx="3435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UD Digi Kyokasho NK-B"/>
                <a:cs typeface="UD Digi Kyokasho NK-B"/>
              </a:rPr>
              <a:t>H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UD Digi Kyokasho NK-B"/>
              <a:cs typeface="UD Digi Kyokasho NK-B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22117" y="5397500"/>
            <a:ext cx="923290" cy="697230"/>
          </a:xfrm>
          <a:custGeom>
            <a:avLst/>
            <a:gdLst/>
            <a:ahLst/>
            <a:cxnLst/>
            <a:rect l="l" t="t" r="r" b="b"/>
            <a:pathLst>
              <a:path w="923289" h="697229">
                <a:moveTo>
                  <a:pt x="877357" y="34042"/>
                </a:moveTo>
                <a:lnTo>
                  <a:pt x="848868" y="37356"/>
                </a:lnTo>
                <a:lnTo>
                  <a:pt x="0" y="674370"/>
                </a:lnTo>
                <a:lnTo>
                  <a:pt x="16764" y="697230"/>
                </a:lnTo>
                <a:lnTo>
                  <a:pt x="866515" y="59553"/>
                </a:lnTo>
                <a:lnTo>
                  <a:pt x="877357" y="34042"/>
                </a:lnTo>
                <a:close/>
              </a:path>
              <a:path w="923289" h="697229">
                <a:moveTo>
                  <a:pt x="922782" y="0"/>
                </a:moveTo>
                <a:lnTo>
                  <a:pt x="799338" y="14478"/>
                </a:lnTo>
                <a:lnTo>
                  <a:pt x="791718" y="15240"/>
                </a:lnTo>
                <a:lnTo>
                  <a:pt x="786384" y="22098"/>
                </a:lnTo>
                <a:lnTo>
                  <a:pt x="787908" y="38100"/>
                </a:lnTo>
                <a:lnTo>
                  <a:pt x="794766" y="43434"/>
                </a:lnTo>
                <a:lnTo>
                  <a:pt x="803148" y="42672"/>
                </a:lnTo>
                <a:lnTo>
                  <a:pt x="848868" y="37355"/>
                </a:lnTo>
                <a:lnTo>
                  <a:pt x="891540" y="5334"/>
                </a:lnTo>
                <a:lnTo>
                  <a:pt x="908304" y="28194"/>
                </a:lnTo>
                <a:lnTo>
                  <a:pt x="908304" y="34471"/>
                </a:lnTo>
                <a:lnTo>
                  <a:pt x="922782" y="0"/>
                </a:lnTo>
                <a:close/>
              </a:path>
              <a:path w="923289" h="697229">
                <a:moveTo>
                  <a:pt x="908304" y="34471"/>
                </a:moveTo>
                <a:lnTo>
                  <a:pt x="908304" y="28194"/>
                </a:lnTo>
                <a:lnTo>
                  <a:pt x="866515" y="59553"/>
                </a:lnTo>
                <a:lnTo>
                  <a:pt x="848106" y="102870"/>
                </a:lnTo>
                <a:lnTo>
                  <a:pt x="845058" y="110490"/>
                </a:lnTo>
                <a:lnTo>
                  <a:pt x="848868" y="118872"/>
                </a:lnTo>
                <a:lnTo>
                  <a:pt x="855726" y="121920"/>
                </a:lnTo>
                <a:lnTo>
                  <a:pt x="863346" y="124968"/>
                </a:lnTo>
                <a:lnTo>
                  <a:pt x="871728" y="121158"/>
                </a:lnTo>
                <a:lnTo>
                  <a:pt x="874776" y="114300"/>
                </a:lnTo>
                <a:lnTo>
                  <a:pt x="908304" y="34471"/>
                </a:lnTo>
                <a:close/>
              </a:path>
              <a:path w="923289" h="697229">
                <a:moveTo>
                  <a:pt x="908304" y="28194"/>
                </a:moveTo>
                <a:lnTo>
                  <a:pt x="891540" y="5334"/>
                </a:lnTo>
                <a:lnTo>
                  <a:pt x="848868" y="37355"/>
                </a:lnTo>
                <a:lnTo>
                  <a:pt x="877357" y="34042"/>
                </a:lnTo>
                <a:lnTo>
                  <a:pt x="886968" y="11430"/>
                </a:lnTo>
                <a:lnTo>
                  <a:pt x="901446" y="31242"/>
                </a:lnTo>
                <a:lnTo>
                  <a:pt x="901446" y="33340"/>
                </a:lnTo>
                <a:lnTo>
                  <a:pt x="908304" y="28194"/>
                </a:lnTo>
                <a:close/>
              </a:path>
              <a:path w="923289" h="697229">
                <a:moveTo>
                  <a:pt x="901446" y="33340"/>
                </a:moveTo>
                <a:lnTo>
                  <a:pt x="901446" y="31242"/>
                </a:lnTo>
                <a:lnTo>
                  <a:pt x="877357" y="34042"/>
                </a:lnTo>
                <a:lnTo>
                  <a:pt x="866515" y="59553"/>
                </a:lnTo>
                <a:lnTo>
                  <a:pt x="901446" y="33340"/>
                </a:lnTo>
                <a:close/>
              </a:path>
              <a:path w="923289" h="697229">
                <a:moveTo>
                  <a:pt x="901446" y="31242"/>
                </a:moveTo>
                <a:lnTo>
                  <a:pt x="886968" y="11430"/>
                </a:lnTo>
                <a:lnTo>
                  <a:pt x="877357" y="34042"/>
                </a:lnTo>
                <a:lnTo>
                  <a:pt x="901446" y="31242"/>
                </a:lnTo>
                <a:close/>
              </a:path>
            </a:pathLst>
          </a:custGeom>
          <a:solidFill>
            <a:srgbClr val="1D528D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72404" y="4322317"/>
            <a:ext cx="1995805" cy="1542415"/>
          </a:xfrm>
          <a:custGeom>
            <a:avLst/>
            <a:gdLst/>
            <a:ahLst/>
            <a:cxnLst/>
            <a:rect l="l" t="t" r="r" b="b"/>
            <a:pathLst>
              <a:path w="1995804" h="1542414">
                <a:moveTo>
                  <a:pt x="920496" y="8382"/>
                </a:moveTo>
                <a:lnTo>
                  <a:pt x="797052" y="762"/>
                </a:lnTo>
                <a:lnTo>
                  <a:pt x="788670" y="0"/>
                </a:lnTo>
                <a:lnTo>
                  <a:pt x="781812" y="6096"/>
                </a:lnTo>
                <a:lnTo>
                  <a:pt x="781812" y="13716"/>
                </a:lnTo>
                <a:lnTo>
                  <a:pt x="781050" y="21336"/>
                </a:lnTo>
                <a:lnTo>
                  <a:pt x="787146" y="28194"/>
                </a:lnTo>
                <a:lnTo>
                  <a:pt x="794766" y="28956"/>
                </a:lnTo>
                <a:lnTo>
                  <a:pt x="841578" y="31838"/>
                </a:lnTo>
                <a:lnTo>
                  <a:pt x="0" y="452628"/>
                </a:lnTo>
                <a:lnTo>
                  <a:pt x="12192" y="478536"/>
                </a:lnTo>
                <a:lnTo>
                  <a:pt x="853109" y="58445"/>
                </a:lnTo>
                <a:lnTo>
                  <a:pt x="828294" y="96012"/>
                </a:lnTo>
                <a:lnTo>
                  <a:pt x="824484" y="102870"/>
                </a:lnTo>
                <a:lnTo>
                  <a:pt x="826008" y="112014"/>
                </a:lnTo>
                <a:lnTo>
                  <a:pt x="832866" y="115824"/>
                </a:lnTo>
                <a:lnTo>
                  <a:pt x="839724" y="120396"/>
                </a:lnTo>
                <a:lnTo>
                  <a:pt x="848106" y="118872"/>
                </a:lnTo>
                <a:lnTo>
                  <a:pt x="852678" y="112014"/>
                </a:lnTo>
                <a:lnTo>
                  <a:pt x="901446" y="37503"/>
                </a:lnTo>
                <a:lnTo>
                  <a:pt x="920496" y="8382"/>
                </a:lnTo>
                <a:close/>
              </a:path>
              <a:path w="1995804" h="1542414">
                <a:moveTo>
                  <a:pt x="1987296" y="922782"/>
                </a:moveTo>
                <a:lnTo>
                  <a:pt x="1867662" y="954024"/>
                </a:lnTo>
                <a:lnTo>
                  <a:pt x="1860042" y="956310"/>
                </a:lnTo>
                <a:lnTo>
                  <a:pt x="1855470" y="963930"/>
                </a:lnTo>
                <a:lnTo>
                  <a:pt x="1856994" y="971550"/>
                </a:lnTo>
                <a:lnTo>
                  <a:pt x="1859280" y="979170"/>
                </a:lnTo>
                <a:lnTo>
                  <a:pt x="1866900" y="983742"/>
                </a:lnTo>
                <a:lnTo>
                  <a:pt x="1874520" y="982218"/>
                </a:lnTo>
                <a:lnTo>
                  <a:pt x="1918970" y="970584"/>
                </a:lnTo>
                <a:lnTo>
                  <a:pt x="1367790" y="1522476"/>
                </a:lnTo>
                <a:lnTo>
                  <a:pt x="1387602" y="1542288"/>
                </a:lnTo>
                <a:lnTo>
                  <a:pt x="1939493" y="991108"/>
                </a:lnTo>
                <a:lnTo>
                  <a:pt x="1927860" y="1035558"/>
                </a:lnTo>
                <a:lnTo>
                  <a:pt x="1926336" y="1043178"/>
                </a:lnTo>
                <a:lnTo>
                  <a:pt x="1930908" y="1050798"/>
                </a:lnTo>
                <a:lnTo>
                  <a:pt x="1938528" y="1053084"/>
                </a:lnTo>
                <a:lnTo>
                  <a:pt x="1946148" y="1054608"/>
                </a:lnTo>
                <a:lnTo>
                  <a:pt x="1953768" y="1050036"/>
                </a:lnTo>
                <a:lnTo>
                  <a:pt x="1955292" y="1042416"/>
                </a:lnTo>
                <a:lnTo>
                  <a:pt x="1977390" y="959815"/>
                </a:lnTo>
                <a:lnTo>
                  <a:pt x="1987296" y="922782"/>
                </a:lnTo>
                <a:close/>
              </a:path>
              <a:path w="1995804" h="1542414">
                <a:moveTo>
                  <a:pt x="1995678" y="758952"/>
                </a:moveTo>
                <a:lnTo>
                  <a:pt x="1069581" y="46520"/>
                </a:lnTo>
                <a:lnTo>
                  <a:pt x="1115568" y="52578"/>
                </a:lnTo>
                <a:lnTo>
                  <a:pt x="1123950" y="53340"/>
                </a:lnTo>
                <a:lnTo>
                  <a:pt x="1130808" y="48006"/>
                </a:lnTo>
                <a:lnTo>
                  <a:pt x="1131570" y="40386"/>
                </a:lnTo>
                <a:lnTo>
                  <a:pt x="1133094" y="32766"/>
                </a:lnTo>
                <a:lnTo>
                  <a:pt x="1127760" y="25146"/>
                </a:lnTo>
                <a:lnTo>
                  <a:pt x="1119378" y="24384"/>
                </a:lnTo>
                <a:lnTo>
                  <a:pt x="996696" y="8382"/>
                </a:lnTo>
                <a:lnTo>
                  <a:pt x="1010412" y="42341"/>
                </a:lnTo>
                <a:lnTo>
                  <a:pt x="1043178" y="123444"/>
                </a:lnTo>
                <a:lnTo>
                  <a:pt x="1046226" y="130302"/>
                </a:lnTo>
                <a:lnTo>
                  <a:pt x="1054608" y="134112"/>
                </a:lnTo>
                <a:lnTo>
                  <a:pt x="1069848" y="128016"/>
                </a:lnTo>
                <a:lnTo>
                  <a:pt x="1072896" y="119634"/>
                </a:lnTo>
                <a:lnTo>
                  <a:pt x="1052588" y="69773"/>
                </a:lnTo>
                <a:lnTo>
                  <a:pt x="1978914" y="781812"/>
                </a:lnTo>
                <a:lnTo>
                  <a:pt x="1995678" y="758952"/>
                </a:lnTo>
                <a:close/>
              </a:path>
            </a:pathLst>
          </a:custGeom>
          <a:solidFill>
            <a:srgbClr val="1D528D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1102" y="1152651"/>
            <a:ext cx="8376284" cy="304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lvl="0" indent="-34290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Tx/>
              <a:buChar char="•"/>
              <a:tabLst>
                <a:tab pos="3556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800" b="0" i="0" u="none" strike="noStrike" kern="0" cap="none" spc="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hướng</a:t>
            </a:r>
            <a:r>
              <a:rPr kumimoji="0" sz="2800" b="0" i="0" u="none" strike="noStrike" kern="0" cap="none" spc="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G=(V,E)</a:t>
            </a:r>
            <a:r>
              <a:rPr kumimoji="0" sz="2800" b="0" i="0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800" b="0" i="0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gọi</a:t>
            </a:r>
            <a:r>
              <a:rPr kumimoji="0" sz="2800" b="0" i="0" u="none" strike="noStrike" kern="0" cap="none" spc="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liên</a:t>
            </a:r>
            <a:r>
              <a:rPr kumimoji="0" sz="2800" b="0" i="0" u="heavy" strike="noStrike" kern="0" cap="none" spc="17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thông</a:t>
            </a:r>
            <a:r>
              <a:rPr kumimoji="0" sz="2800" b="0" i="0" u="heavy" strike="noStrike" kern="0" cap="none" spc="17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mạnh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nếu</a:t>
            </a:r>
            <a:r>
              <a:rPr kumimoji="0" sz="2800" b="0" i="0" u="none" strike="noStrike" kern="0" cap="none" spc="2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luôn</a:t>
            </a:r>
            <a:r>
              <a:rPr kumimoji="0" sz="2800" b="0" i="0" u="none" strike="noStrike" kern="0" cap="none" spc="2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tìm</a:t>
            </a:r>
            <a:r>
              <a:rPr kumimoji="0" sz="2800" b="0" i="0" u="none" strike="noStrike" kern="0" cap="none" spc="2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800" b="0" i="0" u="none" strike="noStrike" kern="0" cap="none" spc="2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đường</a:t>
            </a:r>
            <a:r>
              <a:rPr kumimoji="0" sz="2800" b="0" i="0" u="none" strike="noStrike" kern="0" cap="none" spc="2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đi</a:t>
            </a:r>
            <a:r>
              <a:rPr kumimoji="0" sz="2800" b="0" i="0" u="none" strike="noStrike" kern="0" cap="none" spc="2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từ</a:t>
            </a:r>
            <a:r>
              <a:rPr kumimoji="0" sz="2800" b="0" i="0" u="none" strike="noStrike" kern="0" cap="none" spc="2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800" b="0" i="0" u="none" strike="noStrike" kern="0" cap="none" spc="2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800" b="0" i="0" u="none" strike="noStrike" kern="0" cap="none" spc="2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bất</a:t>
            </a:r>
            <a:r>
              <a:rPr kumimoji="0" sz="2800" b="0" i="0" u="none" strike="noStrike" kern="0" cap="none" spc="2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kỳ</a:t>
            </a:r>
            <a:r>
              <a:rPr kumimoji="0" sz="2800" b="0" i="0" u="none" strike="noStrike" kern="0" cap="none" spc="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đến</a:t>
            </a:r>
            <a:r>
              <a:rPr kumimoji="0" sz="2800" b="0" i="0" u="none" strike="noStrike" kern="0" cap="none" spc="3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bất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kỳ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khác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nó.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5080" lvl="0" indent="-343535" algn="just" defTabSz="91440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rgbClr val="65CCFF"/>
              </a:buClr>
              <a:buSzTx/>
              <a:buFontTx/>
              <a:buChar char="•"/>
              <a:tabLst>
                <a:tab pos="3556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3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3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800" b="0" i="0" u="none" strike="noStrike" kern="0" cap="none" spc="3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hướng</a:t>
            </a:r>
            <a:r>
              <a:rPr kumimoji="0" sz="2800" b="0" i="0" u="none" strike="noStrike" kern="0" cap="none" spc="3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G=(V,E)</a:t>
            </a:r>
            <a:r>
              <a:rPr kumimoji="0" sz="2800" b="0" i="0" u="none" strike="noStrike" kern="0" cap="none" spc="3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800" b="0" i="0" u="none" strike="noStrike" kern="0" cap="none" spc="3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gọi</a:t>
            </a:r>
            <a:r>
              <a:rPr kumimoji="0" sz="2800" b="0" i="0" u="none" strike="noStrike" kern="0" cap="none" spc="3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3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liên</a:t>
            </a:r>
            <a:r>
              <a:rPr kumimoji="0" sz="2800" b="0" i="0" u="heavy" strike="noStrike" kern="0" cap="none" spc="38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thông</a:t>
            </a:r>
            <a:r>
              <a:rPr kumimoji="0" sz="2800" b="0" i="0" u="heavy" strike="noStrike" kern="0" cap="none" spc="38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800" b="0" i="0" u="heavy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yếu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nếu</a:t>
            </a:r>
            <a:r>
              <a:rPr kumimoji="0" sz="2800" b="0" i="0" u="none" strike="noStrike" kern="0" cap="none" spc="5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5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5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vô</a:t>
            </a:r>
            <a:r>
              <a:rPr kumimoji="0" sz="2800" b="0" i="0" u="none" strike="noStrike" kern="0" cap="none" spc="5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hướng</a:t>
            </a:r>
            <a:r>
              <a:rPr kumimoji="0" sz="2800" b="0" i="0" u="none" strike="noStrike" kern="0" cap="none" spc="5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tương</a:t>
            </a:r>
            <a:r>
              <a:rPr kumimoji="0" sz="2800" b="0" i="0" u="none" strike="noStrike" kern="0" cap="none" spc="5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ứng</a:t>
            </a:r>
            <a:r>
              <a:rPr kumimoji="0" sz="2800" b="0" i="0" u="none" strike="noStrike" kern="0" cap="none" spc="5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800" b="0" i="0" u="none" strike="noStrike" kern="0" cap="none" spc="5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nó</a:t>
            </a:r>
            <a:r>
              <a:rPr kumimoji="0" sz="2800" b="0" i="0" u="none" strike="noStrike" kern="0" cap="none" spc="5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5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5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5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vô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hướng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liên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thông.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1925320" lvl="0" indent="0" algn="r" defTabSz="914400" eaLnBrk="1" fontAlgn="auto" latinLnBrk="0" hangingPunct="1">
              <a:lnSpc>
                <a:spcPts val="29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37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229579" y="5730587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447801" y="370840"/>
            <a:ext cx="3734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V.Đồ</a:t>
            </a:r>
            <a:r>
              <a:rPr sz="3600" b="1" spc="-5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thị</a:t>
            </a:r>
            <a:r>
              <a:rPr sz="3600" b="1" spc="-3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liên</a:t>
            </a:r>
            <a:r>
              <a:rPr sz="3600" b="1" spc="-4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thông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24585" y="4740141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91711" y="4968599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5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01093" y="5654330"/>
            <a:ext cx="2070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35093" y="1086358"/>
            <a:ext cx="7978140" cy="155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marR="17780" lvl="0" indent="-34290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8300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Đồ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thị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đầy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đủ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: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Một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đơn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vô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hướng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đỉnh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được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gọi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đầy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đủ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nếu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hai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bất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kỳ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đều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được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nối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với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nhau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bằng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cạnh.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67665" marR="0" lvl="0" indent="-342265" defTabSz="914400" eaLnBrk="1" fontAlgn="auto" latinLnBrk="0" hangingPunct="1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Ký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hiệu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K</a:t>
            </a:r>
            <a:r>
              <a:rPr kumimoji="0" sz="2400" b="0" i="0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endParaRPr kumimoji="0" sz="2400" b="0" i="0" u="none" strike="noStrike" kern="0" cap="none" spc="0" normalizeH="0" baseline="-20833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4762" y="3259137"/>
            <a:ext cx="2816225" cy="1990725"/>
            <a:chOff x="-4762" y="3259137"/>
            <a:chExt cx="2816225" cy="1990725"/>
          </a:xfrm>
        </p:grpSpPr>
        <p:sp>
          <p:nvSpPr>
            <p:cNvPr id="5" name="object 5"/>
            <p:cNvSpPr/>
            <p:nvPr/>
          </p:nvSpPr>
          <p:spPr>
            <a:xfrm>
              <a:off x="0" y="3263900"/>
              <a:ext cx="2806700" cy="1981200"/>
            </a:xfrm>
            <a:custGeom>
              <a:avLst/>
              <a:gdLst/>
              <a:ahLst/>
              <a:cxnLst/>
              <a:rect l="l" t="t" r="r" b="b"/>
              <a:pathLst>
                <a:path w="2806700" h="1981200">
                  <a:moveTo>
                    <a:pt x="591566" y="1289795"/>
                  </a:moveTo>
                  <a:lnTo>
                    <a:pt x="591566" y="698754"/>
                  </a:lnTo>
                  <a:lnTo>
                    <a:pt x="0" y="788272"/>
                  </a:lnTo>
                  <a:lnTo>
                    <a:pt x="0" y="797758"/>
                  </a:lnTo>
                  <a:lnTo>
                    <a:pt x="473456" y="1079754"/>
                  </a:lnTo>
                  <a:lnTo>
                    <a:pt x="473456" y="1299513"/>
                  </a:lnTo>
                  <a:lnTo>
                    <a:pt x="591566" y="1289795"/>
                  </a:lnTo>
                  <a:close/>
                </a:path>
                <a:path w="2806700" h="1981200">
                  <a:moveTo>
                    <a:pt x="473456" y="1299513"/>
                  </a:moveTo>
                  <a:lnTo>
                    <a:pt x="473456" y="1079754"/>
                  </a:lnTo>
                  <a:lnTo>
                    <a:pt x="4826" y="1338072"/>
                  </a:lnTo>
                  <a:lnTo>
                    <a:pt x="473456" y="1299513"/>
                  </a:lnTo>
                  <a:close/>
                </a:path>
                <a:path w="2806700" h="1981200">
                  <a:moveTo>
                    <a:pt x="1883156" y="0"/>
                  </a:moveTo>
                  <a:lnTo>
                    <a:pt x="1397000" y="531876"/>
                  </a:lnTo>
                  <a:lnTo>
                    <a:pt x="1077722" y="210312"/>
                  </a:lnTo>
                  <a:lnTo>
                    <a:pt x="941324" y="579882"/>
                  </a:lnTo>
                  <a:lnTo>
                    <a:pt x="35306" y="210312"/>
                  </a:lnTo>
                  <a:lnTo>
                    <a:pt x="591566" y="698754"/>
                  </a:lnTo>
                  <a:lnTo>
                    <a:pt x="591566" y="1289795"/>
                  </a:lnTo>
                  <a:lnTo>
                    <a:pt x="727202" y="1278636"/>
                  </a:lnTo>
                  <a:lnTo>
                    <a:pt x="727202" y="1560181"/>
                  </a:lnTo>
                  <a:lnTo>
                    <a:pt x="994664" y="1433322"/>
                  </a:lnTo>
                  <a:lnTo>
                    <a:pt x="1094486" y="1981200"/>
                  </a:lnTo>
                  <a:lnTo>
                    <a:pt x="1361948" y="1370076"/>
                  </a:lnTo>
                  <a:lnTo>
                    <a:pt x="1716278" y="1810512"/>
                  </a:lnTo>
                  <a:lnTo>
                    <a:pt x="1817624" y="1325880"/>
                  </a:lnTo>
                  <a:lnTo>
                    <a:pt x="1835150" y="1336753"/>
                  </a:lnTo>
                  <a:lnTo>
                    <a:pt x="1835150" y="488441"/>
                  </a:lnTo>
                  <a:lnTo>
                    <a:pt x="1883156" y="0"/>
                  </a:lnTo>
                  <a:close/>
                </a:path>
                <a:path w="2806700" h="1981200">
                  <a:moveTo>
                    <a:pt x="727202" y="1560181"/>
                  </a:moveTo>
                  <a:lnTo>
                    <a:pt x="727202" y="1278636"/>
                  </a:lnTo>
                  <a:lnTo>
                    <a:pt x="609092" y="1616202"/>
                  </a:lnTo>
                  <a:lnTo>
                    <a:pt x="727202" y="1560181"/>
                  </a:lnTo>
                  <a:close/>
                </a:path>
                <a:path w="2806700" h="1981200">
                  <a:moveTo>
                    <a:pt x="2386076" y="408431"/>
                  </a:moveTo>
                  <a:lnTo>
                    <a:pt x="1835150" y="488441"/>
                  </a:lnTo>
                  <a:lnTo>
                    <a:pt x="1835150" y="1336753"/>
                  </a:lnTo>
                  <a:lnTo>
                    <a:pt x="2167382" y="1542868"/>
                  </a:lnTo>
                  <a:lnTo>
                    <a:pt x="2167382" y="670559"/>
                  </a:lnTo>
                  <a:lnTo>
                    <a:pt x="2386076" y="408431"/>
                  </a:lnTo>
                  <a:close/>
                </a:path>
                <a:path w="2806700" h="1981200">
                  <a:moveTo>
                    <a:pt x="2741168" y="745997"/>
                  </a:moveTo>
                  <a:lnTo>
                    <a:pt x="2167382" y="670559"/>
                  </a:lnTo>
                  <a:lnTo>
                    <a:pt x="2167382" y="1542868"/>
                  </a:lnTo>
                  <a:lnTo>
                    <a:pt x="2184908" y="1553741"/>
                  </a:lnTo>
                  <a:lnTo>
                    <a:pt x="2184908" y="1187195"/>
                  </a:lnTo>
                  <a:lnTo>
                    <a:pt x="2285492" y="1192373"/>
                  </a:lnTo>
                  <a:lnTo>
                    <a:pt x="2285492" y="960882"/>
                  </a:lnTo>
                  <a:lnTo>
                    <a:pt x="2741168" y="745997"/>
                  </a:lnTo>
                  <a:close/>
                </a:path>
                <a:path w="2806700" h="1981200">
                  <a:moveTo>
                    <a:pt x="2355596" y="1659636"/>
                  </a:moveTo>
                  <a:lnTo>
                    <a:pt x="2184908" y="1187195"/>
                  </a:lnTo>
                  <a:lnTo>
                    <a:pt x="2184908" y="1553741"/>
                  </a:lnTo>
                  <a:lnTo>
                    <a:pt x="2355596" y="1659636"/>
                  </a:lnTo>
                  <a:close/>
                </a:path>
                <a:path w="2806700" h="1981200">
                  <a:moveTo>
                    <a:pt x="2806700" y="1219200"/>
                  </a:moveTo>
                  <a:lnTo>
                    <a:pt x="2285492" y="960882"/>
                  </a:lnTo>
                  <a:lnTo>
                    <a:pt x="2285492" y="1192373"/>
                  </a:lnTo>
                  <a:lnTo>
                    <a:pt x="2806700" y="1219200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63900"/>
              <a:ext cx="2806700" cy="1981200"/>
            </a:xfrm>
            <a:custGeom>
              <a:avLst/>
              <a:gdLst/>
              <a:ahLst/>
              <a:cxnLst/>
              <a:rect l="l" t="t" r="r" b="b"/>
              <a:pathLst>
                <a:path w="2806700" h="1981200">
                  <a:moveTo>
                    <a:pt x="1397000" y="531876"/>
                  </a:moveTo>
                  <a:lnTo>
                    <a:pt x="1077722" y="210312"/>
                  </a:lnTo>
                  <a:lnTo>
                    <a:pt x="941324" y="579882"/>
                  </a:lnTo>
                  <a:lnTo>
                    <a:pt x="35306" y="210312"/>
                  </a:lnTo>
                  <a:lnTo>
                    <a:pt x="591566" y="698754"/>
                  </a:lnTo>
                  <a:lnTo>
                    <a:pt x="0" y="788272"/>
                  </a:lnTo>
                </a:path>
                <a:path w="2806700" h="1981200">
                  <a:moveTo>
                    <a:pt x="0" y="797758"/>
                  </a:moveTo>
                  <a:lnTo>
                    <a:pt x="473456" y="1079754"/>
                  </a:lnTo>
                  <a:lnTo>
                    <a:pt x="4826" y="1338072"/>
                  </a:lnTo>
                  <a:lnTo>
                    <a:pt x="727202" y="1278636"/>
                  </a:lnTo>
                  <a:lnTo>
                    <a:pt x="609092" y="1616202"/>
                  </a:lnTo>
                  <a:lnTo>
                    <a:pt x="994664" y="1433322"/>
                  </a:lnTo>
                  <a:lnTo>
                    <a:pt x="1094486" y="1981200"/>
                  </a:lnTo>
                  <a:lnTo>
                    <a:pt x="1361948" y="1370076"/>
                  </a:lnTo>
                  <a:lnTo>
                    <a:pt x="1716278" y="1810512"/>
                  </a:lnTo>
                  <a:lnTo>
                    <a:pt x="1817624" y="1325880"/>
                  </a:lnTo>
                  <a:lnTo>
                    <a:pt x="2355596" y="1659636"/>
                  </a:lnTo>
                  <a:lnTo>
                    <a:pt x="2184908" y="1187195"/>
                  </a:lnTo>
                  <a:lnTo>
                    <a:pt x="2806700" y="1219200"/>
                  </a:lnTo>
                  <a:lnTo>
                    <a:pt x="2285492" y="960882"/>
                  </a:lnTo>
                  <a:lnTo>
                    <a:pt x="2741168" y="745997"/>
                  </a:lnTo>
                  <a:lnTo>
                    <a:pt x="2167382" y="670559"/>
                  </a:lnTo>
                  <a:lnTo>
                    <a:pt x="2386076" y="408431"/>
                  </a:lnTo>
                  <a:lnTo>
                    <a:pt x="1835150" y="488441"/>
                  </a:lnTo>
                  <a:lnTo>
                    <a:pt x="1883156" y="0"/>
                  </a:lnTo>
                  <a:lnTo>
                    <a:pt x="1397000" y="531876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1878" y="3903471"/>
            <a:ext cx="15627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cạnh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của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 đầy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đủ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1525" y="3035299"/>
            <a:ext cx="5667374" cy="32765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35101" y="1086358"/>
            <a:ext cx="7722870" cy="155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marR="17780" lvl="0" indent="-34290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Đồ</a:t>
            </a:r>
            <a:r>
              <a:rPr kumimoji="0" sz="2400" b="1" i="0" u="heavy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thị</a:t>
            </a:r>
            <a:r>
              <a:rPr kumimoji="0" sz="2400" b="1" i="0" u="heavy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vòng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: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Một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đơn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vô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hướng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được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gọi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vòng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nếu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nó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có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duy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nhất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một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chu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trình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đơn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qua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tất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cả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67665" marR="0" lvl="0" indent="-342265" defTabSz="914400" eaLnBrk="1" fontAlgn="auto" latinLnBrk="0" hangingPunct="1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Ký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hiệu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</a:t>
            </a:r>
            <a:r>
              <a:rPr kumimoji="0" sz="2400" b="0" i="0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endParaRPr kumimoji="0" sz="2400" b="0" i="0" u="none" strike="noStrike" kern="0" cap="none" spc="0" normalizeH="0" baseline="-20833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4762" y="3259137"/>
            <a:ext cx="2816225" cy="1990725"/>
            <a:chOff x="-4762" y="3259137"/>
            <a:chExt cx="2816225" cy="1990725"/>
          </a:xfrm>
        </p:grpSpPr>
        <p:sp>
          <p:nvSpPr>
            <p:cNvPr id="5" name="object 5"/>
            <p:cNvSpPr/>
            <p:nvPr/>
          </p:nvSpPr>
          <p:spPr>
            <a:xfrm>
              <a:off x="0" y="3263900"/>
              <a:ext cx="2806700" cy="1981200"/>
            </a:xfrm>
            <a:custGeom>
              <a:avLst/>
              <a:gdLst/>
              <a:ahLst/>
              <a:cxnLst/>
              <a:rect l="l" t="t" r="r" b="b"/>
              <a:pathLst>
                <a:path w="2806700" h="1981200">
                  <a:moveTo>
                    <a:pt x="591566" y="1289795"/>
                  </a:moveTo>
                  <a:lnTo>
                    <a:pt x="591566" y="698754"/>
                  </a:lnTo>
                  <a:lnTo>
                    <a:pt x="0" y="788272"/>
                  </a:lnTo>
                  <a:lnTo>
                    <a:pt x="0" y="797758"/>
                  </a:lnTo>
                  <a:lnTo>
                    <a:pt x="473456" y="1079754"/>
                  </a:lnTo>
                  <a:lnTo>
                    <a:pt x="473456" y="1299513"/>
                  </a:lnTo>
                  <a:lnTo>
                    <a:pt x="591566" y="1289795"/>
                  </a:lnTo>
                  <a:close/>
                </a:path>
                <a:path w="2806700" h="1981200">
                  <a:moveTo>
                    <a:pt x="473456" y="1299513"/>
                  </a:moveTo>
                  <a:lnTo>
                    <a:pt x="473456" y="1079754"/>
                  </a:lnTo>
                  <a:lnTo>
                    <a:pt x="4826" y="1338072"/>
                  </a:lnTo>
                  <a:lnTo>
                    <a:pt x="473456" y="1299513"/>
                  </a:lnTo>
                  <a:close/>
                </a:path>
                <a:path w="2806700" h="1981200">
                  <a:moveTo>
                    <a:pt x="1883156" y="0"/>
                  </a:moveTo>
                  <a:lnTo>
                    <a:pt x="1397000" y="531876"/>
                  </a:lnTo>
                  <a:lnTo>
                    <a:pt x="1077722" y="210312"/>
                  </a:lnTo>
                  <a:lnTo>
                    <a:pt x="941324" y="579882"/>
                  </a:lnTo>
                  <a:lnTo>
                    <a:pt x="35306" y="210312"/>
                  </a:lnTo>
                  <a:lnTo>
                    <a:pt x="591566" y="698754"/>
                  </a:lnTo>
                  <a:lnTo>
                    <a:pt x="591566" y="1289795"/>
                  </a:lnTo>
                  <a:lnTo>
                    <a:pt x="727202" y="1278636"/>
                  </a:lnTo>
                  <a:lnTo>
                    <a:pt x="727202" y="1560181"/>
                  </a:lnTo>
                  <a:lnTo>
                    <a:pt x="994664" y="1433322"/>
                  </a:lnTo>
                  <a:lnTo>
                    <a:pt x="1094486" y="1981200"/>
                  </a:lnTo>
                  <a:lnTo>
                    <a:pt x="1361948" y="1370076"/>
                  </a:lnTo>
                  <a:lnTo>
                    <a:pt x="1716278" y="1810512"/>
                  </a:lnTo>
                  <a:lnTo>
                    <a:pt x="1817624" y="1325880"/>
                  </a:lnTo>
                  <a:lnTo>
                    <a:pt x="1835150" y="1336753"/>
                  </a:lnTo>
                  <a:lnTo>
                    <a:pt x="1835150" y="488441"/>
                  </a:lnTo>
                  <a:lnTo>
                    <a:pt x="1883156" y="0"/>
                  </a:lnTo>
                  <a:close/>
                </a:path>
                <a:path w="2806700" h="1981200">
                  <a:moveTo>
                    <a:pt x="727202" y="1560181"/>
                  </a:moveTo>
                  <a:lnTo>
                    <a:pt x="727202" y="1278636"/>
                  </a:lnTo>
                  <a:lnTo>
                    <a:pt x="609092" y="1616202"/>
                  </a:lnTo>
                  <a:lnTo>
                    <a:pt x="727202" y="1560181"/>
                  </a:lnTo>
                  <a:close/>
                </a:path>
                <a:path w="2806700" h="1981200">
                  <a:moveTo>
                    <a:pt x="2386076" y="408431"/>
                  </a:moveTo>
                  <a:lnTo>
                    <a:pt x="1835150" y="488441"/>
                  </a:lnTo>
                  <a:lnTo>
                    <a:pt x="1835150" y="1336753"/>
                  </a:lnTo>
                  <a:lnTo>
                    <a:pt x="2167382" y="1542868"/>
                  </a:lnTo>
                  <a:lnTo>
                    <a:pt x="2167382" y="670559"/>
                  </a:lnTo>
                  <a:lnTo>
                    <a:pt x="2386076" y="408431"/>
                  </a:lnTo>
                  <a:close/>
                </a:path>
                <a:path w="2806700" h="1981200">
                  <a:moveTo>
                    <a:pt x="2741168" y="745997"/>
                  </a:moveTo>
                  <a:lnTo>
                    <a:pt x="2167382" y="670559"/>
                  </a:lnTo>
                  <a:lnTo>
                    <a:pt x="2167382" y="1542868"/>
                  </a:lnTo>
                  <a:lnTo>
                    <a:pt x="2184908" y="1553741"/>
                  </a:lnTo>
                  <a:lnTo>
                    <a:pt x="2184908" y="1187195"/>
                  </a:lnTo>
                  <a:lnTo>
                    <a:pt x="2285492" y="1192373"/>
                  </a:lnTo>
                  <a:lnTo>
                    <a:pt x="2285492" y="960882"/>
                  </a:lnTo>
                  <a:lnTo>
                    <a:pt x="2741168" y="745997"/>
                  </a:lnTo>
                  <a:close/>
                </a:path>
                <a:path w="2806700" h="1981200">
                  <a:moveTo>
                    <a:pt x="2355596" y="1659636"/>
                  </a:moveTo>
                  <a:lnTo>
                    <a:pt x="2184908" y="1187195"/>
                  </a:lnTo>
                  <a:lnTo>
                    <a:pt x="2184908" y="1553741"/>
                  </a:lnTo>
                  <a:lnTo>
                    <a:pt x="2355596" y="1659636"/>
                  </a:lnTo>
                  <a:close/>
                </a:path>
                <a:path w="2806700" h="1981200">
                  <a:moveTo>
                    <a:pt x="2806700" y="1219200"/>
                  </a:moveTo>
                  <a:lnTo>
                    <a:pt x="2285492" y="960882"/>
                  </a:lnTo>
                  <a:lnTo>
                    <a:pt x="2285492" y="1192373"/>
                  </a:lnTo>
                  <a:lnTo>
                    <a:pt x="2806700" y="1219200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63900"/>
              <a:ext cx="2806700" cy="1981200"/>
            </a:xfrm>
            <a:custGeom>
              <a:avLst/>
              <a:gdLst/>
              <a:ahLst/>
              <a:cxnLst/>
              <a:rect l="l" t="t" r="r" b="b"/>
              <a:pathLst>
                <a:path w="2806700" h="1981200">
                  <a:moveTo>
                    <a:pt x="1397000" y="531876"/>
                  </a:moveTo>
                  <a:lnTo>
                    <a:pt x="1077722" y="210312"/>
                  </a:lnTo>
                  <a:lnTo>
                    <a:pt x="941324" y="579882"/>
                  </a:lnTo>
                  <a:lnTo>
                    <a:pt x="35306" y="210312"/>
                  </a:lnTo>
                  <a:lnTo>
                    <a:pt x="591566" y="698754"/>
                  </a:lnTo>
                  <a:lnTo>
                    <a:pt x="0" y="788272"/>
                  </a:lnTo>
                </a:path>
                <a:path w="2806700" h="1981200">
                  <a:moveTo>
                    <a:pt x="0" y="797758"/>
                  </a:moveTo>
                  <a:lnTo>
                    <a:pt x="473456" y="1079754"/>
                  </a:lnTo>
                  <a:lnTo>
                    <a:pt x="4826" y="1338072"/>
                  </a:lnTo>
                  <a:lnTo>
                    <a:pt x="727202" y="1278636"/>
                  </a:lnTo>
                  <a:lnTo>
                    <a:pt x="609092" y="1616202"/>
                  </a:lnTo>
                  <a:lnTo>
                    <a:pt x="994664" y="1433322"/>
                  </a:lnTo>
                  <a:lnTo>
                    <a:pt x="1094486" y="1981200"/>
                  </a:lnTo>
                  <a:lnTo>
                    <a:pt x="1361948" y="1370076"/>
                  </a:lnTo>
                  <a:lnTo>
                    <a:pt x="1716278" y="1810512"/>
                  </a:lnTo>
                  <a:lnTo>
                    <a:pt x="1817624" y="1325880"/>
                  </a:lnTo>
                  <a:lnTo>
                    <a:pt x="2355596" y="1659636"/>
                  </a:lnTo>
                  <a:lnTo>
                    <a:pt x="2184908" y="1187195"/>
                  </a:lnTo>
                  <a:lnTo>
                    <a:pt x="2806700" y="1219200"/>
                  </a:lnTo>
                  <a:lnTo>
                    <a:pt x="2285492" y="960882"/>
                  </a:lnTo>
                  <a:lnTo>
                    <a:pt x="2741168" y="745997"/>
                  </a:lnTo>
                  <a:lnTo>
                    <a:pt x="2167382" y="670559"/>
                  </a:lnTo>
                  <a:lnTo>
                    <a:pt x="2386076" y="408431"/>
                  </a:lnTo>
                  <a:lnTo>
                    <a:pt x="1835150" y="488441"/>
                  </a:lnTo>
                  <a:lnTo>
                    <a:pt x="1883156" y="0"/>
                  </a:lnTo>
                  <a:lnTo>
                    <a:pt x="1397000" y="531876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1779" y="3903471"/>
            <a:ext cx="2160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cạnh,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đỉnh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của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5969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vòng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1600" y="3035299"/>
            <a:ext cx="4610099" cy="32384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35101" y="1086358"/>
            <a:ext cx="8003540" cy="155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030" marR="1778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8300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Đồ</a:t>
            </a:r>
            <a:r>
              <a:rPr kumimoji="0" sz="2400" b="1" i="0" u="heavy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thị</a:t>
            </a:r>
            <a:r>
              <a:rPr kumimoji="0" sz="2400" b="1" i="0" u="heavy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bánh</a:t>
            </a:r>
            <a:r>
              <a:rPr kumimoji="0" sz="2400" b="1" i="0" u="heavy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xe</a:t>
            </a:r>
            <a:r>
              <a:rPr kumimoji="0" sz="2400" b="1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với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≥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3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thu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được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từ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r>
              <a:rPr kumimoji="0" sz="2400" b="0" i="0" u="none" strike="noStrike" kern="0" cap="none" spc="36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bằng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cách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bổ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xung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thêm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một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mới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nối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với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tất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cả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của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</a:t>
            </a:r>
            <a:r>
              <a:rPr kumimoji="0" sz="2400" b="0" i="0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67665" marR="0" lvl="0" indent="-342265" defTabSz="914400" eaLnBrk="1" fontAlgn="auto" latinLnBrk="0" hangingPunct="1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Ký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hiệu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W</a:t>
            </a:r>
            <a:r>
              <a:rPr kumimoji="0" sz="2400" b="0" i="0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</a:t>
            </a:r>
            <a:endParaRPr kumimoji="0" sz="2400" b="0" i="0" u="none" strike="noStrike" kern="0" cap="none" spc="0" normalizeH="0" baseline="-20833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4762" y="3259137"/>
            <a:ext cx="2816225" cy="1990725"/>
            <a:chOff x="-4762" y="3259137"/>
            <a:chExt cx="2816225" cy="1990725"/>
          </a:xfrm>
        </p:grpSpPr>
        <p:sp>
          <p:nvSpPr>
            <p:cNvPr id="5" name="object 5"/>
            <p:cNvSpPr/>
            <p:nvPr/>
          </p:nvSpPr>
          <p:spPr>
            <a:xfrm>
              <a:off x="0" y="3263900"/>
              <a:ext cx="2806700" cy="1981200"/>
            </a:xfrm>
            <a:custGeom>
              <a:avLst/>
              <a:gdLst/>
              <a:ahLst/>
              <a:cxnLst/>
              <a:rect l="l" t="t" r="r" b="b"/>
              <a:pathLst>
                <a:path w="2806700" h="1981200">
                  <a:moveTo>
                    <a:pt x="591566" y="1289795"/>
                  </a:moveTo>
                  <a:lnTo>
                    <a:pt x="591566" y="698754"/>
                  </a:lnTo>
                  <a:lnTo>
                    <a:pt x="0" y="788272"/>
                  </a:lnTo>
                  <a:lnTo>
                    <a:pt x="0" y="797758"/>
                  </a:lnTo>
                  <a:lnTo>
                    <a:pt x="473456" y="1079754"/>
                  </a:lnTo>
                  <a:lnTo>
                    <a:pt x="473456" y="1299513"/>
                  </a:lnTo>
                  <a:lnTo>
                    <a:pt x="591566" y="1289795"/>
                  </a:lnTo>
                  <a:close/>
                </a:path>
                <a:path w="2806700" h="1981200">
                  <a:moveTo>
                    <a:pt x="473456" y="1299513"/>
                  </a:moveTo>
                  <a:lnTo>
                    <a:pt x="473456" y="1079754"/>
                  </a:lnTo>
                  <a:lnTo>
                    <a:pt x="4826" y="1338072"/>
                  </a:lnTo>
                  <a:lnTo>
                    <a:pt x="473456" y="1299513"/>
                  </a:lnTo>
                  <a:close/>
                </a:path>
                <a:path w="2806700" h="1981200">
                  <a:moveTo>
                    <a:pt x="1883156" y="0"/>
                  </a:moveTo>
                  <a:lnTo>
                    <a:pt x="1397000" y="531876"/>
                  </a:lnTo>
                  <a:lnTo>
                    <a:pt x="1077722" y="210312"/>
                  </a:lnTo>
                  <a:lnTo>
                    <a:pt x="941324" y="579882"/>
                  </a:lnTo>
                  <a:lnTo>
                    <a:pt x="35306" y="210312"/>
                  </a:lnTo>
                  <a:lnTo>
                    <a:pt x="591566" y="698754"/>
                  </a:lnTo>
                  <a:lnTo>
                    <a:pt x="591566" y="1289795"/>
                  </a:lnTo>
                  <a:lnTo>
                    <a:pt x="727202" y="1278636"/>
                  </a:lnTo>
                  <a:lnTo>
                    <a:pt x="727202" y="1560181"/>
                  </a:lnTo>
                  <a:lnTo>
                    <a:pt x="994664" y="1433322"/>
                  </a:lnTo>
                  <a:lnTo>
                    <a:pt x="1094486" y="1981200"/>
                  </a:lnTo>
                  <a:lnTo>
                    <a:pt x="1361948" y="1370076"/>
                  </a:lnTo>
                  <a:lnTo>
                    <a:pt x="1716278" y="1810512"/>
                  </a:lnTo>
                  <a:lnTo>
                    <a:pt x="1817624" y="1325880"/>
                  </a:lnTo>
                  <a:lnTo>
                    <a:pt x="1835150" y="1336753"/>
                  </a:lnTo>
                  <a:lnTo>
                    <a:pt x="1835150" y="488441"/>
                  </a:lnTo>
                  <a:lnTo>
                    <a:pt x="1883156" y="0"/>
                  </a:lnTo>
                  <a:close/>
                </a:path>
                <a:path w="2806700" h="1981200">
                  <a:moveTo>
                    <a:pt x="727202" y="1560181"/>
                  </a:moveTo>
                  <a:lnTo>
                    <a:pt x="727202" y="1278636"/>
                  </a:lnTo>
                  <a:lnTo>
                    <a:pt x="609092" y="1616202"/>
                  </a:lnTo>
                  <a:lnTo>
                    <a:pt x="727202" y="1560181"/>
                  </a:lnTo>
                  <a:close/>
                </a:path>
                <a:path w="2806700" h="1981200">
                  <a:moveTo>
                    <a:pt x="2386076" y="408431"/>
                  </a:moveTo>
                  <a:lnTo>
                    <a:pt x="1835150" y="488441"/>
                  </a:lnTo>
                  <a:lnTo>
                    <a:pt x="1835150" y="1336753"/>
                  </a:lnTo>
                  <a:lnTo>
                    <a:pt x="2167382" y="1542868"/>
                  </a:lnTo>
                  <a:lnTo>
                    <a:pt x="2167382" y="670559"/>
                  </a:lnTo>
                  <a:lnTo>
                    <a:pt x="2386076" y="408431"/>
                  </a:lnTo>
                  <a:close/>
                </a:path>
                <a:path w="2806700" h="1981200">
                  <a:moveTo>
                    <a:pt x="2741168" y="745997"/>
                  </a:moveTo>
                  <a:lnTo>
                    <a:pt x="2167382" y="670559"/>
                  </a:lnTo>
                  <a:lnTo>
                    <a:pt x="2167382" y="1542868"/>
                  </a:lnTo>
                  <a:lnTo>
                    <a:pt x="2184908" y="1553741"/>
                  </a:lnTo>
                  <a:lnTo>
                    <a:pt x="2184908" y="1187195"/>
                  </a:lnTo>
                  <a:lnTo>
                    <a:pt x="2285492" y="1192373"/>
                  </a:lnTo>
                  <a:lnTo>
                    <a:pt x="2285492" y="960882"/>
                  </a:lnTo>
                  <a:lnTo>
                    <a:pt x="2741168" y="745997"/>
                  </a:lnTo>
                  <a:close/>
                </a:path>
                <a:path w="2806700" h="1981200">
                  <a:moveTo>
                    <a:pt x="2355596" y="1659636"/>
                  </a:moveTo>
                  <a:lnTo>
                    <a:pt x="2184908" y="1187195"/>
                  </a:lnTo>
                  <a:lnTo>
                    <a:pt x="2184908" y="1553741"/>
                  </a:lnTo>
                  <a:lnTo>
                    <a:pt x="2355596" y="1659636"/>
                  </a:lnTo>
                  <a:close/>
                </a:path>
                <a:path w="2806700" h="1981200">
                  <a:moveTo>
                    <a:pt x="2806700" y="1219200"/>
                  </a:moveTo>
                  <a:lnTo>
                    <a:pt x="2285492" y="960882"/>
                  </a:lnTo>
                  <a:lnTo>
                    <a:pt x="2285492" y="1192373"/>
                  </a:lnTo>
                  <a:lnTo>
                    <a:pt x="2806700" y="1219200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63900"/>
              <a:ext cx="2806700" cy="1981200"/>
            </a:xfrm>
            <a:custGeom>
              <a:avLst/>
              <a:gdLst/>
              <a:ahLst/>
              <a:cxnLst/>
              <a:rect l="l" t="t" r="r" b="b"/>
              <a:pathLst>
                <a:path w="2806700" h="1981200">
                  <a:moveTo>
                    <a:pt x="1397000" y="531876"/>
                  </a:moveTo>
                  <a:lnTo>
                    <a:pt x="1077722" y="210312"/>
                  </a:lnTo>
                  <a:lnTo>
                    <a:pt x="941324" y="579882"/>
                  </a:lnTo>
                  <a:lnTo>
                    <a:pt x="35306" y="210312"/>
                  </a:lnTo>
                  <a:lnTo>
                    <a:pt x="591566" y="698754"/>
                  </a:lnTo>
                  <a:lnTo>
                    <a:pt x="0" y="788272"/>
                  </a:lnTo>
                </a:path>
                <a:path w="2806700" h="1981200">
                  <a:moveTo>
                    <a:pt x="0" y="797758"/>
                  </a:moveTo>
                  <a:lnTo>
                    <a:pt x="473456" y="1079754"/>
                  </a:lnTo>
                  <a:lnTo>
                    <a:pt x="4826" y="1338072"/>
                  </a:lnTo>
                  <a:lnTo>
                    <a:pt x="727202" y="1278636"/>
                  </a:lnTo>
                  <a:lnTo>
                    <a:pt x="609092" y="1616202"/>
                  </a:lnTo>
                  <a:lnTo>
                    <a:pt x="994664" y="1433322"/>
                  </a:lnTo>
                  <a:lnTo>
                    <a:pt x="1094486" y="1981200"/>
                  </a:lnTo>
                  <a:lnTo>
                    <a:pt x="1361948" y="1370076"/>
                  </a:lnTo>
                  <a:lnTo>
                    <a:pt x="1716278" y="1810512"/>
                  </a:lnTo>
                  <a:lnTo>
                    <a:pt x="1817624" y="1325880"/>
                  </a:lnTo>
                  <a:lnTo>
                    <a:pt x="2355596" y="1659636"/>
                  </a:lnTo>
                  <a:lnTo>
                    <a:pt x="2184908" y="1187195"/>
                  </a:lnTo>
                  <a:lnTo>
                    <a:pt x="2806700" y="1219200"/>
                  </a:lnTo>
                  <a:lnTo>
                    <a:pt x="2285492" y="960882"/>
                  </a:lnTo>
                  <a:lnTo>
                    <a:pt x="2741168" y="745997"/>
                  </a:lnTo>
                  <a:lnTo>
                    <a:pt x="2167382" y="670559"/>
                  </a:lnTo>
                  <a:lnTo>
                    <a:pt x="2386076" y="408431"/>
                  </a:lnTo>
                  <a:lnTo>
                    <a:pt x="1835150" y="488441"/>
                  </a:lnTo>
                  <a:lnTo>
                    <a:pt x="1883156" y="0"/>
                  </a:lnTo>
                  <a:lnTo>
                    <a:pt x="1397000" y="531876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1779" y="3903471"/>
            <a:ext cx="2160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cạnh,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đỉnh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của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2865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bánh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xe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4925" y="2882899"/>
            <a:ext cx="4676774" cy="32765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363537" y="3568700"/>
            <a:ext cx="8539480" cy="2976880"/>
            <a:chOff x="363537" y="3568700"/>
            <a:chExt cx="8539480" cy="29768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7725" y="3568700"/>
              <a:ext cx="5514974" cy="19811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8300" y="4406900"/>
              <a:ext cx="3810000" cy="2133600"/>
            </a:xfrm>
            <a:custGeom>
              <a:avLst/>
              <a:gdLst/>
              <a:ahLst/>
              <a:cxnLst/>
              <a:rect l="l" t="t" r="r" b="b"/>
              <a:pathLst>
                <a:path w="3810000" h="2133600">
                  <a:moveTo>
                    <a:pt x="3810000" y="1312926"/>
                  </a:moveTo>
                  <a:lnTo>
                    <a:pt x="3105912" y="1034795"/>
                  </a:lnTo>
                  <a:lnTo>
                    <a:pt x="3721607" y="803910"/>
                  </a:lnTo>
                  <a:lnTo>
                    <a:pt x="2945891" y="722376"/>
                  </a:lnTo>
                  <a:lnTo>
                    <a:pt x="3242310" y="440436"/>
                  </a:lnTo>
                  <a:lnTo>
                    <a:pt x="2497074" y="525780"/>
                  </a:lnTo>
                  <a:lnTo>
                    <a:pt x="2561844" y="0"/>
                  </a:lnTo>
                  <a:lnTo>
                    <a:pt x="1905000" y="573024"/>
                  </a:lnTo>
                  <a:lnTo>
                    <a:pt x="1472945" y="226314"/>
                  </a:lnTo>
                  <a:lnTo>
                    <a:pt x="1290066" y="624078"/>
                  </a:lnTo>
                  <a:lnTo>
                    <a:pt x="65531" y="226314"/>
                  </a:lnTo>
                  <a:lnTo>
                    <a:pt x="816102" y="752094"/>
                  </a:lnTo>
                  <a:lnTo>
                    <a:pt x="0" y="851154"/>
                  </a:lnTo>
                  <a:lnTo>
                    <a:pt x="656844" y="1162812"/>
                  </a:lnTo>
                  <a:lnTo>
                    <a:pt x="23622" y="1440942"/>
                  </a:lnTo>
                  <a:lnTo>
                    <a:pt x="999744" y="1376934"/>
                  </a:lnTo>
                  <a:lnTo>
                    <a:pt x="839724" y="1740408"/>
                  </a:lnTo>
                  <a:lnTo>
                    <a:pt x="1360932" y="1543812"/>
                  </a:lnTo>
                  <a:lnTo>
                    <a:pt x="1496568" y="2133600"/>
                  </a:lnTo>
                  <a:lnTo>
                    <a:pt x="1857756" y="1475232"/>
                  </a:lnTo>
                  <a:lnTo>
                    <a:pt x="2336292" y="1949196"/>
                  </a:lnTo>
                  <a:lnTo>
                    <a:pt x="2472690" y="1427988"/>
                  </a:lnTo>
                  <a:lnTo>
                    <a:pt x="3200400" y="1787652"/>
                  </a:lnTo>
                  <a:lnTo>
                    <a:pt x="2969514" y="1278636"/>
                  </a:lnTo>
                  <a:lnTo>
                    <a:pt x="3810000" y="1312926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68300" y="4406900"/>
              <a:ext cx="3810000" cy="2133600"/>
            </a:xfrm>
            <a:custGeom>
              <a:avLst/>
              <a:gdLst/>
              <a:ahLst/>
              <a:cxnLst/>
              <a:rect l="l" t="t" r="r" b="b"/>
              <a:pathLst>
                <a:path w="3810000" h="2133600">
                  <a:moveTo>
                    <a:pt x="1905000" y="573024"/>
                  </a:moveTo>
                  <a:lnTo>
                    <a:pt x="1472945" y="226314"/>
                  </a:lnTo>
                  <a:lnTo>
                    <a:pt x="1290066" y="624078"/>
                  </a:lnTo>
                  <a:lnTo>
                    <a:pt x="65531" y="226314"/>
                  </a:lnTo>
                  <a:lnTo>
                    <a:pt x="816102" y="752094"/>
                  </a:lnTo>
                  <a:lnTo>
                    <a:pt x="0" y="851154"/>
                  </a:lnTo>
                  <a:lnTo>
                    <a:pt x="656844" y="1162812"/>
                  </a:lnTo>
                  <a:lnTo>
                    <a:pt x="23622" y="1440942"/>
                  </a:lnTo>
                  <a:lnTo>
                    <a:pt x="999744" y="1376934"/>
                  </a:lnTo>
                  <a:lnTo>
                    <a:pt x="839724" y="1740408"/>
                  </a:lnTo>
                  <a:lnTo>
                    <a:pt x="1360932" y="1543812"/>
                  </a:lnTo>
                  <a:lnTo>
                    <a:pt x="1496568" y="2133600"/>
                  </a:lnTo>
                  <a:lnTo>
                    <a:pt x="1857756" y="1475232"/>
                  </a:lnTo>
                  <a:lnTo>
                    <a:pt x="2336292" y="1949196"/>
                  </a:lnTo>
                  <a:lnTo>
                    <a:pt x="2472690" y="1427988"/>
                  </a:lnTo>
                  <a:lnTo>
                    <a:pt x="3200400" y="1787652"/>
                  </a:lnTo>
                  <a:lnTo>
                    <a:pt x="2969514" y="1278636"/>
                  </a:lnTo>
                  <a:lnTo>
                    <a:pt x="3810000" y="1312926"/>
                  </a:lnTo>
                  <a:lnTo>
                    <a:pt x="3105912" y="1034795"/>
                  </a:lnTo>
                  <a:lnTo>
                    <a:pt x="3721607" y="803910"/>
                  </a:lnTo>
                  <a:lnTo>
                    <a:pt x="2945891" y="722376"/>
                  </a:lnTo>
                  <a:lnTo>
                    <a:pt x="3242310" y="440436"/>
                  </a:lnTo>
                  <a:lnTo>
                    <a:pt x="2497074" y="525780"/>
                  </a:lnTo>
                  <a:lnTo>
                    <a:pt x="2561844" y="0"/>
                  </a:lnTo>
                  <a:lnTo>
                    <a:pt x="1905000" y="573024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855" rIns="0" bIns="0" rtlCol="0">
            <a:spAutoFit/>
          </a:bodyPr>
          <a:lstStyle/>
          <a:p>
            <a:pPr marL="354330" indent="-342265">
              <a:lnSpc>
                <a:spcPts val="2875"/>
              </a:lnSpc>
              <a:spcBef>
                <a:spcPts val="100"/>
              </a:spcBef>
              <a:buClr>
                <a:srgbClr val="65CCFF"/>
              </a:buClr>
              <a:buFont typeface="Wingdings"/>
              <a:buChar char=""/>
              <a:tabLst>
                <a:tab pos="354330" algn="l"/>
              </a:tabLst>
            </a:pPr>
            <a:r>
              <a:rPr b="1" i="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Đồ</a:t>
            </a:r>
            <a:r>
              <a:rPr b="1" i="0" u="heavy" spc="-3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b="1" i="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thị</a:t>
            </a:r>
            <a:r>
              <a:rPr b="1" i="0" u="heavy" spc="-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b="1" i="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siêu</a:t>
            </a:r>
            <a:r>
              <a:rPr b="1" i="0" u="heavy" spc="-3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b="1" i="0" u="heavy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khối</a:t>
            </a:r>
          </a:p>
          <a:p>
            <a:pPr marL="354965" marR="302260">
              <a:lnSpc>
                <a:spcPts val="2870"/>
              </a:lnSpc>
              <a:spcBef>
                <a:spcPts val="100"/>
              </a:spcBef>
            </a:pPr>
            <a:r>
              <a:rPr i="0" dirty="0">
                <a:latin typeface="Verdana"/>
                <a:cs typeface="Verdana"/>
              </a:rPr>
              <a:t>Đồ</a:t>
            </a:r>
            <a:r>
              <a:rPr i="0" spc="-2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thị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siêu</a:t>
            </a:r>
            <a:r>
              <a:rPr i="0" spc="-2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khối</a:t>
            </a:r>
            <a:r>
              <a:rPr i="0" spc="-2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k=2</a:t>
            </a:r>
            <a:r>
              <a:rPr sz="2400" i="0" baseline="24305" dirty="0">
                <a:latin typeface="Verdana"/>
                <a:cs typeface="Verdana"/>
              </a:rPr>
              <a:t>n</a:t>
            </a:r>
            <a:r>
              <a:rPr sz="2400" i="0" spc="375" baseline="2430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đỉnh</a:t>
            </a:r>
            <a:r>
              <a:rPr sz="2400" i="0" spc="-20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là</a:t>
            </a:r>
            <a:r>
              <a:rPr sz="2400" i="0" spc="-3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đồ</a:t>
            </a:r>
            <a:r>
              <a:rPr sz="2400" i="0" spc="-2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thị</a:t>
            </a:r>
            <a:r>
              <a:rPr sz="2400" i="0" spc="-30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có</a:t>
            </a:r>
            <a:r>
              <a:rPr sz="2400" i="0" spc="-2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các</a:t>
            </a:r>
            <a:r>
              <a:rPr sz="2400" i="0" spc="-25" dirty="0">
                <a:latin typeface="Verdana"/>
                <a:cs typeface="Verdana"/>
              </a:rPr>
              <a:t> </a:t>
            </a:r>
            <a:r>
              <a:rPr sz="2400" i="0" spc="-20" dirty="0">
                <a:latin typeface="Verdana"/>
                <a:cs typeface="Verdana"/>
              </a:rPr>
              <a:t>đỉnh </a:t>
            </a:r>
            <a:r>
              <a:rPr sz="2400" i="0" dirty="0">
                <a:latin typeface="Verdana"/>
                <a:cs typeface="Verdana"/>
              </a:rPr>
              <a:t>được</a:t>
            </a:r>
            <a:r>
              <a:rPr sz="2400" i="0" spc="-30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đánh</a:t>
            </a:r>
            <a:r>
              <a:rPr sz="2400" i="0" spc="-3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số</a:t>
            </a:r>
            <a:r>
              <a:rPr sz="2400" i="0" spc="-2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bằng</a:t>
            </a:r>
            <a:r>
              <a:rPr sz="2400" i="0" spc="-3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các</a:t>
            </a:r>
            <a:r>
              <a:rPr sz="2400" i="0" spc="-3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chuỗi</a:t>
            </a:r>
            <a:r>
              <a:rPr sz="2400" i="0" spc="-30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nhị</a:t>
            </a:r>
            <a:r>
              <a:rPr sz="2400" i="0" spc="-2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phân</a:t>
            </a:r>
            <a:r>
              <a:rPr sz="2400" i="0" spc="-35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độ</a:t>
            </a:r>
            <a:r>
              <a:rPr sz="2400" i="0" spc="-30" dirty="0">
                <a:latin typeface="Verdana"/>
                <a:cs typeface="Verdana"/>
              </a:rPr>
              <a:t> </a:t>
            </a:r>
            <a:r>
              <a:rPr sz="2400" i="0" dirty="0">
                <a:latin typeface="Verdana"/>
                <a:cs typeface="Verdana"/>
              </a:rPr>
              <a:t>dài</a:t>
            </a:r>
            <a:r>
              <a:rPr sz="2400" i="0" spc="-30" dirty="0">
                <a:latin typeface="Verdana"/>
                <a:cs typeface="Verdana"/>
              </a:rPr>
              <a:t> </a:t>
            </a:r>
            <a:r>
              <a:rPr sz="2400" i="0" spc="-25" dirty="0">
                <a:latin typeface="Verdana"/>
                <a:cs typeface="Verdana"/>
              </a:rPr>
              <a:t>n.</a:t>
            </a:r>
            <a:endParaRPr sz="2400">
              <a:latin typeface="Verdana"/>
              <a:cs typeface="Verdana"/>
            </a:endParaRPr>
          </a:p>
          <a:p>
            <a:pPr marL="354330" indent="-342265">
              <a:lnSpc>
                <a:spcPct val="100000"/>
              </a:lnSpc>
              <a:spcBef>
                <a:spcPts val="480"/>
              </a:spcBef>
              <a:buClr>
                <a:srgbClr val="65CCFF"/>
              </a:buClr>
              <a:buFont typeface="Wingdings"/>
              <a:buChar char=""/>
              <a:tabLst>
                <a:tab pos="354330" algn="l"/>
              </a:tabLst>
            </a:pPr>
            <a:r>
              <a:rPr i="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Ký</a:t>
            </a:r>
            <a:r>
              <a:rPr i="0" u="heavy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i="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hiệu</a:t>
            </a:r>
            <a:r>
              <a:rPr i="0" dirty="0">
                <a:latin typeface="Verdana"/>
                <a:cs typeface="Verdana"/>
              </a:rPr>
              <a:t>:</a:t>
            </a:r>
            <a:r>
              <a:rPr i="0" spc="-20" dirty="0">
                <a:latin typeface="Verdana"/>
                <a:cs typeface="Verdana"/>
              </a:rPr>
              <a:t> </a:t>
            </a:r>
            <a:r>
              <a:rPr i="0" spc="-25" dirty="0">
                <a:latin typeface="Verdana"/>
                <a:cs typeface="Verdana"/>
              </a:rPr>
              <a:t>Q</a:t>
            </a:r>
            <a:r>
              <a:rPr sz="2400" i="0" spc="-37" baseline="-20833" dirty="0">
                <a:latin typeface="Verdana"/>
                <a:cs typeface="Verdana"/>
              </a:rPr>
              <a:t>n</a:t>
            </a:r>
            <a:endParaRPr sz="2400" baseline="-20833">
              <a:latin typeface="Verdana"/>
              <a:cs typeface="Verdana"/>
            </a:endParaRPr>
          </a:p>
          <a:p>
            <a:pPr marL="354965" marR="17780" indent="-342900">
              <a:lnSpc>
                <a:spcPct val="100000"/>
              </a:lnSpc>
              <a:spcBef>
                <a:spcPts val="57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i="0" dirty="0">
                <a:latin typeface="Verdana"/>
                <a:cs typeface="Verdana"/>
              </a:rPr>
              <a:t>Hai</a:t>
            </a:r>
            <a:r>
              <a:rPr i="0" spc="-4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đỉnh</a:t>
            </a:r>
            <a:r>
              <a:rPr i="0" spc="-2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kề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nhau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nếu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2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chuỗi</a:t>
            </a:r>
            <a:r>
              <a:rPr i="0" spc="-2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nhị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phân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tương</a:t>
            </a:r>
            <a:r>
              <a:rPr i="0" spc="-25" dirty="0">
                <a:latin typeface="Verdana"/>
                <a:cs typeface="Verdana"/>
              </a:rPr>
              <a:t> ứng </a:t>
            </a:r>
            <a:r>
              <a:rPr i="0" dirty="0">
                <a:latin typeface="Verdana"/>
                <a:cs typeface="Verdana"/>
              </a:rPr>
              <a:t>chỉ</a:t>
            </a:r>
            <a:r>
              <a:rPr i="0" spc="-3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khác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nhau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1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spc="-20" dirty="0">
                <a:latin typeface="Verdana"/>
                <a:cs typeface="Verdana"/>
              </a:rPr>
              <a:t>bit.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43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57478" y="5116576"/>
            <a:ext cx="2592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6745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cạnh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của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siêu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khối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là: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n.2</a:t>
            </a:r>
            <a:r>
              <a:rPr kumimoji="0" sz="1800" b="0" i="0" u="none" strike="noStrike" kern="0" cap="none" spc="0" normalizeH="0" baseline="2314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800" b="0" i="0" u="none" strike="noStrike" kern="0" cap="none" spc="-7" normalizeH="0" baseline="2314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2314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-</a:t>
            </a:r>
            <a:r>
              <a:rPr kumimoji="0" sz="1800" b="0" i="0" u="none" strike="noStrike" kern="0" cap="none" spc="-15" normalizeH="0" baseline="2314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75" normalizeH="0" baseline="2314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1</a:t>
            </a:r>
            <a:endParaRPr kumimoji="0" sz="1800" b="0" i="0" u="none" strike="noStrike" kern="0" cap="none" spc="0" normalizeH="0" baseline="23148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47801" y="979678"/>
            <a:ext cx="7806690" cy="1851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Đồ</a:t>
            </a:r>
            <a:r>
              <a:rPr kumimoji="0" sz="2400" b="1" i="0" u="heavy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thị</a:t>
            </a:r>
            <a:r>
              <a:rPr kumimoji="0" sz="2400" b="1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hai</a:t>
            </a:r>
            <a:r>
              <a:rPr kumimoji="0" sz="2400" b="1" i="0" u="heavy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phía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556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Đơn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G=(V,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E)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gọi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hai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phía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nếu: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55600" marR="0" lvl="0" indent="0" defTabSz="91440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>
                <a:tab pos="2447925" algn="l"/>
                <a:tab pos="3699510" algn="l"/>
                <a:tab pos="493014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-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 =</a:t>
            </a:r>
            <a:r>
              <a:rPr kumimoji="0" sz="2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</a:t>
            </a:r>
            <a:r>
              <a:rPr kumimoji="0" sz="2400" b="0" i="0" u="none" strike="noStrike" kern="0" cap="none" spc="2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Y,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	X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≠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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	Y ≠</a:t>
            </a:r>
            <a:r>
              <a:rPr kumimoji="0" sz="2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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,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	X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</a:t>
            </a:r>
            <a:r>
              <a:rPr kumimoji="0" sz="2400" b="0" i="0" u="none" strike="noStrike" kern="0" cap="none" spc="2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Y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=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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ymbol"/>
              <a:cs typeface="Symbol"/>
            </a:endParaRPr>
          </a:p>
          <a:p>
            <a:pPr marL="354965" marR="0" lvl="0" indent="0" defTabSz="914400" eaLnBrk="1" fontAlgn="auto" latinLnBrk="0" hangingPunct="1">
              <a:lnSpc>
                <a:spcPts val="273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-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Mỗi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của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sẽ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có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một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thuộc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và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một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54965" marR="0" lvl="0" indent="0" defTabSz="914400" eaLnBrk="1" fontAlgn="auto" latinLnBrk="0" hangingPunct="1"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đỉnh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thuộc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Y.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4275" y="3187700"/>
            <a:ext cx="4772025" cy="3048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35101" y="1000252"/>
            <a:ext cx="8083550" cy="148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marR="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Đồ</a:t>
            </a:r>
            <a:r>
              <a:rPr kumimoji="0" sz="2400" b="1" i="0" u="heavy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thị</a:t>
            </a:r>
            <a:r>
              <a:rPr kumimoji="0" sz="2400" b="1" i="0" u="heavy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hai</a:t>
            </a:r>
            <a:r>
              <a:rPr kumimoji="0" sz="2400" b="1" i="0" u="heavy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phía</a:t>
            </a:r>
            <a:r>
              <a:rPr kumimoji="0" sz="2400" b="1" i="0" u="heavy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đầy</a:t>
            </a:r>
            <a:r>
              <a:rPr kumimoji="0" sz="2400" b="1" i="0" u="heavy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đủ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68300" marR="17780" lvl="0" indent="0" defTabSz="914400" eaLnBrk="1" fontAlgn="auto" latinLnBrk="0" hangingPunct="1">
              <a:lnSpc>
                <a:spcPts val="282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None/>
              <a:tabLst>
                <a:tab pos="754951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Đơn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X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</a:t>
            </a:r>
            <a:r>
              <a:rPr kumimoji="0" sz="2400" b="0" i="0" u="none" strike="noStrike" kern="0" cap="none" spc="2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Y,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E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)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gọi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đồ</a:t>
            </a:r>
            <a:r>
              <a:rPr kumimoji="0" sz="2400" b="0" i="0" u="heavy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thị</a:t>
            </a:r>
            <a:r>
              <a:rPr kumimoji="0" sz="2400" b="0" i="0" u="heavy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hai</a:t>
            </a:r>
            <a:r>
              <a:rPr kumimoji="0" sz="2400" b="0" i="0" u="heavy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phía</a:t>
            </a:r>
            <a:r>
              <a:rPr kumimoji="0" sz="2400" b="0" i="0" u="heavy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đầy</a:t>
            </a:r>
            <a:r>
              <a:rPr kumimoji="0" sz="2400" b="0" i="0" u="heavy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đủ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nếu: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Mỗi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thuộc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sẽ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nối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mỗi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thuộc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Y.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Nếu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67665" marR="0" lvl="0" indent="0" defTabSz="914400" eaLnBrk="1" fontAlgn="auto" latinLnBrk="0" hangingPunct="1">
              <a:lnSpc>
                <a:spcPts val="27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|X|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|Y|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thì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ta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sẽ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ký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hiệu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là: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m,</a:t>
            </a:r>
            <a:r>
              <a:rPr kumimoji="0" sz="2400" b="0" i="0" u="none" strike="noStrike" kern="0" cap="none" spc="-1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7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endParaRPr kumimoji="0" sz="2400" b="0" i="0" u="none" strike="noStrike" kern="0" cap="none" spc="0" normalizeH="0" baseline="-20833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1137" y="3259137"/>
            <a:ext cx="2828925" cy="2524125"/>
            <a:chOff x="211137" y="3259137"/>
            <a:chExt cx="2828925" cy="2524125"/>
          </a:xfrm>
        </p:grpSpPr>
        <p:sp>
          <p:nvSpPr>
            <p:cNvPr id="5" name="object 5"/>
            <p:cNvSpPr/>
            <p:nvPr/>
          </p:nvSpPr>
          <p:spPr>
            <a:xfrm>
              <a:off x="215900" y="3263900"/>
              <a:ext cx="2819400" cy="2514600"/>
            </a:xfrm>
            <a:custGeom>
              <a:avLst/>
              <a:gdLst/>
              <a:ahLst/>
              <a:cxnLst/>
              <a:rect l="l" t="t" r="r" b="b"/>
              <a:pathLst>
                <a:path w="2819400" h="2514600">
                  <a:moveTo>
                    <a:pt x="2819400" y="1546860"/>
                  </a:moveTo>
                  <a:lnTo>
                    <a:pt x="2298191" y="1219200"/>
                  </a:lnTo>
                  <a:lnTo>
                    <a:pt x="2753868" y="947166"/>
                  </a:lnTo>
                  <a:lnTo>
                    <a:pt x="2180082" y="851916"/>
                  </a:lnTo>
                  <a:lnTo>
                    <a:pt x="2398776" y="518922"/>
                  </a:lnTo>
                  <a:lnTo>
                    <a:pt x="1847850" y="620268"/>
                  </a:lnTo>
                  <a:lnTo>
                    <a:pt x="1895856" y="0"/>
                  </a:lnTo>
                  <a:lnTo>
                    <a:pt x="1409700" y="675132"/>
                  </a:lnTo>
                  <a:lnTo>
                    <a:pt x="1090422" y="267462"/>
                  </a:lnTo>
                  <a:lnTo>
                    <a:pt x="954024" y="736092"/>
                  </a:lnTo>
                  <a:lnTo>
                    <a:pt x="48006" y="267462"/>
                  </a:lnTo>
                  <a:lnTo>
                    <a:pt x="604266" y="886968"/>
                  </a:lnTo>
                  <a:lnTo>
                    <a:pt x="0" y="1002792"/>
                  </a:lnTo>
                  <a:lnTo>
                    <a:pt x="486156" y="1370838"/>
                  </a:lnTo>
                  <a:lnTo>
                    <a:pt x="17525" y="1698498"/>
                  </a:lnTo>
                  <a:lnTo>
                    <a:pt x="739902" y="1622298"/>
                  </a:lnTo>
                  <a:lnTo>
                    <a:pt x="621792" y="2050542"/>
                  </a:lnTo>
                  <a:lnTo>
                    <a:pt x="1007364" y="1818894"/>
                  </a:lnTo>
                  <a:lnTo>
                    <a:pt x="1107186" y="2514600"/>
                  </a:lnTo>
                  <a:lnTo>
                    <a:pt x="1374648" y="1738884"/>
                  </a:lnTo>
                  <a:lnTo>
                    <a:pt x="1728978" y="2297430"/>
                  </a:lnTo>
                  <a:lnTo>
                    <a:pt x="1830324" y="1683258"/>
                  </a:lnTo>
                  <a:lnTo>
                    <a:pt x="2368296" y="2106168"/>
                  </a:lnTo>
                  <a:lnTo>
                    <a:pt x="2197608" y="1506474"/>
                  </a:lnTo>
                  <a:lnTo>
                    <a:pt x="2819400" y="1546860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15900" y="3263900"/>
              <a:ext cx="2819400" cy="2514600"/>
            </a:xfrm>
            <a:custGeom>
              <a:avLst/>
              <a:gdLst/>
              <a:ahLst/>
              <a:cxnLst/>
              <a:rect l="l" t="t" r="r" b="b"/>
              <a:pathLst>
                <a:path w="2819400" h="2514600">
                  <a:moveTo>
                    <a:pt x="1409700" y="675132"/>
                  </a:moveTo>
                  <a:lnTo>
                    <a:pt x="1090422" y="267462"/>
                  </a:lnTo>
                  <a:lnTo>
                    <a:pt x="954024" y="736092"/>
                  </a:lnTo>
                  <a:lnTo>
                    <a:pt x="48006" y="267462"/>
                  </a:lnTo>
                  <a:lnTo>
                    <a:pt x="604266" y="886968"/>
                  </a:lnTo>
                  <a:lnTo>
                    <a:pt x="0" y="1002792"/>
                  </a:lnTo>
                  <a:lnTo>
                    <a:pt x="486156" y="1370838"/>
                  </a:lnTo>
                  <a:lnTo>
                    <a:pt x="17525" y="1698498"/>
                  </a:lnTo>
                  <a:lnTo>
                    <a:pt x="739902" y="1622298"/>
                  </a:lnTo>
                  <a:lnTo>
                    <a:pt x="621792" y="2050542"/>
                  </a:lnTo>
                  <a:lnTo>
                    <a:pt x="1007364" y="1818894"/>
                  </a:lnTo>
                  <a:lnTo>
                    <a:pt x="1107186" y="2514600"/>
                  </a:lnTo>
                  <a:lnTo>
                    <a:pt x="1374648" y="1738884"/>
                  </a:lnTo>
                  <a:lnTo>
                    <a:pt x="1728978" y="2297430"/>
                  </a:lnTo>
                  <a:lnTo>
                    <a:pt x="1830324" y="1683258"/>
                  </a:lnTo>
                  <a:lnTo>
                    <a:pt x="2368296" y="2106168"/>
                  </a:lnTo>
                  <a:lnTo>
                    <a:pt x="2197608" y="1506474"/>
                  </a:lnTo>
                  <a:lnTo>
                    <a:pt x="2819400" y="1546860"/>
                  </a:lnTo>
                  <a:lnTo>
                    <a:pt x="2298191" y="1219200"/>
                  </a:lnTo>
                  <a:lnTo>
                    <a:pt x="2753868" y="947166"/>
                  </a:lnTo>
                  <a:lnTo>
                    <a:pt x="2180082" y="851916"/>
                  </a:lnTo>
                  <a:lnTo>
                    <a:pt x="2398776" y="518922"/>
                  </a:lnTo>
                  <a:lnTo>
                    <a:pt x="1847850" y="620268"/>
                  </a:lnTo>
                  <a:lnTo>
                    <a:pt x="1895856" y="0"/>
                  </a:lnTo>
                  <a:lnTo>
                    <a:pt x="1409700" y="675132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1726" y="4152645"/>
            <a:ext cx="195643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lvl="0" indent="-12065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cạnh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của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thị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hai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phía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đầy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đủ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8675" y="3340100"/>
            <a:ext cx="4924424" cy="27432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46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3380" indent="-369570">
              <a:lnSpc>
                <a:spcPct val="100000"/>
              </a:lnSpc>
              <a:spcBef>
                <a:spcPts val="95"/>
              </a:spcBef>
              <a:buClr>
                <a:srgbClr val="65CCFF"/>
              </a:buClr>
              <a:buSzPct val="95312"/>
              <a:buFont typeface="Wingdings"/>
              <a:buChar char=""/>
              <a:tabLst>
                <a:tab pos="373380" algn="l"/>
              </a:tabLst>
            </a:pPr>
            <a:r>
              <a:rPr sz="3200" b="1" i="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Định</a:t>
            </a:r>
            <a:r>
              <a:rPr sz="3200" b="1" i="0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i="0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lý:</a:t>
            </a:r>
            <a:endParaRPr sz="3200">
              <a:latin typeface="Times New Roman"/>
              <a:cs typeface="Times New Roman"/>
            </a:endParaRPr>
          </a:p>
          <a:p>
            <a:pPr marL="354965" marR="5080">
              <a:lnSpc>
                <a:spcPct val="100000"/>
              </a:lnSpc>
              <a:spcBef>
                <a:spcPts val="25"/>
              </a:spcBef>
            </a:pPr>
            <a:r>
              <a:rPr sz="2800" i="0" dirty="0">
                <a:latin typeface="Times New Roman"/>
                <a:cs typeface="Times New Roman"/>
              </a:rPr>
              <a:t>Đơn</a:t>
            </a:r>
            <a:r>
              <a:rPr sz="2800" i="0" spc="-2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đồ</a:t>
            </a:r>
            <a:r>
              <a:rPr sz="2800" i="0" spc="-10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thị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G</a:t>
            </a:r>
            <a:r>
              <a:rPr sz="2800" i="0" spc="-10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=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(V,</a:t>
            </a:r>
            <a:r>
              <a:rPr sz="2800" i="0" spc="-10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E)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là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đồ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thị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hai</a:t>
            </a:r>
            <a:r>
              <a:rPr sz="2800" i="0" spc="-20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phía</a:t>
            </a:r>
            <a:r>
              <a:rPr sz="2800" i="0" spc="-2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khi</a:t>
            </a:r>
            <a:r>
              <a:rPr sz="2800" i="0" spc="-20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và</a:t>
            </a:r>
            <a:r>
              <a:rPr sz="2800" i="0" spc="-2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chỉ</a:t>
            </a:r>
            <a:r>
              <a:rPr sz="2800" i="0" spc="-20" dirty="0">
                <a:latin typeface="Times New Roman"/>
                <a:cs typeface="Times New Roman"/>
              </a:rPr>
              <a:t> </a:t>
            </a:r>
            <a:r>
              <a:rPr sz="2800" i="0" spc="-25" dirty="0">
                <a:latin typeface="Times New Roman"/>
                <a:cs typeface="Times New Roman"/>
              </a:rPr>
              <a:t>khi </a:t>
            </a:r>
            <a:r>
              <a:rPr sz="2800" i="0" dirty="0">
                <a:latin typeface="Times New Roman"/>
                <a:cs typeface="Times New Roman"/>
              </a:rPr>
              <a:t>nó</a:t>
            </a:r>
            <a:r>
              <a:rPr sz="2800" i="0" spc="-30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không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chứa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chu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trình</a:t>
            </a:r>
            <a:r>
              <a:rPr sz="2800" i="0" spc="-15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độ</a:t>
            </a:r>
            <a:r>
              <a:rPr sz="2800" i="0" spc="-10" dirty="0">
                <a:latin typeface="Times New Roman"/>
                <a:cs typeface="Times New Roman"/>
              </a:rPr>
              <a:t> </a:t>
            </a:r>
            <a:r>
              <a:rPr sz="2800" i="0" dirty="0">
                <a:latin typeface="Times New Roman"/>
                <a:cs typeface="Times New Roman"/>
              </a:rPr>
              <a:t>dài</a:t>
            </a:r>
            <a:r>
              <a:rPr sz="2800" i="0" spc="-20" dirty="0">
                <a:latin typeface="Times New Roman"/>
                <a:cs typeface="Times New Roman"/>
              </a:rPr>
              <a:t> </a:t>
            </a:r>
            <a:r>
              <a:rPr sz="2800" i="0" spc="-25" dirty="0">
                <a:latin typeface="Times New Roman"/>
                <a:cs typeface="Times New Roman"/>
              </a:rPr>
              <a:t>lẻ.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70"/>
              </a:spcBef>
            </a:pP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ts val="3350"/>
              </a:lnSpc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i="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Chứng</a:t>
            </a:r>
            <a:r>
              <a:rPr sz="2800" i="0" u="heavy" spc="-6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800" i="0" u="heavy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minh:</a:t>
            </a:r>
            <a:endParaRPr sz="2800">
              <a:latin typeface="Verdana"/>
              <a:cs typeface="Verdana"/>
            </a:endParaRPr>
          </a:p>
          <a:p>
            <a:pPr marL="355600">
              <a:lnSpc>
                <a:spcPts val="2865"/>
              </a:lnSpc>
            </a:pPr>
            <a:r>
              <a:rPr i="0" dirty="0">
                <a:latin typeface="Symbol"/>
                <a:cs typeface="Symbol"/>
              </a:rPr>
              <a:t></a:t>
            </a:r>
            <a:r>
              <a:rPr i="0" spc="215" dirty="0">
                <a:latin typeface="Times New Roman"/>
                <a:cs typeface="Times New Roman"/>
              </a:rPr>
              <a:t> </a:t>
            </a:r>
            <a:r>
              <a:rPr i="0" dirty="0">
                <a:latin typeface="Verdana"/>
                <a:cs typeface="Verdana"/>
              </a:rPr>
              <a:t>Đồ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thị</a:t>
            </a:r>
            <a:r>
              <a:rPr i="0" spc="-2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hai</a:t>
            </a:r>
            <a:r>
              <a:rPr i="0" spc="-20" dirty="0">
                <a:latin typeface="Verdana"/>
                <a:cs typeface="Verdana"/>
              </a:rPr>
              <a:t> phía</a:t>
            </a:r>
          </a:p>
          <a:p>
            <a:pPr marL="1357630">
              <a:lnSpc>
                <a:spcPts val="2875"/>
              </a:lnSpc>
              <a:tabLst>
                <a:tab pos="1980564" algn="l"/>
              </a:tabLst>
            </a:pPr>
            <a:r>
              <a:rPr i="0" spc="-50" dirty="0">
                <a:latin typeface="Symbol"/>
                <a:cs typeface="Symbol"/>
              </a:rPr>
              <a:t></a:t>
            </a:r>
            <a:r>
              <a:rPr i="0" dirty="0">
                <a:latin typeface="Times New Roman"/>
                <a:cs typeface="Times New Roman"/>
              </a:rPr>
              <a:t>	</a:t>
            </a:r>
            <a:r>
              <a:rPr i="0" dirty="0">
                <a:latin typeface="Verdana"/>
                <a:cs typeface="Verdana"/>
              </a:rPr>
              <a:t>Không</a:t>
            </a:r>
            <a:r>
              <a:rPr i="0" spc="-3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chứa</a:t>
            </a:r>
            <a:r>
              <a:rPr i="0" spc="-3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chu</a:t>
            </a:r>
            <a:r>
              <a:rPr i="0" spc="-3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trình</a:t>
            </a:r>
            <a:r>
              <a:rPr i="0" spc="-3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độ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dài</a:t>
            </a:r>
            <a:r>
              <a:rPr i="0" spc="-40" dirty="0">
                <a:latin typeface="Verdana"/>
                <a:cs typeface="Verdana"/>
              </a:rPr>
              <a:t> </a:t>
            </a:r>
            <a:r>
              <a:rPr i="0" spc="-25" dirty="0">
                <a:latin typeface="Verdana"/>
                <a:cs typeface="Verdana"/>
              </a:rPr>
              <a:t>lẻ</a:t>
            </a:r>
          </a:p>
          <a:p>
            <a:pPr marL="354330">
              <a:lnSpc>
                <a:spcPts val="2875"/>
              </a:lnSpc>
            </a:pPr>
            <a:r>
              <a:rPr i="0" dirty="0">
                <a:latin typeface="Symbol"/>
                <a:cs typeface="Symbol"/>
              </a:rPr>
              <a:t></a:t>
            </a:r>
            <a:r>
              <a:rPr i="0" spc="204" dirty="0">
                <a:latin typeface="Times New Roman"/>
                <a:cs typeface="Times New Roman"/>
              </a:rPr>
              <a:t> </a:t>
            </a:r>
            <a:r>
              <a:rPr i="0" dirty="0">
                <a:latin typeface="Verdana"/>
                <a:cs typeface="Verdana"/>
              </a:rPr>
              <a:t>Đồ</a:t>
            </a:r>
            <a:r>
              <a:rPr i="0" spc="-4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thị,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không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chứa</a:t>
            </a:r>
            <a:r>
              <a:rPr i="0" spc="-3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chu</a:t>
            </a:r>
            <a:r>
              <a:rPr i="0" spc="-35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trình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độ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dirty="0">
                <a:latin typeface="Verdana"/>
                <a:cs typeface="Verdana"/>
              </a:rPr>
              <a:t>dài</a:t>
            </a:r>
            <a:r>
              <a:rPr i="0" spc="-35" dirty="0">
                <a:latin typeface="Verdana"/>
                <a:cs typeface="Verdana"/>
              </a:rPr>
              <a:t> </a:t>
            </a:r>
            <a:r>
              <a:rPr i="0" spc="-25" dirty="0">
                <a:latin typeface="Verdana"/>
                <a:cs typeface="Verdana"/>
              </a:rPr>
              <a:t>lẻ</a:t>
            </a:r>
          </a:p>
          <a:p>
            <a:pPr marL="1324610">
              <a:lnSpc>
                <a:spcPts val="2875"/>
              </a:lnSpc>
              <a:tabLst>
                <a:tab pos="1949450" algn="l"/>
              </a:tabLst>
            </a:pPr>
            <a:r>
              <a:rPr i="0" spc="-50" dirty="0">
                <a:latin typeface="Symbol"/>
                <a:cs typeface="Symbol"/>
              </a:rPr>
              <a:t></a:t>
            </a:r>
            <a:r>
              <a:rPr i="0" dirty="0">
                <a:latin typeface="Times New Roman"/>
                <a:cs typeface="Times New Roman"/>
              </a:rPr>
              <a:t>	</a:t>
            </a:r>
            <a:r>
              <a:rPr i="0" dirty="0">
                <a:latin typeface="Verdana"/>
                <a:cs typeface="Verdana"/>
              </a:rPr>
              <a:t>hai</a:t>
            </a:r>
            <a:r>
              <a:rPr i="0" spc="-30" dirty="0">
                <a:latin typeface="Verdana"/>
                <a:cs typeface="Verdana"/>
              </a:rPr>
              <a:t> </a:t>
            </a:r>
            <a:r>
              <a:rPr i="0" spc="-20" dirty="0">
                <a:latin typeface="Verdana"/>
                <a:cs typeface="Verdana"/>
              </a:rPr>
              <a:t>phía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292100" y="1739900"/>
            <a:ext cx="8458200" cy="3733800"/>
          </a:xfrm>
          <a:custGeom>
            <a:avLst/>
            <a:gdLst/>
            <a:ahLst/>
            <a:cxnLst/>
            <a:rect l="l" t="t" r="r" b="b"/>
            <a:pathLst>
              <a:path w="8458200" h="3733800">
                <a:moveTo>
                  <a:pt x="0" y="0"/>
                </a:moveTo>
                <a:lnTo>
                  <a:pt x="0" y="3733800"/>
                </a:lnTo>
                <a:lnTo>
                  <a:pt x="8458200" y="3733800"/>
                </a:lnTo>
                <a:lnTo>
                  <a:pt x="8458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7801" y="1000251"/>
            <a:ext cx="8155305" cy="4124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Thuật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toán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kiểm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tra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phía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771525" marR="0" lvl="1" indent="-373380" defTabSz="914400" eaLnBrk="1" fontAlgn="auto" latinLnBrk="0" hangingPunct="1">
              <a:lnSpc>
                <a:spcPct val="100000"/>
              </a:lnSpc>
              <a:spcBef>
                <a:spcPts val="269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771525" algn="l"/>
                <a:tab pos="479933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Chọn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bất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kỳ.</a:t>
            </a:r>
            <a:r>
              <a:rPr kumimoji="0" sz="2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Đặt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X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{v}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752475" marR="0" lvl="1" indent="-354330" defTabSz="914400" eaLnBrk="1" fontAlgn="auto" latinLnBrk="0" hangingPunct="1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752475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{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|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kề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v,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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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X}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753745" marR="0" lvl="1" indent="-355600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753745" algn="l"/>
                <a:tab pos="1524000" algn="l"/>
                <a:tab pos="3331210" algn="l"/>
              </a:tabLst>
              <a:defRPr/>
            </a:pP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Nếu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X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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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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</a:t>
            </a:r>
            <a:r>
              <a:rPr kumimoji="0" sz="2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không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phía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753110" marR="0" lvl="1" indent="-354965" defTabSz="914400" eaLnBrk="1" fontAlgn="auto" latinLnBrk="0" hangingPunct="1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75311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Ngược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lại,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đặt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:=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Quay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trở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lại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2.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81990" marR="5080" lvl="1" indent="-285115" algn="just" defTabSz="914400" eaLnBrk="1" fontAlgn="auto" latinLnBrk="0" hangingPunct="1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681990" algn="l"/>
                <a:tab pos="752475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Nếu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tất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cả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các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xét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hết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mà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không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xảy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ra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3.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thì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phía.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Ngược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lại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không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phía.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6802" y="1000252"/>
            <a:ext cx="4671695" cy="3676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Ví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dụ: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X=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{1}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309880" lvl="0" indent="0" defTabSz="914400" eaLnBrk="1" fontAlgn="auto" latinLnBrk="0" hangingPunct="1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Y=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{5},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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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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X:=Y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{1,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2},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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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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X:=Y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0" lvl="0" indent="0" defTabSz="914400" eaLnBrk="1" fontAlgn="auto" latinLnBrk="0" hangingPunct="1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{5,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6,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7},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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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/>
                <a:cs typeface="Symbol"/>
              </a:rPr>
              <a:t>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X:=Y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4965" marR="2404110" lvl="0" indent="0" defTabSz="914400" eaLnBrk="1" fontAlgn="auto" latinLnBrk="0" hangingPunct="1">
              <a:lnSpc>
                <a:spcPts val="2880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{1,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2, 3,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4}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DỪNG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4965" marR="1263650" lvl="0" indent="0" defTabSz="914400" eaLnBrk="1" fontAlgn="auto" latinLnBrk="0" hangingPunct="1">
              <a:lnSpc>
                <a:spcPts val="2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đó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phía: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X={1,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4}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4965" marR="0" lvl="0" indent="0" defTabSz="914400" eaLnBrk="1" fontAlgn="auto" latinLnBrk="0" hangingPunct="1">
              <a:lnSpc>
                <a:spcPts val="27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Y={5,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6,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7}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0825" y="1206500"/>
            <a:ext cx="3267074" cy="3428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6802" y="941578"/>
            <a:ext cx="723900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Bài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tập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175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Kiểm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tra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sau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phải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phía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hay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không?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8475" y="2197099"/>
            <a:ext cx="5686424" cy="35051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6802" y="941578"/>
            <a:ext cx="392112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Bài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tập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Không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phải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phía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688137" y="3868737"/>
            <a:ext cx="1914525" cy="1533525"/>
            <a:chOff x="6688137" y="3868737"/>
            <a:chExt cx="1914525" cy="1533525"/>
          </a:xfrm>
        </p:grpSpPr>
        <p:sp>
          <p:nvSpPr>
            <p:cNvPr id="5" name="object 5"/>
            <p:cNvSpPr/>
            <p:nvPr/>
          </p:nvSpPr>
          <p:spPr>
            <a:xfrm>
              <a:off x="6692900" y="3873500"/>
              <a:ext cx="1905000" cy="1524000"/>
            </a:xfrm>
            <a:custGeom>
              <a:avLst/>
              <a:gdLst/>
              <a:ahLst/>
              <a:cxnLst/>
              <a:rect l="l" t="t" r="r" b="b"/>
              <a:pathLst>
                <a:path w="1905000" h="1524000">
                  <a:moveTo>
                    <a:pt x="1905000" y="938021"/>
                  </a:moveTo>
                  <a:lnTo>
                    <a:pt x="1552956" y="739139"/>
                  </a:lnTo>
                  <a:lnTo>
                    <a:pt x="1860803" y="573785"/>
                  </a:lnTo>
                  <a:lnTo>
                    <a:pt x="1472945" y="515873"/>
                  </a:lnTo>
                  <a:lnTo>
                    <a:pt x="1620774" y="314705"/>
                  </a:lnTo>
                  <a:lnTo>
                    <a:pt x="1248156" y="375665"/>
                  </a:lnTo>
                  <a:lnTo>
                    <a:pt x="1280922" y="0"/>
                  </a:lnTo>
                  <a:lnTo>
                    <a:pt x="952500" y="409193"/>
                  </a:lnTo>
                  <a:lnTo>
                    <a:pt x="736854" y="161543"/>
                  </a:lnTo>
                  <a:lnTo>
                    <a:pt x="644652" y="445769"/>
                  </a:lnTo>
                  <a:lnTo>
                    <a:pt x="32765" y="161543"/>
                  </a:lnTo>
                  <a:lnTo>
                    <a:pt x="408431" y="537209"/>
                  </a:lnTo>
                  <a:lnTo>
                    <a:pt x="0" y="608075"/>
                  </a:lnTo>
                  <a:lnTo>
                    <a:pt x="328422" y="830579"/>
                  </a:lnTo>
                  <a:lnTo>
                    <a:pt x="12191" y="1029461"/>
                  </a:lnTo>
                  <a:lnTo>
                    <a:pt x="499872" y="982979"/>
                  </a:lnTo>
                  <a:lnTo>
                    <a:pt x="419862" y="1242821"/>
                  </a:lnTo>
                  <a:lnTo>
                    <a:pt x="680466" y="1102613"/>
                  </a:lnTo>
                  <a:lnTo>
                    <a:pt x="748284" y="1523999"/>
                  </a:lnTo>
                  <a:lnTo>
                    <a:pt x="928878" y="1053845"/>
                  </a:lnTo>
                  <a:lnTo>
                    <a:pt x="1168146" y="1392173"/>
                  </a:lnTo>
                  <a:lnTo>
                    <a:pt x="1236726" y="1020317"/>
                  </a:lnTo>
                  <a:lnTo>
                    <a:pt x="1600200" y="1276349"/>
                  </a:lnTo>
                  <a:lnTo>
                    <a:pt x="1485138" y="912875"/>
                  </a:lnTo>
                  <a:lnTo>
                    <a:pt x="1905000" y="938021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692900" y="3873500"/>
              <a:ext cx="1905000" cy="1524000"/>
            </a:xfrm>
            <a:custGeom>
              <a:avLst/>
              <a:gdLst/>
              <a:ahLst/>
              <a:cxnLst/>
              <a:rect l="l" t="t" r="r" b="b"/>
              <a:pathLst>
                <a:path w="1905000" h="1524000">
                  <a:moveTo>
                    <a:pt x="952500" y="409193"/>
                  </a:moveTo>
                  <a:lnTo>
                    <a:pt x="736854" y="161543"/>
                  </a:lnTo>
                  <a:lnTo>
                    <a:pt x="644652" y="445769"/>
                  </a:lnTo>
                  <a:lnTo>
                    <a:pt x="32765" y="161543"/>
                  </a:lnTo>
                  <a:lnTo>
                    <a:pt x="408431" y="537209"/>
                  </a:lnTo>
                  <a:lnTo>
                    <a:pt x="0" y="608075"/>
                  </a:lnTo>
                  <a:lnTo>
                    <a:pt x="328422" y="830579"/>
                  </a:lnTo>
                  <a:lnTo>
                    <a:pt x="12191" y="1029461"/>
                  </a:lnTo>
                  <a:lnTo>
                    <a:pt x="499872" y="982979"/>
                  </a:lnTo>
                  <a:lnTo>
                    <a:pt x="419862" y="1242821"/>
                  </a:lnTo>
                  <a:lnTo>
                    <a:pt x="680466" y="1102613"/>
                  </a:lnTo>
                  <a:lnTo>
                    <a:pt x="748284" y="1523999"/>
                  </a:lnTo>
                  <a:lnTo>
                    <a:pt x="928878" y="1053845"/>
                  </a:lnTo>
                  <a:lnTo>
                    <a:pt x="1168146" y="1392173"/>
                  </a:lnTo>
                  <a:lnTo>
                    <a:pt x="1236726" y="1020317"/>
                  </a:lnTo>
                  <a:lnTo>
                    <a:pt x="1600200" y="1276349"/>
                  </a:lnTo>
                  <a:lnTo>
                    <a:pt x="1485138" y="912875"/>
                  </a:lnTo>
                  <a:lnTo>
                    <a:pt x="1905000" y="938021"/>
                  </a:lnTo>
                  <a:lnTo>
                    <a:pt x="1552956" y="739139"/>
                  </a:lnTo>
                  <a:lnTo>
                    <a:pt x="1860803" y="573785"/>
                  </a:lnTo>
                  <a:lnTo>
                    <a:pt x="1472945" y="515873"/>
                  </a:lnTo>
                  <a:lnTo>
                    <a:pt x="1620774" y="314705"/>
                  </a:lnTo>
                  <a:lnTo>
                    <a:pt x="1248156" y="375665"/>
                  </a:lnTo>
                  <a:lnTo>
                    <a:pt x="1280922" y="0"/>
                  </a:lnTo>
                  <a:lnTo>
                    <a:pt x="952500" y="409193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121397" y="4298950"/>
            <a:ext cx="965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Arial"/>
              </a:rPr>
              <a:t>Chu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Arial"/>
              </a:rPr>
              <a:t>trình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8064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Arial"/>
              </a:rPr>
              <a:t>độ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Arial"/>
              </a:rPr>
              <a:t>dài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Arial"/>
              </a:rPr>
              <a:t>lẻ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075" y="2120900"/>
            <a:ext cx="5457825" cy="38099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47801" y="1086358"/>
            <a:ext cx="7795259" cy="148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algn="just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Đồ</a:t>
            </a:r>
            <a:r>
              <a:rPr kumimoji="0" sz="2400" b="1" i="0" u="heavy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thị</a:t>
            </a:r>
            <a:r>
              <a:rPr kumimoji="0" sz="2400" b="1" i="0" u="heavy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kumimoji="0" sz="2400" b="1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phẳng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354330" marR="5080" lvl="0" indent="635" algn="just" defTabSz="914400" eaLnBrk="1" fontAlgn="auto" latinLnBrk="0" hangingPunct="1">
              <a:lnSpc>
                <a:spcPts val="287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được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gọi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là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phẳng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nếu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ta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có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thể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vẽ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nó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trên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một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mặt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phẳng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mà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cạnh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không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giao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nhau.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69140" y="2690824"/>
            <a:ext cx="1443355" cy="1158240"/>
            <a:chOff x="2269140" y="2690824"/>
            <a:chExt cx="1443355" cy="1158240"/>
          </a:xfrm>
        </p:grpSpPr>
        <p:sp>
          <p:nvSpPr>
            <p:cNvPr id="5" name="object 5"/>
            <p:cNvSpPr/>
            <p:nvPr/>
          </p:nvSpPr>
          <p:spPr>
            <a:xfrm>
              <a:off x="2325878" y="2744977"/>
              <a:ext cx="1329055" cy="1049655"/>
            </a:xfrm>
            <a:custGeom>
              <a:avLst/>
              <a:gdLst/>
              <a:ahLst/>
              <a:cxnLst/>
              <a:rect l="l" t="t" r="r" b="b"/>
              <a:pathLst>
                <a:path w="1329054" h="1049654">
                  <a:moveTo>
                    <a:pt x="1328927" y="0"/>
                  </a:moveTo>
                  <a:lnTo>
                    <a:pt x="0" y="0"/>
                  </a:lnTo>
                  <a:lnTo>
                    <a:pt x="0" y="1049274"/>
                  </a:lnTo>
                  <a:lnTo>
                    <a:pt x="1328927" y="1049274"/>
                  </a:lnTo>
                </a:path>
                <a:path w="1329054" h="1049654">
                  <a:moveTo>
                    <a:pt x="1328927" y="0"/>
                  </a:moveTo>
                  <a:lnTo>
                    <a:pt x="1328927" y="1049274"/>
                  </a:lnTo>
                </a:path>
                <a:path w="1329054" h="1049654">
                  <a:moveTo>
                    <a:pt x="1328927" y="1049274"/>
                  </a:moveTo>
                  <a:lnTo>
                    <a:pt x="876299" y="691896"/>
                  </a:lnTo>
                  <a:lnTo>
                    <a:pt x="433577" y="342138"/>
                  </a:lnTo>
                  <a:lnTo>
                    <a:pt x="0" y="0"/>
                  </a:lnTo>
                </a:path>
                <a:path w="1329054" h="1049654">
                  <a:moveTo>
                    <a:pt x="1328927" y="0"/>
                  </a:moveTo>
                  <a:lnTo>
                    <a:pt x="876299" y="357378"/>
                  </a:lnTo>
                  <a:lnTo>
                    <a:pt x="433577" y="707136"/>
                  </a:lnTo>
                  <a:lnTo>
                    <a:pt x="0" y="1049274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8068" y="2690824"/>
              <a:ext cx="113903" cy="10841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9140" y="2690824"/>
              <a:ext cx="113581" cy="1084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9140" y="3740098"/>
              <a:ext cx="113581" cy="10841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7306" y="3739800"/>
              <a:ext cx="114998" cy="108902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971841" y="4416635"/>
            <a:ext cx="1896745" cy="1506855"/>
            <a:chOff x="1971841" y="4416635"/>
            <a:chExt cx="1896745" cy="1506855"/>
          </a:xfrm>
        </p:grpSpPr>
        <p:sp>
          <p:nvSpPr>
            <p:cNvPr id="11" name="object 11"/>
            <p:cNvSpPr/>
            <p:nvPr/>
          </p:nvSpPr>
          <p:spPr>
            <a:xfrm>
              <a:off x="2027935" y="4890008"/>
              <a:ext cx="1403985" cy="979169"/>
            </a:xfrm>
            <a:custGeom>
              <a:avLst/>
              <a:gdLst/>
              <a:ahLst/>
              <a:cxnLst/>
              <a:rect l="l" t="t" r="r" b="b"/>
              <a:pathLst>
                <a:path w="1403985" h="979170">
                  <a:moveTo>
                    <a:pt x="1403604" y="0"/>
                  </a:moveTo>
                  <a:lnTo>
                    <a:pt x="0" y="0"/>
                  </a:lnTo>
                  <a:lnTo>
                    <a:pt x="0" y="979170"/>
                  </a:lnTo>
                  <a:lnTo>
                    <a:pt x="1403604" y="979170"/>
                  </a:lnTo>
                </a:path>
                <a:path w="1403985" h="979170">
                  <a:moveTo>
                    <a:pt x="1403604" y="0"/>
                  </a:moveTo>
                  <a:lnTo>
                    <a:pt x="1403604" y="979170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027935" y="4470146"/>
              <a:ext cx="1784350" cy="1399540"/>
            </a:xfrm>
            <a:custGeom>
              <a:avLst/>
              <a:gdLst/>
              <a:ahLst/>
              <a:cxnLst/>
              <a:rect l="l" t="t" r="r" b="b"/>
              <a:pathLst>
                <a:path w="1784350" h="1399539">
                  <a:moveTo>
                    <a:pt x="1783842" y="0"/>
                  </a:moveTo>
                  <a:lnTo>
                    <a:pt x="1305306" y="762"/>
                  </a:lnTo>
                  <a:lnTo>
                    <a:pt x="835914" y="2286"/>
                  </a:lnTo>
                  <a:lnTo>
                    <a:pt x="377190" y="3048"/>
                  </a:lnTo>
                  <a:lnTo>
                    <a:pt x="377952" y="335280"/>
                  </a:lnTo>
                  <a:lnTo>
                    <a:pt x="379476" y="661416"/>
                  </a:lnTo>
                  <a:lnTo>
                    <a:pt x="380238" y="979932"/>
                  </a:lnTo>
                  <a:lnTo>
                    <a:pt x="1783842" y="979932"/>
                  </a:lnTo>
                </a:path>
                <a:path w="1784350" h="1399539">
                  <a:moveTo>
                    <a:pt x="1783842" y="0"/>
                  </a:moveTo>
                  <a:lnTo>
                    <a:pt x="1783842" y="979932"/>
                  </a:lnTo>
                </a:path>
                <a:path w="1784350" h="1399539">
                  <a:moveTo>
                    <a:pt x="377190" y="3048"/>
                  </a:moveTo>
                  <a:lnTo>
                    <a:pt x="249174" y="144780"/>
                  </a:lnTo>
                  <a:lnTo>
                    <a:pt x="123443" y="283464"/>
                  </a:lnTo>
                  <a:lnTo>
                    <a:pt x="0" y="419862"/>
                  </a:lnTo>
                </a:path>
                <a:path w="1784350" h="1399539">
                  <a:moveTo>
                    <a:pt x="1783842" y="0"/>
                  </a:moveTo>
                  <a:lnTo>
                    <a:pt x="1654302" y="143256"/>
                  </a:lnTo>
                  <a:lnTo>
                    <a:pt x="1527810" y="282702"/>
                  </a:lnTo>
                  <a:lnTo>
                    <a:pt x="1403604" y="419862"/>
                  </a:lnTo>
                </a:path>
                <a:path w="1784350" h="1399539">
                  <a:moveTo>
                    <a:pt x="1783842" y="979932"/>
                  </a:moveTo>
                  <a:lnTo>
                    <a:pt x="1654302" y="1122426"/>
                  </a:lnTo>
                  <a:lnTo>
                    <a:pt x="1527810" y="1262634"/>
                  </a:lnTo>
                  <a:lnTo>
                    <a:pt x="1403604" y="1399032"/>
                  </a:lnTo>
                </a:path>
                <a:path w="1784350" h="1399539">
                  <a:moveTo>
                    <a:pt x="380238" y="979932"/>
                  </a:moveTo>
                  <a:lnTo>
                    <a:pt x="250698" y="1122426"/>
                  </a:lnTo>
                  <a:lnTo>
                    <a:pt x="124206" y="1262634"/>
                  </a:lnTo>
                  <a:lnTo>
                    <a:pt x="0" y="1399032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71841" y="4836497"/>
              <a:ext cx="112188" cy="10625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49031" y="4419683"/>
              <a:ext cx="112188" cy="10702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71841" y="5815667"/>
              <a:ext cx="112188" cy="10702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51758" y="5396567"/>
              <a:ext cx="112510" cy="10702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75874" y="4836497"/>
              <a:ext cx="112081" cy="10625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55683" y="4416635"/>
              <a:ext cx="112188" cy="10702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55040" y="5396388"/>
              <a:ext cx="113474" cy="10737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74802" y="5815488"/>
              <a:ext cx="113474" cy="107378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144190" y="2631293"/>
            <a:ext cx="1656080" cy="1555750"/>
            <a:chOff x="5144190" y="2631293"/>
            <a:chExt cx="1656080" cy="1555750"/>
          </a:xfrm>
        </p:grpSpPr>
        <p:sp>
          <p:nvSpPr>
            <p:cNvPr id="22" name="object 22"/>
            <p:cNvSpPr/>
            <p:nvPr/>
          </p:nvSpPr>
          <p:spPr>
            <a:xfrm>
              <a:off x="5203190" y="2687065"/>
              <a:ext cx="1595755" cy="1499235"/>
            </a:xfrm>
            <a:custGeom>
              <a:avLst/>
              <a:gdLst/>
              <a:ahLst/>
              <a:cxnLst/>
              <a:rect l="l" t="t" r="r" b="b"/>
              <a:pathLst>
                <a:path w="1595754" h="1499235">
                  <a:moveTo>
                    <a:pt x="1319021" y="0"/>
                  </a:moveTo>
                  <a:lnTo>
                    <a:pt x="0" y="0"/>
                  </a:lnTo>
                  <a:lnTo>
                    <a:pt x="0" y="1087373"/>
                  </a:lnTo>
                  <a:lnTo>
                    <a:pt x="1319021" y="1087373"/>
                  </a:lnTo>
                </a:path>
                <a:path w="1595754" h="1499235">
                  <a:moveTo>
                    <a:pt x="1319021" y="0"/>
                  </a:moveTo>
                  <a:lnTo>
                    <a:pt x="1319021" y="1087373"/>
                  </a:lnTo>
                  <a:lnTo>
                    <a:pt x="981455" y="809243"/>
                  </a:lnTo>
                  <a:lnTo>
                    <a:pt x="649223" y="534924"/>
                  </a:lnTo>
                  <a:lnTo>
                    <a:pt x="321563" y="265175"/>
                  </a:lnTo>
                  <a:lnTo>
                    <a:pt x="0" y="0"/>
                  </a:lnTo>
                </a:path>
                <a:path w="1595754" h="1499235">
                  <a:moveTo>
                    <a:pt x="1319021" y="0"/>
                  </a:moveTo>
                  <a:lnTo>
                    <a:pt x="1405127" y="219455"/>
                  </a:lnTo>
                  <a:lnTo>
                    <a:pt x="1475232" y="422147"/>
                  </a:lnTo>
                  <a:lnTo>
                    <a:pt x="1529333" y="606551"/>
                  </a:lnTo>
                  <a:lnTo>
                    <a:pt x="1567433" y="774191"/>
                  </a:lnTo>
                  <a:lnTo>
                    <a:pt x="1589532" y="924305"/>
                  </a:lnTo>
                  <a:lnTo>
                    <a:pt x="1595627" y="1056893"/>
                  </a:lnTo>
                  <a:lnTo>
                    <a:pt x="1585721" y="1172717"/>
                  </a:lnTo>
                  <a:lnTo>
                    <a:pt x="1559814" y="1270253"/>
                  </a:lnTo>
                  <a:lnTo>
                    <a:pt x="1517903" y="1351025"/>
                  </a:lnTo>
                  <a:lnTo>
                    <a:pt x="1459991" y="1414271"/>
                  </a:lnTo>
                  <a:lnTo>
                    <a:pt x="1386077" y="1459992"/>
                  </a:lnTo>
                  <a:lnTo>
                    <a:pt x="1296161" y="1488186"/>
                  </a:lnTo>
                  <a:lnTo>
                    <a:pt x="1190243" y="1498853"/>
                  </a:lnTo>
                  <a:lnTo>
                    <a:pt x="1067561" y="1491995"/>
                  </a:lnTo>
                  <a:lnTo>
                    <a:pt x="929639" y="1468373"/>
                  </a:lnTo>
                  <a:lnTo>
                    <a:pt x="775715" y="1427225"/>
                  </a:lnTo>
                  <a:lnTo>
                    <a:pt x="605789" y="1368552"/>
                  </a:lnTo>
                  <a:lnTo>
                    <a:pt x="419861" y="1292352"/>
                  </a:lnTo>
                  <a:lnTo>
                    <a:pt x="217931" y="1198625"/>
                  </a:lnTo>
                  <a:lnTo>
                    <a:pt x="0" y="1087373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63188" y="3718464"/>
              <a:ext cx="118046" cy="1119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63974" y="2631293"/>
              <a:ext cx="117129" cy="11110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44190" y="2631293"/>
              <a:ext cx="117236" cy="11110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44190" y="3718774"/>
              <a:ext cx="117236" cy="111331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4199286" y="3118770"/>
            <a:ext cx="401955" cy="319405"/>
            <a:chOff x="4199286" y="3118770"/>
            <a:chExt cx="401955" cy="319405"/>
          </a:xfrm>
        </p:grpSpPr>
        <p:sp>
          <p:nvSpPr>
            <p:cNvPr id="28" name="object 28"/>
            <p:cNvSpPr/>
            <p:nvPr/>
          </p:nvSpPr>
          <p:spPr>
            <a:xfrm>
              <a:off x="4200397" y="3119881"/>
              <a:ext cx="399415" cy="317500"/>
            </a:xfrm>
            <a:custGeom>
              <a:avLst/>
              <a:gdLst/>
              <a:ahLst/>
              <a:cxnLst/>
              <a:rect l="l" t="t" r="r" b="b"/>
              <a:pathLst>
                <a:path w="399414" h="317500">
                  <a:moveTo>
                    <a:pt x="399288" y="158496"/>
                  </a:moveTo>
                  <a:lnTo>
                    <a:pt x="232409" y="0"/>
                  </a:lnTo>
                  <a:lnTo>
                    <a:pt x="232409" y="104394"/>
                  </a:lnTo>
                  <a:lnTo>
                    <a:pt x="0" y="104394"/>
                  </a:lnTo>
                  <a:lnTo>
                    <a:pt x="0" y="211836"/>
                  </a:lnTo>
                  <a:lnTo>
                    <a:pt x="232409" y="211836"/>
                  </a:lnTo>
                  <a:lnTo>
                    <a:pt x="232409" y="316992"/>
                  </a:lnTo>
                  <a:lnTo>
                    <a:pt x="399288" y="158496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4200397" y="3119881"/>
              <a:ext cx="399415" cy="317500"/>
            </a:xfrm>
            <a:custGeom>
              <a:avLst/>
              <a:gdLst/>
              <a:ahLst/>
              <a:cxnLst/>
              <a:rect l="l" t="t" r="r" b="b"/>
              <a:pathLst>
                <a:path w="399414" h="317500">
                  <a:moveTo>
                    <a:pt x="399288" y="158496"/>
                  </a:moveTo>
                  <a:lnTo>
                    <a:pt x="232409" y="0"/>
                  </a:lnTo>
                  <a:lnTo>
                    <a:pt x="232409" y="104394"/>
                  </a:lnTo>
                  <a:lnTo>
                    <a:pt x="0" y="104394"/>
                  </a:lnTo>
                  <a:lnTo>
                    <a:pt x="0" y="211836"/>
                  </a:lnTo>
                  <a:lnTo>
                    <a:pt x="232409" y="211836"/>
                  </a:lnTo>
                  <a:lnTo>
                    <a:pt x="232409" y="316992"/>
                  </a:lnTo>
                  <a:lnTo>
                    <a:pt x="399288" y="15849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5347775" y="4545996"/>
            <a:ext cx="1499235" cy="1188720"/>
            <a:chOff x="5347775" y="4545996"/>
            <a:chExt cx="1499235" cy="1188720"/>
          </a:xfrm>
        </p:grpSpPr>
        <p:sp>
          <p:nvSpPr>
            <p:cNvPr id="31" name="object 31"/>
            <p:cNvSpPr/>
            <p:nvPr/>
          </p:nvSpPr>
          <p:spPr>
            <a:xfrm>
              <a:off x="5408167" y="4603496"/>
              <a:ext cx="1377950" cy="1073785"/>
            </a:xfrm>
            <a:custGeom>
              <a:avLst/>
              <a:gdLst/>
              <a:ahLst/>
              <a:cxnLst/>
              <a:rect l="l" t="t" r="r" b="b"/>
              <a:pathLst>
                <a:path w="1377950" h="1073785">
                  <a:moveTo>
                    <a:pt x="1377696" y="0"/>
                  </a:moveTo>
                  <a:lnTo>
                    <a:pt x="0" y="0"/>
                  </a:lnTo>
                  <a:lnTo>
                    <a:pt x="0" y="1073658"/>
                  </a:lnTo>
                  <a:lnTo>
                    <a:pt x="1377696" y="1073658"/>
                  </a:lnTo>
                </a:path>
                <a:path w="1377950" h="1073785">
                  <a:moveTo>
                    <a:pt x="1377696" y="0"/>
                  </a:moveTo>
                  <a:lnTo>
                    <a:pt x="1377696" y="1073658"/>
                  </a:lnTo>
                </a:path>
                <a:path w="1377950" h="1073785">
                  <a:moveTo>
                    <a:pt x="1150620" y="204215"/>
                  </a:moveTo>
                  <a:lnTo>
                    <a:pt x="279654" y="204216"/>
                  </a:lnTo>
                  <a:lnTo>
                    <a:pt x="280416" y="430530"/>
                  </a:lnTo>
                  <a:lnTo>
                    <a:pt x="281178" y="653034"/>
                  </a:lnTo>
                  <a:lnTo>
                    <a:pt x="281940" y="870204"/>
                  </a:lnTo>
                  <a:lnTo>
                    <a:pt x="1148334" y="870204"/>
                  </a:lnTo>
                </a:path>
                <a:path w="1377950" h="1073785">
                  <a:moveTo>
                    <a:pt x="1150620" y="204215"/>
                  </a:moveTo>
                  <a:lnTo>
                    <a:pt x="1149858" y="430530"/>
                  </a:lnTo>
                  <a:lnTo>
                    <a:pt x="1149096" y="653034"/>
                  </a:lnTo>
                  <a:lnTo>
                    <a:pt x="1148334" y="870204"/>
                  </a:lnTo>
                </a:path>
                <a:path w="1377950" h="1073785">
                  <a:moveTo>
                    <a:pt x="1377696" y="0"/>
                  </a:moveTo>
                  <a:lnTo>
                    <a:pt x="1262634" y="103632"/>
                  </a:lnTo>
                  <a:lnTo>
                    <a:pt x="1150620" y="204215"/>
                  </a:lnTo>
                </a:path>
                <a:path w="1377950" h="1073785">
                  <a:moveTo>
                    <a:pt x="281940" y="870204"/>
                  </a:moveTo>
                  <a:lnTo>
                    <a:pt x="138684" y="973074"/>
                  </a:lnTo>
                  <a:lnTo>
                    <a:pt x="0" y="1073658"/>
                  </a:lnTo>
                </a:path>
                <a:path w="1377950" h="1073785">
                  <a:moveTo>
                    <a:pt x="0" y="0"/>
                  </a:moveTo>
                  <a:lnTo>
                    <a:pt x="141732" y="103632"/>
                  </a:lnTo>
                  <a:lnTo>
                    <a:pt x="279654" y="204216"/>
                  </a:lnTo>
                </a:path>
                <a:path w="1377950" h="1073785">
                  <a:moveTo>
                    <a:pt x="1148334" y="870204"/>
                  </a:moveTo>
                  <a:lnTo>
                    <a:pt x="1264920" y="973074"/>
                  </a:lnTo>
                  <a:lnTo>
                    <a:pt x="1377696" y="1073658"/>
                  </a:lnTo>
                </a:path>
              </a:pathLst>
            </a:custGeom>
            <a:ln w="3175">
              <a:solidFill>
                <a:srgbClr val="4677B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627417" y="4750224"/>
              <a:ext cx="120475" cy="11497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347775" y="4545996"/>
              <a:ext cx="120784" cy="11466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499038" y="4750224"/>
              <a:ext cx="120261" cy="11497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25471" y="4545996"/>
              <a:ext cx="120784" cy="11466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496303" y="5416550"/>
              <a:ext cx="120014" cy="113664"/>
            </a:xfrm>
            <a:custGeom>
              <a:avLst/>
              <a:gdLst/>
              <a:ahLst/>
              <a:cxnLst/>
              <a:rect l="l" t="t" r="r" b="b"/>
              <a:pathLst>
                <a:path w="120015" h="113664">
                  <a:moveTo>
                    <a:pt x="119634" y="57149"/>
                  </a:moveTo>
                  <a:lnTo>
                    <a:pt x="114954" y="34718"/>
                  </a:lnTo>
                  <a:lnTo>
                    <a:pt x="102203" y="16573"/>
                  </a:lnTo>
                  <a:lnTo>
                    <a:pt x="83308" y="4429"/>
                  </a:lnTo>
                  <a:lnTo>
                    <a:pt x="60198" y="0"/>
                  </a:lnTo>
                  <a:lnTo>
                    <a:pt x="36647" y="4429"/>
                  </a:lnTo>
                  <a:lnTo>
                    <a:pt x="17526" y="16573"/>
                  </a:lnTo>
                  <a:lnTo>
                    <a:pt x="4691" y="34718"/>
                  </a:lnTo>
                  <a:lnTo>
                    <a:pt x="0" y="57150"/>
                  </a:lnTo>
                  <a:lnTo>
                    <a:pt x="4691" y="79140"/>
                  </a:lnTo>
                  <a:lnTo>
                    <a:pt x="17526" y="97059"/>
                  </a:lnTo>
                  <a:lnTo>
                    <a:pt x="36647" y="109120"/>
                  </a:lnTo>
                  <a:lnTo>
                    <a:pt x="60198" y="113538"/>
                  </a:lnTo>
                  <a:lnTo>
                    <a:pt x="83308" y="109120"/>
                  </a:lnTo>
                  <a:lnTo>
                    <a:pt x="102203" y="97059"/>
                  </a:lnTo>
                  <a:lnTo>
                    <a:pt x="114954" y="79140"/>
                  </a:lnTo>
                  <a:lnTo>
                    <a:pt x="119634" y="57149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496303" y="5416550"/>
              <a:ext cx="120014" cy="113664"/>
            </a:xfrm>
            <a:custGeom>
              <a:avLst/>
              <a:gdLst/>
              <a:ahLst/>
              <a:cxnLst/>
              <a:rect l="l" t="t" r="r" b="b"/>
              <a:pathLst>
                <a:path w="120015" h="113664">
                  <a:moveTo>
                    <a:pt x="0" y="57150"/>
                  </a:moveTo>
                  <a:lnTo>
                    <a:pt x="4691" y="34718"/>
                  </a:lnTo>
                  <a:lnTo>
                    <a:pt x="17526" y="16573"/>
                  </a:lnTo>
                  <a:lnTo>
                    <a:pt x="36647" y="4429"/>
                  </a:lnTo>
                  <a:lnTo>
                    <a:pt x="60198" y="0"/>
                  </a:lnTo>
                  <a:lnTo>
                    <a:pt x="83308" y="4429"/>
                  </a:lnTo>
                  <a:lnTo>
                    <a:pt x="102203" y="16573"/>
                  </a:lnTo>
                  <a:lnTo>
                    <a:pt x="114954" y="34718"/>
                  </a:lnTo>
                  <a:lnTo>
                    <a:pt x="119634" y="57149"/>
                  </a:lnTo>
                  <a:lnTo>
                    <a:pt x="114954" y="79140"/>
                  </a:lnTo>
                  <a:lnTo>
                    <a:pt x="102203" y="97059"/>
                  </a:lnTo>
                  <a:lnTo>
                    <a:pt x="83308" y="109120"/>
                  </a:lnTo>
                  <a:lnTo>
                    <a:pt x="60198" y="113538"/>
                  </a:lnTo>
                  <a:lnTo>
                    <a:pt x="36647" y="109120"/>
                  </a:lnTo>
                  <a:lnTo>
                    <a:pt x="17526" y="97059"/>
                  </a:lnTo>
                  <a:lnTo>
                    <a:pt x="4691" y="79140"/>
                  </a:lnTo>
                  <a:lnTo>
                    <a:pt x="0" y="571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6726427" y="5620004"/>
              <a:ext cx="119380" cy="113664"/>
            </a:xfrm>
            <a:custGeom>
              <a:avLst/>
              <a:gdLst/>
              <a:ahLst/>
              <a:cxnLst/>
              <a:rect l="l" t="t" r="r" b="b"/>
              <a:pathLst>
                <a:path w="119379" h="113664">
                  <a:moveTo>
                    <a:pt x="118872" y="57149"/>
                  </a:moveTo>
                  <a:lnTo>
                    <a:pt x="114192" y="35040"/>
                  </a:lnTo>
                  <a:lnTo>
                    <a:pt x="101441" y="16859"/>
                  </a:lnTo>
                  <a:lnTo>
                    <a:pt x="82546" y="4536"/>
                  </a:lnTo>
                  <a:lnTo>
                    <a:pt x="59436" y="0"/>
                  </a:lnTo>
                  <a:lnTo>
                    <a:pt x="36325" y="4536"/>
                  </a:lnTo>
                  <a:lnTo>
                    <a:pt x="17430" y="16859"/>
                  </a:lnTo>
                  <a:lnTo>
                    <a:pt x="4679" y="35040"/>
                  </a:lnTo>
                  <a:lnTo>
                    <a:pt x="0" y="57150"/>
                  </a:lnTo>
                  <a:lnTo>
                    <a:pt x="4679" y="79140"/>
                  </a:lnTo>
                  <a:lnTo>
                    <a:pt x="17430" y="97059"/>
                  </a:lnTo>
                  <a:lnTo>
                    <a:pt x="36325" y="109120"/>
                  </a:lnTo>
                  <a:lnTo>
                    <a:pt x="59436" y="113538"/>
                  </a:lnTo>
                  <a:lnTo>
                    <a:pt x="82546" y="109120"/>
                  </a:lnTo>
                  <a:lnTo>
                    <a:pt x="101441" y="97059"/>
                  </a:lnTo>
                  <a:lnTo>
                    <a:pt x="114192" y="79140"/>
                  </a:lnTo>
                  <a:lnTo>
                    <a:pt x="118872" y="57149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6726427" y="5620004"/>
              <a:ext cx="119380" cy="113664"/>
            </a:xfrm>
            <a:custGeom>
              <a:avLst/>
              <a:gdLst/>
              <a:ahLst/>
              <a:cxnLst/>
              <a:rect l="l" t="t" r="r" b="b"/>
              <a:pathLst>
                <a:path w="119379" h="113664">
                  <a:moveTo>
                    <a:pt x="0" y="57150"/>
                  </a:moveTo>
                  <a:lnTo>
                    <a:pt x="4679" y="35040"/>
                  </a:lnTo>
                  <a:lnTo>
                    <a:pt x="17430" y="16859"/>
                  </a:lnTo>
                  <a:lnTo>
                    <a:pt x="36325" y="4536"/>
                  </a:lnTo>
                  <a:lnTo>
                    <a:pt x="59436" y="0"/>
                  </a:lnTo>
                  <a:lnTo>
                    <a:pt x="82546" y="4536"/>
                  </a:lnTo>
                  <a:lnTo>
                    <a:pt x="101441" y="16859"/>
                  </a:lnTo>
                  <a:lnTo>
                    <a:pt x="114192" y="35040"/>
                  </a:lnTo>
                  <a:lnTo>
                    <a:pt x="118872" y="57149"/>
                  </a:lnTo>
                  <a:lnTo>
                    <a:pt x="114192" y="79140"/>
                  </a:lnTo>
                  <a:lnTo>
                    <a:pt x="101441" y="97059"/>
                  </a:lnTo>
                  <a:lnTo>
                    <a:pt x="82546" y="109120"/>
                  </a:lnTo>
                  <a:lnTo>
                    <a:pt x="59436" y="113538"/>
                  </a:lnTo>
                  <a:lnTo>
                    <a:pt x="36325" y="109120"/>
                  </a:lnTo>
                  <a:lnTo>
                    <a:pt x="17430" y="97059"/>
                  </a:lnTo>
                  <a:lnTo>
                    <a:pt x="4679" y="79140"/>
                  </a:lnTo>
                  <a:lnTo>
                    <a:pt x="0" y="571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30036" y="5416200"/>
              <a:ext cx="120475" cy="11466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47775" y="5619666"/>
              <a:ext cx="120784" cy="114653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4265580" y="4954428"/>
            <a:ext cx="401955" cy="318770"/>
            <a:chOff x="4265580" y="4954428"/>
            <a:chExt cx="401955" cy="318770"/>
          </a:xfrm>
        </p:grpSpPr>
        <p:sp>
          <p:nvSpPr>
            <p:cNvPr id="43" name="object 43"/>
            <p:cNvSpPr/>
            <p:nvPr/>
          </p:nvSpPr>
          <p:spPr>
            <a:xfrm>
              <a:off x="4266691" y="4955539"/>
              <a:ext cx="399415" cy="316230"/>
            </a:xfrm>
            <a:custGeom>
              <a:avLst/>
              <a:gdLst/>
              <a:ahLst/>
              <a:cxnLst/>
              <a:rect l="l" t="t" r="r" b="b"/>
              <a:pathLst>
                <a:path w="399414" h="316229">
                  <a:moveTo>
                    <a:pt x="399288" y="158495"/>
                  </a:moveTo>
                  <a:lnTo>
                    <a:pt x="233172" y="0"/>
                  </a:lnTo>
                  <a:lnTo>
                    <a:pt x="233172" y="104393"/>
                  </a:lnTo>
                  <a:lnTo>
                    <a:pt x="0" y="104393"/>
                  </a:lnTo>
                  <a:lnTo>
                    <a:pt x="0" y="211835"/>
                  </a:lnTo>
                  <a:lnTo>
                    <a:pt x="233172" y="211835"/>
                  </a:lnTo>
                  <a:lnTo>
                    <a:pt x="233172" y="316229"/>
                  </a:lnTo>
                  <a:lnTo>
                    <a:pt x="399288" y="158495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4266691" y="4955539"/>
              <a:ext cx="399415" cy="316230"/>
            </a:xfrm>
            <a:custGeom>
              <a:avLst/>
              <a:gdLst/>
              <a:ahLst/>
              <a:cxnLst/>
              <a:rect l="l" t="t" r="r" b="b"/>
              <a:pathLst>
                <a:path w="399414" h="316229">
                  <a:moveTo>
                    <a:pt x="399288" y="158495"/>
                  </a:moveTo>
                  <a:lnTo>
                    <a:pt x="233172" y="0"/>
                  </a:lnTo>
                  <a:lnTo>
                    <a:pt x="233172" y="104393"/>
                  </a:lnTo>
                  <a:lnTo>
                    <a:pt x="0" y="104393"/>
                  </a:lnTo>
                  <a:lnTo>
                    <a:pt x="0" y="211835"/>
                  </a:lnTo>
                  <a:lnTo>
                    <a:pt x="233172" y="211835"/>
                  </a:lnTo>
                  <a:lnTo>
                    <a:pt x="233172" y="316229"/>
                  </a:lnTo>
                  <a:lnTo>
                    <a:pt x="399288" y="15849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47801" y="1076452"/>
            <a:ext cx="7753350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Định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lý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Euler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Giả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sử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(V,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E)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phẳng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liên</a:t>
            </a:r>
            <a:r>
              <a:rPr kumimoji="0" sz="2400" b="0" i="0" u="heavy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thông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đỉnh.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Gọi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mặt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thị.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đó: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2.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5475" y="2882899"/>
            <a:ext cx="4029074" cy="30099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3995" y="3668774"/>
            <a:ext cx="3299460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04925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cạnh: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e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đỉnh: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v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ts val="2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Số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mặt: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f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35096" y="1076452"/>
            <a:ext cx="7764780" cy="1997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Định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lý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Euler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683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Chứng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minh: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Bằng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PP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Quy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nạp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67665" marR="17780" lvl="0" indent="-342900" defTabSz="914400" eaLnBrk="1" fontAlgn="auto" latinLnBrk="0" hangingPunct="1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Gọi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lần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lượt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mặt,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cạnh,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phẳng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do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biểu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diễn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phẳng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sinh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ra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68300" marR="0" lvl="0" indent="0" defTabSz="914400" eaLnBrk="1" fontAlgn="auto" latinLnBrk="0" hangingPunct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Trường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hợp: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=1,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=2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thì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3875" y="3340099"/>
            <a:ext cx="3324224" cy="7147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3403" y="4581650"/>
            <a:ext cx="7898130" cy="148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Giả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sử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7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(n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cạnh)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thỏa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đẳng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thức: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7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7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80365" marR="30480" lvl="0" indent="0" defTabSz="914400" eaLnBrk="1" fontAlgn="auto" latinLnBrk="0" hangingPunct="1">
              <a:lnSpc>
                <a:spcPts val="287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Thêm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vào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7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(a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)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để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1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.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Ta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phải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chứng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minh: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=e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-3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80365" marR="0" lvl="0" indent="0" defTabSz="914400" eaLnBrk="1" fontAlgn="auto" latinLnBrk="0" hangingPunct="1">
              <a:lnSpc>
                <a:spcPts val="27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Xảy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ra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trường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hợp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09701" y="1076452"/>
            <a:ext cx="4222750" cy="33134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930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Định</a:t>
            </a:r>
            <a:r>
              <a:rPr kumimoji="0" sz="2400" b="1" i="0" u="heavy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lý</a:t>
            </a:r>
            <a:r>
              <a:rPr kumimoji="0" sz="2400" b="1" i="0" u="heavy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Euler</a:t>
            </a:r>
            <a:r>
              <a:rPr kumimoji="0" sz="2400" b="1" i="0" u="heavy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(Chứng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minh)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47700" marR="30480" lvl="0" indent="-254635" defTabSz="914400" eaLnBrk="1" fontAlgn="auto" latinLnBrk="0" hangingPunct="1">
              <a:lnSpc>
                <a:spcPts val="287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Cả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27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thuộc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n: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-4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+1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22300" marR="0" lvl="0" indent="0" defTabSz="914400" eaLnBrk="1" fontAlgn="auto" latinLnBrk="0" hangingPunct="1">
              <a:lnSpc>
                <a:spcPts val="27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22300" marR="0" lvl="0" indent="0" defTabSz="91440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15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3600" b="0" i="0" u="none" strike="noStrike" kern="0" cap="none" spc="-15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=v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93700" marR="1069340" lvl="0" indent="-34353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==&gt;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-1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-22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92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 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850900" marR="0" lvl="0" indent="0" defTabSz="914400" eaLnBrk="1" fontAlgn="auto" latinLnBrk="0" hangingPunct="1">
              <a:lnSpc>
                <a:spcPts val="28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92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7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142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6425" y="2197099"/>
            <a:ext cx="4410075" cy="33619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09701" y="1076452"/>
            <a:ext cx="4133850" cy="4409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930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Định</a:t>
            </a:r>
            <a:r>
              <a:rPr kumimoji="0" sz="2400" b="1" i="0" u="heavy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lý</a:t>
            </a:r>
            <a:r>
              <a:rPr kumimoji="0" sz="2400" b="1" i="0" u="heavy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Euler</a:t>
            </a:r>
            <a:r>
              <a:rPr kumimoji="0" sz="2400" b="1" i="0" u="heavy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(Chứng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minh)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937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Cả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thuộc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93700" marR="0" lvl="0" indent="0" defTabSz="914400" eaLnBrk="1" fontAlgn="auto" latinLnBrk="0" hangingPunct="1">
              <a:lnSpc>
                <a:spcPts val="2875"/>
              </a:lnSpc>
              <a:spcBef>
                <a:spcPts val="5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37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n: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22300" marR="2242820" lvl="0" indent="25400" defTabSz="914400" eaLnBrk="1" fontAlgn="auto" latinLnBrk="0" hangingPunct="1">
              <a:lnSpc>
                <a:spcPct val="79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3600" b="0" i="0" u="none" strike="noStrike" kern="0" cap="none" spc="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3600" b="0" i="0" u="none" strike="noStrike" kern="0" cap="none" spc="-44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600" b="0" i="0" u="none" strike="noStrike" kern="0" cap="none" spc="-37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223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112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0" lvl="0" indent="0" defTabSz="914400" eaLnBrk="1" fontAlgn="auto" latinLnBrk="0" hangingPunct="1">
              <a:lnSpc>
                <a:spcPts val="2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833119" algn="l"/>
              </a:tabLst>
              <a:defRPr/>
            </a:pPr>
            <a:r>
              <a:rPr kumimoji="0" sz="3600" b="0" i="0" u="none" strike="noStrike" kern="0" cap="none" spc="-75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Wingdings"/>
                <a:cs typeface="Wingdings"/>
              </a:rPr>
              <a:t></a:t>
            </a:r>
            <a:r>
              <a:rPr kumimoji="0" sz="3600" b="0" i="0" u="none" strike="noStrike" kern="0" cap="none" spc="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f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600" b="0" i="0" u="none" strike="noStrike" kern="0" cap="none" spc="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3600" b="0" i="0" u="none" strike="noStrike" kern="0" cap="none" spc="-22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600" b="0" i="0" u="none" strike="noStrike" kern="0" cap="none" spc="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1600" b="0" i="0" u="none" strike="noStrike" kern="0" cap="none" spc="1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600" b="0" i="0" u="none" strike="noStrike" kern="0" cap="none" spc="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sz="3600" b="0" i="0" u="none" strike="noStrike" kern="0" cap="none" spc="-3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600" b="0" i="0" u="none" strike="noStrike" kern="0" cap="none" spc="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n+1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600" b="0" i="0" u="none" strike="noStrike" kern="0" cap="none" spc="0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3600" b="0" i="0" u="none" strike="noStrike" kern="0" cap="none" spc="-15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600" b="0" i="0" u="none" strike="noStrike" kern="0" cap="none" spc="-75" normalizeH="0" baseline="13888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3600" b="0" i="0" u="none" strike="noStrike" kern="0" cap="none" spc="0" normalizeH="0" baseline="13888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774700" marR="0" lvl="0" indent="0" defTabSz="914400" eaLnBrk="1" fontAlgn="auto" latinLnBrk="0" hangingPunct="1">
              <a:lnSpc>
                <a:spcPts val="2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92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 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774700" marR="0" lvl="0" indent="0" defTabSz="914400" eaLnBrk="1" fontAlgn="auto" latinLnBrk="0" hangingPunct="1">
              <a:lnSpc>
                <a:spcPts val="2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f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292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e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7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v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142" normalizeH="0" baseline="-20833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+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9306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Wingdings"/>
                <a:cs typeface="Wingdings"/>
              </a:rPr>
              <a:t>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ĐPCM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1225" y="1968499"/>
            <a:ext cx="4181474" cy="33146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47801" y="1076452"/>
            <a:ext cx="7768590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Định</a:t>
            </a:r>
            <a:r>
              <a:rPr kumimoji="0" sz="2400" b="1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lý</a:t>
            </a:r>
            <a:r>
              <a:rPr kumimoji="0" sz="2400" b="1" i="0" u="heavy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1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Kuratowski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5600" marR="5080" lvl="0" indent="-635" defTabSz="914400" eaLnBrk="1" fontAlgn="auto" latinLnBrk="0" hangingPunct="1">
              <a:lnSpc>
                <a:spcPts val="287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Phép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chia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(u,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v)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việc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ta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bỏ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đi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(u,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v)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thêm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vào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mới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cùng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(u,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w),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(w,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v).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306" y="4980178"/>
            <a:ext cx="7849870" cy="975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ts val="2590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549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Định</a:t>
            </a:r>
            <a:r>
              <a:rPr kumimoji="0" sz="2400" b="0" i="0" u="heavy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nghĩa</a:t>
            </a:r>
            <a:r>
              <a:rPr kumimoji="0" sz="2400" b="0" i="0" u="heavy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đồng</a:t>
            </a:r>
            <a:r>
              <a:rPr kumimoji="0" sz="2400" b="0" i="0" u="heavy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cấu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54965" marR="5080" lvl="0" indent="0" defTabSz="914400" eaLnBrk="1" fontAlgn="auto" latinLnBrk="0" hangingPunct="1">
              <a:lnSpc>
                <a:spcPct val="798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Hai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gọi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cấu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nếu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chúng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thể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thu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được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từ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cùng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nào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đó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nhờ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các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phép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chia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6550" y="2578100"/>
            <a:ext cx="6153150" cy="1981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5101" y="1076452"/>
            <a:ext cx="8081009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marR="0" lvl="0" indent="-342265" defTabSz="914400" eaLnBrk="1" fontAlgn="auto" latinLnBrk="0" hangingPunct="1">
              <a:lnSpc>
                <a:spcPts val="2875"/>
              </a:lnSpc>
              <a:spcBef>
                <a:spcPts val="10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Định</a:t>
            </a:r>
            <a:r>
              <a:rPr kumimoji="0" sz="2400" b="0" i="0" u="heavy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lý</a:t>
            </a:r>
            <a:r>
              <a:rPr kumimoji="0" sz="2400" b="0" i="0" u="heavy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Kuratovski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68300" marR="17780" lvl="0" indent="0" defTabSz="914400" eaLnBrk="1" fontAlgn="auto" latinLnBrk="0" hangingPunct="1">
              <a:lnSpc>
                <a:spcPts val="287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958840" algn="l"/>
              </a:tabLst>
              <a:defRPr/>
            </a:pP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Điều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kiện</a:t>
            </a:r>
            <a:r>
              <a:rPr kumimoji="0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cần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đủ</a:t>
            </a:r>
            <a:r>
              <a:rPr kumimoji="0" sz="2400" b="0" i="1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để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1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phẳng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là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1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này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không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chứa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bất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kỳ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</a:t>
            </a:r>
            <a:r>
              <a:rPr kumimoji="0" sz="2400" b="0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nào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đồng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cấu</a:t>
            </a:r>
            <a:r>
              <a:rPr kumimoji="0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K</a:t>
            </a:r>
            <a:r>
              <a:rPr kumimoji="0" sz="2400" b="0" i="1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3,3</a:t>
            </a:r>
            <a:r>
              <a:rPr kumimoji="0" sz="2400" b="0" i="1" u="none" strike="noStrike" kern="0" cap="none" spc="262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</a:t>
            </a:r>
            <a:r>
              <a:rPr kumimoji="0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</a:t>
            </a:r>
            <a:r>
              <a:rPr kumimoji="0" sz="2400" b="0" i="1" u="none" strike="noStrike" kern="0" cap="none" spc="-3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5</a:t>
            </a:r>
            <a:endParaRPr kumimoji="0" sz="2400" b="0" i="0" u="none" strike="noStrike" kern="0" cap="none" spc="0" normalizeH="0" baseline="-20833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439737" y="1125537"/>
            <a:ext cx="7629525" cy="5267325"/>
            <a:chOff x="439737" y="1125537"/>
            <a:chExt cx="7629525" cy="5267325"/>
          </a:xfrm>
        </p:grpSpPr>
        <p:sp>
          <p:nvSpPr>
            <p:cNvPr id="4" name="object 4"/>
            <p:cNvSpPr/>
            <p:nvPr/>
          </p:nvSpPr>
          <p:spPr>
            <a:xfrm>
              <a:off x="2078227" y="1587500"/>
              <a:ext cx="2721610" cy="4573905"/>
            </a:xfrm>
            <a:custGeom>
              <a:avLst/>
              <a:gdLst/>
              <a:ahLst/>
              <a:cxnLst/>
              <a:rect l="l" t="t" r="r" b="b"/>
              <a:pathLst>
                <a:path w="2721610" h="4573905">
                  <a:moveTo>
                    <a:pt x="542544" y="4573524"/>
                  </a:moveTo>
                  <a:lnTo>
                    <a:pt x="0" y="4573524"/>
                  </a:lnTo>
                  <a:lnTo>
                    <a:pt x="0" y="0"/>
                  </a:lnTo>
                </a:path>
                <a:path w="2721610" h="4573905">
                  <a:moveTo>
                    <a:pt x="2721102" y="3887724"/>
                  </a:moveTo>
                  <a:lnTo>
                    <a:pt x="2176272" y="3887724"/>
                  </a:lnTo>
                  <a:lnTo>
                    <a:pt x="2176272" y="3430524"/>
                  </a:lnTo>
                </a:path>
                <a:path w="2721610" h="4573905">
                  <a:moveTo>
                    <a:pt x="542544" y="3201924"/>
                  </a:moveTo>
                  <a:lnTo>
                    <a:pt x="0" y="3201924"/>
                  </a:lnTo>
                  <a:lnTo>
                    <a:pt x="0" y="0"/>
                  </a:lnTo>
                </a:path>
                <a:path w="2721610" h="4573905">
                  <a:moveTo>
                    <a:pt x="2721102" y="1830324"/>
                  </a:moveTo>
                  <a:lnTo>
                    <a:pt x="2176272" y="1830324"/>
                  </a:lnTo>
                  <a:lnTo>
                    <a:pt x="2176272" y="1373124"/>
                  </a:lnTo>
                </a:path>
                <a:path w="2721610" h="4573905">
                  <a:moveTo>
                    <a:pt x="542544" y="2516124"/>
                  </a:moveTo>
                  <a:lnTo>
                    <a:pt x="0" y="2516124"/>
                  </a:lnTo>
                  <a:lnTo>
                    <a:pt x="0" y="0"/>
                  </a:lnTo>
                </a:path>
                <a:path w="2721610" h="4573905">
                  <a:moveTo>
                    <a:pt x="542544" y="1146048"/>
                  </a:moveTo>
                  <a:lnTo>
                    <a:pt x="0" y="1146048"/>
                  </a:lnTo>
                  <a:lnTo>
                    <a:pt x="0" y="0"/>
                  </a:lnTo>
                </a:path>
                <a:path w="2721610" h="4573905">
                  <a:moveTo>
                    <a:pt x="542544" y="460248"/>
                  </a:moveTo>
                  <a:lnTo>
                    <a:pt x="0" y="460248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44500" y="1130300"/>
              <a:ext cx="3265170" cy="457200"/>
            </a:xfrm>
            <a:custGeom>
              <a:avLst/>
              <a:gdLst/>
              <a:ahLst/>
              <a:cxnLst/>
              <a:rect l="l" t="t" r="r" b="b"/>
              <a:pathLst>
                <a:path w="3265170" h="457200">
                  <a:moveTo>
                    <a:pt x="3265170" y="380999"/>
                  </a:moveTo>
                  <a:lnTo>
                    <a:pt x="3265170" y="76199"/>
                  </a:lnTo>
                  <a:lnTo>
                    <a:pt x="3259264" y="46612"/>
                  </a:lnTo>
                  <a:lnTo>
                    <a:pt x="3243072" y="22383"/>
                  </a:lnTo>
                  <a:lnTo>
                    <a:pt x="3218878" y="6012"/>
                  </a:lnTo>
                  <a:lnTo>
                    <a:pt x="3188970" y="0"/>
                  </a:lnTo>
                  <a:lnTo>
                    <a:pt x="76200" y="0"/>
                  </a:ln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012" y="410587"/>
                  </a:lnTo>
                  <a:lnTo>
                    <a:pt x="22383" y="434816"/>
                  </a:lnTo>
                  <a:lnTo>
                    <a:pt x="46612" y="451187"/>
                  </a:lnTo>
                  <a:lnTo>
                    <a:pt x="76200" y="457200"/>
                  </a:lnTo>
                  <a:lnTo>
                    <a:pt x="3188970" y="457199"/>
                  </a:lnTo>
                  <a:lnTo>
                    <a:pt x="3218878" y="451187"/>
                  </a:lnTo>
                  <a:lnTo>
                    <a:pt x="3243072" y="434816"/>
                  </a:lnTo>
                  <a:lnTo>
                    <a:pt x="3259264" y="410587"/>
                  </a:lnTo>
                  <a:lnTo>
                    <a:pt x="3265170" y="3809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4500" y="1130300"/>
              <a:ext cx="3265170" cy="457200"/>
            </a:xfrm>
            <a:custGeom>
              <a:avLst/>
              <a:gdLst/>
              <a:ahLst/>
              <a:cxnLst/>
              <a:rect l="l" t="t" r="r" b="b"/>
              <a:pathLst>
                <a:path w="3265170" h="457200">
                  <a:moveTo>
                    <a:pt x="76200" y="0"/>
                  </a:move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012" y="410587"/>
                  </a:lnTo>
                  <a:lnTo>
                    <a:pt x="22383" y="434816"/>
                  </a:lnTo>
                  <a:lnTo>
                    <a:pt x="46612" y="451187"/>
                  </a:lnTo>
                  <a:lnTo>
                    <a:pt x="76200" y="457200"/>
                  </a:lnTo>
                  <a:lnTo>
                    <a:pt x="3188970" y="457199"/>
                  </a:lnTo>
                  <a:lnTo>
                    <a:pt x="3218878" y="451187"/>
                  </a:lnTo>
                  <a:lnTo>
                    <a:pt x="3243072" y="434816"/>
                  </a:lnTo>
                  <a:lnTo>
                    <a:pt x="3259264" y="410587"/>
                  </a:lnTo>
                  <a:lnTo>
                    <a:pt x="3265170" y="380999"/>
                  </a:lnTo>
                  <a:lnTo>
                    <a:pt x="3265170" y="76199"/>
                  </a:lnTo>
                  <a:lnTo>
                    <a:pt x="3259264" y="46612"/>
                  </a:lnTo>
                  <a:lnTo>
                    <a:pt x="3243072" y="22383"/>
                  </a:lnTo>
                  <a:lnTo>
                    <a:pt x="3218878" y="6012"/>
                  </a:lnTo>
                  <a:lnTo>
                    <a:pt x="3188970" y="0"/>
                  </a:lnTo>
                  <a:lnTo>
                    <a:pt x="76200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620772" y="1816100"/>
              <a:ext cx="3267710" cy="459105"/>
            </a:xfrm>
            <a:custGeom>
              <a:avLst/>
              <a:gdLst/>
              <a:ahLst/>
              <a:cxnLst/>
              <a:rect l="l" t="t" r="r" b="b"/>
              <a:pathLst>
                <a:path w="3267710" h="459105">
                  <a:moveTo>
                    <a:pt x="3267455" y="382523"/>
                  </a:moveTo>
                  <a:lnTo>
                    <a:pt x="3267455" y="76199"/>
                  </a:lnTo>
                  <a:lnTo>
                    <a:pt x="3261431" y="46612"/>
                  </a:lnTo>
                  <a:lnTo>
                    <a:pt x="3244977" y="22383"/>
                  </a:lnTo>
                  <a:lnTo>
                    <a:pt x="3220521" y="6012"/>
                  </a:lnTo>
                  <a:lnTo>
                    <a:pt x="3190494" y="0"/>
                  </a:lnTo>
                  <a:lnTo>
                    <a:pt x="76962" y="0"/>
                  </a:lnTo>
                  <a:lnTo>
                    <a:pt x="46934" y="6012"/>
                  </a:lnTo>
                  <a:lnTo>
                    <a:pt x="22479" y="22383"/>
                  </a:lnTo>
                  <a:lnTo>
                    <a:pt x="6024" y="46612"/>
                  </a:lnTo>
                  <a:lnTo>
                    <a:pt x="0" y="76200"/>
                  </a:lnTo>
                  <a:lnTo>
                    <a:pt x="0" y="382524"/>
                  </a:lnTo>
                  <a:lnTo>
                    <a:pt x="6024" y="412111"/>
                  </a:lnTo>
                  <a:lnTo>
                    <a:pt x="22479" y="436340"/>
                  </a:lnTo>
                  <a:lnTo>
                    <a:pt x="46934" y="452711"/>
                  </a:lnTo>
                  <a:lnTo>
                    <a:pt x="76962" y="458723"/>
                  </a:lnTo>
                  <a:lnTo>
                    <a:pt x="3190494" y="458723"/>
                  </a:lnTo>
                  <a:lnTo>
                    <a:pt x="3220521" y="452711"/>
                  </a:lnTo>
                  <a:lnTo>
                    <a:pt x="3244977" y="436340"/>
                  </a:lnTo>
                  <a:lnTo>
                    <a:pt x="3261431" y="412111"/>
                  </a:lnTo>
                  <a:lnTo>
                    <a:pt x="3267455" y="382523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20772" y="1816100"/>
              <a:ext cx="3267710" cy="459105"/>
            </a:xfrm>
            <a:custGeom>
              <a:avLst/>
              <a:gdLst/>
              <a:ahLst/>
              <a:cxnLst/>
              <a:rect l="l" t="t" r="r" b="b"/>
              <a:pathLst>
                <a:path w="3267710" h="459105">
                  <a:moveTo>
                    <a:pt x="76962" y="0"/>
                  </a:moveTo>
                  <a:lnTo>
                    <a:pt x="46934" y="6012"/>
                  </a:lnTo>
                  <a:lnTo>
                    <a:pt x="22479" y="22383"/>
                  </a:lnTo>
                  <a:lnTo>
                    <a:pt x="6024" y="46612"/>
                  </a:lnTo>
                  <a:lnTo>
                    <a:pt x="0" y="76200"/>
                  </a:lnTo>
                  <a:lnTo>
                    <a:pt x="0" y="382524"/>
                  </a:lnTo>
                  <a:lnTo>
                    <a:pt x="6024" y="412111"/>
                  </a:lnTo>
                  <a:lnTo>
                    <a:pt x="22479" y="436340"/>
                  </a:lnTo>
                  <a:lnTo>
                    <a:pt x="46934" y="452711"/>
                  </a:lnTo>
                  <a:lnTo>
                    <a:pt x="76962" y="458723"/>
                  </a:lnTo>
                  <a:lnTo>
                    <a:pt x="3190494" y="458723"/>
                  </a:lnTo>
                  <a:lnTo>
                    <a:pt x="3220521" y="452711"/>
                  </a:lnTo>
                  <a:lnTo>
                    <a:pt x="3244977" y="436340"/>
                  </a:lnTo>
                  <a:lnTo>
                    <a:pt x="3261431" y="412111"/>
                  </a:lnTo>
                  <a:lnTo>
                    <a:pt x="3267455" y="382523"/>
                  </a:lnTo>
                  <a:lnTo>
                    <a:pt x="3267455" y="76199"/>
                  </a:lnTo>
                  <a:lnTo>
                    <a:pt x="3261431" y="46612"/>
                  </a:lnTo>
                  <a:lnTo>
                    <a:pt x="3244977" y="22383"/>
                  </a:lnTo>
                  <a:lnTo>
                    <a:pt x="3220521" y="6012"/>
                  </a:lnTo>
                  <a:lnTo>
                    <a:pt x="3190494" y="0"/>
                  </a:lnTo>
                  <a:lnTo>
                    <a:pt x="76962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620772" y="2503424"/>
              <a:ext cx="3267710" cy="457200"/>
            </a:xfrm>
            <a:custGeom>
              <a:avLst/>
              <a:gdLst/>
              <a:ahLst/>
              <a:cxnLst/>
              <a:rect l="l" t="t" r="r" b="b"/>
              <a:pathLst>
                <a:path w="3267710" h="457200">
                  <a:moveTo>
                    <a:pt x="3267455" y="380999"/>
                  </a:moveTo>
                  <a:lnTo>
                    <a:pt x="3267455" y="76199"/>
                  </a:lnTo>
                  <a:lnTo>
                    <a:pt x="3261443" y="46612"/>
                  </a:lnTo>
                  <a:lnTo>
                    <a:pt x="3245072" y="22383"/>
                  </a:lnTo>
                  <a:lnTo>
                    <a:pt x="3220843" y="6012"/>
                  </a:lnTo>
                  <a:lnTo>
                    <a:pt x="3191256" y="0"/>
                  </a:lnTo>
                  <a:lnTo>
                    <a:pt x="76200" y="0"/>
                  </a:ln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012" y="410587"/>
                  </a:lnTo>
                  <a:lnTo>
                    <a:pt x="22383" y="434816"/>
                  </a:lnTo>
                  <a:lnTo>
                    <a:pt x="46612" y="451187"/>
                  </a:lnTo>
                  <a:lnTo>
                    <a:pt x="76200" y="457200"/>
                  </a:lnTo>
                  <a:lnTo>
                    <a:pt x="3191256" y="457199"/>
                  </a:lnTo>
                  <a:lnTo>
                    <a:pt x="3220843" y="451187"/>
                  </a:lnTo>
                  <a:lnTo>
                    <a:pt x="3245072" y="434816"/>
                  </a:lnTo>
                  <a:lnTo>
                    <a:pt x="3261443" y="410587"/>
                  </a:lnTo>
                  <a:lnTo>
                    <a:pt x="3267455" y="3809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620772" y="2503424"/>
              <a:ext cx="3267710" cy="457200"/>
            </a:xfrm>
            <a:custGeom>
              <a:avLst/>
              <a:gdLst/>
              <a:ahLst/>
              <a:cxnLst/>
              <a:rect l="l" t="t" r="r" b="b"/>
              <a:pathLst>
                <a:path w="3267710" h="457200">
                  <a:moveTo>
                    <a:pt x="76200" y="0"/>
                  </a:move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012" y="410587"/>
                  </a:lnTo>
                  <a:lnTo>
                    <a:pt x="22383" y="434816"/>
                  </a:lnTo>
                  <a:lnTo>
                    <a:pt x="46612" y="451187"/>
                  </a:lnTo>
                  <a:lnTo>
                    <a:pt x="76200" y="457200"/>
                  </a:lnTo>
                  <a:lnTo>
                    <a:pt x="3191256" y="457199"/>
                  </a:lnTo>
                  <a:lnTo>
                    <a:pt x="3220843" y="451187"/>
                  </a:lnTo>
                  <a:lnTo>
                    <a:pt x="3245072" y="434816"/>
                  </a:lnTo>
                  <a:lnTo>
                    <a:pt x="3261443" y="410587"/>
                  </a:lnTo>
                  <a:lnTo>
                    <a:pt x="3267455" y="380999"/>
                  </a:lnTo>
                  <a:lnTo>
                    <a:pt x="3267455" y="76199"/>
                  </a:lnTo>
                  <a:lnTo>
                    <a:pt x="3261443" y="46612"/>
                  </a:lnTo>
                  <a:lnTo>
                    <a:pt x="3245072" y="22383"/>
                  </a:lnTo>
                  <a:lnTo>
                    <a:pt x="3220843" y="6012"/>
                  </a:lnTo>
                  <a:lnTo>
                    <a:pt x="3191256" y="0"/>
                  </a:lnTo>
                  <a:lnTo>
                    <a:pt x="76200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620772" y="3875023"/>
              <a:ext cx="3267710" cy="457200"/>
            </a:xfrm>
            <a:custGeom>
              <a:avLst/>
              <a:gdLst/>
              <a:ahLst/>
              <a:cxnLst/>
              <a:rect l="l" t="t" r="r" b="b"/>
              <a:pathLst>
                <a:path w="3267710" h="457200">
                  <a:moveTo>
                    <a:pt x="3267455" y="380999"/>
                  </a:moveTo>
                  <a:lnTo>
                    <a:pt x="3267455" y="76199"/>
                  </a:lnTo>
                  <a:lnTo>
                    <a:pt x="3261443" y="46612"/>
                  </a:lnTo>
                  <a:lnTo>
                    <a:pt x="3245072" y="22383"/>
                  </a:lnTo>
                  <a:lnTo>
                    <a:pt x="3220843" y="6012"/>
                  </a:lnTo>
                  <a:lnTo>
                    <a:pt x="3191256" y="0"/>
                  </a:lnTo>
                  <a:lnTo>
                    <a:pt x="76200" y="0"/>
                  </a:ln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012" y="410587"/>
                  </a:lnTo>
                  <a:lnTo>
                    <a:pt x="22383" y="434816"/>
                  </a:lnTo>
                  <a:lnTo>
                    <a:pt x="46612" y="451187"/>
                  </a:lnTo>
                  <a:lnTo>
                    <a:pt x="76200" y="457200"/>
                  </a:lnTo>
                  <a:lnTo>
                    <a:pt x="3191256" y="457199"/>
                  </a:lnTo>
                  <a:lnTo>
                    <a:pt x="3220843" y="451187"/>
                  </a:lnTo>
                  <a:lnTo>
                    <a:pt x="3245072" y="434816"/>
                  </a:lnTo>
                  <a:lnTo>
                    <a:pt x="3261443" y="410587"/>
                  </a:lnTo>
                  <a:lnTo>
                    <a:pt x="3267455" y="3809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20772" y="3875023"/>
              <a:ext cx="3267710" cy="457200"/>
            </a:xfrm>
            <a:custGeom>
              <a:avLst/>
              <a:gdLst/>
              <a:ahLst/>
              <a:cxnLst/>
              <a:rect l="l" t="t" r="r" b="b"/>
              <a:pathLst>
                <a:path w="3267710" h="457200">
                  <a:moveTo>
                    <a:pt x="76200" y="0"/>
                  </a:move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012" y="410587"/>
                  </a:lnTo>
                  <a:lnTo>
                    <a:pt x="22383" y="434816"/>
                  </a:lnTo>
                  <a:lnTo>
                    <a:pt x="46612" y="451187"/>
                  </a:lnTo>
                  <a:lnTo>
                    <a:pt x="76200" y="457200"/>
                  </a:lnTo>
                  <a:lnTo>
                    <a:pt x="3191256" y="457199"/>
                  </a:lnTo>
                  <a:lnTo>
                    <a:pt x="3220843" y="451187"/>
                  </a:lnTo>
                  <a:lnTo>
                    <a:pt x="3245072" y="434816"/>
                  </a:lnTo>
                  <a:lnTo>
                    <a:pt x="3261443" y="410587"/>
                  </a:lnTo>
                  <a:lnTo>
                    <a:pt x="3267455" y="380999"/>
                  </a:lnTo>
                  <a:lnTo>
                    <a:pt x="3267455" y="76199"/>
                  </a:lnTo>
                  <a:lnTo>
                    <a:pt x="3261443" y="46612"/>
                  </a:lnTo>
                  <a:lnTo>
                    <a:pt x="3245072" y="22383"/>
                  </a:lnTo>
                  <a:lnTo>
                    <a:pt x="3220843" y="6012"/>
                  </a:lnTo>
                  <a:lnTo>
                    <a:pt x="3191256" y="0"/>
                  </a:lnTo>
                  <a:lnTo>
                    <a:pt x="76200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799329" y="3189223"/>
              <a:ext cx="3265170" cy="455930"/>
            </a:xfrm>
            <a:custGeom>
              <a:avLst/>
              <a:gdLst/>
              <a:ahLst/>
              <a:cxnLst/>
              <a:rect l="l" t="t" r="r" b="b"/>
              <a:pathLst>
                <a:path w="3265170" h="455929">
                  <a:moveTo>
                    <a:pt x="3265170" y="379475"/>
                  </a:moveTo>
                  <a:lnTo>
                    <a:pt x="3265170" y="76199"/>
                  </a:lnTo>
                  <a:lnTo>
                    <a:pt x="3259157" y="46612"/>
                  </a:lnTo>
                  <a:lnTo>
                    <a:pt x="3242786" y="22383"/>
                  </a:lnTo>
                  <a:lnTo>
                    <a:pt x="3218557" y="6012"/>
                  </a:lnTo>
                  <a:lnTo>
                    <a:pt x="3188970" y="0"/>
                  </a:lnTo>
                  <a:lnTo>
                    <a:pt x="75437" y="0"/>
                  </a:lnTo>
                  <a:lnTo>
                    <a:pt x="45970" y="6012"/>
                  </a:lnTo>
                  <a:lnTo>
                    <a:pt x="22002" y="22383"/>
                  </a:lnTo>
                  <a:lnTo>
                    <a:pt x="5893" y="46612"/>
                  </a:lnTo>
                  <a:lnTo>
                    <a:pt x="0" y="76200"/>
                  </a:lnTo>
                  <a:lnTo>
                    <a:pt x="0" y="379476"/>
                  </a:lnTo>
                  <a:lnTo>
                    <a:pt x="5893" y="409063"/>
                  </a:lnTo>
                  <a:lnTo>
                    <a:pt x="22002" y="433292"/>
                  </a:lnTo>
                  <a:lnTo>
                    <a:pt x="45970" y="449663"/>
                  </a:lnTo>
                  <a:lnTo>
                    <a:pt x="75438" y="455676"/>
                  </a:lnTo>
                  <a:lnTo>
                    <a:pt x="3188970" y="455675"/>
                  </a:lnTo>
                  <a:lnTo>
                    <a:pt x="3218557" y="449663"/>
                  </a:lnTo>
                  <a:lnTo>
                    <a:pt x="3242786" y="433292"/>
                  </a:lnTo>
                  <a:lnTo>
                    <a:pt x="3259157" y="409063"/>
                  </a:lnTo>
                  <a:lnTo>
                    <a:pt x="3265170" y="379475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799329" y="3189223"/>
              <a:ext cx="3265170" cy="455930"/>
            </a:xfrm>
            <a:custGeom>
              <a:avLst/>
              <a:gdLst/>
              <a:ahLst/>
              <a:cxnLst/>
              <a:rect l="l" t="t" r="r" b="b"/>
              <a:pathLst>
                <a:path w="3265170" h="455929">
                  <a:moveTo>
                    <a:pt x="75437" y="0"/>
                  </a:moveTo>
                  <a:lnTo>
                    <a:pt x="45970" y="6012"/>
                  </a:lnTo>
                  <a:lnTo>
                    <a:pt x="22002" y="22383"/>
                  </a:lnTo>
                  <a:lnTo>
                    <a:pt x="5893" y="46612"/>
                  </a:lnTo>
                  <a:lnTo>
                    <a:pt x="0" y="76200"/>
                  </a:lnTo>
                  <a:lnTo>
                    <a:pt x="0" y="379476"/>
                  </a:lnTo>
                  <a:lnTo>
                    <a:pt x="5893" y="409063"/>
                  </a:lnTo>
                  <a:lnTo>
                    <a:pt x="22002" y="433292"/>
                  </a:lnTo>
                  <a:lnTo>
                    <a:pt x="45970" y="449663"/>
                  </a:lnTo>
                  <a:lnTo>
                    <a:pt x="75438" y="455676"/>
                  </a:lnTo>
                  <a:lnTo>
                    <a:pt x="3188970" y="455675"/>
                  </a:lnTo>
                  <a:lnTo>
                    <a:pt x="3218557" y="449663"/>
                  </a:lnTo>
                  <a:lnTo>
                    <a:pt x="3242786" y="433292"/>
                  </a:lnTo>
                  <a:lnTo>
                    <a:pt x="3259157" y="409063"/>
                  </a:lnTo>
                  <a:lnTo>
                    <a:pt x="3265170" y="379475"/>
                  </a:lnTo>
                  <a:lnTo>
                    <a:pt x="3265170" y="76199"/>
                  </a:lnTo>
                  <a:lnTo>
                    <a:pt x="3259157" y="46612"/>
                  </a:lnTo>
                  <a:lnTo>
                    <a:pt x="3242786" y="22383"/>
                  </a:lnTo>
                  <a:lnTo>
                    <a:pt x="3218557" y="6012"/>
                  </a:lnTo>
                  <a:lnTo>
                    <a:pt x="3188970" y="0"/>
                  </a:lnTo>
                  <a:lnTo>
                    <a:pt x="75437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620772" y="4560823"/>
              <a:ext cx="3267710" cy="457200"/>
            </a:xfrm>
            <a:custGeom>
              <a:avLst/>
              <a:gdLst/>
              <a:ahLst/>
              <a:cxnLst/>
              <a:rect l="l" t="t" r="r" b="b"/>
              <a:pathLst>
                <a:path w="3267710" h="457200">
                  <a:moveTo>
                    <a:pt x="3267455" y="380999"/>
                  </a:moveTo>
                  <a:lnTo>
                    <a:pt x="3267455" y="76199"/>
                  </a:lnTo>
                  <a:lnTo>
                    <a:pt x="3261443" y="46612"/>
                  </a:lnTo>
                  <a:lnTo>
                    <a:pt x="3245072" y="22383"/>
                  </a:lnTo>
                  <a:lnTo>
                    <a:pt x="3220843" y="6012"/>
                  </a:lnTo>
                  <a:lnTo>
                    <a:pt x="3191256" y="0"/>
                  </a:lnTo>
                  <a:lnTo>
                    <a:pt x="76200" y="0"/>
                  </a:ln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012" y="410587"/>
                  </a:lnTo>
                  <a:lnTo>
                    <a:pt x="22383" y="434816"/>
                  </a:lnTo>
                  <a:lnTo>
                    <a:pt x="46612" y="451187"/>
                  </a:lnTo>
                  <a:lnTo>
                    <a:pt x="76200" y="457200"/>
                  </a:lnTo>
                  <a:lnTo>
                    <a:pt x="3191256" y="457199"/>
                  </a:lnTo>
                  <a:lnTo>
                    <a:pt x="3220843" y="451187"/>
                  </a:lnTo>
                  <a:lnTo>
                    <a:pt x="3245072" y="434816"/>
                  </a:lnTo>
                  <a:lnTo>
                    <a:pt x="3261443" y="410587"/>
                  </a:lnTo>
                  <a:lnTo>
                    <a:pt x="3267455" y="3809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620772" y="4560823"/>
              <a:ext cx="3267710" cy="457200"/>
            </a:xfrm>
            <a:custGeom>
              <a:avLst/>
              <a:gdLst/>
              <a:ahLst/>
              <a:cxnLst/>
              <a:rect l="l" t="t" r="r" b="b"/>
              <a:pathLst>
                <a:path w="3267710" h="457200">
                  <a:moveTo>
                    <a:pt x="76200" y="0"/>
                  </a:move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012" y="410587"/>
                  </a:lnTo>
                  <a:lnTo>
                    <a:pt x="22383" y="434816"/>
                  </a:lnTo>
                  <a:lnTo>
                    <a:pt x="46612" y="451187"/>
                  </a:lnTo>
                  <a:lnTo>
                    <a:pt x="76200" y="457200"/>
                  </a:lnTo>
                  <a:lnTo>
                    <a:pt x="3191256" y="457199"/>
                  </a:lnTo>
                  <a:lnTo>
                    <a:pt x="3220843" y="451187"/>
                  </a:lnTo>
                  <a:lnTo>
                    <a:pt x="3245072" y="434816"/>
                  </a:lnTo>
                  <a:lnTo>
                    <a:pt x="3261443" y="410587"/>
                  </a:lnTo>
                  <a:lnTo>
                    <a:pt x="3267455" y="380999"/>
                  </a:lnTo>
                  <a:lnTo>
                    <a:pt x="3267455" y="76199"/>
                  </a:lnTo>
                  <a:lnTo>
                    <a:pt x="3261443" y="46612"/>
                  </a:lnTo>
                  <a:lnTo>
                    <a:pt x="3245072" y="22383"/>
                  </a:lnTo>
                  <a:lnTo>
                    <a:pt x="3220843" y="6012"/>
                  </a:lnTo>
                  <a:lnTo>
                    <a:pt x="3191256" y="0"/>
                  </a:lnTo>
                  <a:lnTo>
                    <a:pt x="76200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799329" y="5246623"/>
              <a:ext cx="3265170" cy="457200"/>
            </a:xfrm>
            <a:custGeom>
              <a:avLst/>
              <a:gdLst/>
              <a:ahLst/>
              <a:cxnLst/>
              <a:rect l="l" t="t" r="r" b="b"/>
              <a:pathLst>
                <a:path w="3265170" h="457200">
                  <a:moveTo>
                    <a:pt x="3265170" y="380999"/>
                  </a:moveTo>
                  <a:lnTo>
                    <a:pt x="3265170" y="76199"/>
                  </a:lnTo>
                  <a:lnTo>
                    <a:pt x="3259157" y="46612"/>
                  </a:lnTo>
                  <a:lnTo>
                    <a:pt x="3242786" y="22383"/>
                  </a:lnTo>
                  <a:lnTo>
                    <a:pt x="3218557" y="6012"/>
                  </a:lnTo>
                  <a:lnTo>
                    <a:pt x="3188970" y="0"/>
                  </a:lnTo>
                  <a:lnTo>
                    <a:pt x="76200" y="0"/>
                  </a:lnTo>
                  <a:lnTo>
                    <a:pt x="46291" y="6012"/>
                  </a:lnTo>
                  <a:lnTo>
                    <a:pt x="22097" y="22383"/>
                  </a:lnTo>
                  <a:lnTo>
                    <a:pt x="5905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05" y="410587"/>
                  </a:lnTo>
                  <a:lnTo>
                    <a:pt x="22098" y="434816"/>
                  </a:lnTo>
                  <a:lnTo>
                    <a:pt x="46291" y="451187"/>
                  </a:lnTo>
                  <a:lnTo>
                    <a:pt x="76200" y="457200"/>
                  </a:lnTo>
                  <a:lnTo>
                    <a:pt x="3188970" y="457199"/>
                  </a:lnTo>
                  <a:lnTo>
                    <a:pt x="3218557" y="451187"/>
                  </a:lnTo>
                  <a:lnTo>
                    <a:pt x="3242786" y="434816"/>
                  </a:lnTo>
                  <a:lnTo>
                    <a:pt x="3259157" y="410587"/>
                  </a:lnTo>
                  <a:lnTo>
                    <a:pt x="3265170" y="380999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799329" y="5246623"/>
              <a:ext cx="3265170" cy="457200"/>
            </a:xfrm>
            <a:custGeom>
              <a:avLst/>
              <a:gdLst/>
              <a:ahLst/>
              <a:cxnLst/>
              <a:rect l="l" t="t" r="r" b="b"/>
              <a:pathLst>
                <a:path w="3265170" h="457200">
                  <a:moveTo>
                    <a:pt x="76200" y="0"/>
                  </a:moveTo>
                  <a:lnTo>
                    <a:pt x="46291" y="6012"/>
                  </a:lnTo>
                  <a:lnTo>
                    <a:pt x="22097" y="22383"/>
                  </a:lnTo>
                  <a:lnTo>
                    <a:pt x="5905" y="4661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05" y="410587"/>
                  </a:lnTo>
                  <a:lnTo>
                    <a:pt x="22098" y="434816"/>
                  </a:lnTo>
                  <a:lnTo>
                    <a:pt x="46291" y="451187"/>
                  </a:lnTo>
                  <a:lnTo>
                    <a:pt x="76200" y="457200"/>
                  </a:lnTo>
                  <a:lnTo>
                    <a:pt x="3188970" y="457199"/>
                  </a:lnTo>
                  <a:lnTo>
                    <a:pt x="3218557" y="451187"/>
                  </a:lnTo>
                  <a:lnTo>
                    <a:pt x="3242786" y="434816"/>
                  </a:lnTo>
                  <a:lnTo>
                    <a:pt x="3259157" y="410587"/>
                  </a:lnTo>
                  <a:lnTo>
                    <a:pt x="3265170" y="380999"/>
                  </a:lnTo>
                  <a:lnTo>
                    <a:pt x="3265170" y="76199"/>
                  </a:lnTo>
                  <a:lnTo>
                    <a:pt x="3259157" y="46612"/>
                  </a:lnTo>
                  <a:lnTo>
                    <a:pt x="3242786" y="22383"/>
                  </a:lnTo>
                  <a:lnTo>
                    <a:pt x="3218557" y="6012"/>
                  </a:lnTo>
                  <a:lnTo>
                    <a:pt x="3188970" y="0"/>
                  </a:lnTo>
                  <a:lnTo>
                    <a:pt x="76200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620772" y="5932423"/>
              <a:ext cx="3267710" cy="455930"/>
            </a:xfrm>
            <a:custGeom>
              <a:avLst/>
              <a:gdLst/>
              <a:ahLst/>
              <a:cxnLst/>
              <a:rect l="l" t="t" r="r" b="b"/>
              <a:pathLst>
                <a:path w="3267710" h="455929">
                  <a:moveTo>
                    <a:pt x="3267455" y="379475"/>
                  </a:moveTo>
                  <a:lnTo>
                    <a:pt x="3267455" y="76199"/>
                  </a:lnTo>
                  <a:lnTo>
                    <a:pt x="3261443" y="46612"/>
                  </a:lnTo>
                  <a:lnTo>
                    <a:pt x="3245072" y="22383"/>
                  </a:lnTo>
                  <a:lnTo>
                    <a:pt x="3220843" y="6012"/>
                  </a:lnTo>
                  <a:lnTo>
                    <a:pt x="3191256" y="0"/>
                  </a:lnTo>
                  <a:lnTo>
                    <a:pt x="76200" y="0"/>
                  </a:ln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79476"/>
                  </a:lnTo>
                  <a:lnTo>
                    <a:pt x="6012" y="409063"/>
                  </a:lnTo>
                  <a:lnTo>
                    <a:pt x="22383" y="433292"/>
                  </a:lnTo>
                  <a:lnTo>
                    <a:pt x="46612" y="449663"/>
                  </a:lnTo>
                  <a:lnTo>
                    <a:pt x="76200" y="455676"/>
                  </a:lnTo>
                  <a:lnTo>
                    <a:pt x="3191256" y="455675"/>
                  </a:lnTo>
                  <a:lnTo>
                    <a:pt x="3220843" y="449663"/>
                  </a:lnTo>
                  <a:lnTo>
                    <a:pt x="3245072" y="433292"/>
                  </a:lnTo>
                  <a:lnTo>
                    <a:pt x="3261443" y="409063"/>
                  </a:lnTo>
                  <a:lnTo>
                    <a:pt x="3267455" y="379475"/>
                  </a:lnTo>
                  <a:close/>
                </a:path>
              </a:pathLst>
            </a:custGeom>
            <a:solidFill>
              <a:srgbClr val="1B9A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2620772" y="5932423"/>
              <a:ext cx="3267710" cy="455930"/>
            </a:xfrm>
            <a:custGeom>
              <a:avLst/>
              <a:gdLst/>
              <a:ahLst/>
              <a:cxnLst/>
              <a:rect l="l" t="t" r="r" b="b"/>
              <a:pathLst>
                <a:path w="3267710" h="455929">
                  <a:moveTo>
                    <a:pt x="76200" y="0"/>
                  </a:moveTo>
                  <a:lnTo>
                    <a:pt x="46612" y="6012"/>
                  </a:lnTo>
                  <a:lnTo>
                    <a:pt x="22383" y="22383"/>
                  </a:lnTo>
                  <a:lnTo>
                    <a:pt x="6012" y="46612"/>
                  </a:lnTo>
                  <a:lnTo>
                    <a:pt x="0" y="76200"/>
                  </a:lnTo>
                  <a:lnTo>
                    <a:pt x="0" y="379476"/>
                  </a:lnTo>
                  <a:lnTo>
                    <a:pt x="6012" y="409063"/>
                  </a:lnTo>
                  <a:lnTo>
                    <a:pt x="22383" y="433292"/>
                  </a:lnTo>
                  <a:lnTo>
                    <a:pt x="46612" y="449663"/>
                  </a:lnTo>
                  <a:lnTo>
                    <a:pt x="76200" y="455676"/>
                  </a:lnTo>
                  <a:lnTo>
                    <a:pt x="3191256" y="455675"/>
                  </a:lnTo>
                  <a:lnTo>
                    <a:pt x="3220843" y="449663"/>
                  </a:lnTo>
                  <a:lnTo>
                    <a:pt x="3245072" y="433292"/>
                  </a:lnTo>
                  <a:lnTo>
                    <a:pt x="3261443" y="409063"/>
                  </a:lnTo>
                  <a:lnTo>
                    <a:pt x="3267455" y="379475"/>
                  </a:lnTo>
                  <a:lnTo>
                    <a:pt x="3267455" y="76199"/>
                  </a:lnTo>
                  <a:lnTo>
                    <a:pt x="3261443" y="46612"/>
                  </a:lnTo>
                  <a:lnTo>
                    <a:pt x="3245072" y="22383"/>
                  </a:lnTo>
                  <a:lnTo>
                    <a:pt x="3220843" y="6012"/>
                  </a:lnTo>
                  <a:lnTo>
                    <a:pt x="3191256" y="0"/>
                  </a:lnTo>
                  <a:lnTo>
                    <a:pt x="76200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06195" y="1209801"/>
            <a:ext cx="7033259" cy="5086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16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Các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dạng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đặc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biệt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4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130175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đầy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đủ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(K</a:t>
            </a:r>
            <a:r>
              <a:rPr kumimoji="0" sz="1650" b="0" i="0" u="none" strike="noStrike" kern="0" cap="none" spc="-30" normalizeH="0" baseline="-20202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130175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vòng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(C</a:t>
            </a:r>
            <a:r>
              <a:rPr kumimoji="0" sz="1650" b="0" i="0" u="none" strike="noStrike" kern="0" cap="none" spc="-30" normalizeH="0" baseline="-20202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218305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bánh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xe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(W</a:t>
            </a:r>
            <a:r>
              <a:rPr kumimoji="0" sz="1650" b="0" i="0" u="none" strike="noStrike" kern="0" cap="none" spc="-30" normalizeH="0" baseline="-20202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13081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siêu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khối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(Q</a:t>
            </a:r>
            <a:r>
              <a:rPr kumimoji="0" sz="1650" b="0" i="0" u="none" strike="noStrike" kern="0" cap="none" spc="-30" normalizeH="0" baseline="-20202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129539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hai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phía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218305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hai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phía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đầy</a:t>
            </a:r>
            <a:r>
              <a:rPr kumimoji="0" sz="1700" b="0" i="0" u="none" strike="noStrike" kern="0" cap="none" spc="-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đủ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(K</a:t>
            </a:r>
            <a:r>
              <a:rPr kumimoji="0" sz="1650" b="0" i="0" u="none" strike="noStrike" kern="0" cap="none" spc="-15" normalizeH="0" baseline="-20202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m,n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129539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Đồ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thị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Arial"/>
                <a:cs typeface="Arial"/>
              </a:rPr>
              <a:t>phẳng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VI.</a:t>
            </a:r>
            <a:r>
              <a:rPr sz="3200" spc="-40" dirty="0"/>
              <a:t> </a:t>
            </a:r>
            <a:r>
              <a:rPr sz="3200" dirty="0"/>
              <a:t>Một</a:t>
            </a:r>
            <a:r>
              <a:rPr sz="3200" spc="-40" dirty="0"/>
              <a:t> </a:t>
            </a:r>
            <a:r>
              <a:rPr sz="3200" dirty="0"/>
              <a:t>số</a:t>
            </a:r>
            <a:r>
              <a:rPr sz="3200" spc="-55" dirty="0"/>
              <a:t> </a:t>
            </a:r>
            <a:r>
              <a:rPr sz="3200" dirty="0"/>
              <a:t>dạng</a:t>
            </a:r>
            <a:r>
              <a:rPr sz="3200" spc="-35" dirty="0"/>
              <a:t> </a:t>
            </a:r>
            <a:r>
              <a:rPr sz="3200" dirty="0"/>
              <a:t>đồ</a:t>
            </a:r>
            <a:r>
              <a:rPr sz="3200" spc="-45" dirty="0"/>
              <a:t> </a:t>
            </a:r>
            <a:r>
              <a:rPr sz="3200" dirty="0"/>
              <a:t>thị</a:t>
            </a:r>
            <a:r>
              <a:rPr sz="3200" spc="-45" dirty="0"/>
              <a:t> </a:t>
            </a:r>
            <a:r>
              <a:rPr sz="3200" dirty="0"/>
              <a:t>đặc</a:t>
            </a:r>
            <a:r>
              <a:rPr sz="3200" spc="-45" dirty="0"/>
              <a:t> </a:t>
            </a:r>
            <a:r>
              <a:rPr sz="3200" spc="-20" dirty="0"/>
              <a:t>biệt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3037205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Chương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1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–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Các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khái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niệm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cơ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bản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Lý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thuyết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đồ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  <a:cs typeface="Verdana"/>
              </a:rPr>
              <a:t>thị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D528E"/>
                </a:solidFill>
                <a:effectLst/>
                <a:uLnTx/>
                <a:uFillTx/>
                <a:latin typeface="Verdana"/>
              </a:rPr>
              <a:t>59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644" y="1004062"/>
            <a:ext cx="7787005" cy="462534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67665" marR="0" lvl="0" indent="-342265" defTabSz="91440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65CCFF"/>
              </a:buClr>
              <a:buSzTx/>
              <a:buFont typeface="Wingdings"/>
              <a:buChar char=""/>
              <a:tabLst>
                <a:tab pos="367665" algn="l"/>
              </a:tabLst>
              <a:defRPr/>
            </a:pPr>
            <a:r>
              <a:rPr kumimoji="0" sz="2400" b="0" i="0" u="heavy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Bài</a:t>
            </a:r>
            <a:r>
              <a:rPr kumimoji="0" sz="2400" b="0" i="0" u="heavy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kumimoji="0" sz="2400" b="0" i="0" u="heavy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tập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30200" marR="0" lvl="0" indent="-304800" defTabSz="914400" eaLnBrk="1" fontAlgn="auto" latinLnBrk="0" hangingPunct="1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302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8</a:t>
            </a:r>
            <a:r>
              <a:rPr kumimoji="0" sz="2400" b="0" i="0" u="none" strike="noStrike" kern="0" cap="none" spc="277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?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30200" marR="0" lvl="0" indent="-304800" defTabSz="914400" eaLnBrk="1" fontAlgn="auto" latinLnBrk="0" hangingPunct="1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302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2007</a:t>
            </a:r>
            <a:r>
              <a:rPr kumimoji="0" sz="2400" b="0" i="0" u="none" strike="noStrike" kern="0" cap="none" spc="-15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?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30200" marR="0" lvl="0" indent="-304800" defTabSz="914400" eaLnBrk="1" fontAlgn="auto" latinLnBrk="0" hangingPunct="1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302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Số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</a:t>
            </a:r>
            <a:r>
              <a:rPr kumimoji="0" sz="2400" b="0" i="0" u="none" strike="noStrike" kern="0" cap="none" spc="0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100</a:t>
            </a:r>
            <a:r>
              <a:rPr kumimoji="0" sz="2400" b="0" i="0" u="none" strike="noStrike" kern="0" cap="none" spc="284" normalizeH="0" baseline="-20833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?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30200" marR="64769" lvl="0" indent="-304800" defTabSz="91440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683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Cho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phẳng,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liên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thông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20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đỉnh,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bậc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mỗi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bằng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3.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biểu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diễn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phẳng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của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bao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nhiêu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mặt?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30835" marR="2227580" lvl="0" indent="-304800" defTabSz="91440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1283335" algn="l"/>
                <a:tab pos="247332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Cho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phân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đôi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q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cạnh.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CM: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q ≤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p</a:t>
            </a:r>
            <a:r>
              <a:rPr kumimoji="0" sz="2400" b="0" i="0" u="none" strike="noStrike" kern="0" cap="none" spc="-30" normalizeH="0" baseline="24305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/>
                <a:cs typeface="Times New Roman"/>
              </a:rPr>
              <a:t>/4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.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Dấu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=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xảy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ra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khi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nào?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30200" marR="17780" lvl="0" indent="-304800" defTabSz="91440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683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Cho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đỉnh,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với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≥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n.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Chứng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minh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một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chu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trình.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30200" marR="0" lvl="0" indent="-304800" defTabSz="914400" eaLnBrk="1" fontAlgn="auto" latinLnBrk="0" hangingPunct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302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bao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nhiêu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đồ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thị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đơn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gồm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5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đỉnh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và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có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hoặc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6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cạnh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?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423</TotalTime>
  <Words>4189</Words>
  <Application>Microsoft Office PowerPoint</Application>
  <PresentationFormat>Custom</PresentationFormat>
  <Paragraphs>481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UD Digi Kyokasho NK-B</vt:lpstr>
      <vt:lpstr>Arial</vt:lpstr>
      <vt:lpstr>Calibri</vt:lpstr>
      <vt:lpstr>Symbol</vt:lpstr>
      <vt:lpstr>Times New Roman</vt:lpstr>
      <vt:lpstr>Verdana</vt:lpstr>
      <vt:lpstr>Wingdings</vt:lpstr>
      <vt:lpstr>Office Theme</vt:lpstr>
      <vt:lpstr>II. Các loại đồ thị</vt:lpstr>
      <vt:lpstr>II. Các loại đồ thị</vt:lpstr>
      <vt:lpstr>II. Các loại đồ thị</vt:lpstr>
      <vt:lpstr>II. Các loại đồ thị</vt:lpstr>
      <vt:lpstr>II. Các loại đồ thị</vt:lpstr>
      <vt:lpstr>II. Các loại đồ thị</vt:lpstr>
      <vt:lpstr>III. Các thuật ngữ cơ bản</vt:lpstr>
      <vt:lpstr>III. Các thuật ngữ cơ bản</vt:lpstr>
      <vt:lpstr>PowerPoint Presentation</vt:lpstr>
      <vt:lpstr>III. Các thuật ngữ cơ bản</vt:lpstr>
      <vt:lpstr>III. Các thuật ngữ cơ bản</vt:lpstr>
      <vt:lpstr>III. Các thuật ngữ cơ bản</vt:lpstr>
      <vt:lpstr>III. Các thuật ngữ cơ bản</vt:lpstr>
      <vt:lpstr>III. Các thuật ngữ cơ bản</vt:lpstr>
      <vt:lpstr>III. Các thuật ngữ cơ bản</vt:lpstr>
      <vt:lpstr>IV. Đường đi, chu trình</vt:lpstr>
      <vt:lpstr>IV. Đường đi, chu trình</vt:lpstr>
      <vt:lpstr>IV. Đường đi, chu trình</vt:lpstr>
      <vt:lpstr>V.Đồ thị liên thông</vt:lpstr>
      <vt:lpstr>V.Đồ thị liên thông</vt:lpstr>
      <vt:lpstr>VI. Một số dạng đồ thị đặc biệt</vt:lpstr>
      <vt:lpstr>V.Đồ thị liên thông</vt:lpstr>
      <vt:lpstr>V.Đồ thị liên thông</vt:lpstr>
      <vt:lpstr>V.Đồ thị liên thông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  <vt:lpstr>VI. Một số dạng đồ thị đặc biệt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LÝ THUYẾT ĐỒ THỊ</dc:title>
  <dc:creator>Le Tuan Thu</dc:creator>
  <cp:lastModifiedBy>bzktranthao@gmail.com</cp:lastModifiedBy>
  <cp:revision>189</cp:revision>
  <dcterms:created xsi:type="dcterms:W3CDTF">2024-05-06T13:43:19Z</dcterms:created>
  <dcterms:modified xsi:type="dcterms:W3CDTF">2025-05-25T12:11:35Z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2013-06-28T00:00:00Z</vt:filetime>
  </property>
  <property fmtid="{D5CDD505-2E9C-101B-9397-08002B2CF9AE}" pid="3" name="Creator">
    <vt:lpwstr>Nitro PDF Professional  (6, 0, 2, 6)</vt:lpwstr>
  </property>
  <property fmtid="{D5CDD505-2E9C-101B-9397-08002B2CF9AE}" pid="4" name="LastSaved">
    <vt:filetime>2024-05-06T00:00:00Z</vt:filetime>
  </property>
  <property fmtid="{D5CDD505-2E9C-101B-9397-08002B2CF9AE}" pid="5" name="Producer">
    <vt:lpwstr>Nitro PDF Professional  (6, 0, 2, 6)</vt:lpwstr>
  </property>
</Properties>
</file>
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47" r:id="rId3"/>
    <p:sldId id="348" r:id="rId4"/>
    <p:sldId id="349" r:id="rId5"/>
    <p:sldId id="373" r:id="rId6"/>
    <p:sldId id="388" r:id="rId7"/>
    <p:sldId id="374" r:id="rId8"/>
    <p:sldId id="375" r:id="rId9"/>
    <p:sldId id="376" r:id="rId10"/>
    <p:sldId id="377" r:id="rId11"/>
    <p:sldId id="378" r:id="rId12"/>
    <p:sldId id="379" r:id="rId13"/>
    <p:sldId id="380" r:id="rId14"/>
    <p:sldId id="387" r:id="rId15"/>
    <p:sldId id="381" r:id="rId16"/>
    <p:sldId id="382" r:id="rId17"/>
    <p:sldId id="383" r:id="rId18"/>
    <p:sldId id="384" r:id="rId19"/>
    <p:sldId id="385" r:id="rId20"/>
    <p:sldId id="386" r:id="rId21"/>
    <p:sldId id="389" r:id="rId22"/>
    <p:sldId id="390" r:id="rId23"/>
    <p:sldId id="391" r:id="rId24"/>
    <p:sldId id="350" r:id="rId25"/>
    <p:sldId id="351" r:id="rId26"/>
    <p:sldId id="352" r:id="rId27"/>
    <p:sldId id="353" r:id="rId28"/>
    <p:sldId id="354" r:id="rId29"/>
    <p:sldId id="355" r:id="rId30"/>
    <p:sldId id="356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92" r:id="rId48"/>
    <p:sldId id="393" r:id="rId49"/>
    <p:sldId id="394" r:id="rId50"/>
    <p:sldId id="395" r:id="rId51"/>
  </p:sldIdLst>
  <p:sldSz cx="9118600" cy="6832600"/>
  <p:notesSz cx="9118600" cy="6832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18600" cy="6832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15315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67790" y="3623564"/>
            <a:ext cx="6383020" cy="1617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5930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96079" y="1488249"/>
            <a:ext cx="3966591" cy="4270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5473" y="510930"/>
            <a:ext cx="7022465" cy="527685"/>
          </a:xfrm>
          <a:custGeom>
            <a:avLst/>
            <a:gdLst/>
            <a:ahLst/>
            <a:cxnLst/>
            <a:rect l="l" t="t" r="r" b="b"/>
            <a:pathLst>
              <a:path w="7022465" h="527685">
                <a:moveTo>
                  <a:pt x="7021848" y="0"/>
                </a:moveTo>
                <a:lnTo>
                  <a:pt x="0" y="0"/>
                </a:lnTo>
                <a:lnTo>
                  <a:pt x="0" y="527332"/>
                </a:lnTo>
                <a:lnTo>
                  <a:pt x="16885" y="527332"/>
                </a:lnTo>
                <a:lnTo>
                  <a:pt x="16885" y="16885"/>
                </a:lnTo>
                <a:lnTo>
                  <a:pt x="7793" y="16885"/>
                </a:lnTo>
                <a:lnTo>
                  <a:pt x="16885" y="7793"/>
                </a:lnTo>
                <a:lnTo>
                  <a:pt x="7021848" y="7793"/>
                </a:lnTo>
                <a:lnTo>
                  <a:pt x="7021848" y="0"/>
                </a:lnTo>
                <a:close/>
              </a:path>
              <a:path w="7022465" h="527685">
                <a:moveTo>
                  <a:pt x="16885" y="7793"/>
                </a:moveTo>
                <a:lnTo>
                  <a:pt x="7793" y="16885"/>
                </a:lnTo>
                <a:lnTo>
                  <a:pt x="16885" y="16885"/>
                </a:lnTo>
                <a:lnTo>
                  <a:pt x="16885" y="7793"/>
                </a:lnTo>
                <a:close/>
              </a:path>
              <a:path w="7022465" h="527685">
                <a:moveTo>
                  <a:pt x="7021848" y="7793"/>
                </a:moveTo>
                <a:lnTo>
                  <a:pt x="16885" y="7793"/>
                </a:lnTo>
                <a:lnTo>
                  <a:pt x="16885" y="16885"/>
                </a:lnTo>
                <a:lnTo>
                  <a:pt x="7021848" y="16885"/>
                </a:lnTo>
                <a:lnTo>
                  <a:pt x="7021848" y="7793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76275"/>
            <a:ext cx="9118600" cy="7924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18600" cy="22885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15316" cy="1145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3862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0324" y="6017704"/>
            <a:ext cx="2917952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5930" y="6017704"/>
            <a:ext cx="2097278" cy="323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4321" y="6556071"/>
            <a:ext cx="270510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D528E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epth-first-search-or-dfs-for-a-graph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G11IdJH76zB8CODly9F1DRP_MDXH8a-j?usp=sharing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7710" y="1352584"/>
            <a:ext cx="6765290" cy="789940"/>
          </a:xfrm>
          <a:custGeom>
            <a:avLst/>
            <a:gdLst/>
            <a:ahLst/>
            <a:cxnLst/>
            <a:rect l="l" t="t" r="r" b="b"/>
            <a:pathLst>
              <a:path w="6765290" h="789939">
                <a:moveTo>
                  <a:pt x="6764666" y="0"/>
                </a:moveTo>
                <a:lnTo>
                  <a:pt x="0" y="0"/>
                </a:lnTo>
                <a:lnTo>
                  <a:pt x="0" y="789700"/>
                </a:lnTo>
                <a:lnTo>
                  <a:pt x="22081" y="789700"/>
                </a:lnTo>
                <a:lnTo>
                  <a:pt x="22081" y="22080"/>
                </a:lnTo>
                <a:lnTo>
                  <a:pt x="10391" y="22080"/>
                </a:lnTo>
                <a:lnTo>
                  <a:pt x="22081" y="10390"/>
                </a:lnTo>
                <a:lnTo>
                  <a:pt x="6764666" y="10390"/>
                </a:lnTo>
                <a:lnTo>
                  <a:pt x="6764666" y="0"/>
                </a:lnTo>
                <a:close/>
              </a:path>
              <a:path w="6765290" h="789939">
                <a:moveTo>
                  <a:pt x="22081" y="10390"/>
                </a:moveTo>
                <a:lnTo>
                  <a:pt x="10391" y="22080"/>
                </a:lnTo>
                <a:lnTo>
                  <a:pt x="22081" y="22080"/>
                </a:lnTo>
                <a:lnTo>
                  <a:pt x="22081" y="10390"/>
                </a:lnTo>
                <a:close/>
              </a:path>
              <a:path w="6765290" h="789939">
                <a:moveTo>
                  <a:pt x="6764666" y="10390"/>
                </a:moveTo>
                <a:lnTo>
                  <a:pt x="22081" y="10390"/>
                </a:lnTo>
                <a:lnTo>
                  <a:pt x="22081" y="22080"/>
                </a:lnTo>
                <a:lnTo>
                  <a:pt x="6764666" y="22080"/>
                </a:lnTo>
                <a:lnTo>
                  <a:pt x="6764666" y="1039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14211" y="2089319"/>
            <a:ext cx="4545965" cy="544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8675" algn="l"/>
                <a:tab pos="2873375" algn="l"/>
                <a:tab pos="3739515" algn="l"/>
              </a:tabLst>
            </a:pP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LÝ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10" dirty="0">
                <a:solidFill>
                  <a:srgbClr val="006633"/>
                </a:solidFill>
                <a:latin typeface="Times New Roman"/>
                <a:cs typeface="Times New Roman"/>
              </a:rPr>
              <a:t>THUYẾT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ĐỒ</a:t>
            </a:r>
            <a:r>
              <a:rPr sz="3400" b="1" dirty="0">
                <a:solidFill>
                  <a:srgbClr val="006633"/>
                </a:solidFill>
                <a:latin typeface="Times New Roman"/>
                <a:cs typeface="Times New Roman"/>
              </a:rPr>
              <a:t>	</a:t>
            </a:r>
            <a:r>
              <a:rPr sz="3400" b="1" spc="-25" dirty="0">
                <a:solidFill>
                  <a:srgbClr val="006633"/>
                </a:solidFill>
                <a:latin typeface="Times New Roman"/>
                <a:cs typeface="Times New Roman"/>
              </a:rPr>
              <a:t>THỊ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7110" y="3693109"/>
            <a:ext cx="5550535" cy="17145"/>
          </a:xfrm>
          <a:custGeom>
            <a:avLst/>
            <a:gdLst/>
            <a:ahLst/>
            <a:cxnLst/>
            <a:rect l="l" t="t" r="r" b="b"/>
            <a:pathLst>
              <a:path w="5550534" h="17145">
                <a:moveTo>
                  <a:pt x="5550196" y="0"/>
                </a:moveTo>
                <a:lnTo>
                  <a:pt x="0" y="0"/>
                </a:lnTo>
                <a:lnTo>
                  <a:pt x="0" y="16885"/>
                </a:lnTo>
                <a:lnTo>
                  <a:pt x="5550196" y="16885"/>
                </a:lnTo>
                <a:lnTo>
                  <a:pt x="5550196" y="0"/>
                </a:lnTo>
                <a:close/>
              </a:path>
            </a:pathLst>
          </a:custGeom>
          <a:solidFill>
            <a:srgbClr val="CC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12344" y="3643522"/>
            <a:ext cx="4507865" cy="1314591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lang="en-US" sz="2350" b="1">
                <a:latin typeface="Times New Roman"/>
                <a:cs typeface="Times New Roman"/>
              </a:rPr>
              <a:t>Khoa: CNTT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350" b="1">
                <a:latin typeface="Times New Roman"/>
                <a:cs typeface="Times New Roman"/>
              </a:rPr>
              <a:t>T</a:t>
            </a:r>
            <a:r>
              <a:rPr lang="en-GB" sz="2350" b="1">
                <a:latin typeface="Times New Roman"/>
                <a:cs typeface="Times New Roman"/>
              </a:rPr>
              <a:t>h</a:t>
            </a:r>
            <a:r>
              <a:rPr sz="2350" b="1">
                <a:latin typeface="Times New Roman"/>
                <a:cs typeface="Times New Roman"/>
              </a:rPr>
              <a:t>S</a:t>
            </a:r>
            <a:r>
              <a:rPr sz="2350" b="1" dirty="0">
                <a:latin typeface="Times New Roman"/>
                <a:cs typeface="Times New Roman"/>
              </a:rPr>
              <a:t>.</a:t>
            </a:r>
            <a:r>
              <a:rPr sz="2350" b="1" spc="20" dirty="0">
                <a:latin typeface="Times New Roman"/>
                <a:cs typeface="Times New Roman"/>
              </a:rPr>
              <a:t> </a:t>
            </a:r>
            <a:r>
              <a:rPr sz="2350" b="1">
                <a:latin typeface="Times New Roman"/>
                <a:cs typeface="Times New Roman"/>
              </a:rPr>
              <a:t>Lê</a:t>
            </a:r>
            <a:r>
              <a:rPr sz="2350" b="1" spc="30">
                <a:latin typeface="Times New Roman"/>
                <a:cs typeface="Times New Roman"/>
              </a:rPr>
              <a:t> </a:t>
            </a:r>
            <a:r>
              <a:rPr lang="en-GB" sz="2350" b="1" spc="30">
                <a:latin typeface="Times New Roman"/>
                <a:cs typeface="Times New Roman"/>
              </a:rPr>
              <a:t>Tuấn Thu</a:t>
            </a:r>
            <a:endParaRPr sz="2350">
              <a:latin typeface="Times New Roman"/>
              <a:cs typeface="Times New Roman"/>
            </a:endParaRPr>
          </a:p>
          <a:p>
            <a:pPr marL="12700" marR="5080">
              <a:lnSpc>
                <a:spcPts val="3440"/>
              </a:lnSpc>
              <a:spcBef>
                <a:spcPts val="95"/>
              </a:spcBef>
            </a:pPr>
            <a:r>
              <a:rPr sz="2350" b="1">
                <a:solidFill>
                  <a:srgbClr val="28561F"/>
                </a:solidFill>
                <a:latin typeface="Times New Roman"/>
                <a:cs typeface="Times New Roman"/>
              </a:rPr>
              <a:t>Email:</a:t>
            </a:r>
            <a:r>
              <a:rPr sz="2350" b="1" spc="50">
                <a:solidFill>
                  <a:srgbClr val="28561F"/>
                </a:solidFill>
                <a:latin typeface="Times New Roman"/>
                <a:cs typeface="Times New Roman"/>
              </a:rPr>
              <a:t> </a:t>
            </a:r>
            <a:r>
              <a:rPr lang="en-GB" sz="2350" b="1" spc="50">
                <a:solidFill>
                  <a:srgbClr val="28561F"/>
                </a:solidFill>
                <a:latin typeface="Times New Roman"/>
                <a:cs typeface="Times New Roman"/>
              </a:rPr>
              <a:t>thult@hcmunre.edu.vn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8600" cy="6832600"/>
            <a:chOff x="0" y="0"/>
            <a:chExt cx="9118600" cy="6832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8600" cy="6832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5315" cy="11455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86201" y="3768597"/>
            <a:ext cx="48933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>
                <a:solidFill>
                  <a:srgbClr val="FF3300"/>
                </a:solidFill>
              </a:rPr>
              <a:t>Tìm</a:t>
            </a:r>
            <a:r>
              <a:rPr sz="3200" b="1" spc="-4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kiếm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trên</a:t>
            </a:r>
            <a:r>
              <a:rPr sz="3200" b="1" spc="-40" dirty="0">
                <a:solidFill>
                  <a:srgbClr val="FF3300"/>
                </a:solidFill>
              </a:rPr>
              <a:t> </a:t>
            </a:r>
            <a:r>
              <a:rPr sz="3200" b="1" dirty="0">
                <a:solidFill>
                  <a:srgbClr val="FF3300"/>
                </a:solidFill>
              </a:rPr>
              <a:t>đồ</a:t>
            </a:r>
            <a:r>
              <a:rPr sz="3200" b="1" spc="-35" dirty="0">
                <a:solidFill>
                  <a:srgbClr val="FF3300"/>
                </a:solidFill>
              </a:rPr>
              <a:t> </a:t>
            </a:r>
            <a:r>
              <a:rPr sz="3200" b="1" spc="-25" dirty="0">
                <a:solidFill>
                  <a:srgbClr val="FF3300"/>
                </a:solidFill>
              </a:rPr>
              <a:t>thị</a:t>
            </a:r>
            <a:endParaRPr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402" y="6534657"/>
            <a:ext cx="29502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grpSp>
        <p:nvGrpSpPr>
          <p:cNvPr id="4" name="object 4"/>
          <p:cNvGrpSpPr/>
          <p:nvPr/>
        </p:nvGrpSpPr>
        <p:grpSpPr>
          <a:xfrm>
            <a:off x="1344612" y="1725612"/>
            <a:ext cx="4892675" cy="1127760"/>
            <a:chOff x="1344612" y="1725612"/>
            <a:chExt cx="4892675" cy="1127760"/>
          </a:xfrm>
        </p:grpSpPr>
        <p:sp>
          <p:nvSpPr>
            <p:cNvPr id="5" name="object 5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58899" y="17399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7800"/>
            <a:ext cx="14414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4679" y="6556754"/>
            <a:ext cx="116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1D528E"/>
                </a:solidFill>
                <a:latin typeface="Verdana"/>
                <a:cs typeface="Verdana"/>
              </a:rPr>
              <a:t>2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28930"/>
            <a:ext cx="807059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b="1" dirty="0">
                <a:solidFill>
                  <a:srgbClr val="800000"/>
                </a:solidFill>
              </a:rPr>
              <a:t>Duyệt</a:t>
            </a:r>
            <a:r>
              <a:rPr b="1" spc="-30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đồ</a:t>
            </a:r>
            <a:r>
              <a:rPr b="1" spc="-25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thị</a:t>
            </a:r>
            <a:r>
              <a:rPr b="1" spc="-35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theo</a:t>
            </a:r>
            <a:r>
              <a:rPr b="1" spc="-20" dirty="0">
                <a:solidFill>
                  <a:srgbClr val="800000"/>
                </a:solidFill>
              </a:rPr>
              <a:t> </a:t>
            </a:r>
            <a:r>
              <a:rPr b="1" dirty="0">
                <a:solidFill>
                  <a:srgbClr val="800000"/>
                </a:solidFill>
              </a:rPr>
              <a:t>chiều</a:t>
            </a:r>
            <a:r>
              <a:rPr b="1" spc="-25" dirty="0">
                <a:solidFill>
                  <a:srgbClr val="800000"/>
                </a:solidFill>
              </a:rPr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6" y="933237"/>
            <a:ext cx="7970520" cy="2566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Giới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thiệu</a:t>
            </a:r>
            <a:endParaRPr sz="2800">
              <a:latin typeface="Verdana"/>
              <a:cs typeface="Verdana"/>
            </a:endParaRPr>
          </a:p>
          <a:p>
            <a:pPr marL="753745" marR="5080" lvl="1" indent="-316230">
              <a:lnSpc>
                <a:spcPct val="100000"/>
              </a:lnSpc>
              <a:spcBef>
                <a:spcPts val="515"/>
              </a:spcBef>
              <a:buFont typeface="Wingdings"/>
              <a:buChar char="■"/>
              <a:tabLst>
                <a:tab pos="753745" algn="l"/>
                <a:tab pos="755015" algn="l"/>
              </a:tabLst>
            </a:pPr>
            <a:r>
              <a:rPr sz="2400" dirty="0">
                <a:solidFill>
                  <a:srgbClr val="1B9AD9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Arial"/>
                <a:cs typeface="Arial"/>
              </a:rPr>
              <a:t>Duyệt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viếng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đúng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lần.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Duyệt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theo</a:t>
            </a:r>
            <a:r>
              <a:rPr sz="2400" spc="-60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chiều</a:t>
            </a:r>
            <a:r>
              <a:rPr sz="2400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sâu</a:t>
            </a:r>
            <a:r>
              <a:rPr sz="2400" spc="-5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(Depth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DFS)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Duyệt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theo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chiều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800000"/>
                </a:solidFill>
                <a:latin typeface="Arial"/>
                <a:cs typeface="Arial"/>
              </a:rPr>
              <a:t>rộng</a:t>
            </a:r>
            <a:r>
              <a:rPr sz="2400" spc="-65" dirty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(Breadth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Search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BFS)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  <a:r>
              <a:rPr lang="en-US" b="1"/>
              <a:t>Input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r>
              <a:rPr lang="en-US" b="1"/>
              <a:t>Output</a:t>
            </a:r>
            <a:r>
              <a:rPr lang="en-US"/>
              <a:t>: 1 0 2 3 4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BE69C-930E-23BE-3127-B01D0EB8A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22" y="1968500"/>
            <a:ext cx="4045158" cy="2629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12BB9-C607-7511-0570-971F356DA948}"/>
              </a:ext>
            </a:extLst>
          </p:cNvPr>
          <p:cNvSpPr txBox="1"/>
          <p:nvPr/>
        </p:nvSpPr>
        <p:spPr>
          <a:xfrm>
            <a:off x="4940300" y="1968500"/>
            <a:ext cx="3200400" cy="38100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Duyệt đồ thị theo thuật toán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tương tự như “Phép trước trên cấu trúc Cây” – </a:t>
            </a:r>
            <a:r>
              <a:rPr lang="en-US" sz="210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 Tree Traversal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oot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eft </a:t>
            </a: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ight. </a:t>
            </a:r>
          </a:p>
          <a:p>
            <a:r>
              <a:rPr lang="en-US" sz="2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036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302642" cy="51622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THUẬT TOÁN</a:t>
            </a:r>
          </a:p>
          <a:p>
            <a:pPr>
              <a:spcBef>
                <a:spcPts val="600"/>
              </a:spcBef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a stack with the total number of vertices in the graph as the size.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: Choose any vertex as the traversal's beginning point. Push a visit to that vertex and add it to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Push any non-visited adjacent vertices of a vertex at the top of the stack to the top of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Repeat steps 3 and 4 until there are no more vertices to visit from the vertex at the top of the stack.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If there are no new vertices to visit, go back and pop one from the stack using backtracking.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Continue using steps 3, 4, and 5 until the stack is empty.</a:t>
            </a:r>
          </a:p>
          <a:p>
            <a:pPr>
              <a:spcAft>
                <a:spcPts val="500"/>
              </a:spcAft>
            </a:pPr>
            <a:r>
              <a:rPr lang="en-US" sz="2100" i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7 </a:t>
            </a:r>
            <a:r>
              <a:rPr lang="en-US" sz="2100" i="0">
                <a:latin typeface="Times New Roman" panose="02020603050405020304" pitchFamily="18" charset="0"/>
                <a:cs typeface="Times New Roman" panose="02020603050405020304" pitchFamily="18" charset="0"/>
              </a:rPr>
              <a:t>- When the stack is entirely unoccupied, create the final spanning tree by deleting the graph's unused edges. </a:t>
            </a:r>
          </a:p>
        </p:txBody>
      </p:sp>
    </p:spTree>
    <p:extLst>
      <p:ext uri="{BB962C8B-B14F-4D97-AF65-F5344CB8AC3E}">
        <p14:creationId xmlns:p14="http://schemas.microsoft.com/office/powerpoint/2010/main" val="3383833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F1DB4-EDA3-E635-2F7D-BF88B0D1A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13" y="1739900"/>
            <a:ext cx="7674807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44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5432ED-D9A6-3AC0-C9D9-C4B92A768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1511300"/>
            <a:ext cx="7601352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22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A1678-D19A-5098-2AEB-30E529B64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1435100"/>
            <a:ext cx="7772400" cy="42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78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03423-F733-57A6-4EAF-AE4C9F412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511300"/>
            <a:ext cx="7769099" cy="417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69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8E405-5714-2BEF-8723-AA22D2282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38" y="1511299"/>
            <a:ext cx="7680562" cy="415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9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Cho đồ thị G = (V, E)</a:t>
            </a:r>
          </a:p>
          <a:p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61CD6-C83E-02F0-C8B1-9DBBFA627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511300"/>
            <a:ext cx="7836509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73D26C-4DF4-CD2E-04A0-689726572533}"/>
              </a:ext>
            </a:extLst>
          </p:cNvPr>
          <p:cNvSpPr txBox="1"/>
          <p:nvPr/>
        </p:nvSpPr>
        <p:spPr>
          <a:xfrm>
            <a:off x="596900" y="5397500"/>
            <a:ext cx="76962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>
                <a:solidFill>
                  <a:srgbClr val="0070C0"/>
                </a:solidFill>
              </a:rPr>
              <a:t>Output</a:t>
            </a:r>
            <a:r>
              <a:rPr lang="en-US" sz="2100" b="1"/>
              <a:t> </a:t>
            </a:r>
            <a:r>
              <a:rPr lang="en-US"/>
              <a:t>: </a:t>
            </a:r>
            <a:r>
              <a:rPr lang="en-US" sz="2100" b="1">
                <a:solidFill>
                  <a:srgbClr val="7030A0"/>
                </a:solidFill>
              </a:rPr>
              <a:t>0  1  2  4  3</a:t>
            </a:r>
          </a:p>
        </p:txBody>
      </p:sp>
    </p:spTree>
    <p:extLst>
      <p:ext uri="{BB962C8B-B14F-4D97-AF65-F5344CB8AC3E}">
        <p14:creationId xmlns:p14="http://schemas.microsoft.com/office/powerpoint/2010/main" val="60827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SÂU - </a:t>
            </a:r>
            <a:r>
              <a:rPr lang="en-US" b="1">
                <a:solidFill>
                  <a:srgbClr val="7030A0"/>
                </a:solidFill>
              </a:rPr>
              <a:t>DFS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Cài đặt thuật toán DFS với C/C++</a:t>
            </a:r>
          </a:p>
          <a:p>
            <a:r>
              <a:rPr lang="en-US"/>
              <a:t> REF: </a:t>
            </a:r>
            <a:r>
              <a:rPr lang="en-US" sz="1900">
                <a:hlinkClick r:id="rId2"/>
              </a:rPr>
              <a:t>https://www.geeksforgeeks.org/depth-first-search-or-dfs-for-a-graph/</a:t>
            </a:r>
            <a:r>
              <a:rPr lang="en-US" sz="1900"/>
              <a:t> 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117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4789-4FEF-8CA8-1B42-F8C0DAF5C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4001" y="1454403"/>
            <a:ext cx="6781165" cy="861774"/>
          </a:xfrm>
        </p:spPr>
        <p:txBody>
          <a:bodyPr/>
          <a:lstStyle/>
          <a:p>
            <a:pPr algn="ctr"/>
            <a:r>
              <a:rPr lang="en-US">
                <a:solidFill>
                  <a:srgbClr val="C00000"/>
                </a:solidFill>
              </a:rPr>
              <a:t>DUYỆT ĐỒ THỊ THEO CHIỀU RỘNG</a:t>
            </a:r>
            <a:br>
              <a:rPr lang="en-US">
                <a:solidFill>
                  <a:srgbClr val="C00000"/>
                </a:solidFill>
              </a:rPr>
            </a:br>
            <a:r>
              <a:rPr lang="en-US" b="1">
                <a:solidFill>
                  <a:srgbClr val="C00000"/>
                </a:solidFill>
              </a:rPr>
              <a:t>BFS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0A8B29-5F5C-3313-4910-161C77139ED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16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THUẬT TOÁN</a:t>
            </a:r>
          </a:p>
          <a:p>
            <a:pPr rtl="0">
              <a:spcBef>
                <a:spcPts val="700"/>
              </a:spcBef>
              <a:spcAft>
                <a:spcPts val="500"/>
              </a:spcAft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Enqueue the given source vertex into a queue and mark it as visited. </a:t>
            </a:r>
          </a:p>
          <a:p>
            <a:pPr>
              <a:spcBef>
                <a:spcPts val="60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While the queue is not empty: </a:t>
            </a:r>
          </a:p>
          <a:p>
            <a:pPr marL="742950" lvl="1" indent="-28575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Dequeue a node from the queue and visit it (e.g., print its value). </a:t>
            </a:r>
          </a:p>
          <a:p>
            <a:pPr marL="742950" lvl="1" indent="-28575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For each unvisited neighbor of the dequeued node: </a:t>
            </a:r>
          </a:p>
          <a:p>
            <a:pPr marL="1143000" lvl="2" indent="-22860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Enqueue the neighbor into the queue. </a:t>
            </a:r>
          </a:p>
          <a:p>
            <a:pPr marL="1143000" lvl="2" indent="-228600">
              <a:spcAft>
                <a:spcPts val="500"/>
              </a:spcAft>
              <a:buFont typeface="+mj-lt"/>
              <a:buAutoNum type="arabicPeriod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 the neighbor as visited. </a:t>
            </a:r>
          </a:p>
          <a:p>
            <a:pPr>
              <a:spcBef>
                <a:spcPts val="600"/>
              </a:spcBef>
              <a:spcAft>
                <a:spcPts val="500"/>
              </a:spcAft>
              <a:buFont typeface="+mj-lt"/>
              <a:buAutoNum type="arabicPeriod" startAt="2"/>
            </a:pPr>
            <a:r>
              <a:rPr lang="en-US" sz="21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 2 until the queue is empty. </a:t>
            </a:r>
          </a:p>
          <a:p>
            <a:pPr rtl="0">
              <a:spcAft>
                <a:spcPts val="500"/>
              </a:spcAft>
            </a:pP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Aft>
                <a:spcPts val="500"/>
              </a:spcAft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ensures that all nodes in the graph are visited in a breadth-first manner, starting from the starting node. </a:t>
            </a:r>
          </a:p>
          <a:p>
            <a:r>
              <a:rPr lang="en-US" b="1">
                <a:solidFill>
                  <a:srgbClr val="0070C0"/>
                </a:solidFill>
              </a:rPr>
              <a:t> </a:t>
            </a:r>
            <a:endParaRPr lang="en-US" sz="21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9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44B06-0EB5-BD25-7B3D-A369B766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06500"/>
            <a:ext cx="7806119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32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76CE7-A854-A62B-3B20-2263979F2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1250839"/>
            <a:ext cx="7625956" cy="330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0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C7642-2AA0-4D89-13D9-C2FF8C7DF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06500"/>
            <a:ext cx="776393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3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F3FFA-6611-D58C-3AA5-3F93C761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88941"/>
            <a:ext cx="7841938" cy="33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6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E4B016-32C3-3C42-1B2D-013001833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01" y="1264557"/>
            <a:ext cx="7776780" cy="329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F660F-1295-0B6B-BDAC-2C919BA0D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41" y="1275732"/>
            <a:ext cx="7816196" cy="335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7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7BB21-07CA-EC80-CF06-E4B148555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81" y="1130300"/>
            <a:ext cx="7790330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7CBD99-03A8-87D6-580E-158C603DA117}"/>
              </a:ext>
            </a:extLst>
          </p:cNvPr>
          <p:cNvSpPr txBox="1"/>
          <p:nvPr/>
        </p:nvSpPr>
        <p:spPr>
          <a:xfrm>
            <a:off x="673100" y="4787900"/>
            <a:ext cx="76590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OUTPUT</a:t>
            </a:r>
            <a:r>
              <a:rPr lang="en-US" sz="2100"/>
              <a:t>:  </a:t>
            </a:r>
            <a:r>
              <a:rPr lang="en-US" sz="2100" b="1">
                <a:solidFill>
                  <a:srgbClr val="7030A0"/>
                </a:solidFill>
              </a:rPr>
              <a:t>0  1  2  3  4</a:t>
            </a:r>
          </a:p>
        </p:txBody>
      </p:sp>
    </p:spTree>
    <p:extLst>
      <p:ext uri="{BB962C8B-B14F-4D97-AF65-F5344CB8AC3E}">
        <p14:creationId xmlns:p14="http://schemas.microsoft.com/office/powerpoint/2010/main" val="2704550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  <a:r>
              <a:rPr lang="en-US" b="1">
                <a:solidFill>
                  <a:srgbClr val="0070C0"/>
                </a:solidFill>
              </a:rPr>
              <a:t>Cài đặt thuật toán BFS với C/C++</a:t>
            </a:r>
          </a:p>
          <a:p>
            <a:pPr>
              <a:spcBef>
                <a:spcPts val="1200"/>
              </a:spcBef>
            </a:pPr>
            <a:r>
              <a:rPr lang="en-US"/>
              <a:t> </a:t>
            </a:r>
            <a:r>
              <a:rPr lang="en-US" sz="2100" b="1"/>
              <a:t>REF</a:t>
            </a:r>
            <a:r>
              <a:rPr lang="en-US" sz="2100"/>
              <a:t>:https://www.geeksforgeeks.org/breadth-first-search-or-bfs-for-a-graph/ 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1461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60172"/>
            <a:ext cx="53803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365" y="780810"/>
            <a:ext cx="8337550" cy="2931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Nguyên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lý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kiếm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755015" marR="31305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Sau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tùy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ý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(với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có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uv)</a:t>
            </a:r>
            <a:endParaRPr sz="2400">
              <a:latin typeface="Arial"/>
              <a:cs typeface="Arial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56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Lặp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được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nữa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ngay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trước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đỉnh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mà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không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thể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đi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tiếp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tìm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qua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nhánh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khác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</a:t>
            </a:r>
            <a:r>
              <a:rPr spc="-3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25" dirty="0"/>
              <a:t> </a:t>
            </a:r>
            <a:r>
              <a:rPr dirty="0"/>
              <a:t>thị</a:t>
            </a:r>
            <a:r>
              <a:rPr spc="-35" dirty="0"/>
              <a:t> </a:t>
            </a:r>
            <a:r>
              <a:rPr dirty="0"/>
              <a:t>theo</a:t>
            </a:r>
            <a:r>
              <a:rPr spc="-2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3453" y="1358899"/>
            <a:ext cx="4310846" cy="2743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746" y="4679950"/>
            <a:ext cx="156337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r>
              <a:rPr sz="20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432434" marR="657225">
              <a:lnSpc>
                <a:spcPct val="100000"/>
              </a:lnSpc>
            </a:pP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FF3300"/>
                </a:solidFill>
                <a:latin typeface="Arial"/>
                <a:cs typeface="Arial"/>
              </a:rPr>
              <a:t>l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  <a:p>
            <a:pPr marL="432434">
              <a:lnSpc>
                <a:spcPct val="100000"/>
              </a:lnSpc>
            </a:pP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r>
              <a:rPr sz="20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0" y="520700"/>
            <a:ext cx="3721099" cy="579272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484" y="999489"/>
            <a:ext cx="4625975" cy="4217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B1: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là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B2:</a:t>
            </a:r>
            <a:r>
              <a:rPr sz="25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s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B3: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v</a:t>
            </a:r>
            <a:endParaRPr sz="2500">
              <a:latin typeface="Times New Roman"/>
              <a:cs typeface="Times New Roman"/>
            </a:endParaRPr>
          </a:p>
          <a:p>
            <a:pPr marL="12700" marR="191135">
              <a:lnSpc>
                <a:spcPct val="99500"/>
              </a:lnSpc>
              <a:spcBef>
                <a:spcPts val="65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B4: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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đều</a:t>
            </a:r>
            <a:r>
              <a:rPr sz="2500" spc="-20" dirty="0">
                <a:latin typeface="Times New Roman"/>
                <a:cs typeface="Times New Roman"/>
              </a:rPr>
              <a:t> được </a:t>
            </a:r>
            <a:r>
              <a:rPr sz="2500" dirty="0">
                <a:latin typeface="Times New Roman"/>
                <a:cs typeface="Times New Roman"/>
              </a:rPr>
              <a:t>duyệt,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v=đỉnh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đã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được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duyệt </a:t>
            </a:r>
            <a:r>
              <a:rPr sz="2500" dirty="0">
                <a:latin typeface="Times New Roman"/>
                <a:cs typeface="Times New Roman"/>
              </a:rPr>
              <a:t>trước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thì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đi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đến </a:t>
            </a:r>
            <a:r>
              <a:rPr sz="2500" dirty="0">
                <a:latin typeface="Times New Roman"/>
                <a:cs typeface="Times New Roman"/>
              </a:rPr>
              <a:t>Bước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6,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ngược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trở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Bước</a:t>
            </a:r>
            <a:r>
              <a:rPr sz="2500" spc="-25" dirty="0">
                <a:latin typeface="Times New Roman"/>
                <a:cs typeface="Times New Roman"/>
              </a:rPr>
              <a:t> 3.</a:t>
            </a: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396365" algn="l"/>
                <a:tab pos="1713864" algn="l"/>
                <a:tab pos="1795145" algn="l"/>
              </a:tabLst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B5:</a:t>
            </a:r>
            <a:r>
              <a:rPr sz="25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Chọn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50" dirty="0">
                <a:latin typeface="Times New Roman"/>
                <a:cs typeface="Times New Roman"/>
              </a:rPr>
              <a:t>u</a:t>
            </a:r>
            <a:r>
              <a:rPr sz="2500" dirty="0">
                <a:latin typeface="Times New Roman"/>
                <a:cs typeface="Times New Roman"/>
              </a:rPr>
              <a:t>	là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được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của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6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v,</a:t>
            </a:r>
            <a:r>
              <a:rPr sz="2500" dirty="0">
                <a:latin typeface="Times New Roman"/>
                <a:cs typeface="Times New Roman"/>
              </a:rPr>
              <a:t>		đặt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=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u,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trở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Bước </a:t>
            </a:r>
            <a:r>
              <a:rPr sz="2500" spc="-50" dirty="0">
                <a:latin typeface="Times New Roman"/>
                <a:cs typeface="Times New Roman"/>
              </a:rPr>
              <a:t>3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167765" algn="l"/>
              </a:tabLst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B6:</a:t>
            </a:r>
            <a:r>
              <a:rPr sz="25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Kết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20" dirty="0">
                <a:latin typeface="Times New Roman"/>
                <a:cs typeface="Times New Roman"/>
              </a:rPr>
              <a:t>thúc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300" y="977900"/>
            <a:ext cx="4953000" cy="5334000"/>
          </a:xfrm>
          <a:custGeom>
            <a:avLst/>
            <a:gdLst/>
            <a:ahLst/>
            <a:cxnLst/>
            <a:rect l="l" t="t" r="r" b="b"/>
            <a:pathLst>
              <a:path w="4953000" h="5334000">
                <a:moveTo>
                  <a:pt x="0" y="0"/>
                </a:moveTo>
                <a:lnTo>
                  <a:pt x="4953000" y="0"/>
                </a:lnTo>
              </a:path>
              <a:path w="4953000" h="5334000">
                <a:moveTo>
                  <a:pt x="0" y="5334000"/>
                </a:moveTo>
                <a:lnTo>
                  <a:pt x="4953000" y="5334000"/>
                </a:lnTo>
              </a:path>
              <a:path w="4953000" h="5334000">
                <a:moveTo>
                  <a:pt x="0" y="0"/>
                </a:moveTo>
                <a:lnTo>
                  <a:pt x="0" y="5334000"/>
                </a:lnTo>
              </a:path>
              <a:path w="4953000" h="5334000">
                <a:moveTo>
                  <a:pt x="4953000" y="0"/>
                </a:moveTo>
                <a:lnTo>
                  <a:pt x="4953000" y="5334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I.1.</a:t>
            </a:r>
            <a:r>
              <a:rPr spc="-30" dirty="0"/>
              <a:t> </a:t>
            </a:r>
            <a:r>
              <a:rPr dirty="0"/>
              <a:t>Cài</a:t>
            </a:r>
            <a:r>
              <a:rPr spc="-20" dirty="0"/>
              <a:t> </a:t>
            </a:r>
            <a:r>
              <a:rPr dirty="0"/>
              <a:t>đặt</a:t>
            </a:r>
            <a:r>
              <a:rPr spc="-20" dirty="0"/>
              <a:t> </a:t>
            </a:r>
            <a:r>
              <a:rPr dirty="0"/>
              <a:t>đệ</a:t>
            </a:r>
            <a:r>
              <a:rPr spc="-15" dirty="0"/>
              <a:t> </a:t>
            </a:r>
            <a:r>
              <a:rPr spc="-25" dirty="0"/>
              <a:t>quy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1010158"/>
            <a:ext cx="346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Cài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đặt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bằng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mã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giả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1691894"/>
            <a:ext cx="7010400" cy="42214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355"/>
              </a:spcBef>
            </a:pP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DFS(v)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(v);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0;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8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v*/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ts val="2150"/>
              </a:lnSpc>
              <a:spcBef>
                <a:spcPts val="30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84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4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Ke(v) </a:t>
            </a: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925320">
              <a:lnSpc>
                <a:spcPts val="215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DFS(u);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};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8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mảng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  <a:spcBef>
                <a:spcPts val="25"/>
              </a:spcBef>
              <a:tabLst>
                <a:tab pos="1325880" algn="l"/>
              </a:tabLst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7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	ChuaXet[v]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8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8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ts val="2150"/>
              </a:lnSpc>
              <a:spcBef>
                <a:spcPts val="5"/>
              </a:spcBef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800" spc="47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(v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8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D528E"/>
                </a:solidFill>
                <a:latin typeface="Arial"/>
                <a:cs typeface="Arial"/>
              </a:rPr>
              <a:t>V)</a:t>
            </a:r>
            <a:endParaRPr sz="1800">
              <a:latin typeface="Arial"/>
              <a:cs typeface="Arial"/>
            </a:endParaRPr>
          </a:p>
          <a:p>
            <a:pPr marL="1010919">
              <a:lnSpc>
                <a:spcPts val="2150"/>
              </a:lnSpc>
            </a:pP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8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800" spc="49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1D528E"/>
                </a:solidFill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96520">
              <a:lnSpc>
                <a:spcPct val="100000"/>
              </a:lnSpc>
            </a:pPr>
            <a:r>
              <a:rPr sz="18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I.2.</a:t>
            </a:r>
            <a:r>
              <a:rPr spc="-45" dirty="0"/>
              <a:t> </a:t>
            </a:r>
            <a:r>
              <a:rPr dirty="0"/>
              <a:t>Cài</a:t>
            </a:r>
            <a:r>
              <a:rPr spc="-35" dirty="0"/>
              <a:t> </a:t>
            </a:r>
            <a:r>
              <a:rPr dirty="0"/>
              <a:t>đặt</a:t>
            </a:r>
            <a:r>
              <a:rPr spc="-25" dirty="0"/>
              <a:t> </a:t>
            </a:r>
            <a:r>
              <a:rPr dirty="0"/>
              <a:t>không</a:t>
            </a:r>
            <a:r>
              <a:rPr spc="-25" dirty="0"/>
              <a:t> </a:t>
            </a:r>
            <a:r>
              <a:rPr dirty="0"/>
              <a:t>đệ</a:t>
            </a:r>
            <a:r>
              <a:rPr spc="-35" dirty="0"/>
              <a:t> </a:t>
            </a:r>
            <a:r>
              <a:rPr spc="-25" dirty="0"/>
              <a:t>quy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31217"/>
            <a:ext cx="4870450" cy="43630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2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Thuật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toán</a:t>
            </a:r>
            <a:endParaRPr sz="2400">
              <a:latin typeface="Verdana"/>
              <a:cs typeface="Verdana"/>
            </a:endParaRPr>
          </a:p>
          <a:p>
            <a:pPr marL="240665" marR="489584" algn="just">
              <a:lnSpc>
                <a:spcPct val="100000"/>
              </a:lnSpc>
              <a:spcBef>
                <a:spcPts val="65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B1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spc="-85" dirty="0">
                <a:latin typeface="Arial"/>
                <a:cs typeface="Arial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B2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STACK</a:t>
            </a:r>
            <a:endParaRPr sz="2500">
              <a:latin typeface="Times New Roman"/>
              <a:cs typeface="Times New Roman"/>
            </a:endParaRPr>
          </a:p>
          <a:p>
            <a:pPr marL="240665" marR="591185" algn="just">
              <a:lnSpc>
                <a:spcPts val="3000"/>
              </a:lnSpc>
              <a:spcBef>
                <a:spcPts val="85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B3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STACK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rỗng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đi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đến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7. </a:t>
            </a: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B4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từ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STACK</a:t>
            </a:r>
            <a:endParaRPr sz="2500">
              <a:latin typeface="Times New Roman"/>
              <a:cs typeface="Times New Roman"/>
            </a:endParaRPr>
          </a:p>
          <a:p>
            <a:pPr marL="240665" algn="just">
              <a:lnSpc>
                <a:spcPts val="2900"/>
              </a:lnSpc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B5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p</a:t>
            </a:r>
            <a:endParaRPr sz="2500">
              <a:latin typeface="Times New Roman"/>
              <a:cs typeface="Times New Roman"/>
            </a:endParaRPr>
          </a:p>
          <a:p>
            <a:pPr marL="582930" marR="5080" indent="-342265" algn="just">
              <a:lnSpc>
                <a:spcPct val="99900"/>
              </a:lnSpc>
              <a:spcBef>
                <a:spcPts val="2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B6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c</a:t>
            </a:r>
            <a:r>
              <a:rPr sz="2500" dirty="0">
                <a:latin typeface="Arial"/>
                <a:cs typeface="Arial"/>
              </a:rPr>
              <a:t>á</a:t>
            </a:r>
            <a:r>
              <a:rPr sz="2500" dirty="0">
                <a:latin typeface="Times New Roman"/>
                <a:cs typeface="Times New Roman"/>
              </a:rPr>
              <a:t>c</a:t>
            </a:r>
            <a:r>
              <a:rPr sz="2500" spc="2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1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15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20" dirty="0">
                <a:latin typeface="Times New Roman"/>
                <a:cs typeface="Times New Roman"/>
              </a:rPr>
              <a:t>  </a:t>
            </a:r>
            <a:r>
              <a:rPr sz="2500" spc="-20" dirty="0">
                <a:latin typeface="Times New Roman"/>
                <a:cs typeface="Times New Roman"/>
              </a:rPr>
              <a:t>chưa </a:t>
            </a:r>
            <a:r>
              <a:rPr sz="2500" dirty="0">
                <a:latin typeface="Times New Roman"/>
                <a:cs typeface="Times New Roman"/>
              </a:rPr>
              <a:t>được</a:t>
            </a:r>
            <a:r>
              <a:rPr sz="2500" spc="270" dirty="0">
                <a:latin typeface="Times New Roman"/>
                <a:cs typeface="Times New Roman"/>
              </a:rPr>
              <a:t>  </a:t>
            </a:r>
            <a:r>
              <a:rPr sz="2500" dirty="0">
                <a:latin typeface="Times New Roman"/>
                <a:cs typeface="Times New Roman"/>
              </a:rPr>
              <a:t>xét</a:t>
            </a:r>
            <a:r>
              <a:rPr sz="2500" spc="265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(chưa</a:t>
            </a:r>
            <a:r>
              <a:rPr sz="2500" i="1" spc="270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từng</a:t>
            </a:r>
            <a:r>
              <a:rPr sz="2500" i="1" spc="270" dirty="0">
                <a:latin typeface="Times New Roman"/>
                <a:cs typeface="Times New Roman"/>
              </a:rPr>
              <a:t>  </a:t>
            </a:r>
            <a:r>
              <a:rPr sz="2500" i="1" dirty="0">
                <a:latin typeface="Times New Roman"/>
                <a:cs typeface="Times New Roman"/>
              </a:rPr>
              <a:t>có</a:t>
            </a:r>
            <a:r>
              <a:rPr sz="2500" i="1" spc="265" dirty="0">
                <a:latin typeface="Times New Roman"/>
                <a:cs typeface="Times New Roman"/>
              </a:rPr>
              <a:t>  </a:t>
            </a:r>
            <a:r>
              <a:rPr sz="2500" i="1" spc="-25" dirty="0">
                <a:latin typeface="Times New Roman"/>
                <a:cs typeface="Times New Roman"/>
              </a:rPr>
              <a:t>mặt </a:t>
            </a:r>
            <a:r>
              <a:rPr sz="2500" i="1" dirty="0">
                <a:latin typeface="Times New Roman"/>
                <a:cs typeface="Times New Roman"/>
              </a:rPr>
              <a:t>trong</a:t>
            </a:r>
            <a:r>
              <a:rPr sz="2500" i="1" spc="42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STACK)</a:t>
            </a:r>
            <a:r>
              <a:rPr sz="2500" i="1" spc="4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</a:t>
            </a:r>
            <a:r>
              <a:rPr sz="2500" dirty="0">
                <a:latin typeface="Arial"/>
                <a:cs typeface="Arial"/>
              </a:rPr>
              <a:t>à</a:t>
            </a:r>
            <a:r>
              <a:rPr sz="2500" dirty="0">
                <a:latin typeface="Times New Roman"/>
                <a:cs typeface="Times New Roman"/>
              </a:rPr>
              <a:t>o</a:t>
            </a:r>
            <a:r>
              <a:rPr sz="2500" spc="4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STACK,</a:t>
            </a:r>
            <a:r>
              <a:rPr sz="2500" spc="42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trở </a:t>
            </a:r>
            <a:r>
              <a:rPr sz="2500" dirty="0">
                <a:latin typeface="Times New Roman"/>
                <a:cs typeface="Times New Roman"/>
              </a:rPr>
              <a:t>lại</a:t>
            </a:r>
            <a:r>
              <a:rPr sz="2500" spc="-25" dirty="0">
                <a:latin typeface="Times New Roman"/>
                <a:cs typeface="Times New Roman"/>
              </a:rPr>
              <a:t> 3.</a:t>
            </a:r>
            <a:endParaRPr sz="2500">
              <a:latin typeface="Times New Roman"/>
              <a:cs typeface="Times New Roman"/>
            </a:endParaRPr>
          </a:p>
          <a:p>
            <a:pPr marL="240029" algn="just">
              <a:lnSpc>
                <a:spcPct val="100000"/>
              </a:lnSpc>
              <a:spcBef>
                <a:spcPts val="10"/>
              </a:spcBef>
            </a:pPr>
            <a:r>
              <a:rPr sz="2500" dirty="0">
                <a:solidFill>
                  <a:srgbClr val="FF3300"/>
                </a:solidFill>
                <a:latin typeface="Times New Roman"/>
                <a:cs typeface="Times New Roman"/>
              </a:rPr>
              <a:t>B7</a:t>
            </a:r>
            <a:r>
              <a:rPr sz="2500" dirty="0">
                <a:latin typeface="Times New Roman"/>
                <a:cs typeface="Times New Roman"/>
              </a:rPr>
              <a:t>: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Kết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th</a:t>
            </a:r>
            <a:r>
              <a:rPr sz="2500" spc="-10" dirty="0">
                <a:latin typeface="Arial"/>
                <a:cs typeface="Arial"/>
              </a:rPr>
              <a:t>ú</a:t>
            </a:r>
            <a:r>
              <a:rPr sz="2500" spc="-10" dirty="0">
                <a:latin typeface="Times New Roman"/>
                <a:cs typeface="Times New Roman"/>
              </a:rPr>
              <a:t>c.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6900" y="1435100"/>
            <a:ext cx="4800600" cy="4876800"/>
          </a:xfrm>
          <a:custGeom>
            <a:avLst/>
            <a:gdLst/>
            <a:ahLst/>
            <a:cxnLst/>
            <a:rect l="l" t="t" r="r" b="b"/>
            <a:pathLst>
              <a:path w="4800600" h="4876800">
                <a:moveTo>
                  <a:pt x="0" y="0"/>
                </a:moveTo>
                <a:lnTo>
                  <a:pt x="4800600" y="0"/>
                </a:lnTo>
              </a:path>
              <a:path w="4800600" h="4876800">
                <a:moveTo>
                  <a:pt x="0" y="4876800"/>
                </a:moveTo>
                <a:lnTo>
                  <a:pt x="4800600" y="4876800"/>
                </a:lnTo>
              </a:path>
              <a:path w="4800600" h="4876800">
                <a:moveTo>
                  <a:pt x="0" y="0"/>
                </a:moveTo>
                <a:lnTo>
                  <a:pt x="0" y="4876800"/>
                </a:lnTo>
              </a:path>
              <a:path w="4800600" h="4876800">
                <a:moveTo>
                  <a:pt x="4800600" y="0"/>
                </a:moveTo>
                <a:lnTo>
                  <a:pt x="4800600" y="4876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9900" y="520700"/>
            <a:ext cx="3048000" cy="59832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I.Duyệt</a:t>
            </a:r>
            <a:r>
              <a:rPr spc="-45" dirty="0"/>
              <a:t> </a:t>
            </a:r>
            <a:r>
              <a:rPr dirty="0"/>
              <a:t>đồ</a:t>
            </a:r>
            <a:r>
              <a:rPr spc="-40" dirty="0"/>
              <a:t> </a:t>
            </a:r>
            <a:r>
              <a:rPr dirty="0"/>
              <a:t>thị</a:t>
            </a:r>
            <a:r>
              <a:rPr spc="-40" dirty="0"/>
              <a:t> </a:t>
            </a:r>
            <a:r>
              <a:rPr dirty="0"/>
              <a:t>theo</a:t>
            </a:r>
            <a:r>
              <a:rPr spc="-45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1" y="933237"/>
            <a:ext cx="6652259" cy="22739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Ý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nghĩa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đỉnh</a:t>
            </a:r>
            <a:endParaRPr sz="2400">
              <a:latin typeface="Arial"/>
              <a:cs typeface="Arial"/>
            </a:endParaRPr>
          </a:p>
          <a:p>
            <a:pPr marL="7543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</a:t>
            </a:r>
            <a:endParaRPr sz="2400">
              <a:latin typeface="Arial"/>
              <a:cs typeface="Arial"/>
            </a:endParaRPr>
          </a:p>
          <a:p>
            <a:pPr marL="754380" lvl="1" indent="-317500">
              <a:lnSpc>
                <a:spcPct val="100000"/>
              </a:lnSpc>
              <a:spcBef>
                <a:spcPts val="565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Xây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thị</a:t>
            </a:r>
            <a:endParaRPr sz="2400">
              <a:latin typeface="Arial"/>
              <a:cs typeface="Arial"/>
            </a:endParaRPr>
          </a:p>
          <a:p>
            <a:pPr marL="75374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374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xem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trình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hay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không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44612" y="2386266"/>
            <a:ext cx="4892675" cy="466725"/>
            <a:chOff x="1344612" y="2386266"/>
            <a:chExt cx="4892675" cy="466725"/>
          </a:xfrm>
        </p:grpSpPr>
        <p:sp>
          <p:nvSpPr>
            <p:cNvPr id="6" name="object 6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58899" y="2400554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56"/>
                  </a:lnTo>
                  <a:lnTo>
                    <a:pt x="122686" y="22162"/>
                  </a:lnTo>
                  <a:lnTo>
                    <a:pt x="82073" y="47926"/>
                  </a:lnTo>
                  <a:lnTo>
                    <a:pt x="48165" y="81753"/>
                  </a:lnTo>
                  <a:lnTo>
                    <a:pt x="22295" y="122353"/>
                  </a:lnTo>
                  <a:lnTo>
                    <a:pt x="5796" y="16843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430"/>
                  </a:lnTo>
                  <a:lnTo>
                    <a:pt x="4841683" y="122353"/>
                  </a:lnTo>
                  <a:lnTo>
                    <a:pt x="4815919" y="81753"/>
                  </a:lnTo>
                  <a:lnTo>
                    <a:pt x="4782092" y="47926"/>
                  </a:lnTo>
                  <a:lnTo>
                    <a:pt x="4741492" y="22162"/>
                  </a:lnTo>
                  <a:lnTo>
                    <a:pt x="4695415" y="575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58899" y="24066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10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38" y="933237"/>
            <a:ext cx="8042909" cy="2931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Nguyên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lý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bất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kỳ.</a:t>
            </a:r>
            <a:endParaRPr sz="2400">
              <a:latin typeface="Arial"/>
              <a:cs typeface="Arial"/>
            </a:endParaRPr>
          </a:p>
          <a:p>
            <a:pPr marL="754380" marR="50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Duyệt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kề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tập</a:t>
            </a:r>
            <a:r>
              <a:rPr sz="2400" spc="6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T(u)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(với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hướng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T(u)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với </a:t>
            </a:r>
            <a:r>
              <a:rPr sz="2400" dirty="0">
                <a:latin typeface="Arial"/>
                <a:cs typeface="Arial"/>
              </a:rPr>
              <a:t>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sau,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uv).</a:t>
            </a:r>
            <a:endParaRPr sz="2400">
              <a:latin typeface="Arial"/>
              <a:cs typeface="Arial"/>
            </a:endParaRPr>
          </a:p>
          <a:p>
            <a:pPr marL="755015" marR="213360" lvl="1" indent="-317500">
              <a:lnSpc>
                <a:spcPct val="100000"/>
              </a:lnSpc>
              <a:spcBef>
                <a:spcPts val="55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Sau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tục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xét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u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thuộc</a:t>
            </a:r>
            <a:r>
              <a:rPr sz="2400" spc="-4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T(u)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dụng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duyệt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giống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như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171" y="1206499"/>
            <a:ext cx="3872728" cy="26540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0146" y="3976623"/>
            <a:ext cx="156337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Thứ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tự</a:t>
            </a:r>
            <a:r>
              <a:rPr sz="2000" u="heavy" spc="-2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 </a:t>
            </a:r>
            <a:r>
              <a:rPr sz="2000" u="heavy" spc="-10" dirty="0">
                <a:solidFill>
                  <a:srgbClr val="1D528E"/>
                </a:solidFill>
                <a:uFill>
                  <a:solidFill>
                    <a:srgbClr val="1D528E"/>
                  </a:solidFill>
                </a:uFill>
                <a:latin typeface="Arial"/>
                <a:cs typeface="Arial"/>
              </a:rPr>
              <a:t>duyệt</a:t>
            </a:r>
            <a:r>
              <a:rPr sz="2000" spc="-10" dirty="0">
                <a:solidFill>
                  <a:srgbClr val="1D528E"/>
                </a:solidFill>
                <a:latin typeface="Arial"/>
                <a:cs typeface="Arial"/>
              </a:rPr>
              <a:t>: 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370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3370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b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f</a:t>
            </a:r>
            <a:endParaRPr sz="2000">
              <a:latin typeface="Arial"/>
              <a:cs typeface="Arial"/>
            </a:endParaRPr>
          </a:p>
          <a:p>
            <a:pPr marL="12700" marR="767080">
              <a:lnSpc>
                <a:spcPct val="100000"/>
              </a:lnSpc>
              <a:tabLst>
                <a:tab pos="293370" algn="l"/>
                <a:tab pos="575945" algn="l"/>
              </a:tabLst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g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m h</a:t>
            </a:r>
            <a:r>
              <a:rPr sz="2000" dirty="0">
                <a:solidFill>
                  <a:srgbClr val="1D528E"/>
                </a:solidFill>
                <a:latin typeface="Arial"/>
                <a:cs typeface="Arial"/>
              </a:rPr>
              <a:t>	</a:t>
            </a: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1D528E"/>
                </a:solidFill>
                <a:latin typeface="Arial"/>
                <a:cs typeface="Arial"/>
              </a:rPr>
              <a:t>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3300" y="368300"/>
            <a:ext cx="2667000" cy="5943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47801" y="1151889"/>
            <a:ext cx="4859655" cy="3455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2315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Times New Roman"/>
                <a:cs typeface="Times New Roman"/>
              </a:rPr>
              <a:t>B1: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là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một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đồ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25" dirty="0">
                <a:latin typeface="Times New Roman"/>
                <a:cs typeface="Times New Roman"/>
              </a:rPr>
              <a:t>thị </a:t>
            </a:r>
            <a:r>
              <a:rPr sz="2500" dirty="0">
                <a:latin typeface="Times New Roman"/>
                <a:cs typeface="Times New Roman"/>
              </a:rPr>
              <a:t>B2: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s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vào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b="1" dirty="0">
                <a:latin typeface="Times New Roman"/>
                <a:cs typeface="Times New Roman"/>
              </a:rPr>
              <a:t>B3: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Lặp</a:t>
            </a:r>
            <a:r>
              <a:rPr sz="2500" b="1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nếu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QUEUE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rỗng.</a:t>
            </a:r>
            <a:endParaRPr sz="2500">
              <a:latin typeface="Times New Roman"/>
              <a:cs typeface="Times New Roman"/>
            </a:endParaRPr>
          </a:p>
          <a:p>
            <a:pPr marL="690245" indent="-233679">
              <a:lnSpc>
                <a:spcPct val="100000"/>
              </a:lnSpc>
              <a:buSzPct val="96000"/>
              <a:buAutoNum type="alphaLcPeriod"/>
              <a:tabLst>
                <a:tab pos="690245" algn="l"/>
              </a:tabLst>
            </a:pPr>
            <a:r>
              <a:rPr sz="2500" dirty="0">
                <a:latin typeface="Times New Roman"/>
                <a:cs typeface="Times New Roman"/>
              </a:rPr>
              <a:t>Lấy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từ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</a:t>
            </a:r>
            <a:endParaRPr sz="2500">
              <a:latin typeface="Times New Roman"/>
              <a:cs typeface="Times New Roman"/>
            </a:endParaRPr>
          </a:p>
          <a:p>
            <a:pPr marL="706755" indent="-250825">
              <a:lnSpc>
                <a:spcPct val="100000"/>
              </a:lnSpc>
              <a:buSzPct val="96000"/>
              <a:buAutoNum type="alphaLcPeriod"/>
              <a:tabLst>
                <a:tab pos="706755" algn="l"/>
              </a:tabLst>
            </a:pPr>
            <a:r>
              <a:rPr sz="2500" dirty="0">
                <a:latin typeface="Times New Roman"/>
                <a:cs typeface="Times New Roman"/>
              </a:rPr>
              <a:t>Duyệt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50" dirty="0">
                <a:latin typeface="Times New Roman"/>
                <a:cs typeface="Times New Roman"/>
              </a:rPr>
              <a:t>p</a:t>
            </a:r>
            <a:endParaRPr sz="2500">
              <a:latin typeface="Times New Roman"/>
              <a:cs typeface="Times New Roman"/>
            </a:endParaRPr>
          </a:p>
          <a:p>
            <a:pPr marL="469265" marR="5080" indent="-13335">
              <a:lnSpc>
                <a:spcPct val="100000"/>
              </a:lnSpc>
              <a:buSzPct val="96000"/>
              <a:buAutoNum type="alphaLcPeriod"/>
              <a:tabLst>
                <a:tab pos="689610" algn="l"/>
              </a:tabLst>
            </a:pPr>
            <a:r>
              <a:rPr sz="2500" dirty="0">
                <a:latin typeface="Times New Roman"/>
                <a:cs typeface="Times New Roman"/>
              </a:rPr>
              <a:t>Đặt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các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đỉnh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kề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của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p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chưa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-20" dirty="0">
                <a:latin typeface="Times New Roman"/>
                <a:cs typeface="Times New Roman"/>
              </a:rPr>
              <a:t>được </a:t>
            </a:r>
            <a:r>
              <a:rPr sz="2500" dirty="0">
                <a:latin typeface="Times New Roman"/>
                <a:cs typeface="Times New Roman"/>
              </a:rPr>
              <a:t>xét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(chưa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từng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có</a:t>
            </a:r>
            <a:r>
              <a:rPr sz="2500" i="1" spc="-30" dirty="0">
                <a:latin typeface="Times New Roman"/>
                <a:cs typeface="Times New Roman"/>
              </a:rPr>
              <a:t> </a:t>
            </a:r>
            <a:r>
              <a:rPr sz="2500" i="1" dirty="0">
                <a:latin typeface="Times New Roman"/>
                <a:cs typeface="Times New Roman"/>
              </a:rPr>
              <a:t>mặt</a:t>
            </a:r>
            <a:r>
              <a:rPr sz="2500" i="1" spc="-25" dirty="0">
                <a:latin typeface="Times New Roman"/>
                <a:cs typeface="Times New Roman"/>
              </a:rPr>
              <a:t> </a:t>
            </a:r>
            <a:r>
              <a:rPr sz="2500" i="1" spc="-10" dirty="0">
                <a:latin typeface="Times New Roman"/>
                <a:cs typeface="Times New Roman"/>
              </a:rPr>
              <a:t>trong </a:t>
            </a:r>
            <a:r>
              <a:rPr sz="2500" i="1" dirty="0">
                <a:latin typeface="Times New Roman"/>
                <a:cs typeface="Times New Roman"/>
              </a:rPr>
              <a:t>QUEUE)</a:t>
            </a:r>
            <a:r>
              <a:rPr sz="2500" i="1" spc="-3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vào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10" dirty="0">
                <a:latin typeface="Times New Roman"/>
                <a:cs typeface="Times New Roman"/>
              </a:rPr>
              <a:t>QUEUE.</a:t>
            </a:r>
            <a:endParaRPr sz="2500">
              <a:latin typeface="Times New Roman"/>
              <a:cs typeface="Times New Roman"/>
            </a:endParaRPr>
          </a:p>
          <a:p>
            <a:pPr marL="723900" indent="-268605">
              <a:lnSpc>
                <a:spcPct val="100000"/>
              </a:lnSpc>
              <a:buSzPct val="96000"/>
              <a:buAutoNum type="alphaLcPeriod"/>
              <a:tabLst>
                <a:tab pos="723900" algn="l"/>
              </a:tabLst>
            </a:pPr>
            <a:r>
              <a:rPr sz="2500" b="1" dirty="0">
                <a:latin typeface="Times New Roman"/>
                <a:cs typeface="Times New Roman"/>
              </a:rPr>
              <a:t>Kết</a:t>
            </a:r>
            <a:r>
              <a:rPr sz="2500" b="1" spc="-2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thúc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b="1" spc="-25" dirty="0">
                <a:latin typeface="Times New Roman"/>
                <a:cs typeface="Times New Roman"/>
              </a:rPr>
              <a:t>lặp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8300" y="1130300"/>
            <a:ext cx="5181600" cy="4800600"/>
          </a:xfrm>
          <a:custGeom>
            <a:avLst/>
            <a:gdLst/>
            <a:ahLst/>
            <a:cxnLst/>
            <a:rect l="l" t="t" r="r" b="b"/>
            <a:pathLst>
              <a:path w="5181600" h="4800600">
                <a:moveTo>
                  <a:pt x="0" y="0"/>
                </a:moveTo>
                <a:lnTo>
                  <a:pt x="5181600" y="0"/>
                </a:lnTo>
              </a:path>
              <a:path w="5181600" h="4800600">
                <a:moveTo>
                  <a:pt x="0" y="4800600"/>
                </a:moveTo>
                <a:lnTo>
                  <a:pt x="5181600" y="4800600"/>
                </a:lnTo>
              </a:path>
              <a:path w="5181600" h="4800600">
                <a:moveTo>
                  <a:pt x="0" y="0"/>
                </a:moveTo>
                <a:lnTo>
                  <a:pt x="0" y="4800600"/>
                </a:lnTo>
              </a:path>
              <a:path w="5181600" h="4800600">
                <a:moveTo>
                  <a:pt x="5181600" y="0"/>
                </a:moveTo>
                <a:lnTo>
                  <a:pt x="5181600" y="4800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II.1.</a:t>
            </a:r>
            <a:r>
              <a:rPr spc="-55" dirty="0"/>
              <a:t> </a:t>
            </a:r>
            <a:r>
              <a:rPr dirty="0"/>
              <a:t>Cài</a:t>
            </a:r>
            <a:r>
              <a:rPr spc="-45" dirty="0"/>
              <a:t> </a:t>
            </a:r>
            <a:r>
              <a:rPr dirty="0"/>
              <a:t>đặt</a:t>
            </a:r>
            <a:r>
              <a:rPr spc="-40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hàng</a:t>
            </a:r>
            <a:r>
              <a:rPr spc="-40" dirty="0"/>
              <a:t> </a:t>
            </a:r>
            <a:r>
              <a:rPr spc="-25" dirty="0"/>
              <a:t>đợi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424" y="986536"/>
            <a:ext cx="5991225" cy="534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Khai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báo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các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ChuaXet,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0" i="1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BFS(v)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603885" marR="4333875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3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;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4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v;</a:t>
            </a:r>
            <a:endParaRPr sz="1400">
              <a:latin typeface="Arial"/>
              <a:cs typeface="Arial"/>
            </a:endParaRPr>
          </a:p>
          <a:p>
            <a:pPr marL="603885">
              <a:lnSpc>
                <a:spcPts val="1645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v*/</a:t>
            </a:r>
            <a:endParaRPr sz="1400">
              <a:latin typeface="Arial"/>
              <a:cs typeface="Arial"/>
            </a:endParaRPr>
          </a:p>
          <a:p>
            <a:pPr marR="3733800" algn="r">
              <a:lnSpc>
                <a:spcPts val="1664"/>
              </a:lnSpc>
              <a:spcBef>
                <a:spcPts val="25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while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≠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</a:t>
            </a:r>
            <a:r>
              <a:rPr sz="1400" spc="1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6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603250">
              <a:lnSpc>
                <a:spcPts val="1664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R="3754120" algn="r">
              <a:lnSpc>
                <a:spcPts val="1664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p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3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QUEUE;</a:t>
            </a:r>
            <a:endParaRPr sz="1400">
              <a:latin typeface="Arial"/>
              <a:cs typeface="Arial"/>
            </a:endParaRPr>
          </a:p>
          <a:p>
            <a:pPr marL="1194435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Duyệt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p;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ts val="1664"/>
              </a:lnSpc>
              <a:spcBef>
                <a:spcPts val="15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36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u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Ke(p)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2404745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0" spc="35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2383155">
              <a:lnSpc>
                <a:spcPct val="100000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2769870">
              <a:lnSpc>
                <a:spcPts val="1664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QUEUE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</a:t>
            </a:r>
            <a:r>
              <a:rPr sz="1400" spc="1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u;</a:t>
            </a:r>
            <a:endParaRPr sz="1400">
              <a:latin typeface="Arial"/>
              <a:cs typeface="Arial"/>
            </a:endParaRPr>
          </a:p>
          <a:p>
            <a:pPr marL="2769870">
              <a:lnSpc>
                <a:spcPts val="1660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ChuaXet[u]</a:t>
            </a:r>
            <a:r>
              <a:rPr sz="1400" spc="-3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0;/*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Đánh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dấu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đã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xét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2376170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65341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void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main()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Nhập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đồ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thị,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biến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Ke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ts val="1675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927735">
              <a:lnSpc>
                <a:spcPts val="1675"/>
              </a:lnSpc>
              <a:spcBef>
                <a:spcPts val="20"/>
              </a:spcBef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25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0" spc="36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=</a:t>
            </a:r>
            <a:r>
              <a:rPr sz="1400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1;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/*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Khởi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tạo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cờ</a:t>
            </a:r>
            <a:r>
              <a:rPr sz="1400" i="1" spc="-2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cho</a:t>
            </a:r>
            <a:r>
              <a:rPr sz="1400" i="1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1D528E"/>
                </a:solidFill>
                <a:latin typeface="Arial"/>
                <a:cs typeface="Arial"/>
              </a:rPr>
              <a:t>đỉnh</a:t>
            </a:r>
            <a:r>
              <a:rPr sz="1400" i="1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1D528E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927735">
              <a:lnSpc>
                <a:spcPts val="1660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for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v</a:t>
            </a:r>
            <a:r>
              <a:rPr sz="1400" spc="-1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Symbol"/>
                <a:cs typeface="Symbol"/>
              </a:rPr>
              <a:t></a:t>
            </a:r>
            <a:r>
              <a:rPr sz="1400" spc="30" dirty="0">
                <a:solidFill>
                  <a:srgbClr val="1D528E"/>
                </a:solidFill>
                <a:latin typeface="Times New Roman"/>
                <a:cs typeface="Times New Roman"/>
              </a:rPr>
              <a:t> </a:t>
            </a:r>
            <a:r>
              <a:rPr sz="1400" spc="160" dirty="0">
                <a:solidFill>
                  <a:srgbClr val="1D528E"/>
                </a:solidFill>
                <a:latin typeface="Arial"/>
                <a:cs typeface="Arial"/>
              </a:rPr>
              <a:t>V) 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ts val="1664"/>
              </a:lnSpc>
            </a:pP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if</a:t>
            </a:r>
            <a:r>
              <a:rPr sz="1400" spc="37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(</a:t>
            </a:r>
            <a:r>
              <a:rPr sz="1400" spc="-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ChuaXet[v]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D528E"/>
                </a:solidFill>
                <a:latin typeface="Arial"/>
                <a:cs typeface="Arial"/>
              </a:rPr>
              <a:t>)</a:t>
            </a:r>
            <a:r>
              <a:rPr sz="1400" spc="375" dirty="0">
                <a:solidFill>
                  <a:srgbClr val="1D528E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D528E"/>
                </a:solidFill>
                <a:latin typeface="Arial"/>
                <a:cs typeface="Arial"/>
              </a:rPr>
              <a:t>BFS(v);</a:t>
            </a:r>
            <a:endParaRPr sz="14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sz="1400" spc="-50" dirty="0">
                <a:solidFill>
                  <a:srgbClr val="1D528E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12306"/>
            <a:ext cx="9118600" cy="320675"/>
          </a:xfrm>
          <a:custGeom>
            <a:avLst/>
            <a:gdLst/>
            <a:ahLst/>
            <a:cxnLst/>
            <a:rect l="l" t="t" r="r" b="b"/>
            <a:pathLst>
              <a:path w="9118600" h="320675">
                <a:moveTo>
                  <a:pt x="0" y="320294"/>
                </a:moveTo>
                <a:lnTo>
                  <a:pt x="9118600" y="320294"/>
                </a:lnTo>
                <a:lnTo>
                  <a:pt x="9118600" y="0"/>
                </a:lnTo>
                <a:lnTo>
                  <a:pt x="0" y="0"/>
                </a:lnTo>
                <a:lnTo>
                  <a:pt x="0" y="3202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18600" cy="969010"/>
            <a:chOff x="0" y="0"/>
            <a:chExt cx="9118600" cy="9690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6275"/>
              <a:ext cx="9118600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18600" cy="2288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15316" cy="114553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II.2.</a:t>
            </a:r>
            <a:r>
              <a:rPr spc="-50" dirty="0"/>
              <a:t> </a:t>
            </a:r>
            <a:r>
              <a:rPr dirty="0"/>
              <a:t>Cài</a:t>
            </a:r>
            <a:r>
              <a:rPr spc="-40" dirty="0"/>
              <a:t> </a:t>
            </a:r>
            <a:r>
              <a:rPr dirty="0"/>
              <a:t>đặt</a:t>
            </a:r>
            <a:r>
              <a:rPr spc="-35" dirty="0"/>
              <a:t> </a:t>
            </a:r>
            <a:r>
              <a:rPr dirty="0"/>
              <a:t>bằng</a:t>
            </a:r>
            <a:r>
              <a:rPr spc="-35" dirty="0"/>
              <a:t> </a:t>
            </a:r>
            <a:r>
              <a:rPr dirty="0"/>
              <a:t>thuật</a:t>
            </a:r>
            <a:r>
              <a:rPr spc="-35" dirty="0"/>
              <a:t> </a:t>
            </a:r>
            <a:r>
              <a:rPr dirty="0"/>
              <a:t>toán</a:t>
            </a:r>
            <a:r>
              <a:rPr spc="-35" dirty="0"/>
              <a:t> </a:t>
            </a:r>
            <a:r>
              <a:rPr spc="-10" dirty="0"/>
              <a:t>loang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846" y="1049528"/>
            <a:ext cx="7066029" cy="51054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4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II.2.</a:t>
            </a:r>
            <a:r>
              <a:rPr sz="2400" spc="-35" dirty="0"/>
              <a:t> </a:t>
            </a:r>
            <a:r>
              <a:rPr sz="2400" dirty="0"/>
              <a:t>Cài</a:t>
            </a:r>
            <a:r>
              <a:rPr sz="2400" spc="-40" dirty="0"/>
              <a:t> </a:t>
            </a:r>
            <a:r>
              <a:rPr sz="2400" dirty="0"/>
              <a:t>đặt</a:t>
            </a:r>
            <a:r>
              <a:rPr sz="2400" spc="-25" dirty="0"/>
              <a:t> </a:t>
            </a:r>
            <a:r>
              <a:rPr sz="2400" dirty="0"/>
              <a:t>bằng</a:t>
            </a:r>
            <a:r>
              <a:rPr sz="2400" spc="-35" dirty="0"/>
              <a:t> </a:t>
            </a:r>
            <a:r>
              <a:rPr sz="2400" dirty="0"/>
              <a:t>thuật</a:t>
            </a:r>
            <a:r>
              <a:rPr sz="2400" spc="-30" dirty="0"/>
              <a:t> </a:t>
            </a:r>
            <a:r>
              <a:rPr sz="2400" dirty="0"/>
              <a:t>toán</a:t>
            </a:r>
            <a:r>
              <a:rPr sz="2400" spc="-30" dirty="0"/>
              <a:t> </a:t>
            </a:r>
            <a:r>
              <a:rPr sz="2400" spc="-10" dirty="0"/>
              <a:t>loang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68300" y="1130300"/>
            <a:ext cx="8229600" cy="5248275"/>
          </a:xfrm>
          <a:custGeom>
            <a:avLst/>
            <a:gdLst/>
            <a:ahLst/>
            <a:cxnLst/>
            <a:rect l="l" t="t" r="r" b="b"/>
            <a:pathLst>
              <a:path w="8229600" h="5248275">
                <a:moveTo>
                  <a:pt x="0" y="0"/>
                </a:moveTo>
                <a:lnTo>
                  <a:pt x="0" y="5247894"/>
                </a:lnTo>
                <a:lnTo>
                  <a:pt x="8229600" y="5247894"/>
                </a:lnTo>
                <a:lnTo>
                  <a:pt x="82296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373" y="1101227"/>
            <a:ext cx="7990205" cy="461518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0" u="heavy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1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Khởi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tạo</a:t>
            </a:r>
            <a:endParaRPr sz="2400">
              <a:latin typeface="Verdana"/>
              <a:cs typeface="Verdana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430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000" dirty="0">
                <a:latin typeface="Arial"/>
                <a:cs typeface="Arial"/>
              </a:rPr>
              <a:t>Bắt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từ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Đánh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dấu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đầu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chưa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bị </a:t>
            </a:r>
            <a:r>
              <a:rPr sz="2000" dirty="0">
                <a:latin typeface="Arial"/>
                <a:cs typeface="Arial"/>
              </a:rPr>
              <a:t>đánh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dấu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{s},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Ø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Bước</a:t>
            </a:r>
            <a:r>
              <a:rPr sz="2400" u="heavy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2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Lặp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lại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cho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đến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khi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X=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Ø</a:t>
            </a:r>
            <a:endParaRPr sz="24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3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Gán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Y=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Ø.</a:t>
            </a:r>
            <a:endParaRPr sz="20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0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Với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mọi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đỉnh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  <a:p>
            <a:pPr marL="1155065" marR="266065" lvl="2" indent="-228600">
              <a:lnSpc>
                <a:spcPct val="100000"/>
              </a:lnSpc>
              <a:spcBef>
                <a:spcPts val="409"/>
              </a:spcBef>
              <a:buClr>
                <a:srgbClr val="1D528E"/>
              </a:buClr>
              <a:buChar char="•"/>
              <a:tabLst>
                <a:tab pos="1156335" algn="l"/>
              </a:tabLst>
            </a:pPr>
            <a:r>
              <a:rPr sz="1800" dirty="0">
                <a:latin typeface="Arial"/>
                <a:cs typeface="Arial"/>
              </a:rPr>
              <a:t>Xét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tất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chưa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bị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dấu.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đỉnh 	</a:t>
            </a:r>
            <a:r>
              <a:rPr sz="1800" spc="-25" dirty="0">
                <a:latin typeface="Arial"/>
                <a:cs typeface="Arial"/>
              </a:rPr>
              <a:t>đó:</a:t>
            </a:r>
            <a:endParaRPr sz="1800">
              <a:latin typeface="Arial"/>
              <a:cs typeface="Arial"/>
            </a:endParaRPr>
          </a:p>
          <a:p>
            <a:pPr marL="1675764" lvl="3" indent="-291465">
              <a:lnSpc>
                <a:spcPct val="100000"/>
              </a:lnSpc>
              <a:spcBef>
                <a:spcPts val="445"/>
              </a:spcBef>
              <a:buChar char="–"/>
              <a:tabLst>
                <a:tab pos="1675764" algn="l"/>
              </a:tabLst>
            </a:pPr>
            <a:r>
              <a:rPr sz="1800" dirty="0">
                <a:latin typeface="Arial"/>
                <a:cs typeface="Arial"/>
              </a:rPr>
              <a:t>Đánh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v</a:t>
            </a:r>
            <a:endParaRPr sz="1800">
              <a:latin typeface="Arial"/>
              <a:cs typeface="Arial"/>
            </a:endParaRPr>
          </a:p>
          <a:p>
            <a:pPr marL="1612265" lvl="3" indent="-227965">
              <a:lnSpc>
                <a:spcPct val="100000"/>
              </a:lnSpc>
              <a:spcBef>
                <a:spcPts val="434"/>
              </a:spcBef>
              <a:buChar char="–"/>
              <a:tabLst>
                <a:tab pos="1612265" algn="l"/>
              </a:tabLst>
            </a:pPr>
            <a:r>
              <a:rPr sz="1800" dirty="0">
                <a:latin typeface="Arial"/>
                <a:cs typeface="Arial"/>
              </a:rPr>
              <a:t>Lưu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đường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liền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trước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đường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75" dirty="0">
                <a:latin typeface="Wingdings"/>
                <a:cs typeface="Wingdings"/>
              </a:rPr>
              <a:t>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u.</a:t>
            </a:r>
            <a:endParaRPr sz="1800">
              <a:latin typeface="Arial"/>
              <a:cs typeface="Arial"/>
            </a:endParaRPr>
          </a:p>
          <a:p>
            <a:pPr marL="1612265" lvl="3" indent="-227965">
              <a:lnSpc>
                <a:spcPct val="100000"/>
              </a:lnSpc>
              <a:spcBef>
                <a:spcPts val="440"/>
              </a:spcBef>
              <a:buChar char="–"/>
              <a:tabLst>
                <a:tab pos="1612265" algn="l"/>
              </a:tabLst>
            </a:pPr>
            <a:r>
              <a:rPr sz="1800" dirty="0">
                <a:latin typeface="Arial"/>
                <a:cs typeface="Arial"/>
              </a:rPr>
              <a:t>Đưa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47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000" dirty="0">
                <a:latin typeface="Arial"/>
                <a:cs typeface="Arial"/>
              </a:rPr>
              <a:t>Gán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X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Y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II.</a:t>
            </a:r>
            <a:r>
              <a:rPr spc="-40" dirty="0"/>
              <a:t> </a:t>
            </a:r>
            <a:r>
              <a:rPr dirty="0"/>
              <a:t>Duyệt</a:t>
            </a:r>
            <a:r>
              <a:rPr spc="-30" dirty="0"/>
              <a:t> </a:t>
            </a:r>
            <a:r>
              <a:rPr dirty="0"/>
              <a:t>đồ</a:t>
            </a:r>
            <a:r>
              <a:rPr spc="-35" dirty="0"/>
              <a:t> </a:t>
            </a:r>
            <a:r>
              <a:rPr dirty="0"/>
              <a:t>thị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38" y="933237"/>
            <a:ext cx="7733030" cy="26390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Ý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nghĩa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Kiểm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giữa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đỉnh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Chia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Xây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cây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khung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thị</a:t>
            </a:r>
            <a:endParaRPr sz="2400">
              <a:latin typeface="Arial"/>
              <a:cs typeface="Arial"/>
            </a:endParaRPr>
          </a:p>
          <a:p>
            <a:pPr marL="755015" marR="5080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ngắn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nhất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còn lại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899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33085" cy="1988185"/>
            <a:chOff x="617009" y="1563200"/>
            <a:chExt cx="5633085" cy="1988185"/>
          </a:xfrm>
        </p:grpSpPr>
        <p:sp>
          <p:nvSpPr>
            <p:cNvPr id="8" name="object 8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9455"/>
                  </a:move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854" y="3098545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430" y="5798"/>
                  </a:lnTo>
                  <a:lnTo>
                    <a:pt x="122353" y="22313"/>
                  </a:lnTo>
                  <a:lnTo>
                    <a:pt x="81753" y="48225"/>
                  </a:lnTo>
                  <a:lnTo>
                    <a:pt x="47926" y="82216"/>
                  </a:lnTo>
                  <a:lnTo>
                    <a:pt x="22162" y="122964"/>
                  </a:lnTo>
                  <a:lnTo>
                    <a:pt x="5756" y="169150"/>
                  </a:lnTo>
                  <a:lnTo>
                    <a:pt x="0" y="219456"/>
                  </a:lnTo>
                  <a:lnTo>
                    <a:pt x="5756" y="269719"/>
                  </a:lnTo>
                  <a:lnTo>
                    <a:pt x="22162" y="315796"/>
                  </a:lnTo>
                  <a:lnTo>
                    <a:pt x="47926" y="356396"/>
                  </a:lnTo>
                  <a:lnTo>
                    <a:pt x="81753" y="390223"/>
                  </a:lnTo>
                  <a:lnTo>
                    <a:pt x="122353" y="415987"/>
                  </a:lnTo>
                  <a:lnTo>
                    <a:pt x="168430" y="432393"/>
                  </a:lnTo>
                  <a:lnTo>
                    <a:pt x="218694" y="438150"/>
                  </a:lnTo>
                  <a:lnTo>
                    <a:pt x="4644390" y="438149"/>
                  </a:lnTo>
                  <a:lnTo>
                    <a:pt x="4694695" y="432393"/>
                  </a:lnTo>
                  <a:lnTo>
                    <a:pt x="4740881" y="415987"/>
                  </a:lnTo>
                  <a:lnTo>
                    <a:pt x="4781629" y="390223"/>
                  </a:lnTo>
                  <a:lnTo>
                    <a:pt x="4815620" y="356396"/>
                  </a:lnTo>
                  <a:lnTo>
                    <a:pt x="4841532" y="315796"/>
                  </a:lnTo>
                  <a:lnTo>
                    <a:pt x="4858047" y="269719"/>
                  </a:lnTo>
                  <a:lnTo>
                    <a:pt x="4863846" y="219455"/>
                  </a:lnTo>
                  <a:lnTo>
                    <a:pt x="4859385" y="175240"/>
                  </a:lnTo>
                  <a:lnTo>
                    <a:pt x="4846593" y="134052"/>
                  </a:lnTo>
                  <a:lnTo>
                    <a:pt x="4826354" y="96775"/>
                  </a:lnTo>
                  <a:lnTo>
                    <a:pt x="4799552" y="64293"/>
                  </a:lnTo>
                  <a:lnTo>
                    <a:pt x="4767070" y="37491"/>
                  </a:lnTo>
                  <a:lnTo>
                    <a:pt x="4729793" y="17252"/>
                  </a:lnTo>
                  <a:lnTo>
                    <a:pt x="4688605" y="4460"/>
                  </a:lnTo>
                  <a:lnTo>
                    <a:pt x="4644390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1358899" y="38544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18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</a:t>
            </a:r>
            <a:r>
              <a:rPr spc="-50" dirty="0"/>
              <a:t> </a:t>
            </a:r>
            <a:r>
              <a:rPr dirty="0"/>
              <a:t>Tìm</a:t>
            </a:r>
            <a:r>
              <a:rPr spc="-45" dirty="0"/>
              <a:t> </a:t>
            </a:r>
            <a:r>
              <a:rPr dirty="0"/>
              <a:t>đường</a:t>
            </a:r>
            <a:r>
              <a:rPr spc="-35" dirty="0"/>
              <a:t> </a:t>
            </a:r>
            <a:r>
              <a:rPr spc="-25" dirty="0"/>
              <a:t>đi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33237"/>
            <a:ext cx="7799705" cy="38087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Bài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toán</a:t>
            </a:r>
            <a:endParaRPr sz="2800">
              <a:latin typeface="Verdana"/>
              <a:cs typeface="Verdana"/>
            </a:endParaRPr>
          </a:p>
          <a:p>
            <a:pPr marL="755650" marR="10858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tùy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ý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thị.</a:t>
            </a:r>
            <a:r>
              <a:rPr sz="2400" spc="-25" dirty="0">
                <a:latin typeface="Arial"/>
                <a:cs typeface="Arial"/>
              </a:rPr>
              <a:t> Hãy </a:t>
            </a:r>
            <a:r>
              <a:rPr sz="2400" dirty="0">
                <a:latin typeface="Arial"/>
                <a:cs typeface="Arial"/>
              </a:rPr>
              <a:t>tìm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đường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Phương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pháp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ts val="2875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Bắt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đầu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DFS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BFS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duyệt</a:t>
            </a:r>
            <a:endParaRPr sz="2400">
              <a:latin typeface="Arial"/>
              <a:cs typeface="Arial"/>
            </a:endParaRPr>
          </a:p>
          <a:p>
            <a:pPr marL="755015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500"/>
              </a:spcBef>
              <a:buClr>
                <a:srgbClr val="1D528E"/>
              </a:buClr>
              <a:buChar char="•"/>
              <a:tabLst>
                <a:tab pos="1155065" algn="l"/>
              </a:tabLst>
            </a:pPr>
            <a:r>
              <a:rPr sz="2000" dirty="0">
                <a:latin typeface="Arial"/>
                <a:cs typeface="Arial"/>
              </a:rPr>
              <a:t>Tìm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thấy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ChuaXet(t)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470"/>
              </a:spcBef>
              <a:buClr>
                <a:srgbClr val="1D528E"/>
              </a:buClr>
              <a:buChar char="•"/>
              <a:tabLst>
                <a:tab pos="1155065" algn="l"/>
              </a:tabLst>
            </a:pPr>
            <a:r>
              <a:rPr sz="2000" dirty="0">
                <a:latin typeface="Arial"/>
                <a:cs typeface="Arial"/>
              </a:rPr>
              <a:t>Không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tìm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thấy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ChuaXet(t)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50" dirty="0">
                <a:latin typeface="Arial"/>
                <a:cs typeface="Arial"/>
              </a:rPr>
              <a:t> 1</a:t>
            </a:r>
            <a:endParaRPr sz="2000">
              <a:latin typeface="Arial"/>
              <a:cs typeface="Arial"/>
            </a:endParaRPr>
          </a:p>
          <a:p>
            <a:pPr marL="755015" lvl="1" indent="-317500">
              <a:lnSpc>
                <a:spcPct val="100000"/>
              </a:lnSpc>
              <a:spcBef>
                <a:spcPts val="55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thêm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mảng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Truoc[]</a:t>
            </a:r>
            <a:r>
              <a:rPr sz="240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vết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III.1.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5" dirty="0"/>
              <a:t>sâu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959104"/>
            <a:ext cx="7125334" cy="520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50465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Verdana"/>
                <a:cs typeface="Verdana"/>
              </a:rPr>
              <a:t>/*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Khai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báo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các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biến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*/ </a:t>
            </a:r>
            <a:r>
              <a:rPr sz="2000" spc="-10" dirty="0">
                <a:latin typeface="Verdana"/>
                <a:cs typeface="Verdana"/>
              </a:rPr>
              <a:t>DFS(v);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355600" marR="4639310">
              <a:lnSpc>
                <a:spcPct val="998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Duyệt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đỉnh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(v); </a:t>
            </a:r>
            <a:r>
              <a:rPr sz="2000" dirty="0">
                <a:latin typeface="Verdana"/>
                <a:cs typeface="Verdana"/>
              </a:rPr>
              <a:t>ChuaXet[v]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0;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Ke(v)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88963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Verdana"/>
                <a:cs typeface="Verdana"/>
              </a:rPr>
              <a:t>if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ChuaXet[u]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1523365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2501265" marR="1256030" indent="-88900">
              <a:lnSpc>
                <a:spcPct val="100000"/>
              </a:lnSpc>
            </a:pP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Truoc[u]</a:t>
            </a:r>
            <a:r>
              <a:rPr sz="2000" spc="-4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=</a:t>
            </a:r>
            <a:r>
              <a:rPr sz="2000" spc="-3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v;</a:t>
            </a:r>
            <a:r>
              <a:rPr sz="2000" spc="-3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/*</a:t>
            </a:r>
            <a:r>
              <a:rPr sz="2000" spc="-4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3300"/>
                </a:solidFill>
                <a:latin typeface="Verdana"/>
                <a:cs typeface="Verdana"/>
              </a:rPr>
              <a:t>Lưu</a:t>
            </a:r>
            <a:r>
              <a:rPr sz="2000" spc="-3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3300"/>
                </a:solidFill>
                <a:latin typeface="Verdana"/>
                <a:cs typeface="Verdana"/>
              </a:rPr>
              <a:t>vết*/ </a:t>
            </a:r>
            <a:r>
              <a:rPr sz="2000" spc="-10" dirty="0">
                <a:latin typeface="Verdana"/>
                <a:cs typeface="Verdana"/>
              </a:rPr>
              <a:t>DFS(u);</a:t>
            </a:r>
            <a:endParaRPr sz="2000">
              <a:latin typeface="Verdana"/>
              <a:cs typeface="Verdana"/>
            </a:endParaRPr>
          </a:p>
          <a:p>
            <a:pPr marL="16129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main()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//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Nhập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đồ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thị,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tạo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biến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Ke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395"/>
              </a:lnSpc>
            </a:pPr>
            <a:r>
              <a:rPr sz="2000" spc="-50" dirty="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  <a:p>
            <a:pPr marL="355600" marR="5080">
              <a:lnSpc>
                <a:spcPts val="2410"/>
              </a:lnSpc>
              <a:spcBef>
                <a:spcPts val="65"/>
              </a:spcBef>
            </a:pPr>
            <a:r>
              <a:rPr sz="2000" dirty="0">
                <a:latin typeface="Verdana"/>
                <a:cs typeface="Verdana"/>
              </a:rPr>
              <a:t>for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ChuaXet[v]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1;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//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Khởi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tạo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cờ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đỉnh </a:t>
            </a:r>
            <a:r>
              <a:rPr sz="2000" spc="-10" dirty="0">
                <a:solidFill>
                  <a:srgbClr val="FF3300"/>
                </a:solidFill>
                <a:latin typeface="Verdana"/>
                <a:cs typeface="Verdana"/>
              </a:rPr>
              <a:t>DFS(s);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ts val="2320"/>
              </a:lnSpc>
            </a:pPr>
            <a:r>
              <a:rPr sz="2000" spc="-50" dirty="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III.2.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801" y="893572"/>
            <a:ext cx="5923915" cy="540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4015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/*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Khai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báo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các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biến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ChuaXet,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,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*/ </a:t>
            </a:r>
            <a:r>
              <a:rPr sz="1600" spc="-10" dirty="0">
                <a:latin typeface="Verdana"/>
                <a:cs typeface="Verdana"/>
              </a:rPr>
              <a:t>BFS(v);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55600" marR="1165225" indent="-63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</a:t>
            </a:r>
            <a:r>
              <a:rPr sz="1600" dirty="0">
                <a:latin typeface="Verdana"/>
                <a:cs typeface="Verdana"/>
              </a:rPr>
              <a:t>;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v;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ChuaXet[v]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0; </a:t>
            </a:r>
            <a:r>
              <a:rPr sz="1600" dirty="0">
                <a:latin typeface="Verdana"/>
                <a:cs typeface="Verdana"/>
              </a:rPr>
              <a:t>while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≠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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Verdana"/>
                <a:cs typeface="Verdana"/>
              </a:rPr>
              <a:t>QUEUE;</a:t>
            </a:r>
            <a:endParaRPr sz="1600">
              <a:latin typeface="Verdana"/>
              <a:cs typeface="Verdana"/>
            </a:endParaRPr>
          </a:p>
          <a:p>
            <a:pPr marL="927100" marR="3317240" indent="8636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Duyệt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đỉnh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p;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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Ke(p)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if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ChuaXet[u]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15785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QUEUE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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Verdana"/>
                <a:cs typeface="Verdana"/>
              </a:rPr>
              <a:t>u;</a:t>
            </a:r>
            <a:endParaRPr sz="1600">
              <a:latin typeface="Verdana"/>
              <a:cs typeface="Verdana"/>
            </a:endParaRPr>
          </a:p>
          <a:p>
            <a:pPr marL="3157855" marR="136525" indent="-12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Verdana"/>
                <a:cs typeface="Verdana"/>
              </a:rPr>
              <a:t>ChuaXet[u]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0;</a:t>
            </a:r>
            <a:r>
              <a:rPr sz="1600" spc="500" dirty="0"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Truoc[u]</a:t>
            </a:r>
            <a:r>
              <a:rPr sz="1600" spc="-60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=</a:t>
            </a:r>
            <a:r>
              <a:rPr sz="1600" spc="-5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3300"/>
                </a:solidFill>
                <a:latin typeface="Verdana"/>
                <a:cs typeface="Verdana"/>
              </a:rPr>
              <a:t>p;/*Lưu</a:t>
            </a:r>
            <a:r>
              <a:rPr sz="1600" spc="-55" dirty="0">
                <a:solidFill>
                  <a:srgbClr val="FF330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3300"/>
                </a:solidFill>
                <a:latin typeface="Verdana"/>
                <a:cs typeface="Verdana"/>
              </a:rPr>
              <a:t>vết*/</a:t>
            </a:r>
            <a:endParaRPr sz="1600">
              <a:latin typeface="Verdana"/>
              <a:cs typeface="Verdana"/>
            </a:endParaRPr>
          </a:p>
          <a:p>
            <a:pPr marL="2085975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  <a:tabLst>
                <a:tab pos="927100" algn="l"/>
              </a:tabLst>
            </a:pPr>
            <a:r>
              <a:rPr sz="1600" spc="-10" dirty="0">
                <a:latin typeface="Verdana"/>
                <a:cs typeface="Verdana"/>
              </a:rPr>
              <a:t>main()</a:t>
            </a:r>
            <a:r>
              <a:rPr sz="1600" dirty="0">
                <a:latin typeface="Verdana"/>
                <a:cs typeface="Verdana"/>
              </a:rPr>
              <a:t>	//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Nhập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đồ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thị,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tạo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biến</a:t>
            </a:r>
            <a:r>
              <a:rPr sz="1600" spc="-25" dirty="0">
                <a:latin typeface="Verdana"/>
                <a:cs typeface="Verdana"/>
              </a:rPr>
              <a:t> Ke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{</a:t>
            </a:r>
            <a:endParaRPr sz="1600">
              <a:latin typeface="Verdana"/>
              <a:cs typeface="Verdana"/>
            </a:endParaRPr>
          </a:p>
          <a:p>
            <a:pPr marL="355600" marR="5080">
              <a:lnSpc>
                <a:spcPct val="100000"/>
              </a:lnSpc>
              <a:spcBef>
                <a:spcPts val="5"/>
              </a:spcBef>
              <a:tabLst>
                <a:tab pos="1727200" algn="l"/>
                <a:tab pos="3566160" algn="l"/>
              </a:tabLst>
            </a:pPr>
            <a:r>
              <a:rPr sz="1600" dirty="0">
                <a:latin typeface="Verdana"/>
                <a:cs typeface="Verdana"/>
              </a:rPr>
              <a:t>for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Symbol"/>
                <a:cs typeface="Symbol"/>
              </a:rPr>
              <a:t>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)</a:t>
            </a:r>
            <a:r>
              <a:rPr sz="1600" dirty="0">
                <a:latin typeface="Verdana"/>
                <a:cs typeface="Verdana"/>
              </a:rPr>
              <a:t>	ChuaXet[v]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=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1;</a:t>
            </a:r>
            <a:r>
              <a:rPr sz="1600" dirty="0">
                <a:latin typeface="Verdana"/>
                <a:cs typeface="Verdana"/>
              </a:rPr>
              <a:t>	//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Khởi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tạo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cờ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cho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đỉnh </a:t>
            </a:r>
            <a:r>
              <a:rPr sz="1600" spc="-10" dirty="0">
                <a:solidFill>
                  <a:srgbClr val="FF3300"/>
                </a:solidFill>
                <a:latin typeface="Verdana"/>
                <a:cs typeface="Verdana"/>
              </a:rPr>
              <a:t>BFS(s);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Verdana"/>
                <a:cs typeface="Verdana"/>
              </a:rPr>
              <a:t>}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III.2.</a:t>
            </a:r>
            <a:r>
              <a:rPr spc="-40" dirty="0"/>
              <a:t> </a:t>
            </a:r>
            <a:r>
              <a:rPr dirty="0"/>
              <a:t>Tìm</a:t>
            </a:r>
            <a:r>
              <a:rPr spc="-55" dirty="0"/>
              <a:t> </a:t>
            </a:r>
            <a:r>
              <a:rPr dirty="0"/>
              <a:t>đường</a:t>
            </a:r>
            <a:r>
              <a:rPr spc="-30" dirty="0"/>
              <a:t> </a:t>
            </a:r>
            <a:r>
              <a:rPr dirty="0"/>
              <a:t>đi</a:t>
            </a:r>
            <a:r>
              <a:rPr spc="-4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35" dirty="0"/>
              <a:t> </a:t>
            </a:r>
            <a:r>
              <a:rPr spc="-20" dirty="0"/>
              <a:t>rộng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101" y="1101597"/>
            <a:ext cx="4620895" cy="31305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25400" marR="17780">
              <a:lnSpc>
                <a:spcPts val="2860"/>
              </a:lnSpc>
              <a:spcBef>
                <a:spcPts val="210"/>
              </a:spcBef>
            </a:pPr>
            <a:r>
              <a:rPr sz="2400" dirty="0">
                <a:latin typeface="Verdana"/>
                <a:cs typeface="Verdana"/>
              </a:rPr>
              <a:t>Khôi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phục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đường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đi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từ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đến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t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1</a:t>
            </a:r>
            <a:r>
              <a:rPr sz="2400" spc="232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2</a:t>
            </a:r>
            <a:r>
              <a:rPr sz="2400" spc="240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…</a:t>
            </a:r>
            <a:r>
              <a:rPr sz="2400" spc="-120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Verdana"/>
                <a:cs typeface="Verdana"/>
              </a:rPr>
              <a:t>x</a:t>
            </a:r>
            <a:r>
              <a:rPr sz="2400" baseline="-20833" dirty="0">
                <a:latin typeface="Verdana"/>
                <a:cs typeface="Verdana"/>
              </a:rPr>
              <a:t>n</a:t>
            </a:r>
            <a:r>
              <a:rPr sz="2400" spc="-120" baseline="-20833" dirty="0">
                <a:latin typeface="Verdana"/>
                <a:cs typeface="Verdana"/>
              </a:rPr>
              <a:t> </a:t>
            </a:r>
            <a:r>
              <a:rPr sz="2400" dirty="0">
                <a:latin typeface="Wingdings"/>
                <a:cs typeface="Wingdings"/>
              </a:rPr>
              <a:t>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Verdana"/>
                <a:cs typeface="Verdana"/>
              </a:rPr>
              <a:t>t</a:t>
            </a:r>
            <a:endParaRPr sz="2400">
              <a:latin typeface="Verdana"/>
              <a:cs typeface="Verdana"/>
            </a:endParaRPr>
          </a:p>
          <a:p>
            <a:pPr marL="25400">
              <a:lnSpc>
                <a:spcPts val="2870"/>
              </a:lnSpc>
              <a:spcBef>
                <a:spcPts val="2790"/>
              </a:spcBef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Cài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heavy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đặt</a:t>
            </a:r>
            <a:r>
              <a:rPr sz="2400" spc="-20" dirty="0">
                <a:latin typeface="Verdana"/>
                <a:cs typeface="Verdana"/>
              </a:rPr>
              <a:t>:</a:t>
            </a:r>
            <a:endParaRPr sz="2400">
              <a:latin typeface="Verdana"/>
              <a:cs typeface="Verdana"/>
            </a:endParaRPr>
          </a:p>
          <a:p>
            <a:pPr marL="25400">
              <a:lnSpc>
                <a:spcPts val="2150"/>
              </a:lnSpc>
            </a:pPr>
            <a:r>
              <a:rPr sz="1800" dirty="0">
                <a:latin typeface="Verdana"/>
                <a:cs typeface="Verdana"/>
              </a:rPr>
              <a:t>v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t;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while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(v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!=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s)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marL="3683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printf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(v);</a:t>
            </a:r>
            <a:endParaRPr sz="1800">
              <a:latin typeface="Verdana"/>
              <a:cs typeface="Verdana"/>
            </a:endParaRPr>
          </a:p>
          <a:p>
            <a:pPr marL="3683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v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-10" dirty="0">
                <a:latin typeface="Verdana"/>
                <a:cs typeface="Verdana"/>
              </a:rPr>
              <a:t> Truoc[v];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/>
              <a:t>Nội</a:t>
            </a:r>
            <a:r>
              <a:rPr sz="3200" spc="-25" dirty="0"/>
              <a:t> </a:t>
            </a:r>
            <a:r>
              <a:rPr sz="3200" spc="-20" dirty="0"/>
              <a:t>dung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358899" y="2406650"/>
            <a:ext cx="4864100" cy="432434"/>
          </a:xfrm>
          <a:custGeom>
            <a:avLst/>
            <a:gdLst/>
            <a:ahLst/>
            <a:cxnLst/>
            <a:rect l="l" t="t" r="r" b="b"/>
            <a:pathLst>
              <a:path w="4864100" h="432435">
                <a:moveTo>
                  <a:pt x="215646" y="0"/>
                </a:moveTo>
                <a:lnTo>
                  <a:pt x="166271" y="5707"/>
                </a:lnTo>
                <a:lnTo>
                  <a:pt x="120909" y="21958"/>
                </a:lnTo>
                <a:lnTo>
                  <a:pt x="80865" y="47446"/>
                </a:lnTo>
                <a:lnTo>
                  <a:pt x="47446" y="80865"/>
                </a:lnTo>
                <a:lnTo>
                  <a:pt x="21958" y="120909"/>
                </a:lnTo>
                <a:lnTo>
                  <a:pt x="5707" y="166271"/>
                </a:lnTo>
                <a:lnTo>
                  <a:pt x="0" y="215646"/>
                </a:lnTo>
                <a:lnTo>
                  <a:pt x="5707" y="265302"/>
                </a:lnTo>
                <a:lnTo>
                  <a:pt x="21958" y="310867"/>
                </a:lnTo>
                <a:lnTo>
                  <a:pt x="47446" y="351046"/>
                </a:lnTo>
                <a:lnTo>
                  <a:pt x="80865" y="384547"/>
                </a:lnTo>
                <a:lnTo>
                  <a:pt x="120909" y="410078"/>
                </a:lnTo>
                <a:lnTo>
                  <a:pt x="166271" y="426344"/>
                </a:lnTo>
                <a:lnTo>
                  <a:pt x="215646" y="432054"/>
                </a:lnTo>
                <a:lnTo>
                  <a:pt x="4648200" y="432053"/>
                </a:lnTo>
                <a:lnTo>
                  <a:pt x="4697574" y="426344"/>
                </a:lnTo>
                <a:lnTo>
                  <a:pt x="4742936" y="410078"/>
                </a:lnTo>
                <a:lnTo>
                  <a:pt x="4782980" y="384547"/>
                </a:lnTo>
                <a:lnTo>
                  <a:pt x="4816399" y="351046"/>
                </a:lnTo>
                <a:lnTo>
                  <a:pt x="4841887" y="310867"/>
                </a:lnTo>
                <a:lnTo>
                  <a:pt x="4858138" y="265302"/>
                </a:lnTo>
                <a:lnTo>
                  <a:pt x="4863846" y="215645"/>
                </a:lnTo>
                <a:lnTo>
                  <a:pt x="4858138" y="166271"/>
                </a:lnTo>
                <a:lnTo>
                  <a:pt x="4841887" y="120909"/>
                </a:lnTo>
                <a:lnTo>
                  <a:pt x="4816399" y="80865"/>
                </a:lnTo>
                <a:lnTo>
                  <a:pt x="4782980" y="47446"/>
                </a:lnTo>
                <a:lnTo>
                  <a:pt x="4742936" y="21958"/>
                </a:lnTo>
                <a:lnTo>
                  <a:pt x="4697574" y="5707"/>
                </a:lnTo>
                <a:lnTo>
                  <a:pt x="4648200" y="0"/>
                </a:lnTo>
                <a:lnTo>
                  <a:pt x="215646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98600" y="2452624"/>
            <a:ext cx="34671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rộng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8900" y="1739900"/>
            <a:ext cx="4864100" cy="438150"/>
          </a:xfrm>
          <a:custGeom>
            <a:avLst/>
            <a:gdLst/>
            <a:ahLst/>
            <a:cxnLst/>
            <a:rect l="l" t="t" r="r" b="b"/>
            <a:pathLst>
              <a:path w="4864100" h="438150">
                <a:moveTo>
                  <a:pt x="218694" y="0"/>
                </a:moveTo>
                <a:lnTo>
                  <a:pt x="168670" y="5796"/>
                </a:lnTo>
                <a:lnTo>
                  <a:pt x="122686" y="22295"/>
                </a:lnTo>
                <a:lnTo>
                  <a:pt x="82073" y="48165"/>
                </a:lnTo>
                <a:lnTo>
                  <a:pt x="48165" y="82073"/>
                </a:lnTo>
                <a:lnTo>
                  <a:pt x="22295" y="122686"/>
                </a:lnTo>
                <a:lnTo>
                  <a:pt x="5796" y="168670"/>
                </a:lnTo>
                <a:lnTo>
                  <a:pt x="0" y="218694"/>
                </a:lnTo>
                <a:lnTo>
                  <a:pt x="5796" y="268999"/>
                </a:lnTo>
                <a:lnTo>
                  <a:pt x="22295" y="315185"/>
                </a:lnTo>
                <a:lnTo>
                  <a:pt x="48165" y="355933"/>
                </a:lnTo>
                <a:lnTo>
                  <a:pt x="82073" y="389924"/>
                </a:lnTo>
                <a:lnTo>
                  <a:pt x="122686" y="415836"/>
                </a:lnTo>
                <a:lnTo>
                  <a:pt x="168670" y="432351"/>
                </a:lnTo>
                <a:lnTo>
                  <a:pt x="218694" y="438150"/>
                </a:lnTo>
                <a:lnTo>
                  <a:pt x="4645152" y="438149"/>
                </a:lnTo>
                <a:lnTo>
                  <a:pt x="4695415" y="432351"/>
                </a:lnTo>
                <a:lnTo>
                  <a:pt x="4741492" y="415836"/>
                </a:lnTo>
                <a:lnTo>
                  <a:pt x="4782092" y="389924"/>
                </a:lnTo>
                <a:lnTo>
                  <a:pt x="4815919" y="355933"/>
                </a:lnTo>
                <a:lnTo>
                  <a:pt x="4841683" y="315185"/>
                </a:lnTo>
                <a:lnTo>
                  <a:pt x="4858089" y="268999"/>
                </a:lnTo>
                <a:lnTo>
                  <a:pt x="4863846" y="218693"/>
                </a:lnTo>
                <a:lnTo>
                  <a:pt x="4858089" y="168670"/>
                </a:lnTo>
                <a:lnTo>
                  <a:pt x="4841683" y="122686"/>
                </a:lnTo>
                <a:lnTo>
                  <a:pt x="4815919" y="82073"/>
                </a:lnTo>
                <a:lnTo>
                  <a:pt x="4782092" y="48165"/>
                </a:lnTo>
                <a:lnTo>
                  <a:pt x="4741492" y="22295"/>
                </a:lnTo>
                <a:lnTo>
                  <a:pt x="4695415" y="5796"/>
                </a:lnTo>
                <a:lnTo>
                  <a:pt x="4645152" y="0"/>
                </a:lnTo>
                <a:lnTo>
                  <a:pt x="218694" y="0"/>
                </a:lnTo>
                <a:close/>
              </a:path>
            </a:pathLst>
          </a:custGeom>
          <a:ln w="28575">
            <a:solidFill>
              <a:srgbClr val="C0C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00124" y="1789683"/>
            <a:ext cx="33413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Duyệt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đồ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thị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theo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chiều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sâu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7009" y="1563200"/>
            <a:ext cx="5633085" cy="1976120"/>
            <a:chOff x="617009" y="1563200"/>
            <a:chExt cx="5633085" cy="19761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1563200"/>
              <a:ext cx="763250" cy="66619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1624075"/>
              <a:ext cx="352806" cy="3368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2249000"/>
              <a:ext cx="763250" cy="6661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2309876"/>
              <a:ext cx="352806" cy="33680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371854" y="3092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031" y="5707"/>
                  </a:lnTo>
                  <a:lnTo>
                    <a:pt x="120575" y="21958"/>
                  </a:lnTo>
                  <a:lnTo>
                    <a:pt x="80545" y="47446"/>
                  </a:lnTo>
                  <a:lnTo>
                    <a:pt x="47206" y="80865"/>
                  </a:lnTo>
                  <a:lnTo>
                    <a:pt x="21824" y="120909"/>
                  </a:lnTo>
                  <a:lnTo>
                    <a:pt x="5667" y="166271"/>
                  </a:lnTo>
                  <a:lnTo>
                    <a:pt x="0" y="215646"/>
                  </a:lnTo>
                  <a:lnTo>
                    <a:pt x="5667" y="265302"/>
                  </a:lnTo>
                  <a:lnTo>
                    <a:pt x="21824" y="310867"/>
                  </a:lnTo>
                  <a:lnTo>
                    <a:pt x="47206" y="351046"/>
                  </a:lnTo>
                  <a:lnTo>
                    <a:pt x="80545" y="384547"/>
                  </a:lnTo>
                  <a:lnTo>
                    <a:pt x="120575" y="410078"/>
                  </a:lnTo>
                  <a:lnTo>
                    <a:pt x="16603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11553" y="3138424"/>
            <a:ext cx="16732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Tìm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đường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đi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9308" y="2934800"/>
            <a:ext cx="763905" cy="666750"/>
            <a:chOff x="629308" y="2934800"/>
            <a:chExt cx="763905" cy="66675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308" y="2934800"/>
              <a:ext cx="763583" cy="6661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578" y="2995676"/>
              <a:ext cx="352044" cy="33680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344612" y="3821112"/>
            <a:ext cx="4892675" cy="480059"/>
            <a:chOff x="1344612" y="3821112"/>
            <a:chExt cx="4892675" cy="480059"/>
          </a:xfrm>
        </p:grpSpPr>
        <p:sp>
          <p:nvSpPr>
            <p:cNvPr id="18" name="object 18"/>
            <p:cNvSpPr/>
            <p:nvPr/>
          </p:nvSpPr>
          <p:spPr>
            <a:xfrm>
              <a:off x="1358899" y="38354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4863846" y="218693"/>
                  </a:move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close/>
                </a:path>
              </a:pathLst>
            </a:custGeom>
            <a:solidFill>
              <a:srgbClr val="CC99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58899" y="3835400"/>
              <a:ext cx="4864100" cy="438150"/>
            </a:xfrm>
            <a:custGeom>
              <a:avLst/>
              <a:gdLst/>
              <a:ahLst/>
              <a:cxnLst/>
              <a:rect l="l" t="t" r="r" b="b"/>
              <a:pathLst>
                <a:path w="4864100" h="438150">
                  <a:moveTo>
                    <a:pt x="218694" y="0"/>
                  </a:moveTo>
                  <a:lnTo>
                    <a:pt x="168670" y="5796"/>
                  </a:lnTo>
                  <a:lnTo>
                    <a:pt x="122686" y="22295"/>
                  </a:lnTo>
                  <a:lnTo>
                    <a:pt x="82073" y="48165"/>
                  </a:lnTo>
                  <a:lnTo>
                    <a:pt x="48165" y="82073"/>
                  </a:lnTo>
                  <a:lnTo>
                    <a:pt x="22295" y="122686"/>
                  </a:lnTo>
                  <a:lnTo>
                    <a:pt x="5796" y="168670"/>
                  </a:lnTo>
                  <a:lnTo>
                    <a:pt x="0" y="218694"/>
                  </a:lnTo>
                  <a:lnTo>
                    <a:pt x="5796" y="268999"/>
                  </a:lnTo>
                  <a:lnTo>
                    <a:pt x="22295" y="315185"/>
                  </a:lnTo>
                  <a:lnTo>
                    <a:pt x="48165" y="355933"/>
                  </a:lnTo>
                  <a:lnTo>
                    <a:pt x="82073" y="389924"/>
                  </a:lnTo>
                  <a:lnTo>
                    <a:pt x="122686" y="415836"/>
                  </a:lnTo>
                  <a:lnTo>
                    <a:pt x="168670" y="432351"/>
                  </a:lnTo>
                  <a:lnTo>
                    <a:pt x="218694" y="438150"/>
                  </a:lnTo>
                  <a:lnTo>
                    <a:pt x="4645152" y="438149"/>
                  </a:lnTo>
                  <a:lnTo>
                    <a:pt x="4695415" y="432351"/>
                  </a:lnTo>
                  <a:lnTo>
                    <a:pt x="4741492" y="415836"/>
                  </a:lnTo>
                  <a:lnTo>
                    <a:pt x="4782092" y="389924"/>
                  </a:lnTo>
                  <a:lnTo>
                    <a:pt x="4815919" y="355933"/>
                  </a:lnTo>
                  <a:lnTo>
                    <a:pt x="4841683" y="315185"/>
                  </a:lnTo>
                  <a:lnTo>
                    <a:pt x="4858089" y="268999"/>
                  </a:lnTo>
                  <a:lnTo>
                    <a:pt x="4863846" y="218693"/>
                  </a:lnTo>
                  <a:lnTo>
                    <a:pt x="4858089" y="168670"/>
                  </a:lnTo>
                  <a:lnTo>
                    <a:pt x="4841683" y="122686"/>
                  </a:lnTo>
                  <a:lnTo>
                    <a:pt x="4815919" y="82073"/>
                  </a:lnTo>
                  <a:lnTo>
                    <a:pt x="4782092" y="48165"/>
                  </a:lnTo>
                  <a:lnTo>
                    <a:pt x="4741492" y="22295"/>
                  </a:lnTo>
                  <a:lnTo>
                    <a:pt x="4695415" y="5796"/>
                  </a:lnTo>
                  <a:lnTo>
                    <a:pt x="4645152" y="0"/>
                  </a:lnTo>
                  <a:lnTo>
                    <a:pt x="218694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58899" y="3854450"/>
              <a:ext cx="4864100" cy="432434"/>
            </a:xfrm>
            <a:custGeom>
              <a:avLst/>
              <a:gdLst/>
              <a:ahLst/>
              <a:cxnLst/>
              <a:rect l="l" t="t" r="r" b="b"/>
              <a:pathLst>
                <a:path w="4864100" h="432435">
                  <a:moveTo>
                    <a:pt x="215646" y="0"/>
                  </a:moveTo>
                  <a:lnTo>
                    <a:pt x="166271" y="5707"/>
                  </a:lnTo>
                  <a:lnTo>
                    <a:pt x="120909" y="21958"/>
                  </a:lnTo>
                  <a:lnTo>
                    <a:pt x="80865" y="47446"/>
                  </a:lnTo>
                  <a:lnTo>
                    <a:pt x="47446" y="80865"/>
                  </a:lnTo>
                  <a:lnTo>
                    <a:pt x="21958" y="120909"/>
                  </a:lnTo>
                  <a:lnTo>
                    <a:pt x="5707" y="166271"/>
                  </a:lnTo>
                  <a:lnTo>
                    <a:pt x="0" y="215646"/>
                  </a:lnTo>
                  <a:lnTo>
                    <a:pt x="5707" y="265302"/>
                  </a:lnTo>
                  <a:lnTo>
                    <a:pt x="21958" y="310867"/>
                  </a:lnTo>
                  <a:lnTo>
                    <a:pt x="47446" y="351046"/>
                  </a:lnTo>
                  <a:lnTo>
                    <a:pt x="80865" y="384547"/>
                  </a:lnTo>
                  <a:lnTo>
                    <a:pt x="120909" y="410078"/>
                  </a:lnTo>
                  <a:lnTo>
                    <a:pt x="166271" y="426344"/>
                  </a:lnTo>
                  <a:lnTo>
                    <a:pt x="215646" y="432054"/>
                  </a:lnTo>
                  <a:lnTo>
                    <a:pt x="4648200" y="432053"/>
                  </a:lnTo>
                  <a:lnTo>
                    <a:pt x="4697574" y="426344"/>
                  </a:lnTo>
                  <a:lnTo>
                    <a:pt x="4742936" y="410078"/>
                  </a:lnTo>
                  <a:lnTo>
                    <a:pt x="4782980" y="384547"/>
                  </a:lnTo>
                  <a:lnTo>
                    <a:pt x="4816399" y="351046"/>
                  </a:lnTo>
                  <a:lnTo>
                    <a:pt x="4841887" y="310867"/>
                  </a:lnTo>
                  <a:lnTo>
                    <a:pt x="4858138" y="265302"/>
                  </a:lnTo>
                  <a:lnTo>
                    <a:pt x="4863846" y="215645"/>
                  </a:lnTo>
                  <a:lnTo>
                    <a:pt x="4858138" y="166271"/>
                  </a:lnTo>
                  <a:lnTo>
                    <a:pt x="4841887" y="120909"/>
                  </a:lnTo>
                  <a:lnTo>
                    <a:pt x="4816399" y="80865"/>
                  </a:lnTo>
                  <a:lnTo>
                    <a:pt x="4782980" y="47446"/>
                  </a:lnTo>
                  <a:lnTo>
                    <a:pt x="4742936" y="21958"/>
                  </a:lnTo>
                  <a:lnTo>
                    <a:pt x="4697574" y="5707"/>
                  </a:lnTo>
                  <a:lnTo>
                    <a:pt x="4648200" y="0"/>
                  </a:lnTo>
                  <a:lnTo>
                    <a:pt x="215646" y="0"/>
                  </a:lnTo>
                  <a:close/>
                </a:path>
              </a:pathLst>
            </a:custGeom>
            <a:ln w="28575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98600" y="3900423"/>
            <a:ext cx="28581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Kiểm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tra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tính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liên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thông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17009" y="3696800"/>
            <a:ext cx="763270" cy="666750"/>
            <a:chOff x="617009" y="3696800"/>
            <a:chExt cx="763270" cy="66675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009" y="3696800"/>
              <a:ext cx="763250" cy="6661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624" y="3757676"/>
              <a:ext cx="352806" cy="336803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70127" y="1457147"/>
            <a:ext cx="523240" cy="2844800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6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I.</a:t>
            </a:r>
            <a:endParaRPr sz="3200">
              <a:latin typeface="Arial"/>
              <a:cs typeface="Arial"/>
            </a:endParaRPr>
          </a:p>
          <a:p>
            <a:pPr marL="48895" marR="13970" indent="42545">
              <a:lnSpc>
                <a:spcPct val="140600"/>
              </a:lnSpc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II. </a:t>
            </a:r>
            <a:r>
              <a:rPr sz="3200" b="1" spc="-20" dirty="0">
                <a:solidFill>
                  <a:srgbClr val="FFFFFF"/>
                </a:solidFill>
                <a:latin typeface="Arial"/>
                <a:cs typeface="Arial"/>
              </a:rPr>
              <a:t>III.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25" dirty="0">
                <a:solidFill>
                  <a:srgbClr val="FFFFFF"/>
                </a:solidFill>
                <a:latin typeface="Arial"/>
                <a:cs typeface="Arial"/>
              </a:rPr>
              <a:t>IV.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05802" y="6526846"/>
            <a:ext cx="1441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Lý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thuyết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23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</a:t>
            </a:r>
            <a:r>
              <a:rPr spc="-30" dirty="0"/>
              <a:t> </a:t>
            </a: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tra</a:t>
            </a:r>
            <a:r>
              <a:rPr spc="-15" dirty="0"/>
              <a:t> </a:t>
            </a:r>
            <a:r>
              <a:rPr dirty="0"/>
              <a:t>tính</a:t>
            </a:r>
            <a:r>
              <a:rPr spc="-15" dirty="0"/>
              <a:t> </a:t>
            </a:r>
            <a:r>
              <a:rPr dirty="0"/>
              <a:t>liên</a:t>
            </a:r>
            <a:r>
              <a:rPr spc="-15" dirty="0"/>
              <a:t> </a:t>
            </a:r>
            <a:r>
              <a:rPr spc="-10" dirty="0"/>
              <a:t>thông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76" y="933237"/>
            <a:ext cx="7920990" cy="38817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Bài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toán</a:t>
            </a:r>
            <a:endParaRPr sz="2800">
              <a:latin typeface="Verdana"/>
              <a:cs typeface="Verdana"/>
            </a:endParaRPr>
          </a:p>
          <a:p>
            <a:pPr marL="755650" marR="5080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Tính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đồ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thị,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định </a:t>
            </a:r>
            <a:r>
              <a:rPr sz="2400" dirty="0">
                <a:latin typeface="Arial"/>
                <a:cs typeface="Arial"/>
              </a:rPr>
              <a:t>những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đỉnh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thông.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65CCFF"/>
              </a:buClr>
              <a:buFont typeface="Wingdings"/>
              <a:buChar char=""/>
              <a:tabLst>
                <a:tab pos="354965" algn="l"/>
              </a:tabLst>
            </a:pPr>
            <a:r>
              <a:rPr sz="2800" dirty="0">
                <a:latin typeface="Verdana"/>
                <a:cs typeface="Verdana"/>
              </a:rPr>
              <a:t>Phương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pháp</a:t>
            </a:r>
            <a:endParaRPr sz="2800">
              <a:latin typeface="Verdana"/>
              <a:cs typeface="Verdana"/>
            </a:endParaRPr>
          </a:p>
          <a:p>
            <a:pPr marL="755015" lvl="1" indent="-317500">
              <a:lnSpc>
                <a:spcPct val="100000"/>
              </a:lnSpc>
              <a:spcBef>
                <a:spcPts val="515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Sử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DFS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BFS</a:t>
            </a:r>
            <a:endParaRPr sz="2400">
              <a:latin typeface="Arial"/>
              <a:cs typeface="Arial"/>
            </a:endParaRPr>
          </a:p>
          <a:p>
            <a:pPr marL="755015" lvl="1" indent="-317500">
              <a:lnSpc>
                <a:spcPts val="2875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Biến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2400" spc="-5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đồ</a:t>
            </a:r>
            <a:endParaRPr sz="2400">
              <a:latin typeface="Arial"/>
              <a:cs typeface="Arial"/>
            </a:endParaRPr>
          </a:p>
          <a:p>
            <a:pPr marL="755015">
              <a:lnSpc>
                <a:spcPts val="2875"/>
              </a:lnSpc>
            </a:pPr>
            <a:r>
              <a:rPr sz="2400" spc="-20" dirty="0">
                <a:latin typeface="Arial"/>
                <a:cs typeface="Arial"/>
              </a:rPr>
              <a:t>thị.</a:t>
            </a:r>
            <a:endParaRPr sz="2400">
              <a:latin typeface="Arial"/>
              <a:cs typeface="Arial"/>
            </a:endParaRPr>
          </a:p>
          <a:p>
            <a:pPr marL="755015" marR="696595" lvl="1" indent="-317500">
              <a:lnSpc>
                <a:spcPct val="100000"/>
              </a:lnSpc>
              <a:spcBef>
                <a:spcPts val="570"/>
              </a:spcBef>
              <a:buClr>
                <a:srgbClr val="1B9AD9"/>
              </a:buClr>
              <a:buFont typeface="Wingdings"/>
              <a:buChar char="■"/>
              <a:tabLst>
                <a:tab pos="755015" algn="l"/>
              </a:tabLst>
            </a:pPr>
            <a:r>
              <a:rPr sz="2400" dirty="0">
                <a:latin typeface="Arial"/>
                <a:cs typeface="Arial"/>
              </a:rPr>
              <a:t>Mảng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index[]</a:t>
            </a:r>
            <a:r>
              <a:rPr sz="2400" spc="-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thành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phần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liên </a:t>
            </a:r>
            <a:r>
              <a:rPr sz="2400" spc="-10" dirty="0">
                <a:latin typeface="Arial"/>
                <a:cs typeface="Arial"/>
              </a:rPr>
              <a:t>thông.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IV.1.</a:t>
            </a:r>
            <a:r>
              <a:rPr spc="-35" dirty="0"/>
              <a:t> </a:t>
            </a:r>
            <a:r>
              <a:rPr dirty="0"/>
              <a:t>Tìm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sâu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5402" y="6533704"/>
            <a:ext cx="295021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25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5018" y="960628"/>
            <a:ext cx="4370705" cy="3321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Khai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các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484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ChuaXet,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Ke,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index*/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 marR="19437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Duyệt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(v);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index[v]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inconnect;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  <a:spcBef>
                <a:spcPts val="30"/>
              </a:spcBef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Ke(v) </a:t>
            </a:r>
            <a:r>
              <a:rPr sz="1800" spc="-6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ChuaXet[u]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DFS(u);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Nhập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đồ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thị,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8677" y="4259271"/>
            <a:ext cx="255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Khởi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cờ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cho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đỉnh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0743" y="4259271"/>
            <a:ext cx="2964180" cy="13957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  <a:tabLst>
                <a:tab pos="1369060" algn="l"/>
              </a:tabLst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r>
              <a:rPr sz="1800" dirty="0">
                <a:latin typeface="Arial"/>
                <a:cs typeface="Arial"/>
              </a:rPr>
              <a:t>	ChuaXet[v]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0;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05"/>
              </a:lnSpc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84150">
              <a:lnSpc>
                <a:spcPts val="2150"/>
              </a:lnSpc>
              <a:tabLst>
                <a:tab pos="487680" algn="l"/>
              </a:tabLst>
            </a:pPr>
            <a:r>
              <a:rPr sz="1800" spc="-25" dirty="0">
                <a:latin typeface="Arial"/>
                <a:cs typeface="Arial"/>
              </a:rPr>
              <a:t>if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20193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4996" y="5629365"/>
            <a:ext cx="362013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3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++;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DFS(v);</a:t>
            </a:r>
            <a:endParaRPr sz="18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IV.2.</a:t>
            </a:r>
            <a:r>
              <a:rPr spc="-35" dirty="0"/>
              <a:t> </a:t>
            </a:r>
            <a:r>
              <a:rPr dirty="0"/>
              <a:t>Tìm</a:t>
            </a:r>
            <a:r>
              <a:rPr spc="-30" dirty="0"/>
              <a:t> </a:t>
            </a:r>
            <a:r>
              <a:rPr dirty="0"/>
              <a:t>theo</a:t>
            </a:r>
            <a:r>
              <a:rPr spc="-30" dirty="0"/>
              <a:t> </a:t>
            </a:r>
            <a:r>
              <a:rPr dirty="0"/>
              <a:t>chiều</a:t>
            </a:r>
            <a:r>
              <a:rPr spc="-25" dirty="0"/>
              <a:t> </a:t>
            </a:r>
            <a:r>
              <a:rPr spc="-20" dirty="0"/>
              <a:t>rông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402" y="6200447"/>
            <a:ext cx="2950210" cy="5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1665">
              <a:lnSpc>
                <a:spcPts val="209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3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4980" y="960628"/>
            <a:ext cx="6173470" cy="524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/*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Khai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báo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các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biến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toàn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cục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ChuaXet,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Ke,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QUEUE,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index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*/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BFS(v)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  <a:spcBef>
                <a:spcPts val="30"/>
              </a:spcBef>
              <a:tabLst>
                <a:tab pos="3095625" algn="l"/>
              </a:tabLst>
            </a:pPr>
            <a:r>
              <a:rPr sz="1800" dirty="0">
                <a:latin typeface="Arial"/>
                <a:cs typeface="Arial"/>
              </a:rPr>
              <a:t>QUEUE = 0; QUEUE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Arial"/>
                <a:cs typeface="Arial"/>
              </a:rPr>
              <a:t>v;</a:t>
            </a:r>
            <a:r>
              <a:rPr sz="1800" dirty="0">
                <a:latin typeface="Arial"/>
                <a:cs typeface="Arial"/>
              </a:rPr>
              <a:t>	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while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QUEUE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≠ 0 )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913130" marR="2423160">
              <a:lnSpc>
                <a:spcPts val="2140"/>
              </a:lnSpc>
              <a:spcBef>
                <a:spcPts val="114"/>
              </a:spcBef>
              <a:tabLst>
                <a:tab pos="2397125" algn="l"/>
              </a:tabLst>
            </a:pPr>
            <a:r>
              <a:rPr sz="1800" dirty="0">
                <a:latin typeface="Arial"/>
                <a:cs typeface="Arial"/>
              </a:rPr>
              <a:t>p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Arial"/>
                <a:cs typeface="Arial"/>
              </a:rPr>
              <a:t>QUEUE;</a:t>
            </a:r>
            <a:r>
              <a:rPr sz="1800" dirty="0">
                <a:latin typeface="Arial"/>
                <a:cs typeface="Arial"/>
              </a:rPr>
              <a:t>	Duyệt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p;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index[p]</a:t>
            </a:r>
            <a:r>
              <a:rPr sz="18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inconnect;</a:t>
            </a:r>
            <a:endParaRPr sz="1800">
              <a:latin typeface="Arial"/>
              <a:cs typeface="Arial"/>
            </a:endParaRPr>
          </a:p>
          <a:p>
            <a:pPr marL="913765">
              <a:lnSpc>
                <a:spcPts val="2105"/>
              </a:lnSpc>
              <a:tabLst>
                <a:tab pos="1307465" algn="l"/>
              </a:tabLst>
            </a:pPr>
            <a:r>
              <a:rPr sz="1800" spc="-25" dirty="0">
                <a:latin typeface="Arial"/>
                <a:cs typeface="Arial"/>
              </a:rPr>
              <a:t>for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Ke(p)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94765">
              <a:lnSpc>
                <a:spcPts val="2150"/>
              </a:lnSpc>
            </a:pPr>
            <a:r>
              <a:rPr sz="1800" dirty="0">
                <a:latin typeface="Arial"/>
                <a:cs typeface="Arial"/>
              </a:rPr>
              <a:t>if</a:t>
            </a:r>
            <a:r>
              <a:rPr sz="1800" spc="4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ChuaXet[u]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298700">
              <a:lnSpc>
                <a:spcPts val="2150"/>
              </a:lnSpc>
              <a:spcBef>
                <a:spcPts val="25"/>
              </a:spcBef>
            </a:pPr>
            <a:r>
              <a:rPr sz="1800" dirty="0">
                <a:latin typeface="Arial"/>
                <a:cs typeface="Arial"/>
              </a:rPr>
              <a:t>QUEUE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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u;ChuaXet[u]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0;</a:t>
            </a:r>
            <a:endParaRPr sz="1800">
              <a:latin typeface="Arial"/>
              <a:cs typeface="Arial"/>
            </a:endParaRPr>
          </a:p>
          <a:p>
            <a:pPr marL="1383665">
              <a:lnSpc>
                <a:spcPts val="215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297815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main()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297815" marR="2927350">
              <a:lnSpc>
                <a:spcPts val="2140"/>
              </a:lnSpc>
              <a:spcBef>
                <a:spcPts val="115"/>
              </a:spcBef>
              <a:tabLst>
                <a:tab pos="1654810" algn="l"/>
              </a:tabLst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r>
              <a:rPr sz="1800" dirty="0">
                <a:latin typeface="Arial"/>
                <a:cs typeface="Arial"/>
              </a:rPr>
              <a:t>	ChuaXet[v] = </a:t>
            </a:r>
            <a:r>
              <a:rPr sz="1800" spc="-25" dirty="0">
                <a:latin typeface="Arial"/>
                <a:cs typeface="Arial"/>
              </a:rPr>
              <a:t>1;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=</a:t>
            </a:r>
            <a:r>
              <a:rPr sz="1800" spc="-25" dirty="0">
                <a:solidFill>
                  <a:srgbClr val="FF3300"/>
                </a:solidFill>
                <a:latin typeface="Arial"/>
                <a:cs typeface="Arial"/>
              </a:rPr>
              <a:t> 0;</a:t>
            </a:r>
            <a:endParaRPr sz="1800">
              <a:latin typeface="Arial"/>
              <a:cs typeface="Arial"/>
            </a:endParaRPr>
          </a:p>
          <a:p>
            <a:pPr marL="297815">
              <a:lnSpc>
                <a:spcPts val="2110"/>
              </a:lnSpc>
            </a:pPr>
            <a:r>
              <a:rPr sz="1800" dirty="0">
                <a:latin typeface="Arial"/>
                <a:cs typeface="Arial"/>
              </a:rPr>
              <a:t>for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V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ts val="2150"/>
              </a:lnSpc>
              <a:tabLst>
                <a:tab pos="774065" algn="l"/>
              </a:tabLst>
            </a:pPr>
            <a:r>
              <a:rPr sz="1800" spc="-25" dirty="0">
                <a:latin typeface="Arial"/>
                <a:cs typeface="Arial"/>
              </a:rPr>
              <a:t>if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ChuaXet[v]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1383665">
              <a:lnSpc>
                <a:spcPct val="100000"/>
              </a:lnSpc>
            </a:pP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inconnect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</a:t>
            </a:r>
            <a:r>
              <a:rPr sz="1800" spc="-1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+</a:t>
            </a:r>
            <a:r>
              <a:rPr sz="1800" spc="-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;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BFS(v);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1800" spc="-50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001" y="328930"/>
            <a:ext cx="807059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20">
                <a:solidFill>
                  <a:srgbClr val="800000"/>
                </a:solidFill>
              </a:rPr>
              <a:t>BÀI TẬP – TUẦN 5</a:t>
            </a:r>
            <a:endParaRPr b="1" spc="-20" dirty="0">
              <a:solidFill>
                <a:srgbClr val="8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402" y="6200447"/>
            <a:ext cx="2950210" cy="57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1665">
              <a:lnSpc>
                <a:spcPts val="2090"/>
              </a:lnSpc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00">
                <a:solidFill>
                  <a:srgbClr val="1D528E"/>
                </a:solidFill>
                <a:latin typeface="Verdana"/>
                <a:cs typeface="Verdana"/>
              </a:rPr>
              <a:t>Chương</a:t>
            </a:r>
            <a:r>
              <a:rPr sz="1400" spc="-3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lang="en-US" sz="1400" spc="-30" dirty="0">
                <a:solidFill>
                  <a:srgbClr val="1D528E"/>
                </a:solidFill>
                <a:latin typeface="Verdana"/>
                <a:cs typeface="Verdana"/>
              </a:rPr>
              <a:t>5</a:t>
            </a:r>
            <a:r>
              <a:rPr sz="1400" spc="-3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–</a:t>
            </a:r>
            <a:r>
              <a:rPr sz="1400" spc="-3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Tìm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kiếm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trên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D528E"/>
                </a:solidFill>
                <a:latin typeface="Verdana"/>
                <a:cs typeface="Verdana"/>
              </a:rPr>
              <a:t>đồ</a:t>
            </a:r>
            <a:r>
              <a:rPr sz="1400" spc="-30" dirty="0">
                <a:solidFill>
                  <a:srgbClr val="1D528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D528E"/>
                </a:solidFill>
                <a:latin typeface="Verdana"/>
                <a:cs typeface="Verdana"/>
              </a:rPr>
              <a:t>thị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9721" y="6556071"/>
            <a:ext cx="207010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1D528E"/>
                </a:solidFill>
                <a:latin typeface="Verdana"/>
                <a:cs typeface="Verdana"/>
              </a:rPr>
              <a:t>26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AE972-4F6D-C00A-CD87-07AFD26D4E4A}"/>
              </a:ext>
            </a:extLst>
          </p:cNvPr>
          <p:cNvSpPr txBox="1"/>
          <p:nvPr/>
        </p:nvSpPr>
        <p:spPr>
          <a:xfrm>
            <a:off x="673100" y="1130300"/>
            <a:ext cx="4038600" cy="48768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r>
              <a:rPr lang="en-US" sz="1900" b="1"/>
              <a:t>Cho đồ thị G = (V, E)</a:t>
            </a:r>
          </a:p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96E103-A1C3-9B11-8790-05BF243DD9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 b="3467"/>
          <a:stretch/>
        </p:blipFill>
        <p:spPr>
          <a:xfrm>
            <a:off x="824810" y="1587500"/>
            <a:ext cx="3761921" cy="42422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CBB9F1-EBCA-21AE-CAC8-82C03A4D5966}"/>
              </a:ext>
            </a:extLst>
          </p:cNvPr>
          <p:cNvSpPr txBox="1"/>
          <p:nvPr/>
        </p:nvSpPr>
        <p:spPr>
          <a:xfrm>
            <a:off x="4864100" y="1130300"/>
            <a:ext cx="4038600" cy="4876800"/>
          </a:xfrm>
          <a:prstGeom prst="rect">
            <a:avLst/>
          </a:prstGeom>
          <a:noFill/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/>
              <a:t>V = {S, A, B, C, D, E, F, G}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lang="en-US">
                <a:solidFill>
                  <a:srgbClr val="800000"/>
                </a:solidFill>
              </a:rPr>
              <a:t>YÊU CẦU: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Chạy tay từng bước thuật toán duyệt theo chiều rộng – BFS 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Chạy tay từng bước thuật toán duyệt theo chiều sâu – DFS </a:t>
            </a:r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AutoNum type="arabicPeriod"/>
            </a:pPr>
            <a:r>
              <a:rPr lang="en-US"/>
              <a:t>Cài đặt thuật toán BFS, và DFS sử dụng C/C++.</a:t>
            </a:r>
          </a:p>
          <a:p>
            <a:endParaRPr lang="en-US"/>
          </a:p>
          <a:p>
            <a:r>
              <a:rPr lang="en-US" sz="1900" b="1">
                <a:solidFill>
                  <a:srgbClr val="FF0000"/>
                </a:solidFill>
              </a:rPr>
              <a:t>Link nộp bài: </a:t>
            </a:r>
            <a:r>
              <a:rPr lang="en-US">
                <a:hlinkClick r:id="rId3"/>
              </a:rPr>
              <a:t>https://drive.google.com/drive/folders/1G11IdJH76zB8CODly9F1DRP_MDXH8a-j?usp=sharing</a:t>
            </a:r>
            <a:r>
              <a:rPr lang="en-US"/>
              <a:t> 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424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6641-1AD3-23B0-7B90-7969EFF96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C2AEE-1F94-3FD6-F1EC-EA5DAFE5E457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50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D3396-95BE-AF66-35E7-0E606CFF1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82" y="1358900"/>
            <a:ext cx="2666028" cy="3049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435D4-3C54-50D8-9F85-4742CEB56BC4}"/>
              </a:ext>
            </a:extLst>
          </p:cNvPr>
          <p:cNvSpPr txBox="1"/>
          <p:nvPr/>
        </p:nvSpPr>
        <p:spPr>
          <a:xfrm>
            <a:off x="3263901" y="1663700"/>
            <a:ext cx="50292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/>
              <a:t>Bước 01: Khởi tạo hang đợi Queue, mảng Visited rỗng, có kích thước là số đỉnh đồ thị</a:t>
            </a:r>
          </a:p>
          <a:p>
            <a:r>
              <a:rPr lang="en-US" sz="2100"/>
              <a:t>V = {S, A, B, C, D, E, F, G}, 8 đỉnh</a:t>
            </a:r>
          </a:p>
          <a:p>
            <a:endParaRPr lang="en-US" sz="21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613BC79-80E1-8561-17ED-7F6C487C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617401"/>
              </p:ext>
            </p:extLst>
          </p:nvPr>
        </p:nvGraphicFramePr>
        <p:xfrm>
          <a:off x="2214037" y="4585009"/>
          <a:ext cx="6079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79760268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65306959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31978253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75367265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01242256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425149246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45277004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587762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429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68D0C9-5906-54C5-1DC5-6B184228D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62908"/>
              </p:ext>
            </p:extLst>
          </p:nvPr>
        </p:nvGraphicFramePr>
        <p:xfrm>
          <a:off x="2214037" y="5143614"/>
          <a:ext cx="6079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79760268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65306959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31978253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75367265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01242256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425149246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45277004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587762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429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CC7E23-DFA8-8A55-6F68-EC68014E9CD6}"/>
              </a:ext>
            </a:extLst>
          </p:cNvPr>
          <p:cNvSpPr txBox="1"/>
          <p:nvPr/>
        </p:nvSpPr>
        <p:spPr>
          <a:xfrm>
            <a:off x="977900" y="4483100"/>
            <a:ext cx="10602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Visited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A48B3-AB6A-84A9-069C-6F7CE6BF38C5}"/>
              </a:ext>
            </a:extLst>
          </p:cNvPr>
          <p:cNvSpPr txBox="1"/>
          <p:nvPr/>
        </p:nvSpPr>
        <p:spPr>
          <a:xfrm>
            <a:off x="901700" y="5135880"/>
            <a:ext cx="10602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Queue</a:t>
            </a:r>
          </a:p>
        </p:txBody>
      </p:sp>
    </p:spTree>
    <p:extLst>
      <p:ext uri="{BB962C8B-B14F-4D97-AF65-F5344CB8AC3E}">
        <p14:creationId xmlns:p14="http://schemas.microsoft.com/office/powerpoint/2010/main" val="5662114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4C33-8243-D586-2DFA-2415F576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01" y="328930"/>
            <a:ext cx="8070596" cy="430887"/>
          </a:xfrm>
        </p:spPr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DUYỆT THEO CHIỀU RỘNG - </a:t>
            </a:r>
            <a:r>
              <a:rPr lang="en-US" b="1">
                <a:solidFill>
                  <a:srgbClr val="7030A0"/>
                </a:solidFill>
              </a:rPr>
              <a:t>BFS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A3793-F617-30CE-F532-BC812DE5E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658" y="997202"/>
            <a:ext cx="8021320" cy="5009898"/>
          </a:xfr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1D3396-95BE-AF66-35E7-0E606CFF1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82" y="1358900"/>
            <a:ext cx="2666028" cy="30498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435D4-3C54-50D8-9F85-4742CEB56BC4}"/>
              </a:ext>
            </a:extLst>
          </p:cNvPr>
          <p:cNvSpPr txBox="1"/>
          <p:nvPr/>
        </p:nvSpPr>
        <p:spPr>
          <a:xfrm>
            <a:off x="3263901" y="1663700"/>
            <a:ext cx="5029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/>
              <a:t>Bước 02: Lấy s ra khỏi hang đợi</a:t>
            </a:r>
          </a:p>
          <a:p>
            <a:r>
              <a:rPr lang="en-US" sz="2100"/>
              <a:t>Thêm các đỉnh kề của S mà chưa thăm vào hang đợi: A, B, C</a:t>
            </a:r>
          </a:p>
          <a:p>
            <a:r>
              <a:rPr lang="en-US" sz="2100"/>
              <a:t>+ Đánh dấu A, B, C đã thăm trêm mảng Visited</a:t>
            </a:r>
          </a:p>
          <a:p>
            <a:r>
              <a:rPr lang="en-US" sz="2100"/>
              <a:t>+ Front : Chỉ tới A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613BC79-80E1-8561-17ED-7F6C487CF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18874"/>
              </p:ext>
            </p:extLst>
          </p:nvPr>
        </p:nvGraphicFramePr>
        <p:xfrm>
          <a:off x="2214037" y="4585009"/>
          <a:ext cx="6079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79760268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65306959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31978253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75367265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01242256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425149246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45277004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587762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4297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868D0C9-5906-54C5-1DC5-6B184228D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840866"/>
              </p:ext>
            </p:extLst>
          </p:nvPr>
        </p:nvGraphicFramePr>
        <p:xfrm>
          <a:off x="2214037" y="5143614"/>
          <a:ext cx="6079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79760268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65306959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31978253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75367265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012422564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425149246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45277004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587762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C00000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84297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CC7E23-DFA8-8A55-6F68-EC68014E9CD6}"/>
              </a:ext>
            </a:extLst>
          </p:cNvPr>
          <p:cNvSpPr txBox="1"/>
          <p:nvPr/>
        </p:nvSpPr>
        <p:spPr>
          <a:xfrm>
            <a:off x="977900" y="4483100"/>
            <a:ext cx="10602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7030A0"/>
                </a:solidFill>
              </a:rPr>
              <a:t>Visited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4A48B3-AB6A-84A9-069C-6F7CE6BF38C5}"/>
              </a:ext>
            </a:extLst>
          </p:cNvPr>
          <p:cNvSpPr txBox="1"/>
          <p:nvPr/>
        </p:nvSpPr>
        <p:spPr>
          <a:xfrm>
            <a:off x="901700" y="5135880"/>
            <a:ext cx="10602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8D31CD-9A6B-231F-316E-E071C8FA22BB}"/>
              </a:ext>
            </a:extLst>
          </p:cNvPr>
          <p:cNvCxnSpPr>
            <a:cxnSpLocks/>
          </p:cNvCxnSpPr>
          <p:nvPr/>
        </p:nvCxnSpPr>
        <p:spPr>
          <a:xfrm flipV="1">
            <a:off x="3263901" y="5514454"/>
            <a:ext cx="0" cy="331379"/>
          </a:xfrm>
          <a:prstGeom prst="straightConnector1">
            <a:avLst/>
          </a:prstGeom>
          <a:ln w="2222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43E2E0-BFB4-A0D6-996A-1DDDB7ADB311}"/>
              </a:ext>
            </a:extLst>
          </p:cNvPr>
          <p:cNvSpPr txBox="1"/>
          <p:nvPr/>
        </p:nvSpPr>
        <p:spPr>
          <a:xfrm>
            <a:off x="3299969" y="5546985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Front</a:t>
            </a:r>
          </a:p>
        </p:txBody>
      </p:sp>
    </p:spTree>
    <p:extLst>
      <p:ext uri="{BB962C8B-B14F-4D97-AF65-F5344CB8AC3E}">
        <p14:creationId xmlns:p14="http://schemas.microsoft.com/office/powerpoint/2010/main" val="270235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</TotalTime>
  <Words>2908</Words>
  <Application>Microsoft Office PowerPoint</Application>
  <PresentationFormat>Custom</PresentationFormat>
  <Paragraphs>420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Symbol</vt:lpstr>
      <vt:lpstr>Times New Roman</vt:lpstr>
      <vt:lpstr>Verdana</vt:lpstr>
      <vt:lpstr>Wingdings</vt:lpstr>
      <vt:lpstr>Office Theme</vt:lpstr>
      <vt:lpstr>LÝ THUYẾT ĐỒ THỊ</vt:lpstr>
      <vt:lpstr>Tìm kiếm trên đồ thị</vt:lpstr>
      <vt:lpstr>Nội dung</vt:lpstr>
      <vt:lpstr>I. Duyệt đồ thị theo chiều sâu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THEO CHIỀU SÂU - DFS</vt:lpstr>
      <vt:lpstr>DUYỆT ĐỒ THỊ THEO CHIỀU RỘNG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DUYỆT THEO CHIỀU RỘNG - BFS</vt:lpstr>
      <vt:lpstr>I. Duyệt đồ thị theo chiều sâu</vt:lpstr>
      <vt:lpstr>I. Duyệt đồ thị theo chiều sâu</vt:lpstr>
      <vt:lpstr>I.1. Cài đặt đệ quy</vt:lpstr>
      <vt:lpstr>I.1. Cài đặt đệ quy</vt:lpstr>
      <vt:lpstr>I.2. Cài đặt không đệ quy</vt:lpstr>
      <vt:lpstr>I.Duyệt đồ thị theo chiều sâu</vt:lpstr>
      <vt:lpstr>Nội dung</vt:lpstr>
      <vt:lpstr>II. Duyệt đồ thị theo chiều rộng</vt:lpstr>
      <vt:lpstr>II. Duyệt đồ thị theo chiều rộng</vt:lpstr>
      <vt:lpstr>II.1. Cài đặt bằng hàng đợi</vt:lpstr>
      <vt:lpstr>II.1. Cài đặt bằng hàng đợi</vt:lpstr>
      <vt:lpstr>II.2. Cài đặt bằng thuật toán loang</vt:lpstr>
      <vt:lpstr>II.2. Cài đặt bằng thuật toán loang</vt:lpstr>
      <vt:lpstr>II. Duyệt đồ thị theo chiều rộng</vt:lpstr>
      <vt:lpstr>Nội dung</vt:lpstr>
      <vt:lpstr>III. Tìm đường đi</vt:lpstr>
      <vt:lpstr>III.1. Tìm đường đi theo chiều sâu</vt:lpstr>
      <vt:lpstr>III.2. Tìm đường đi theo chiều rộng</vt:lpstr>
      <vt:lpstr>III.2. Tìm đường đi theo chiều rộng</vt:lpstr>
      <vt:lpstr>Nội dung</vt:lpstr>
      <vt:lpstr>IV. Kiểm tra tính liên thông</vt:lpstr>
      <vt:lpstr>IV.1. Tìm theo chiều sâu</vt:lpstr>
      <vt:lpstr>IV.2. Tìm theo chiều rông</vt:lpstr>
      <vt:lpstr>BÀI TẬP – TUẦN 5</vt:lpstr>
      <vt:lpstr>PowerPoint Presentation</vt:lpstr>
      <vt:lpstr>DUYỆT THEO CHIỀU RỘNG - BFS</vt:lpstr>
      <vt:lpstr>DUYỆT THEO CHIỀU RỘNG - BFS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LÝ THUYẾT ĐỒ THỊ</dc:title>
  <dc:creator>Le Tuan Thu</dc:creator>
  <cp:lastModifiedBy>Le Tuan Thu</cp:lastModifiedBy>
  <cp:revision>57</cp:revision>
  <dcterms:created xsi:type="dcterms:W3CDTF">2024-05-06T13:43:19Z</dcterms:created>
  <dcterms:modified xsi:type="dcterms:W3CDTF">2025-03-19T00:47:47Z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2013-06-28T00:00:00Z</vt:filetime>
  </property>
  <property fmtid="{D5CDD505-2E9C-101B-9397-08002B2CF9AE}" pid="3" name="Creator">
    <vt:lpwstr>Nitro PDF Professional  (6, 0, 2, 6)</vt:lpwstr>
  </property>
  <property fmtid="{D5CDD505-2E9C-101B-9397-08002B2CF9AE}" pid="4" name="LastSaved">
    <vt:filetime>2024-05-06T00:00:00Z</vt:filetime>
  </property>
  <property fmtid="{D5CDD505-2E9C-101B-9397-08002B2CF9AE}" pid="5" name="Producer">
    <vt:lpwstr>Nitro PDF Professional  (6, 0, 2, 6)</vt:lpwstr>
  </property>
</Properties>
</file>
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Calibri" panose="020F0502020204030204" pitchFamily="34" charset="0"/>
      <p:regular r:id="rId17"/>
      <p:bold r:id="rId18"/>
      <p:italic r:id="rId19"/>
      <p:boldItalic r:id="rId20"/>
    </p:embeddedFont>
    <p:embeddedFont>
      <p:font typeface="Lato Bold" panose="020B0604020202020204" charset="0"/>
      <p:regular r:id="rId21"/>
    </p:embeddedFont>
    <p:embeddedFont>
      <p:font typeface="Muli" panose="020B0604020202020204" charset="0"/>
      <p:regular r:id="rId22"/>
    </p:embeddedFont>
    <p:embeddedFont>
      <p:font typeface="Muli Bold" panose="020B0604020202020204" charset="0"/>
      <p:regular r:id="rId23"/>
    </p:embeddedFont>
    <p:embeddedFont>
      <p:font typeface="Muli Light" panose="020B0604020202020204" charset="0"/>
      <p:regular r:id="rId24"/>
    </p:embeddedFont>
    <p:embeddedFont>
      <p:font typeface="Muli Ultra-Bold" panose="020B0604020202020204" charset="0"/>
      <p:regular r:id="rId25"/>
    </p:embeddedFont>
    <p:embeddedFont>
      <p:font typeface="Public Sans" panose="020B0604020202020204" charset="0"/>
      <p:regular r:id="rId26"/>
    </p:embeddedFont>
    <p:embeddedFont>
      <p:font typeface="Public Sans Bold"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5" d="100"/>
          <a:sy n="55" d="100"/>
        </p:scale>
        <p:origin x="658"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sv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506841" y="-144637"/>
            <a:ext cx="10786223" cy="10576274"/>
            <a:chOff x="0" y="0"/>
            <a:chExt cx="14381630" cy="14101698"/>
          </a:xfrm>
        </p:grpSpPr>
        <p:sp>
          <p:nvSpPr>
            <p:cNvPr id="3" name="Freeform 3"/>
            <p:cNvSpPr/>
            <p:nvPr/>
          </p:nvSpPr>
          <p:spPr>
            <a:xfrm>
              <a:off x="0" y="7042815"/>
              <a:ext cx="12363028" cy="7058883"/>
            </a:xfrm>
            <a:custGeom>
              <a:avLst/>
              <a:gdLst/>
              <a:ahLst/>
              <a:cxnLst/>
              <a:rect l="l" t="t" r="r" b="b"/>
              <a:pathLst>
                <a:path w="12363028" h="7058883">
                  <a:moveTo>
                    <a:pt x="0" y="0"/>
                  </a:moveTo>
                  <a:lnTo>
                    <a:pt x="12363028" y="0"/>
                  </a:lnTo>
                  <a:lnTo>
                    <a:pt x="12363028" y="7058883"/>
                  </a:lnTo>
                  <a:lnTo>
                    <a:pt x="0" y="7058883"/>
                  </a:lnTo>
                  <a:lnTo>
                    <a:pt x="0" y="0"/>
                  </a:lnTo>
                  <a:close/>
                </a:path>
              </a:pathLst>
            </a:custGeom>
            <a:blipFill>
              <a:blip r:embed="rId2">
                <a:extLst>
                  <a:ext uri="{96DAC541-7B7A-43D3-8B79-37D633B846F1}">
                    <asvg:svgBlip xmlns:asvg="http://schemas.microsoft.com/office/drawing/2016/SVG/main" r:embed="rId3"/>
                  </a:ext>
                </a:extLst>
              </a:blip>
              <a:stretch>
                <a:fillRect t="-51576"/>
              </a:stretch>
            </a:blipFill>
          </p:spPr>
        </p:sp>
        <p:sp>
          <p:nvSpPr>
            <p:cNvPr id="4" name="Freeform 4"/>
            <p:cNvSpPr/>
            <p:nvPr/>
          </p:nvSpPr>
          <p:spPr>
            <a:xfrm>
              <a:off x="2018602" y="0"/>
              <a:ext cx="12363028" cy="7058883"/>
            </a:xfrm>
            <a:custGeom>
              <a:avLst/>
              <a:gdLst/>
              <a:ahLst/>
              <a:cxnLst/>
              <a:rect l="l" t="t" r="r" b="b"/>
              <a:pathLst>
                <a:path w="12363028" h="7058883">
                  <a:moveTo>
                    <a:pt x="0" y="0"/>
                  </a:moveTo>
                  <a:lnTo>
                    <a:pt x="12363028" y="0"/>
                  </a:lnTo>
                  <a:lnTo>
                    <a:pt x="12363028" y="7058883"/>
                  </a:lnTo>
                  <a:lnTo>
                    <a:pt x="0" y="7058883"/>
                  </a:lnTo>
                  <a:lnTo>
                    <a:pt x="0" y="0"/>
                  </a:lnTo>
                  <a:close/>
                </a:path>
              </a:pathLst>
            </a:custGeom>
            <a:blipFill>
              <a:blip r:embed="rId2">
                <a:extLst>
                  <a:ext uri="{96DAC541-7B7A-43D3-8B79-37D633B846F1}">
                    <asvg:svgBlip xmlns:asvg="http://schemas.microsoft.com/office/drawing/2016/SVG/main" r:embed="rId3"/>
                  </a:ext>
                </a:extLst>
              </a:blip>
              <a:stretch>
                <a:fillRect t="-51576"/>
              </a:stretch>
            </a:blipFill>
          </p:spPr>
        </p:sp>
      </p:grpSp>
      <p:sp>
        <p:nvSpPr>
          <p:cNvPr id="5" name="AutoShape 5"/>
          <p:cNvSpPr/>
          <p:nvPr/>
        </p:nvSpPr>
        <p:spPr>
          <a:xfrm flipH="1">
            <a:off x="526978" y="3356603"/>
            <a:ext cx="10211441" cy="0"/>
          </a:xfrm>
          <a:prstGeom prst="line">
            <a:avLst/>
          </a:prstGeom>
          <a:ln w="28575" cap="rnd">
            <a:solidFill>
              <a:srgbClr val="86C7ED"/>
            </a:solidFill>
            <a:prstDash val="solid"/>
            <a:headEnd type="none" w="sm" len="sm"/>
            <a:tailEnd type="none" w="sm" len="sm"/>
          </a:ln>
        </p:spPr>
      </p:sp>
      <p:grpSp>
        <p:nvGrpSpPr>
          <p:cNvPr id="6" name="Group 6"/>
          <p:cNvGrpSpPr/>
          <p:nvPr/>
        </p:nvGrpSpPr>
        <p:grpSpPr>
          <a:xfrm>
            <a:off x="-11032827" y="9070894"/>
            <a:ext cx="15741700" cy="3210276"/>
            <a:chOff x="0" y="0"/>
            <a:chExt cx="26342280" cy="5372100"/>
          </a:xfrm>
        </p:grpSpPr>
        <p:sp>
          <p:nvSpPr>
            <p:cNvPr id="7" name="Freeform 7"/>
            <p:cNvSpPr/>
            <p:nvPr/>
          </p:nvSpPr>
          <p:spPr>
            <a:xfrm>
              <a:off x="0" y="0"/>
              <a:ext cx="26342280" cy="5372100"/>
            </a:xfrm>
            <a:custGeom>
              <a:avLst/>
              <a:gdLst/>
              <a:ahLst/>
              <a:cxnLst/>
              <a:rect l="l" t="t" r="r" b="b"/>
              <a:pathLst>
                <a:path w="26342280" h="5372100">
                  <a:moveTo>
                    <a:pt x="24791611" y="0"/>
                  </a:moveTo>
                  <a:lnTo>
                    <a:pt x="1550670" y="0"/>
                  </a:lnTo>
                  <a:lnTo>
                    <a:pt x="0" y="2686050"/>
                  </a:lnTo>
                  <a:lnTo>
                    <a:pt x="1550670" y="5372100"/>
                  </a:lnTo>
                  <a:lnTo>
                    <a:pt x="24791611" y="5372100"/>
                  </a:lnTo>
                  <a:lnTo>
                    <a:pt x="26342280" y="2686050"/>
                  </a:lnTo>
                  <a:lnTo>
                    <a:pt x="24791611" y="0"/>
                  </a:lnTo>
                  <a:close/>
                </a:path>
              </a:pathLst>
            </a:custGeom>
            <a:solidFill>
              <a:srgbClr val="A066CB"/>
            </a:solidFill>
          </p:spPr>
        </p:sp>
      </p:grpSp>
      <p:sp>
        <p:nvSpPr>
          <p:cNvPr id="8" name="TextBox 8"/>
          <p:cNvSpPr txBox="1"/>
          <p:nvPr/>
        </p:nvSpPr>
        <p:spPr>
          <a:xfrm>
            <a:off x="204515" y="9210675"/>
            <a:ext cx="3495437" cy="842660"/>
          </a:xfrm>
          <a:prstGeom prst="rect">
            <a:avLst/>
          </a:prstGeom>
        </p:spPr>
        <p:txBody>
          <a:bodyPr lIns="0" tIns="0" rIns="0" bIns="0" rtlCol="0" anchor="t">
            <a:spAutoFit/>
          </a:bodyPr>
          <a:lstStyle/>
          <a:p>
            <a:pPr algn="l">
              <a:lnSpc>
                <a:spcPts val="3429"/>
              </a:lnSpc>
              <a:spcBef>
                <a:spcPct val="0"/>
              </a:spcBef>
            </a:pPr>
            <a:r>
              <a:rPr lang="en-US" sz="2449" b="1">
                <a:solidFill>
                  <a:srgbClr val="FFFFFF"/>
                </a:solidFill>
                <a:latin typeface="Muli Ultra-Bold"/>
                <a:ea typeface="Muli Ultra-Bold"/>
                <a:cs typeface="Muli Ultra-Bold"/>
                <a:sym typeface="Muli Ultra-Bold"/>
              </a:rPr>
              <a:t>Giảng viên hướng dẫn: </a:t>
            </a:r>
          </a:p>
          <a:p>
            <a:pPr algn="l">
              <a:lnSpc>
                <a:spcPts val="3429"/>
              </a:lnSpc>
              <a:spcBef>
                <a:spcPct val="0"/>
              </a:spcBef>
            </a:pPr>
            <a:r>
              <a:rPr lang="en-US" sz="2449" b="1">
                <a:solidFill>
                  <a:srgbClr val="FFFFFF"/>
                </a:solidFill>
                <a:latin typeface="Muli Ultra-Bold"/>
                <a:ea typeface="Muli Ultra-Bold"/>
                <a:cs typeface="Muli Ultra-Bold"/>
                <a:sym typeface="Muli Ultra-Bold"/>
              </a:rPr>
              <a:t>ThS. Ngô Tân Khai</a:t>
            </a:r>
          </a:p>
        </p:txBody>
      </p:sp>
      <p:sp>
        <p:nvSpPr>
          <p:cNvPr id="9" name="TextBox 9"/>
          <p:cNvSpPr txBox="1"/>
          <p:nvPr/>
        </p:nvSpPr>
        <p:spPr>
          <a:xfrm>
            <a:off x="517197" y="3862972"/>
            <a:ext cx="10989644" cy="2532481"/>
          </a:xfrm>
          <a:prstGeom prst="rect">
            <a:avLst/>
          </a:prstGeom>
        </p:spPr>
        <p:txBody>
          <a:bodyPr lIns="0" tIns="0" rIns="0" bIns="0" rtlCol="0" anchor="t">
            <a:spAutoFit/>
          </a:bodyPr>
          <a:lstStyle/>
          <a:p>
            <a:pPr algn="l">
              <a:lnSpc>
                <a:spcPts val="6706"/>
              </a:lnSpc>
            </a:pPr>
            <a:r>
              <a:rPr lang="en-US" sz="5280" b="1" spc="158">
                <a:solidFill>
                  <a:srgbClr val="1836B2"/>
                </a:solidFill>
                <a:latin typeface="Muli Bold"/>
                <a:ea typeface="Muli Bold"/>
                <a:cs typeface="Muli Bold"/>
                <a:sym typeface="Muli Bold"/>
              </a:rPr>
              <a:t>XÂY DỰNG WEBSITE </a:t>
            </a:r>
          </a:p>
          <a:p>
            <a:pPr algn="l">
              <a:lnSpc>
                <a:spcPts val="6706"/>
              </a:lnSpc>
            </a:pPr>
            <a:r>
              <a:rPr lang="en-US" sz="5280" b="1" spc="158">
                <a:solidFill>
                  <a:srgbClr val="1836B2"/>
                </a:solidFill>
                <a:latin typeface="Muli Bold"/>
                <a:ea typeface="Muli Bold"/>
                <a:cs typeface="Muli Bold"/>
                <a:sym typeface="Muli Bold"/>
              </a:rPr>
              <a:t>QUẢN LÝ CỬA HÀNG PHỤ KIỆN THÚ CƯNG</a:t>
            </a:r>
          </a:p>
        </p:txBody>
      </p:sp>
      <p:sp>
        <p:nvSpPr>
          <p:cNvPr id="10" name="TextBox 10"/>
          <p:cNvSpPr txBox="1"/>
          <p:nvPr/>
        </p:nvSpPr>
        <p:spPr>
          <a:xfrm>
            <a:off x="526978" y="2304090"/>
            <a:ext cx="4181894" cy="561975"/>
          </a:xfrm>
          <a:prstGeom prst="rect">
            <a:avLst/>
          </a:prstGeom>
        </p:spPr>
        <p:txBody>
          <a:bodyPr lIns="0" tIns="0" rIns="0" bIns="0" rtlCol="0" anchor="t">
            <a:spAutoFit/>
          </a:bodyPr>
          <a:lstStyle/>
          <a:p>
            <a:pPr algn="l">
              <a:lnSpc>
                <a:spcPts val="4439"/>
              </a:lnSpc>
            </a:pPr>
            <a:r>
              <a:rPr lang="en-US" sz="3699" b="1" spc="110" dirty="0">
                <a:solidFill>
                  <a:srgbClr val="A066CB"/>
                </a:solidFill>
                <a:latin typeface="Muli Ultra-Bold"/>
                <a:ea typeface="Muli Ultra-Bold"/>
                <a:cs typeface="Muli Ultra-Bold"/>
                <a:sym typeface="Muli Ultra-Bold"/>
              </a:rPr>
              <a:t>LẬP TRÌNH WEB</a:t>
            </a:r>
          </a:p>
        </p:txBody>
      </p:sp>
      <p:sp>
        <p:nvSpPr>
          <p:cNvPr id="11" name="TextBox 11"/>
          <p:cNvSpPr txBox="1"/>
          <p:nvPr/>
        </p:nvSpPr>
        <p:spPr>
          <a:xfrm>
            <a:off x="526978" y="6867444"/>
            <a:ext cx="10211441" cy="1727200"/>
          </a:xfrm>
          <a:prstGeom prst="rect">
            <a:avLst/>
          </a:prstGeom>
        </p:spPr>
        <p:txBody>
          <a:bodyPr lIns="0" tIns="0" rIns="0" bIns="0" rtlCol="0" anchor="t">
            <a:spAutoFit/>
          </a:bodyPr>
          <a:lstStyle/>
          <a:p>
            <a:pPr algn="l">
              <a:lnSpc>
                <a:spcPts val="3499"/>
              </a:lnSpc>
            </a:pPr>
            <a:r>
              <a:rPr lang="en-US" sz="2499" spc="12">
                <a:solidFill>
                  <a:srgbClr val="000000"/>
                </a:solidFill>
                <a:latin typeface="Muli Light"/>
                <a:ea typeface="Muli Light"/>
                <a:cs typeface="Muli Light"/>
                <a:sym typeface="Muli Light"/>
              </a:rPr>
              <a:t>Sinh viên thực hiện: </a:t>
            </a:r>
          </a:p>
          <a:p>
            <a:pPr algn="l">
              <a:lnSpc>
                <a:spcPts val="3499"/>
              </a:lnSpc>
            </a:pPr>
            <a:r>
              <a:rPr lang="en-US" sz="2499" spc="12">
                <a:solidFill>
                  <a:srgbClr val="000000"/>
                </a:solidFill>
                <a:latin typeface="Muli Light"/>
                <a:ea typeface="Muli Light"/>
                <a:cs typeface="Muli Light"/>
                <a:sym typeface="Muli Light"/>
              </a:rPr>
              <a:t>Nguyễn Trần Thị Kim Thái (1250080170)</a:t>
            </a:r>
          </a:p>
          <a:p>
            <a:pPr algn="l">
              <a:lnSpc>
                <a:spcPts val="3499"/>
              </a:lnSpc>
            </a:pPr>
            <a:r>
              <a:rPr lang="en-US" sz="2499" spc="12">
                <a:solidFill>
                  <a:srgbClr val="000000"/>
                </a:solidFill>
                <a:latin typeface="Muli Light"/>
                <a:ea typeface="Muli Light"/>
                <a:cs typeface="Muli Light"/>
                <a:sym typeface="Muli Light"/>
              </a:rPr>
              <a:t>Trần Thị Thanh Thảo (1250080179) </a:t>
            </a:r>
          </a:p>
          <a:p>
            <a:pPr algn="l">
              <a:lnSpc>
                <a:spcPts val="3499"/>
              </a:lnSpc>
            </a:pPr>
            <a:r>
              <a:rPr lang="en-US" sz="2499" spc="12">
                <a:solidFill>
                  <a:srgbClr val="000000"/>
                </a:solidFill>
                <a:latin typeface="Muli Light"/>
                <a:ea typeface="Muli Light"/>
                <a:cs typeface="Muli Light"/>
                <a:sym typeface="Muli Light"/>
              </a:rPr>
              <a:t>Lớp: 12_ĐH_CNTT4 Khoá : 2023 – 2027 </a:t>
            </a:r>
          </a:p>
        </p:txBody>
      </p:sp>
      <p:sp>
        <p:nvSpPr>
          <p:cNvPr id="12" name="Freeform 12"/>
          <p:cNvSpPr/>
          <p:nvPr/>
        </p:nvSpPr>
        <p:spPr>
          <a:xfrm>
            <a:off x="11680234" y="2304090"/>
            <a:ext cx="6474831" cy="6474831"/>
          </a:xfrm>
          <a:custGeom>
            <a:avLst/>
            <a:gdLst/>
            <a:ahLst/>
            <a:cxnLst/>
            <a:rect l="l" t="t" r="r" b="b"/>
            <a:pathLst>
              <a:path w="6474831" h="6474831">
                <a:moveTo>
                  <a:pt x="0" y="0"/>
                </a:moveTo>
                <a:lnTo>
                  <a:pt x="6474831" y="0"/>
                </a:lnTo>
                <a:lnTo>
                  <a:pt x="6474831" y="6474831"/>
                </a:lnTo>
                <a:lnTo>
                  <a:pt x="0" y="6474831"/>
                </a:lnTo>
                <a:lnTo>
                  <a:pt x="0" y="0"/>
                </a:lnTo>
                <a:close/>
              </a:path>
            </a:pathLst>
          </a:custGeom>
          <a:blipFill>
            <a:blip r:embed="rId4"/>
            <a:stretch>
              <a:fillRect/>
            </a:stretch>
          </a:blipFill>
        </p:spPr>
      </p:sp>
      <p:sp>
        <p:nvSpPr>
          <p:cNvPr id="13" name="TextBox 13"/>
          <p:cNvSpPr txBox="1"/>
          <p:nvPr/>
        </p:nvSpPr>
        <p:spPr>
          <a:xfrm>
            <a:off x="0" y="286010"/>
            <a:ext cx="18288000" cy="1225550"/>
          </a:xfrm>
          <a:prstGeom prst="rect">
            <a:avLst/>
          </a:prstGeom>
        </p:spPr>
        <p:txBody>
          <a:bodyPr lIns="0" tIns="0" rIns="0" bIns="0" rtlCol="0" anchor="t">
            <a:spAutoFit/>
          </a:bodyPr>
          <a:lstStyle/>
          <a:p>
            <a:pPr algn="ctr">
              <a:lnSpc>
                <a:spcPts val="4900"/>
              </a:lnSpc>
              <a:spcBef>
                <a:spcPct val="0"/>
              </a:spcBef>
            </a:pPr>
            <a:r>
              <a:rPr lang="en-US" sz="3500" b="1" dirty="0">
                <a:solidFill>
                  <a:srgbClr val="000000"/>
                </a:solidFill>
                <a:latin typeface="Lato Bold"/>
                <a:ea typeface="Lato Bold"/>
                <a:cs typeface="Lato Bold"/>
                <a:sym typeface="Lato Bold"/>
              </a:rPr>
              <a:t>TRƯỜNG ĐẠI HỌC TÀI NGUYÊN VÀ MÔI TRƯỜNG TP.HỒ CHÍ MINH</a:t>
            </a:r>
          </a:p>
          <a:p>
            <a:pPr algn="ctr">
              <a:lnSpc>
                <a:spcPts val="4900"/>
              </a:lnSpc>
              <a:spcBef>
                <a:spcPct val="0"/>
              </a:spcBef>
            </a:pPr>
            <a:r>
              <a:rPr lang="en-US" sz="3500" b="1" dirty="0">
                <a:solidFill>
                  <a:srgbClr val="000000"/>
                </a:solidFill>
                <a:latin typeface="Lato Bold"/>
                <a:ea typeface="Lato Bold"/>
                <a:cs typeface="Lato Bold"/>
                <a:sym typeface="Lato Bold"/>
              </a:rPr>
              <a:t>KHOA CÔNG NGHỆ THÔNG TIN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2000"/>
                                        <p:tgtEl>
                                          <p:spTgt spid="5"/>
                                        </p:tgtEl>
                                      </p:cBhvr>
                                    </p:animEffect>
                                  </p:childTnLst>
                                </p:cTn>
                              </p:par>
                              <p:par>
                                <p:cTn id="11" presetID="22" presetClass="entr" presetSubtype="8"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2000"/>
                                        <p:tgtEl>
                                          <p:spTgt spid="6"/>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2000"/>
                                        <p:tgtEl>
                                          <p:spTgt spid="8"/>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2000"/>
                                        <p:tgtEl>
                                          <p:spTgt spid="9"/>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2000"/>
                                        <p:tgtEl>
                                          <p:spTgt spid="10"/>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2000"/>
                                        <p:tgtEl>
                                          <p:spTgt spid="11"/>
                                        </p:tgtEl>
                                      </p:cBhvr>
                                    </p:animEffect>
                                  </p:childTnLst>
                                </p:cTn>
                              </p:par>
                              <p:par>
                                <p:cTn id="26" presetID="22" presetClass="entr" presetSubtype="8"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2000"/>
                                        <p:tgtEl>
                                          <p:spTgt spid="12"/>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514543" y="3700256"/>
            <a:ext cx="3629457" cy="533400"/>
          </a:xfrm>
          <a:prstGeom prst="rect">
            <a:avLst/>
          </a:prstGeom>
        </p:spPr>
        <p:txBody>
          <a:bodyPr lIns="0" tIns="0" rIns="0" bIns="0" rtlCol="0" anchor="t">
            <a:spAutoFit/>
          </a:bodyPr>
          <a:lstStyle/>
          <a:p>
            <a:pPr algn="l">
              <a:lnSpc>
                <a:spcPts val="4200"/>
              </a:lnSpc>
            </a:pPr>
            <a:r>
              <a:rPr lang="en-US" sz="3500" b="1" spc="105">
                <a:solidFill>
                  <a:srgbClr val="1836B2"/>
                </a:solidFill>
                <a:latin typeface="Muli Ultra-Bold"/>
                <a:ea typeface="Muli Ultra-Bold"/>
                <a:cs typeface="Muli Ultra-Bold"/>
                <a:sym typeface="Muli Ultra-Bold"/>
              </a:rPr>
              <a:t>Tổng quan</a:t>
            </a:r>
          </a:p>
        </p:txBody>
      </p:sp>
      <p:sp>
        <p:nvSpPr>
          <p:cNvPr id="3" name="TextBox 3"/>
          <p:cNvSpPr txBox="1"/>
          <p:nvPr/>
        </p:nvSpPr>
        <p:spPr>
          <a:xfrm>
            <a:off x="5514543" y="5607642"/>
            <a:ext cx="3629457" cy="533400"/>
          </a:xfrm>
          <a:prstGeom prst="rect">
            <a:avLst/>
          </a:prstGeom>
        </p:spPr>
        <p:txBody>
          <a:bodyPr lIns="0" tIns="0" rIns="0" bIns="0" rtlCol="0" anchor="t">
            <a:spAutoFit/>
          </a:bodyPr>
          <a:lstStyle/>
          <a:p>
            <a:pPr algn="l">
              <a:lnSpc>
                <a:spcPts val="4200"/>
              </a:lnSpc>
            </a:pPr>
            <a:r>
              <a:rPr lang="en-US" sz="3500" b="1" spc="105">
                <a:solidFill>
                  <a:srgbClr val="1836B2"/>
                </a:solidFill>
                <a:latin typeface="Muli Ultra-Bold"/>
                <a:ea typeface="Muli Ultra-Bold"/>
                <a:cs typeface="Muli Ultra-Bold"/>
                <a:sym typeface="Muli Ultra-Bold"/>
              </a:rPr>
              <a:t>Mô hình dữ liệu</a:t>
            </a:r>
          </a:p>
        </p:txBody>
      </p:sp>
      <p:sp>
        <p:nvSpPr>
          <p:cNvPr id="4" name="TextBox 4"/>
          <p:cNvSpPr txBox="1"/>
          <p:nvPr/>
        </p:nvSpPr>
        <p:spPr>
          <a:xfrm>
            <a:off x="5514543" y="7515029"/>
            <a:ext cx="5213800" cy="533400"/>
          </a:xfrm>
          <a:prstGeom prst="rect">
            <a:avLst/>
          </a:prstGeom>
        </p:spPr>
        <p:txBody>
          <a:bodyPr lIns="0" tIns="0" rIns="0" bIns="0" rtlCol="0" anchor="t">
            <a:spAutoFit/>
          </a:bodyPr>
          <a:lstStyle/>
          <a:p>
            <a:pPr algn="l">
              <a:lnSpc>
                <a:spcPts val="4200"/>
              </a:lnSpc>
            </a:pPr>
            <a:r>
              <a:rPr lang="en-US" sz="3500" b="1" spc="105">
                <a:solidFill>
                  <a:srgbClr val="1836B2"/>
                </a:solidFill>
                <a:latin typeface="Muli Ultra-Bold"/>
                <a:ea typeface="Muli Ultra-Bold"/>
                <a:cs typeface="Muli Ultra-Bold"/>
                <a:sym typeface="Muli Ultra-Bold"/>
              </a:rPr>
              <a:t>Cài đặt và thử nghiệm</a:t>
            </a:r>
          </a:p>
        </p:txBody>
      </p:sp>
      <p:sp>
        <p:nvSpPr>
          <p:cNvPr id="5" name="Freeform 5"/>
          <p:cNvSpPr/>
          <p:nvPr/>
        </p:nvSpPr>
        <p:spPr>
          <a:xfrm rot="6557660">
            <a:off x="12405014" y="-3701483"/>
            <a:ext cx="6878318" cy="6878318"/>
          </a:xfrm>
          <a:custGeom>
            <a:avLst/>
            <a:gdLst/>
            <a:ahLst/>
            <a:cxnLst/>
            <a:rect l="l" t="t" r="r" b="b"/>
            <a:pathLst>
              <a:path w="6878318" h="6878318">
                <a:moveTo>
                  <a:pt x="0" y="0"/>
                </a:moveTo>
                <a:lnTo>
                  <a:pt x="6878318" y="0"/>
                </a:lnTo>
                <a:lnTo>
                  <a:pt x="6878318" y="6878317"/>
                </a:lnTo>
                <a:lnTo>
                  <a:pt x="0" y="6878317"/>
                </a:lnTo>
                <a:lnTo>
                  <a:pt x="0" y="0"/>
                </a:lnTo>
                <a:close/>
              </a:path>
            </a:pathLst>
          </a:custGeom>
          <a:blipFill>
            <a:blip r:embed="rId2">
              <a:alphaModFix amt="90000"/>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3050599" y="1408502"/>
            <a:ext cx="11132246" cy="1192530"/>
          </a:xfrm>
          <a:prstGeom prst="rect">
            <a:avLst/>
          </a:prstGeom>
        </p:spPr>
        <p:txBody>
          <a:bodyPr lIns="0" tIns="0" rIns="0" bIns="0" rtlCol="0" anchor="t">
            <a:spAutoFit/>
          </a:bodyPr>
          <a:lstStyle/>
          <a:p>
            <a:pPr algn="l">
              <a:lnSpc>
                <a:spcPts val="9240"/>
              </a:lnSpc>
            </a:pPr>
            <a:r>
              <a:rPr lang="en-US" sz="8400" b="1" dirty="0" err="1">
                <a:solidFill>
                  <a:srgbClr val="1836B2"/>
                </a:solidFill>
                <a:latin typeface="Muli Bold"/>
                <a:ea typeface="Muli Bold"/>
                <a:cs typeface="Muli Bold"/>
                <a:sym typeface="Muli Bold"/>
              </a:rPr>
              <a:t>Nội</a:t>
            </a:r>
            <a:r>
              <a:rPr lang="en-US" sz="8400" b="1" dirty="0">
                <a:solidFill>
                  <a:srgbClr val="1836B2"/>
                </a:solidFill>
                <a:latin typeface="Muli Bold"/>
                <a:ea typeface="Muli Bold"/>
                <a:cs typeface="Muli Bold"/>
                <a:sym typeface="Muli Bold"/>
              </a:rPr>
              <a:t> Dung</a:t>
            </a:r>
          </a:p>
        </p:txBody>
      </p:sp>
      <p:sp>
        <p:nvSpPr>
          <p:cNvPr id="7" name="Freeform 7"/>
          <p:cNvSpPr/>
          <p:nvPr/>
        </p:nvSpPr>
        <p:spPr>
          <a:xfrm>
            <a:off x="15427241" y="8212255"/>
            <a:ext cx="5819495" cy="3322741"/>
          </a:xfrm>
          <a:custGeom>
            <a:avLst/>
            <a:gdLst/>
            <a:ahLst/>
            <a:cxnLst/>
            <a:rect l="l" t="t" r="r" b="b"/>
            <a:pathLst>
              <a:path w="5819495" h="3322741">
                <a:moveTo>
                  <a:pt x="0" y="0"/>
                </a:moveTo>
                <a:lnTo>
                  <a:pt x="5819496" y="0"/>
                </a:lnTo>
                <a:lnTo>
                  <a:pt x="5819496" y="3322741"/>
                </a:lnTo>
                <a:lnTo>
                  <a:pt x="0" y="3322741"/>
                </a:lnTo>
                <a:lnTo>
                  <a:pt x="0" y="0"/>
                </a:lnTo>
                <a:close/>
              </a:path>
            </a:pathLst>
          </a:custGeom>
          <a:blipFill>
            <a:blip r:embed="rId4">
              <a:extLst>
                <a:ext uri="{96DAC541-7B7A-43D3-8B79-37D633B846F1}">
                  <asvg:svgBlip xmlns:asvg="http://schemas.microsoft.com/office/drawing/2016/SVG/main" r:embed="rId5"/>
                </a:ext>
              </a:extLst>
            </a:blip>
            <a:stretch>
              <a:fillRect t="-51576"/>
            </a:stretch>
          </a:blipFill>
        </p:spPr>
      </p:sp>
      <p:grpSp>
        <p:nvGrpSpPr>
          <p:cNvPr id="8" name="Group 8"/>
          <p:cNvGrpSpPr/>
          <p:nvPr/>
        </p:nvGrpSpPr>
        <p:grpSpPr>
          <a:xfrm>
            <a:off x="3050599" y="3465113"/>
            <a:ext cx="1023581" cy="4747142"/>
            <a:chOff x="0" y="0"/>
            <a:chExt cx="1364774" cy="6329523"/>
          </a:xfrm>
        </p:grpSpPr>
        <p:sp>
          <p:nvSpPr>
            <p:cNvPr id="9" name="Freeform 9"/>
            <p:cNvSpPr/>
            <p:nvPr/>
          </p:nvSpPr>
          <p:spPr>
            <a:xfrm rot="-10800000">
              <a:off x="0" y="0"/>
              <a:ext cx="1364774" cy="1364774"/>
            </a:xfrm>
            <a:custGeom>
              <a:avLst/>
              <a:gdLst/>
              <a:ahLst/>
              <a:cxnLst/>
              <a:rect l="l" t="t" r="r" b="b"/>
              <a:pathLst>
                <a:path w="1364774" h="1364774">
                  <a:moveTo>
                    <a:pt x="0" y="0"/>
                  </a:moveTo>
                  <a:lnTo>
                    <a:pt x="1364774" y="0"/>
                  </a:lnTo>
                  <a:lnTo>
                    <a:pt x="1364774" y="1364774"/>
                  </a:lnTo>
                  <a:lnTo>
                    <a:pt x="0" y="13647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rot="-10800000">
              <a:off x="0" y="2482374"/>
              <a:ext cx="1364774" cy="1364774"/>
            </a:xfrm>
            <a:custGeom>
              <a:avLst/>
              <a:gdLst/>
              <a:ahLst/>
              <a:cxnLst/>
              <a:rect l="l" t="t" r="r" b="b"/>
              <a:pathLst>
                <a:path w="1364774" h="1364774">
                  <a:moveTo>
                    <a:pt x="0" y="0"/>
                  </a:moveTo>
                  <a:lnTo>
                    <a:pt x="1364774" y="0"/>
                  </a:lnTo>
                  <a:lnTo>
                    <a:pt x="1364774" y="1364774"/>
                  </a:lnTo>
                  <a:lnTo>
                    <a:pt x="0" y="13647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p:cNvSpPr txBox="1"/>
            <p:nvPr/>
          </p:nvSpPr>
          <p:spPr>
            <a:xfrm>
              <a:off x="245975" y="2831181"/>
              <a:ext cx="872823" cy="730250"/>
            </a:xfrm>
            <a:prstGeom prst="rect">
              <a:avLst/>
            </a:prstGeom>
          </p:spPr>
          <p:txBody>
            <a:bodyPr lIns="0" tIns="0" rIns="0" bIns="0" rtlCol="0" anchor="t">
              <a:spAutoFit/>
            </a:bodyPr>
            <a:lstStyle/>
            <a:p>
              <a:pPr algn="ctr">
                <a:lnSpc>
                  <a:spcPts val="4200"/>
                </a:lnSpc>
              </a:pPr>
              <a:r>
                <a:rPr lang="en-US" sz="3500" b="1">
                  <a:solidFill>
                    <a:srgbClr val="FFFFFF"/>
                  </a:solidFill>
                  <a:latin typeface="Public Sans Bold"/>
                  <a:ea typeface="Public Sans Bold"/>
                  <a:cs typeface="Public Sans Bold"/>
                  <a:sym typeface="Public Sans Bold"/>
                </a:rPr>
                <a:t>02</a:t>
              </a:r>
            </a:p>
          </p:txBody>
        </p:sp>
        <p:sp>
          <p:nvSpPr>
            <p:cNvPr id="12" name="Freeform 12"/>
            <p:cNvSpPr/>
            <p:nvPr/>
          </p:nvSpPr>
          <p:spPr>
            <a:xfrm rot="-10800000">
              <a:off x="0" y="4964748"/>
              <a:ext cx="1364774" cy="1364774"/>
            </a:xfrm>
            <a:custGeom>
              <a:avLst/>
              <a:gdLst/>
              <a:ahLst/>
              <a:cxnLst/>
              <a:rect l="l" t="t" r="r" b="b"/>
              <a:pathLst>
                <a:path w="1364774" h="1364774">
                  <a:moveTo>
                    <a:pt x="0" y="0"/>
                  </a:moveTo>
                  <a:lnTo>
                    <a:pt x="1364774" y="0"/>
                  </a:lnTo>
                  <a:lnTo>
                    <a:pt x="1364774" y="1364775"/>
                  </a:lnTo>
                  <a:lnTo>
                    <a:pt x="0" y="136477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TextBox 13"/>
            <p:cNvSpPr txBox="1"/>
            <p:nvPr/>
          </p:nvSpPr>
          <p:spPr>
            <a:xfrm>
              <a:off x="245975" y="5313555"/>
              <a:ext cx="872823" cy="730250"/>
            </a:xfrm>
            <a:prstGeom prst="rect">
              <a:avLst/>
            </a:prstGeom>
          </p:spPr>
          <p:txBody>
            <a:bodyPr lIns="0" tIns="0" rIns="0" bIns="0" rtlCol="0" anchor="t">
              <a:spAutoFit/>
            </a:bodyPr>
            <a:lstStyle/>
            <a:p>
              <a:pPr algn="ctr">
                <a:lnSpc>
                  <a:spcPts val="4200"/>
                </a:lnSpc>
              </a:pPr>
              <a:r>
                <a:rPr lang="en-US" sz="3500" b="1">
                  <a:solidFill>
                    <a:srgbClr val="FFFFFF"/>
                  </a:solidFill>
                  <a:latin typeface="Public Sans Bold"/>
                  <a:ea typeface="Public Sans Bold"/>
                  <a:cs typeface="Public Sans Bold"/>
                  <a:sym typeface="Public Sans Bold"/>
                </a:rPr>
                <a:t>03</a:t>
              </a:r>
            </a:p>
          </p:txBody>
        </p:sp>
        <p:sp>
          <p:nvSpPr>
            <p:cNvPr id="14" name="TextBox 14"/>
            <p:cNvSpPr txBox="1"/>
            <p:nvPr/>
          </p:nvSpPr>
          <p:spPr>
            <a:xfrm>
              <a:off x="245975" y="345984"/>
              <a:ext cx="872823" cy="730250"/>
            </a:xfrm>
            <a:prstGeom prst="rect">
              <a:avLst/>
            </a:prstGeom>
          </p:spPr>
          <p:txBody>
            <a:bodyPr lIns="0" tIns="0" rIns="0" bIns="0" rtlCol="0" anchor="t">
              <a:spAutoFit/>
            </a:bodyPr>
            <a:lstStyle/>
            <a:p>
              <a:pPr algn="ctr">
                <a:lnSpc>
                  <a:spcPts val="4200"/>
                </a:lnSpc>
              </a:pPr>
              <a:r>
                <a:rPr lang="en-US" sz="3500" b="1">
                  <a:solidFill>
                    <a:srgbClr val="FFFFFF"/>
                  </a:solidFill>
                  <a:latin typeface="Public Sans Bold"/>
                  <a:ea typeface="Public Sans Bold"/>
                  <a:cs typeface="Public Sans Bold"/>
                  <a:sym typeface="Public Sans Bold"/>
                </a:rPr>
                <a:t>01</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2000"/>
                                        <p:tgtEl>
                                          <p:spTgt spid="3"/>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2000"/>
                                        <p:tgtEl>
                                          <p:spTgt spid="4"/>
                                        </p:tgtEl>
                                      </p:cBhvr>
                                    </p:animEffect>
                                  </p:childTnLst>
                                </p:cTn>
                              </p:par>
                              <p:par>
                                <p:cTn id="14" presetID="22" presetClass="entr" presetSubtype="8"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2000"/>
                                        <p:tgtEl>
                                          <p:spTgt spid="5"/>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2000"/>
                                        <p:tgtEl>
                                          <p:spTgt spid="6"/>
                                        </p:tgtEl>
                                      </p:cBhvr>
                                    </p:animEffect>
                                  </p:childTnLst>
                                </p:cTn>
                              </p:par>
                              <p:par>
                                <p:cTn id="20" presetID="22" presetClass="entr" presetSubtype="8"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2000"/>
                                        <p:tgtEl>
                                          <p:spTgt spid="7"/>
                                        </p:tgtEl>
                                      </p:cBhvr>
                                    </p:animEffect>
                                  </p:childTnLst>
                                </p:cTn>
                              </p:par>
                              <p:par>
                                <p:cTn id="23" presetID="22" presetClass="entr" presetSubtype="8"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0" y="2316140"/>
            <a:ext cx="5968940" cy="1323975"/>
          </a:xfrm>
          <a:prstGeom prst="rect">
            <a:avLst/>
          </a:prstGeom>
        </p:spPr>
        <p:txBody>
          <a:bodyPr lIns="0" tIns="0" rIns="0" bIns="0" rtlCol="0" anchor="t">
            <a:spAutoFit/>
          </a:bodyPr>
          <a:lstStyle/>
          <a:p>
            <a:pPr algn="just">
              <a:lnSpc>
                <a:spcPts val="10410"/>
              </a:lnSpc>
            </a:pPr>
            <a:r>
              <a:rPr lang="en-US" sz="8675">
                <a:solidFill>
                  <a:srgbClr val="FFFFFF"/>
                </a:solidFill>
                <a:latin typeface="Public Sans"/>
                <a:ea typeface="Public Sans"/>
                <a:cs typeface="Public Sans"/>
                <a:sym typeface="Public Sans"/>
              </a:rPr>
              <a:t>Tổng quan:</a:t>
            </a:r>
          </a:p>
        </p:txBody>
      </p:sp>
      <p:sp>
        <p:nvSpPr>
          <p:cNvPr id="3" name="TextBox 3"/>
          <p:cNvSpPr txBox="1"/>
          <p:nvPr/>
        </p:nvSpPr>
        <p:spPr>
          <a:xfrm>
            <a:off x="1028700" y="1304925"/>
            <a:ext cx="9460959" cy="974019"/>
          </a:xfrm>
          <a:prstGeom prst="rect">
            <a:avLst/>
          </a:prstGeom>
        </p:spPr>
        <p:txBody>
          <a:bodyPr lIns="0" tIns="0" rIns="0" bIns="0" rtlCol="0" anchor="t">
            <a:spAutoFit/>
          </a:bodyPr>
          <a:lstStyle/>
          <a:p>
            <a:pPr algn="just">
              <a:lnSpc>
                <a:spcPts val="7662"/>
              </a:lnSpc>
            </a:pPr>
            <a:r>
              <a:rPr lang="en-US" sz="6385">
                <a:solidFill>
                  <a:srgbClr val="000000"/>
                </a:solidFill>
                <a:latin typeface="Public Sans"/>
                <a:ea typeface="Public Sans"/>
                <a:cs typeface="Public Sans"/>
                <a:sym typeface="Public Sans"/>
              </a:rPr>
              <a:t>Giới thiệu đề tài</a:t>
            </a:r>
          </a:p>
        </p:txBody>
      </p:sp>
      <p:grpSp>
        <p:nvGrpSpPr>
          <p:cNvPr id="4" name="Group 4"/>
          <p:cNvGrpSpPr/>
          <p:nvPr/>
        </p:nvGrpSpPr>
        <p:grpSpPr>
          <a:xfrm rot="-10800000">
            <a:off x="1201038" y="2593518"/>
            <a:ext cx="341236" cy="295542"/>
            <a:chOff x="0" y="0"/>
            <a:chExt cx="6202680" cy="5372100"/>
          </a:xfrm>
        </p:grpSpPr>
        <p:sp>
          <p:nvSpPr>
            <p:cNvPr id="5" name="Freeform 5"/>
            <p:cNvSpPr/>
            <p:nvPr/>
          </p:nvSpPr>
          <p:spPr>
            <a:xfrm>
              <a:off x="0" y="0"/>
              <a:ext cx="6202680" cy="5372100"/>
            </a:xfrm>
            <a:custGeom>
              <a:avLst/>
              <a:gdLst/>
              <a:ahLst/>
              <a:cxnLst/>
              <a:rect l="l" t="t" r="r" b="b"/>
              <a:pathLst>
                <a:path w="6202680" h="5372100">
                  <a:moveTo>
                    <a:pt x="4652010" y="0"/>
                  </a:moveTo>
                  <a:lnTo>
                    <a:pt x="1550670" y="0"/>
                  </a:lnTo>
                  <a:lnTo>
                    <a:pt x="0" y="2686050"/>
                  </a:lnTo>
                  <a:lnTo>
                    <a:pt x="1550670" y="5372100"/>
                  </a:lnTo>
                  <a:lnTo>
                    <a:pt x="4652010" y="5372100"/>
                  </a:lnTo>
                  <a:lnTo>
                    <a:pt x="6202680" y="2686050"/>
                  </a:lnTo>
                  <a:lnTo>
                    <a:pt x="4652010" y="0"/>
                  </a:lnTo>
                  <a:close/>
                </a:path>
              </a:pathLst>
            </a:custGeom>
            <a:solidFill>
              <a:srgbClr val="A066CB"/>
            </a:solidFill>
          </p:spPr>
        </p:sp>
      </p:grpSp>
      <p:sp>
        <p:nvSpPr>
          <p:cNvPr id="6" name="TextBox 6"/>
          <p:cNvSpPr txBox="1"/>
          <p:nvPr/>
        </p:nvSpPr>
        <p:spPr>
          <a:xfrm>
            <a:off x="1935888" y="3152212"/>
            <a:ext cx="7432420" cy="2836545"/>
          </a:xfrm>
          <a:prstGeom prst="rect">
            <a:avLst/>
          </a:prstGeom>
        </p:spPr>
        <p:txBody>
          <a:bodyPr lIns="0" tIns="0" rIns="0" bIns="0" rtlCol="0" anchor="t">
            <a:spAutoFit/>
          </a:bodyPr>
          <a:lstStyle/>
          <a:p>
            <a:pPr algn="just">
              <a:lnSpc>
                <a:spcPts val="3780"/>
              </a:lnSpc>
            </a:pPr>
            <a:r>
              <a:rPr lang="en-US" sz="2700" spc="13">
                <a:solidFill>
                  <a:srgbClr val="000000"/>
                </a:solidFill>
                <a:latin typeface="Muli Light"/>
                <a:ea typeface="Muli Light"/>
                <a:cs typeface="Muli Light"/>
                <a:sym typeface="Muli Light"/>
              </a:rPr>
              <a:t> Trong thời đại số, lập trình web đóng vai trò quan trọng trong việc xây dựng các ứng dụng hiện đại, từ giao diện người dùng đến xử lý dữ liệu phía máy chủ. Môn học giúp sinh viên phát triển tư duy hệ thống và khả năng giải quyết bài toán thực tế bằng công nghệ.</a:t>
            </a:r>
          </a:p>
        </p:txBody>
      </p:sp>
      <p:sp>
        <p:nvSpPr>
          <p:cNvPr id="7" name="TextBox 7"/>
          <p:cNvSpPr txBox="1"/>
          <p:nvPr/>
        </p:nvSpPr>
        <p:spPr>
          <a:xfrm>
            <a:off x="1935888" y="2475991"/>
            <a:ext cx="5714493" cy="533400"/>
          </a:xfrm>
          <a:prstGeom prst="rect">
            <a:avLst/>
          </a:prstGeom>
        </p:spPr>
        <p:txBody>
          <a:bodyPr lIns="0" tIns="0" rIns="0" bIns="0" rtlCol="0" anchor="t">
            <a:spAutoFit/>
          </a:bodyPr>
          <a:lstStyle/>
          <a:p>
            <a:pPr algn="l">
              <a:lnSpc>
                <a:spcPts val="4200"/>
              </a:lnSpc>
            </a:pPr>
            <a:r>
              <a:rPr lang="en-US" sz="3500" b="1" spc="105">
                <a:solidFill>
                  <a:srgbClr val="1836B2"/>
                </a:solidFill>
                <a:latin typeface="Muli Ultra-Bold"/>
                <a:ea typeface="Muli Ultra-Bold"/>
                <a:cs typeface="Muli Ultra-Bold"/>
                <a:sym typeface="Muli Ultra-Bold"/>
              </a:rPr>
              <a:t>Vai trò</a:t>
            </a:r>
          </a:p>
        </p:txBody>
      </p:sp>
      <p:grpSp>
        <p:nvGrpSpPr>
          <p:cNvPr id="8" name="Group 8"/>
          <p:cNvGrpSpPr/>
          <p:nvPr/>
        </p:nvGrpSpPr>
        <p:grpSpPr>
          <a:xfrm rot="-10800000">
            <a:off x="1201038" y="6490957"/>
            <a:ext cx="341236" cy="295542"/>
            <a:chOff x="0" y="0"/>
            <a:chExt cx="6202680" cy="5372100"/>
          </a:xfrm>
        </p:grpSpPr>
        <p:sp>
          <p:nvSpPr>
            <p:cNvPr id="9" name="Freeform 9"/>
            <p:cNvSpPr/>
            <p:nvPr/>
          </p:nvSpPr>
          <p:spPr>
            <a:xfrm>
              <a:off x="0" y="0"/>
              <a:ext cx="6202680" cy="5372100"/>
            </a:xfrm>
            <a:custGeom>
              <a:avLst/>
              <a:gdLst/>
              <a:ahLst/>
              <a:cxnLst/>
              <a:rect l="l" t="t" r="r" b="b"/>
              <a:pathLst>
                <a:path w="6202680" h="5372100">
                  <a:moveTo>
                    <a:pt x="4652010" y="0"/>
                  </a:moveTo>
                  <a:lnTo>
                    <a:pt x="1550670" y="0"/>
                  </a:lnTo>
                  <a:lnTo>
                    <a:pt x="0" y="2686050"/>
                  </a:lnTo>
                  <a:lnTo>
                    <a:pt x="1550670" y="5372100"/>
                  </a:lnTo>
                  <a:lnTo>
                    <a:pt x="4652010" y="5372100"/>
                  </a:lnTo>
                  <a:lnTo>
                    <a:pt x="6202680" y="2686050"/>
                  </a:lnTo>
                  <a:lnTo>
                    <a:pt x="4652010" y="0"/>
                  </a:lnTo>
                  <a:close/>
                </a:path>
              </a:pathLst>
            </a:custGeom>
            <a:solidFill>
              <a:srgbClr val="A066CB"/>
            </a:solidFill>
          </p:spPr>
        </p:sp>
      </p:grpSp>
      <p:sp>
        <p:nvSpPr>
          <p:cNvPr id="10" name="TextBox 10"/>
          <p:cNvSpPr txBox="1"/>
          <p:nvPr/>
        </p:nvSpPr>
        <p:spPr>
          <a:xfrm>
            <a:off x="1935888" y="7049650"/>
            <a:ext cx="7432420" cy="1884045"/>
          </a:xfrm>
          <a:prstGeom prst="rect">
            <a:avLst/>
          </a:prstGeom>
        </p:spPr>
        <p:txBody>
          <a:bodyPr lIns="0" tIns="0" rIns="0" bIns="0" rtlCol="0" anchor="t">
            <a:spAutoFit/>
          </a:bodyPr>
          <a:lstStyle/>
          <a:p>
            <a:pPr algn="just">
              <a:lnSpc>
                <a:spcPts val="3780"/>
              </a:lnSpc>
            </a:pPr>
            <a:r>
              <a:rPr lang="en-US" sz="2700" spc="13">
                <a:solidFill>
                  <a:srgbClr val="000000"/>
                </a:solidFill>
                <a:latin typeface="Muli Light"/>
                <a:ea typeface="Muli Light"/>
                <a:cs typeface="Muli Light"/>
                <a:sym typeface="Muli Light"/>
              </a:rPr>
              <a:t> Từ thực tế đó, nhóm quyết định thực hiện đề tài “Xây dựng website quản lý cửa hàng phụ kiện thú cưng”, với mục tiêu hỗ trợ chủ cửa hàng quản lý thông tin hiệu quả hơn.</a:t>
            </a:r>
          </a:p>
        </p:txBody>
      </p:sp>
      <p:sp>
        <p:nvSpPr>
          <p:cNvPr id="11" name="TextBox 11"/>
          <p:cNvSpPr txBox="1"/>
          <p:nvPr/>
        </p:nvSpPr>
        <p:spPr>
          <a:xfrm>
            <a:off x="1935888" y="6373430"/>
            <a:ext cx="5714493" cy="533400"/>
          </a:xfrm>
          <a:prstGeom prst="rect">
            <a:avLst/>
          </a:prstGeom>
        </p:spPr>
        <p:txBody>
          <a:bodyPr lIns="0" tIns="0" rIns="0" bIns="0" rtlCol="0" anchor="t">
            <a:spAutoFit/>
          </a:bodyPr>
          <a:lstStyle/>
          <a:p>
            <a:pPr algn="l">
              <a:lnSpc>
                <a:spcPts val="4200"/>
              </a:lnSpc>
            </a:pPr>
            <a:r>
              <a:rPr lang="en-US" sz="3500" b="1" spc="105">
                <a:solidFill>
                  <a:srgbClr val="1836B2"/>
                </a:solidFill>
                <a:latin typeface="Muli Ultra-Bold"/>
                <a:ea typeface="Muli Ultra-Bold"/>
                <a:cs typeface="Muli Ultra-Bold"/>
                <a:sym typeface="Muli Ultra-Bold"/>
              </a:rPr>
              <a:t>Giải Pháp</a:t>
            </a:r>
          </a:p>
        </p:txBody>
      </p:sp>
      <p:grpSp>
        <p:nvGrpSpPr>
          <p:cNvPr id="12" name="Group 12"/>
          <p:cNvGrpSpPr/>
          <p:nvPr/>
        </p:nvGrpSpPr>
        <p:grpSpPr>
          <a:xfrm>
            <a:off x="680652" y="9515874"/>
            <a:ext cx="16926697" cy="1542251"/>
            <a:chOff x="0" y="0"/>
            <a:chExt cx="58960502" cy="5372100"/>
          </a:xfrm>
        </p:grpSpPr>
        <p:sp>
          <p:nvSpPr>
            <p:cNvPr id="13" name="Freeform 13"/>
            <p:cNvSpPr/>
            <p:nvPr/>
          </p:nvSpPr>
          <p:spPr>
            <a:xfrm>
              <a:off x="0" y="0"/>
              <a:ext cx="58960500" cy="5372100"/>
            </a:xfrm>
            <a:custGeom>
              <a:avLst/>
              <a:gdLst/>
              <a:ahLst/>
              <a:cxnLst/>
              <a:rect l="l" t="t" r="r" b="b"/>
              <a:pathLst>
                <a:path w="58960500" h="5372100">
                  <a:moveTo>
                    <a:pt x="57409829" y="0"/>
                  </a:moveTo>
                  <a:lnTo>
                    <a:pt x="1550670" y="0"/>
                  </a:lnTo>
                  <a:lnTo>
                    <a:pt x="0" y="2686050"/>
                  </a:lnTo>
                  <a:lnTo>
                    <a:pt x="1550670" y="5372100"/>
                  </a:lnTo>
                  <a:lnTo>
                    <a:pt x="57409829" y="5372100"/>
                  </a:lnTo>
                  <a:lnTo>
                    <a:pt x="58960500" y="2686050"/>
                  </a:lnTo>
                  <a:lnTo>
                    <a:pt x="57409829" y="0"/>
                  </a:lnTo>
                  <a:close/>
                </a:path>
              </a:pathLst>
            </a:custGeom>
            <a:solidFill>
              <a:srgbClr val="A066CB"/>
            </a:solidFill>
          </p:spPr>
        </p:sp>
      </p:grpSp>
      <p:grpSp>
        <p:nvGrpSpPr>
          <p:cNvPr id="14" name="Group 14"/>
          <p:cNvGrpSpPr/>
          <p:nvPr/>
        </p:nvGrpSpPr>
        <p:grpSpPr>
          <a:xfrm rot="-10800000">
            <a:off x="9882033" y="2593518"/>
            <a:ext cx="341236" cy="295542"/>
            <a:chOff x="0" y="0"/>
            <a:chExt cx="6202680" cy="5372100"/>
          </a:xfrm>
        </p:grpSpPr>
        <p:sp>
          <p:nvSpPr>
            <p:cNvPr id="15" name="Freeform 15"/>
            <p:cNvSpPr/>
            <p:nvPr/>
          </p:nvSpPr>
          <p:spPr>
            <a:xfrm>
              <a:off x="0" y="0"/>
              <a:ext cx="6202680" cy="5372100"/>
            </a:xfrm>
            <a:custGeom>
              <a:avLst/>
              <a:gdLst/>
              <a:ahLst/>
              <a:cxnLst/>
              <a:rect l="l" t="t" r="r" b="b"/>
              <a:pathLst>
                <a:path w="6202680" h="5372100">
                  <a:moveTo>
                    <a:pt x="4652010" y="0"/>
                  </a:moveTo>
                  <a:lnTo>
                    <a:pt x="1550670" y="0"/>
                  </a:lnTo>
                  <a:lnTo>
                    <a:pt x="0" y="2686050"/>
                  </a:lnTo>
                  <a:lnTo>
                    <a:pt x="1550670" y="5372100"/>
                  </a:lnTo>
                  <a:lnTo>
                    <a:pt x="4652010" y="5372100"/>
                  </a:lnTo>
                  <a:lnTo>
                    <a:pt x="6202680" y="2686050"/>
                  </a:lnTo>
                  <a:lnTo>
                    <a:pt x="4652010" y="0"/>
                  </a:lnTo>
                  <a:close/>
                </a:path>
              </a:pathLst>
            </a:custGeom>
            <a:solidFill>
              <a:srgbClr val="A066CB"/>
            </a:solidFill>
          </p:spPr>
        </p:sp>
      </p:grpSp>
      <p:sp>
        <p:nvSpPr>
          <p:cNvPr id="16" name="TextBox 16"/>
          <p:cNvSpPr txBox="1"/>
          <p:nvPr/>
        </p:nvSpPr>
        <p:spPr>
          <a:xfrm>
            <a:off x="10616883" y="3152212"/>
            <a:ext cx="6642417" cy="2360295"/>
          </a:xfrm>
          <a:prstGeom prst="rect">
            <a:avLst/>
          </a:prstGeom>
        </p:spPr>
        <p:txBody>
          <a:bodyPr lIns="0" tIns="0" rIns="0" bIns="0" rtlCol="0" anchor="t">
            <a:spAutoFit/>
          </a:bodyPr>
          <a:lstStyle/>
          <a:p>
            <a:pPr algn="just">
              <a:lnSpc>
                <a:spcPts val="3780"/>
              </a:lnSpc>
            </a:pPr>
            <a:r>
              <a:rPr lang="en-US" sz="2700" spc="13">
                <a:solidFill>
                  <a:srgbClr val="000000"/>
                </a:solidFill>
                <a:latin typeface="Muli Light"/>
                <a:ea typeface="Muli Light"/>
                <a:cs typeface="Muli Light"/>
                <a:sym typeface="Muli Light"/>
              </a:rPr>
              <a:t> Hiện nay, nhiều cửa hàng truyền thống gặp khó khăn trong quản lý như lưu trữ thủ công, khó theo dõi sản phẩm và khách hàng, gây ảnh hưởng đến hiệu suất và trải nghiệm người dùng.</a:t>
            </a:r>
          </a:p>
        </p:txBody>
      </p:sp>
      <p:sp>
        <p:nvSpPr>
          <p:cNvPr id="17" name="TextBox 17"/>
          <p:cNvSpPr txBox="1"/>
          <p:nvPr/>
        </p:nvSpPr>
        <p:spPr>
          <a:xfrm>
            <a:off x="10616883" y="2475991"/>
            <a:ext cx="5714493" cy="533400"/>
          </a:xfrm>
          <a:prstGeom prst="rect">
            <a:avLst/>
          </a:prstGeom>
        </p:spPr>
        <p:txBody>
          <a:bodyPr lIns="0" tIns="0" rIns="0" bIns="0" rtlCol="0" anchor="t">
            <a:spAutoFit/>
          </a:bodyPr>
          <a:lstStyle/>
          <a:p>
            <a:pPr algn="l">
              <a:lnSpc>
                <a:spcPts val="4200"/>
              </a:lnSpc>
            </a:pPr>
            <a:r>
              <a:rPr lang="en-US" sz="3500" b="1" spc="105">
                <a:solidFill>
                  <a:srgbClr val="1836B2"/>
                </a:solidFill>
                <a:latin typeface="Muli Ultra-Bold"/>
                <a:ea typeface="Muli Ultra-Bold"/>
                <a:cs typeface="Muli Ultra-Bold"/>
                <a:sym typeface="Muli Ultra-Bold"/>
              </a:rPr>
              <a:t>Thách thức</a:t>
            </a:r>
          </a:p>
        </p:txBody>
      </p:sp>
      <p:grpSp>
        <p:nvGrpSpPr>
          <p:cNvPr id="18" name="Group 18"/>
          <p:cNvGrpSpPr/>
          <p:nvPr/>
        </p:nvGrpSpPr>
        <p:grpSpPr>
          <a:xfrm rot="-10800000">
            <a:off x="9882033" y="6490957"/>
            <a:ext cx="341236" cy="295542"/>
            <a:chOff x="0" y="0"/>
            <a:chExt cx="6202680" cy="5372100"/>
          </a:xfrm>
        </p:grpSpPr>
        <p:sp>
          <p:nvSpPr>
            <p:cNvPr id="19" name="Freeform 19"/>
            <p:cNvSpPr/>
            <p:nvPr/>
          </p:nvSpPr>
          <p:spPr>
            <a:xfrm>
              <a:off x="0" y="0"/>
              <a:ext cx="6202680" cy="5372100"/>
            </a:xfrm>
            <a:custGeom>
              <a:avLst/>
              <a:gdLst/>
              <a:ahLst/>
              <a:cxnLst/>
              <a:rect l="l" t="t" r="r" b="b"/>
              <a:pathLst>
                <a:path w="6202680" h="5372100">
                  <a:moveTo>
                    <a:pt x="4652010" y="0"/>
                  </a:moveTo>
                  <a:lnTo>
                    <a:pt x="1550670" y="0"/>
                  </a:lnTo>
                  <a:lnTo>
                    <a:pt x="0" y="2686050"/>
                  </a:lnTo>
                  <a:lnTo>
                    <a:pt x="1550670" y="5372100"/>
                  </a:lnTo>
                  <a:lnTo>
                    <a:pt x="4652010" y="5372100"/>
                  </a:lnTo>
                  <a:lnTo>
                    <a:pt x="6202680" y="2686050"/>
                  </a:lnTo>
                  <a:lnTo>
                    <a:pt x="4652010" y="0"/>
                  </a:lnTo>
                  <a:close/>
                </a:path>
              </a:pathLst>
            </a:custGeom>
            <a:solidFill>
              <a:srgbClr val="A066CB"/>
            </a:solidFill>
          </p:spPr>
        </p:sp>
      </p:grpSp>
      <p:sp>
        <p:nvSpPr>
          <p:cNvPr id="20" name="TextBox 20"/>
          <p:cNvSpPr txBox="1"/>
          <p:nvPr/>
        </p:nvSpPr>
        <p:spPr>
          <a:xfrm>
            <a:off x="10616883" y="7049650"/>
            <a:ext cx="6642417" cy="2360295"/>
          </a:xfrm>
          <a:prstGeom prst="rect">
            <a:avLst/>
          </a:prstGeom>
        </p:spPr>
        <p:txBody>
          <a:bodyPr lIns="0" tIns="0" rIns="0" bIns="0" rtlCol="0" anchor="t">
            <a:spAutoFit/>
          </a:bodyPr>
          <a:lstStyle/>
          <a:p>
            <a:pPr algn="just">
              <a:lnSpc>
                <a:spcPts val="3780"/>
              </a:lnSpc>
            </a:pPr>
            <a:r>
              <a:rPr lang="en-US" sz="2700" spc="13">
                <a:solidFill>
                  <a:srgbClr val="000000"/>
                </a:solidFill>
                <a:latin typeface="Muli Light"/>
                <a:ea typeface="Muli Light"/>
                <a:cs typeface="Muli Light"/>
                <a:sym typeface="Muli Light"/>
              </a:rPr>
              <a:t> Hệ thống không chỉ giúp tối ưu quy trình vận hành mà còn tạo điều kiện để khách hàng dễ dàng tiếp cận dịch vụ, góp phần nâng cao tính chuyên nghiệp cho cửa hàng.</a:t>
            </a:r>
          </a:p>
        </p:txBody>
      </p:sp>
      <p:sp>
        <p:nvSpPr>
          <p:cNvPr id="21" name="TextBox 21"/>
          <p:cNvSpPr txBox="1"/>
          <p:nvPr/>
        </p:nvSpPr>
        <p:spPr>
          <a:xfrm>
            <a:off x="10616883" y="6373430"/>
            <a:ext cx="5714493" cy="533400"/>
          </a:xfrm>
          <a:prstGeom prst="rect">
            <a:avLst/>
          </a:prstGeom>
        </p:spPr>
        <p:txBody>
          <a:bodyPr lIns="0" tIns="0" rIns="0" bIns="0" rtlCol="0" anchor="t">
            <a:spAutoFit/>
          </a:bodyPr>
          <a:lstStyle/>
          <a:p>
            <a:pPr algn="l">
              <a:lnSpc>
                <a:spcPts val="4200"/>
              </a:lnSpc>
            </a:pPr>
            <a:r>
              <a:rPr lang="en-US" sz="3500" b="1" spc="105">
                <a:solidFill>
                  <a:srgbClr val="1836B2"/>
                </a:solidFill>
                <a:latin typeface="Muli Ultra-Bold"/>
                <a:ea typeface="Muli Ultra-Bold"/>
                <a:cs typeface="Muli Ultra-Bold"/>
                <a:sym typeface="Muli Ultra-Bold"/>
              </a:rPr>
              <a:t>Hiệu quả</a:t>
            </a:r>
          </a:p>
        </p:txBody>
      </p:sp>
      <p:sp>
        <p:nvSpPr>
          <p:cNvPr id="22" name="TextBox 22"/>
          <p:cNvSpPr txBox="1"/>
          <p:nvPr/>
        </p:nvSpPr>
        <p:spPr>
          <a:xfrm>
            <a:off x="6338685" y="-57150"/>
            <a:ext cx="6059248" cy="1266825"/>
          </a:xfrm>
          <a:prstGeom prst="rect">
            <a:avLst/>
          </a:prstGeom>
        </p:spPr>
        <p:txBody>
          <a:bodyPr lIns="0" tIns="0" rIns="0" bIns="0" rtlCol="0" anchor="t">
            <a:spAutoFit/>
          </a:bodyPr>
          <a:lstStyle/>
          <a:p>
            <a:pPr algn="l">
              <a:lnSpc>
                <a:spcPts val="10080"/>
              </a:lnSpc>
            </a:pPr>
            <a:r>
              <a:rPr lang="en-US" sz="8400" b="1">
                <a:solidFill>
                  <a:srgbClr val="1836B2"/>
                </a:solidFill>
                <a:latin typeface="Muli Bold"/>
                <a:ea typeface="Muli Bold"/>
                <a:cs typeface="Muli Bold"/>
                <a:sym typeface="Muli Bold"/>
              </a:rPr>
              <a:t>Tổng quan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2000"/>
                                        <p:tgtEl>
                                          <p:spTgt spid="3"/>
                                        </p:tgtEl>
                                      </p:cBhvr>
                                    </p:animEffect>
                                  </p:childTnLst>
                                </p:cTn>
                              </p:par>
                              <p:par>
                                <p:cTn id="11" presetID="22" presetClass="entr" presetSubtype="8"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2000"/>
                                        <p:tgtEl>
                                          <p:spTgt spid="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20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2000"/>
                                        <p:tgtEl>
                                          <p:spTgt spid="7"/>
                                        </p:tgtEl>
                                      </p:cBhvr>
                                    </p:animEffect>
                                  </p:childTnLst>
                                </p:cTn>
                              </p:par>
                              <p:par>
                                <p:cTn id="20" presetID="22" presetClass="entr" presetSubtype="8"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2000"/>
                                        <p:tgtEl>
                                          <p:spTgt spid="8"/>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2000"/>
                                        <p:tgtEl>
                                          <p:spTgt spid="10"/>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2000"/>
                                        <p:tgtEl>
                                          <p:spTgt spid="11"/>
                                        </p:tgtEl>
                                      </p:cBhvr>
                                    </p:animEffect>
                                  </p:childTnLst>
                                </p:cTn>
                              </p:par>
                              <p:par>
                                <p:cTn id="29" presetID="22" presetClass="entr" presetSubtype="8"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2000"/>
                                        <p:tgtEl>
                                          <p:spTgt spid="12"/>
                                        </p:tgtEl>
                                      </p:cBhvr>
                                    </p:animEffect>
                                  </p:childTnLst>
                                </p:cTn>
                              </p:par>
                              <p:par>
                                <p:cTn id="32" presetID="22" presetClass="entr" presetSubtype="8"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2000"/>
                                        <p:tgtEl>
                                          <p:spTgt spid="14"/>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2000"/>
                                        <p:tgtEl>
                                          <p:spTgt spid="16"/>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left)">
                                      <p:cBhvr>
                                        <p:cTn id="40" dur="2000"/>
                                        <p:tgtEl>
                                          <p:spTgt spid="17"/>
                                        </p:tgtEl>
                                      </p:cBhvr>
                                    </p:animEffect>
                                  </p:childTnLst>
                                </p:cTn>
                              </p:par>
                              <p:par>
                                <p:cTn id="41" presetID="22" presetClass="entr" presetSubtype="8"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wipe(left)">
                                      <p:cBhvr>
                                        <p:cTn id="43" dur="2000"/>
                                        <p:tgtEl>
                                          <p:spTgt spid="18"/>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wipe(left)">
                                      <p:cBhvr>
                                        <p:cTn id="46" dur="2000"/>
                                        <p:tgtEl>
                                          <p:spTgt spid="20"/>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wipe(left)">
                                      <p:cBhvr>
                                        <p:cTn id="49" dur="2000"/>
                                        <p:tgtEl>
                                          <p:spTgt spid="21"/>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wipe(left)">
                                      <p:cBhvr>
                                        <p:cTn id="52"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P spid="7" grpId="0"/>
      <p:bldP spid="10" grpId="0"/>
      <p:bldP spid="11" grpId="0"/>
      <p:bldP spid="16" grpId="0"/>
      <p:bldP spid="17" grpId="0"/>
      <p:bldP spid="20" grpId="0"/>
      <p:bldP spid="21" grpId="0"/>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19754" y="8897448"/>
            <a:ext cx="1023581" cy="1023581"/>
            <a:chOff x="0" y="0"/>
            <a:chExt cx="1364774" cy="1364774"/>
          </a:xfrm>
        </p:grpSpPr>
        <p:sp>
          <p:nvSpPr>
            <p:cNvPr id="3" name="Freeform 3"/>
            <p:cNvSpPr/>
            <p:nvPr/>
          </p:nvSpPr>
          <p:spPr>
            <a:xfrm rot="-10800000">
              <a:off x="0" y="0"/>
              <a:ext cx="1364774" cy="1364774"/>
            </a:xfrm>
            <a:custGeom>
              <a:avLst/>
              <a:gdLst/>
              <a:ahLst/>
              <a:cxnLst/>
              <a:rect l="l" t="t" r="r" b="b"/>
              <a:pathLst>
                <a:path w="1364774" h="1364774">
                  <a:moveTo>
                    <a:pt x="0" y="0"/>
                  </a:moveTo>
                  <a:lnTo>
                    <a:pt x="1364774" y="0"/>
                  </a:lnTo>
                  <a:lnTo>
                    <a:pt x="1364774" y="1364774"/>
                  </a:lnTo>
                  <a:lnTo>
                    <a:pt x="0" y="136477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45975" y="348806"/>
              <a:ext cx="872823" cy="730250"/>
            </a:xfrm>
            <a:prstGeom prst="rect">
              <a:avLst/>
            </a:prstGeom>
          </p:spPr>
          <p:txBody>
            <a:bodyPr lIns="0" tIns="0" rIns="0" bIns="0" rtlCol="0" anchor="t">
              <a:spAutoFit/>
            </a:bodyPr>
            <a:lstStyle/>
            <a:p>
              <a:pPr algn="ctr">
                <a:lnSpc>
                  <a:spcPts val="4200"/>
                </a:lnSpc>
              </a:pPr>
              <a:r>
                <a:rPr lang="en-US" sz="3500" b="1">
                  <a:solidFill>
                    <a:srgbClr val="FFFFFF"/>
                  </a:solidFill>
                  <a:latin typeface="Public Sans Bold"/>
                  <a:ea typeface="Public Sans Bold"/>
                  <a:cs typeface="Public Sans Bold"/>
                  <a:sym typeface="Public Sans Bold"/>
                </a:rPr>
                <a:t>03</a:t>
              </a:r>
            </a:p>
          </p:txBody>
        </p:sp>
      </p:grpSp>
      <p:sp>
        <p:nvSpPr>
          <p:cNvPr id="5" name="TextBox 5"/>
          <p:cNvSpPr txBox="1"/>
          <p:nvPr/>
        </p:nvSpPr>
        <p:spPr>
          <a:xfrm>
            <a:off x="388579" y="2584270"/>
            <a:ext cx="6059248" cy="1266825"/>
          </a:xfrm>
          <a:prstGeom prst="rect">
            <a:avLst/>
          </a:prstGeom>
        </p:spPr>
        <p:txBody>
          <a:bodyPr lIns="0" tIns="0" rIns="0" bIns="0" rtlCol="0" anchor="t">
            <a:spAutoFit/>
          </a:bodyPr>
          <a:lstStyle/>
          <a:p>
            <a:pPr algn="l">
              <a:lnSpc>
                <a:spcPts val="10080"/>
              </a:lnSpc>
            </a:pPr>
            <a:r>
              <a:rPr lang="en-US" sz="8400" b="1" dirty="0" err="1">
                <a:solidFill>
                  <a:srgbClr val="1836B2"/>
                </a:solidFill>
                <a:latin typeface="Muli Bold"/>
                <a:ea typeface="Muli Bold"/>
                <a:cs typeface="Muli Bold"/>
                <a:sym typeface="Muli Bold"/>
              </a:rPr>
              <a:t>Tổng</a:t>
            </a:r>
            <a:r>
              <a:rPr lang="en-US" sz="8400" b="1" dirty="0">
                <a:solidFill>
                  <a:srgbClr val="1836B2"/>
                </a:solidFill>
                <a:latin typeface="Muli Bold"/>
                <a:ea typeface="Muli Bold"/>
                <a:cs typeface="Muli Bold"/>
                <a:sym typeface="Muli Bold"/>
              </a:rPr>
              <a:t> </a:t>
            </a:r>
            <a:r>
              <a:rPr lang="en-US" sz="8400" b="1" dirty="0" err="1">
                <a:solidFill>
                  <a:srgbClr val="1836B2"/>
                </a:solidFill>
                <a:latin typeface="Muli Bold"/>
                <a:ea typeface="Muli Bold"/>
                <a:cs typeface="Muli Bold"/>
                <a:sym typeface="Muli Bold"/>
              </a:rPr>
              <a:t>quan</a:t>
            </a:r>
            <a:endParaRPr lang="en-US" sz="8400" b="1" dirty="0">
              <a:solidFill>
                <a:srgbClr val="1836B2"/>
              </a:solidFill>
              <a:latin typeface="Muli Bold"/>
              <a:ea typeface="Muli Bold"/>
              <a:cs typeface="Muli Bold"/>
              <a:sym typeface="Muli Bold"/>
            </a:endParaRPr>
          </a:p>
        </p:txBody>
      </p:sp>
      <p:sp>
        <p:nvSpPr>
          <p:cNvPr id="6" name="TextBox 6"/>
          <p:cNvSpPr txBox="1"/>
          <p:nvPr/>
        </p:nvSpPr>
        <p:spPr>
          <a:xfrm>
            <a:off x="2377938" y="4269171"/>
            <a:ext cx="5073829" cy="874329"/>
          </a:xfrm>
          <a:prstGeom prst="rect">
            <a:avLst/>
          </a:prstGeom>
        </p:spPr>
        <p:txBody>
          <a:bodyPr lIns="0" tIns="0" rIns="0" bIns="0" rtlCol="0" anchor="t">
            <a:spAutoFit/>
          </a:bodyPr>
          <a:lstStyle/>
          <a:p>
            <a:pPr algn="l">
              <a:lnSpc>
                <a:spcPts val="7246"/>
              </a:lnSpc>
            </a:pPr>
            <a:r>
              <a:rPr lang="en-US" sz="5213" b="1" spc="26">
                <a:solidFill>
                  <a:srgbClr val="1836B2"/>
                </a:solidFill>
                <a:latin typeface="Muli Bold"/>
                <a:ea typeface="Muli Bold"/>
                <a:cs typeface="Muli Bold"/>
                <a:sym typeface="Muli Bold"/>
              </a:rPr>
              <a:t>Mục tiêu đề tài</a:t>
            </a:r>
          </a:p>
        </p:txBody>
      </p:sp>
      <p:sp>
        <p:nvSpPr>
          <p:cNvPr id="7" name="TextBox 7"/>
          <p:cNvSpPr txBox="1"/>
          <p:nvPr/>
        </p:nvSpPr>
        <p:spPr>
          <a:xfrm>
            <a:off x="10369499" y="981075"/>
            <a:ext cx="6402407" cy="2360295"/>
          </a:xfrm>
          <a:prstGeom prst="rect">
            <a:avLst/>
          </a:prstGeom>
        </p:spPr>
        <p:txBody>
          <a:bodyPr lIns="0" tIns="0" rIns="0" bIns="0" rtlCol="0" anchor="t">
            <a:spAutoFit/>
          </a:bodyPr>
          <a:lstStyle/>
          <a:p>
            <a:pPr marL="0" lvl="0" indent="0" algn="l">
              <a:lnSpc>
                <a:spcPts val="3780"/>
              </a:lnSpc>
              <a:spcBef>
                <a:spcPct val="0"/>
              </a:spcBef>
            </a:pPr>
            <a:r>
              <a:rPr lang="en-US" sz="2700" spc="13">
                <a:solidFill>
                  <a:srgbClr val="000000"/>
                </a:solidFill>
                <a:latin typeface="Muli Light"/>
                <a:ea typeface="Muli Light"/>
                <a:cs typeface="Muli Light"/>
                <a:sym typeface="Muli Light"/>
              </a:rPr>
              <a:t>Bài tiểu luận nhằm xây dự</a:t>
            </a:r>
            <a:r>
              <a:rPr lang="en-US" sz="2700" u="none" spc="13">
                <a:solidFill>
                  <a:srgbClr val="000000"/>
                </a:solidFill>
                <a:latin typeface="Muli Light"/>
                <a:ea typeface="Muli Light"/>
                <a:cs typeface="Muli Light"/>
                <a:sym typeface="Muli Light"/>
              </a:rPr>
              <a:t>ng website quản lý cửa hàng phụ kiện thú cưng, giúp tối ưu hóa hoạt động kinh doanh và nâng cao trải nghiệm mua sắm cho khách hàng.</a:t>
            </a:r>
          </a:p>
        </p:txBody>
      </p:sp>
      <p:sp>
        <p:nvSpPr>
          <p:cNvPr id="8" name="AutoShape 8"/>
          <p:cNvSpPr/>
          <p:nvPr/>
        </p:nvSpPr>
        <p:spPr>
          <a:xfrm flipH="1">
            <a:off x="10369499" y="3889057"/>
            <a:ext cx="6402407" cy="0"/>
          </a:xfrm>
          <a:prstGeom prst="line">
            <a:avLst/>
          </a:prstGeom>
          <a:ln w="28575" cap="rnd">
            <a:solidFill>
              <a:srgbClr val="1836B2"/>
            </a:solidFill>
            <a:prstDash val="solid"/>
            <a:headEnd type="none" w="sm" len="sm"/>
            <a:tailEnd type="none" w="sm" len="sm"/>
          </a:ln>
        </p:spPr>
      </p:sp>
      <p:sp>
        <p:nvSpPr>
          <p:cNvPr id="9" name="TextBox 9"/>
          <p:cNvSpPr txBox="1"/>
          <p:nvPr/>
        </p:nvSpPr>
        <p:spPr>
          <a:xfrm>
            <a:off x="10369499" y="4389695"/>
            <a:ext cx="6402407" cy="1884045"/>
          </a:xfrm>
          <a:prstGeom prst="rect">
            <a:avLst/>
          </a:prstGeom>
        </p:spPr>
        <p:txBody>
          <a:bodyPr lIns="0" tIns="0" rIns="0" bIns="0" rtlCol="0" anchor="t">
            <a:spAutoFit/>
          </a:bodyPr>
          <a:lstStyle/>
          <a:p>
            <a:pPr marL="0" lvl="0" indent="0" algn="l">
              <a:lnSpc>
                <a:spcPts val="3780"/>
              </a:lnSpc>
              <a:spcBef>
                <a:spcPct val="0"/>
              </a:spcBef>
            </a:pPr>
            <a:r>
              <a:rPr lang="en-US" sz="2700" spc="13">
                <a:solidFill>
                  <a:srgbClr val="000000"/>
                </a:solidFill>
                <a:latin typeface="Muli Light"/>
                <a:ea typeface="Muli Light"/>
                <a:cs typeface="Muli Light"/>
                <a:sym typeface="Muli Light"/>
              </a:rPr>
              <a:t>Hệ thống hỗ trợ quản lý sản phẩm, đơn hàng, thông tin khách hàng và tồn kho, với giao diện thân thiện cho cả nhân viên và người dùng.</a:t>
            </a:r>
          </a:p>
        </p:txBody>
      </p:sp>
      <p:sp>
        <p:nvSpPr>
          <p:cNvPr id="10" name="AutoShape 10"/>
          <p:cNvSpPr/>
          <p:nvPr/>
        </p:nvSpPr>
        <p:spPr>
          <a:xfrm flipH="1">
            <a:off x="10369499" y="6822002"/>
            <a:ext cx="6402407" cy="0"/>
          </a:xfrm>
          <a:prstGeom prst="line">
            <a:avLst/>
          </a:prstGeom>
          <a:ln w="28575" cap="rnd">
            <a:solidFill>
              <a:srgbClr val="1836B2"/>
            </a:solidFill>
            <a:prstDash val="solid"/>
            <a:headEnd type="none" w="sm" len="sm"/>
            <a:tailEnd type="none" w="sm" len="sm"/>
          </a:ln>
        </p:spPr>
      </p:sp>
      <p:sp>
        <p:nvSpPr>
          <p:cNvPr id="11" name="TextBox 11"/>
          <p:cNvSpPr txBox="1"/>
          <p:nvPr/>
        </p:nvSpPr>
        <p:spPr>
          <a:xfrm>
            <a:off x="10369499" y="7322065"/>
            <a:ext cx="6402407" cy="1884045"/>
          </a:xfrm>
          <a:prstGeom prst="rect">
            <a:avLst/>
          </a:prstGeom>
        </p:spPr>
        <p:txBody>
          <a:bodyPr lIns="0" tIns="0" rIns="0" bIns="0" rtlCol="0" anchor="t">
            <a:spAutoFit/>
          </a:bodyPr>
          <a:lstStyle/>
          <a:p>
            <a:pPr marL="0" lvl="0" indent="0" algn="l">
              <a:lnSpc>
                <a:spcPts val="3780"/>
              </a:lnSpc>
              <a:spcBef>
                <a:spcPct val="0"/>
              </a:spcBef>
            </a:pPr>
            <a:r>
              <a:rPr lang="en-US" sz="2700" spc="13">
                <a:solidFill>
                  <a:srgbClr val="000000"/>
                </a:solidFill>
                <a:latin typeface="Muli Light"/>
                <a:ea typeface="Muli Light"/>
                <a:cs typeface="Muli Light"/>
                <a:sym typeface="Muli Light"/>
              </a:rPr>
              <a:t>Mục tiêu là tạo ra trải nghiệm mua sắm nhanh chóng, chính xác, đồng thời giúp cửa hàng vận hành hiệu quả, tiết kiệm thời gian và chi phí.</a:t>
            </a:r>
          </a:p>
        </p:txBody>
      </p:sp>
      <p:sp>
        <p:nvSpPr>
          <p:cNvPr id="12" name="Freeform 12"/>
          <p:cNvSpPr/>
          <p:nvPr/>
        </p:nvSpPr>
        <p:spPr>
          <a:xfrm flipH="1">
            <a:off x="-2528531" y="7510355"/>
            <a:ext cx="8370405" cy="4779226"/>
          </a:xfrm>
          <a:custGeom>
            <a:avLst/>
            <a:gdLst/>
            <a:ahLst/>
            <a:cxnLst/>
            <a:rect l="l" t="t" r="r" b="b"/>
            <a:pathLst>
              <a:path w="8370405" h="4779226">
                <a:moveTo>
                  <a:pt x="8370405" y="0"/>
                </a:moveTo>
                <a:lnTo>
                  <a:pt x="0" y="0"/>
                </a:lnTo>
                <a:lnTo>
                  <a:pt x="0" y="4779227"/>
                </a:lnTo>
                <a:lnTo>
                  <a:pt x="8370405" y="4779227"/>
                </a:lnTo>
                <a:lnTo>
                  <a:pt x="8370405" y="0"/>
                </a:lnTo>
                <a:close/>
              </a:path>
            </a:pathLst>
          </a:custGeom>
          <a:blipFill>
            <a:blip r:embed="rId4">
              <a:extLst>
                <a:ext uri="{96DAC541-7B7A-43D3-8B79-37D633B846F1}">
                  <asvg:svgBlip xmlns:asvg="http://schemas.microsoft.com/office/drawing/2016/SVG/main" r:embed="rId5"/>
                </a:ext>
              </a:extLst>
            </a:blip>
            <a:stretch>
              <a:fillRect t="-51576"/>
            </a:stretch>
          </a:blipFill>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2000"/>
                                        <p:tgtEl>
                                          <p:spTgt spid="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2000"/>
                                        <p:tgtEl>
                                          <p:spTgt spid="6"/>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2000"/>
                                        <p:tgtEl>
                                          <p:spTgt spid="7"/>
                                        </p:tgtEl>
                                      </p:cBhvr>
                                    </p:animEffect>
                                  </p:childTnLst>
                                </p:cTn>
                              </p:par>
                              <p:par>
                                <p:cTn id="17" presetID="22" presetClass="entr" presetSubtype="8"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2000"/>
                                        <p:tgtEl>
                                          <p:spTgt spid="8"/>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2000"/>
                                        <p:tgtEl>
                                          <p:spTgt spid="9"/>
                                        </p:tgtEl>
                                      </p:cBhvr>
                                    </p:animEffect>
                                  </p:childTnLst>
                                </p:cTn>
                              </p:par>
                              <p:par>
                                <p:cTn id="23" presetID="22" presetClass="entr" presetSubtype="8"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2000"/>
                                        <p:tgtEl>
                                          <p:spTgt spid="10"/>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2000"/>
                                        <p:tgtEl>
                                          <p:spTgt spid="11"/>
                                        </p:tgtEl>
                                      </p:cBhvr>
                                    </p:animEffect>
                                  </p:childTnLst>
                                </p:cTn>
                              </p:par>
                              <p:par>
                                <p:cTn id="29" presetID="22" presetClass="entr" presetSubtype="8"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9"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722453" y="1028700"/>
            <a:ext cx="11884895" cy="7814319"/>
          </a:xfrm>
          <a:custGeom>
            <a:avLst/>
            <a:gdLst/>
            <a:ahLst/>
            <a:cxnLst/>
            <a:rect l="l" t="t" r="r" b="b"/>
            <a:pathLst>
              <a:path w="11884895" h="7814319">
                <a:moveTo>
                  <a:pt x="0" y="0"/>
                </a:moveTo>
                <a:lnTo>
                  <a:pt x="11884895" y="0"/>
                </a:lnTo>
                <a:lnTo>
                  <a:pt x="11884895" y="7814319"/>
                </a:lnTo>
                <a:lnTo>
                  <a:pt x="0" y="7814319"/>
                </a:lnTo>
                <a:lnTo>
                  <a:pt x="0" y="0"/>
                </a:lnTo>
                <a:close/>
              </a:path>
            </a:pathLst>
          </a:custGeom>
          <a:blipFill>
            <a:blip r:embed="rId2"/>
            <a:stretch>
              <a:fillRect/>
            </a:stretch>
          </a:blipFill>
        </p:spPr>
      </p:sp>
      <p:grpSp>
        <p:nvGrpSpPr>
          <p:cNvPr id="3" name="Group 3"/>
          <p:cNvGrpSpPr/>
          <p:nvPr/>
        </p:nvGrpSpPr>
        <p:grpSpPr>
          <a:xfrm>
            <a:off x="680652" y="9515874"/>
            <a:ext cx="16926697" cy="1542251"/>
            <a:chOff x="0" y="0"/>
            <a:chExt cx="58960502" cy="5372100"/>
          </a:xfrm>
        </p:grpSpPr>
        <p:sp>
          <p:nvSpPr>
            <p:cNvPr id="4" name="Freeform 4"/>
            <p:cNvSpPr/>
            <p:nvPr/>
          </p:nvSpPr>
          <p:spPr>
            <a:xfrm>
              <a:off x="0" y="0"/>
              <a:ext cx="58960500" cy="5372100"/>
            </a:xfrm>
            <a:custGeom>
              <a:avLst/>
              <a:gdLst/>
              <a:ahLst/>
              <a:cxnLst/>
              <a:rect l="l" t="t" r="r" b="b"/>
              <a:pathLst>
                <a:path w="58960500" h="5372100">
                  <a:moveTo>
                    <a:pt x="57409829" y="0"/>
                  </a:moveTo>
                  <a:lnTo>
                    <a:pt x="1550670" y="0"/>
                  </a:lnTo>
                  <a:lnTo>
                    <a:pt x="0" y="2686050"/>
                  </a:lnTo>
                  <a:lnTo>
                    <a:pt x="1550670" y="5372100"/>
                  </a:lnTo>
                  <a:lnTo>
                    <a:pt x="57409829" y="5372100"/>
                  </a:lnTo>
                  <a:lnTo>
                    <a:pt x="58960500" y="2686050"/>
                  </a:lnTo>
                  <a:lnTo>
                    <a:pt x="57409829" y="0"/>
                  </a:lnTo>
                  <a:close/>
                </a:path>
              </a:pathLst>
            </a:custGeom>
            <a:solidFill>
              <a:srgbClr val="A066CB"/>
            </a:solidFill>
          </p:spPr>
        </p:sp>
      </p:grpSp>
      <p:sp>
        <p:nvSpPr>
          <p:cNvPr id="5" name="TextBox 5"/>
          <p:cNvSpPr txBox="1"/>
          <p:nvPr/>
        </p:nvSpPr>
        <p:spPr>
          <a:xfrm>
            <a:off x="680652" y="3359654"/>
            <a:ext cx="5055870" cy="2731770"/>
          </a:xfrm>
          <a:prstGeom prst="rect">
            <a:avLst/>
          </a:prstGeom>
        </p:spPr>
        <p:txBody>
          <a:bodyPr lIns="0" tIns="0" rIns="0" bIns="0" rtlCol="0" anchor="t">
            <a:spAutoFit/>
          </a:bodyPr>
          <a:lstStyle/>
          <a:p>
            <a:pPr algn="l">
              <a:lnSpc>
                <a:spcPts val="10920"/>
              </a:lnSpc>
            </a:pPr>
            <a:r>
              <a:rPr lang="en-US" sz="8400" b="1">
                <a:solidFill>
                  <a:srgbClr val="1836B2"/>
                </a:solidFill>
                <a:latin typeface="Muli Bold"/>
                <a:ea typeface="Muli Bold"/>
                <a:cs typeface="Muli Bold"/>
                <a:sym typeface="Muli Bold"/>
              </a:rPr>
              <a:t>Mô hình</a:t>
            </a:r>
          </a:p>
          <a:p>
            <a:pPr algn="l">
              <a:lnSpc>
                <a:spcPts val="10920"/>
              </a:lnSpc>
            </a:pPr>
            <a:r>
              <a:rPr lang="en-US" sz="8400" b="1">
                <a:solidFill>
                  <a:srgbClr val="1836B2"/>
                </a:solidFill>
                <a:latin typeface="Muli Bold"/>
                <a:ea typeface="Muli Bold"/>
                <a:cs typeface="Muli Bold"/>
                <a:sym typeface="Muli Bold"/>
              </a:rPr>
              <a:t>dữ liệu</a:t>
            </a:r>
          </a:p>
        </p:txBody>
      </p:sp>
      <p:sp>
        <p:nvSpPr>
          <p:cNvPr id="6" name="Freeform 6"/>
          <p:cNvSpPr/>
          <p:nvPr/>
        </p:nvSpPr>
        <p:spPr>
          <a:xfrm rot="6557660">
            <a:off x="-2933621" y="-4130965"/>
            <a:ext cx="6878318" cy="6878318"/>
          </a:xfrm>
          <a:custGeom>
            <a:avLst/>
            <a:gdLst/>
            <a:ahLst/>
            <a:cxnLst/>
            <a:rect l="l" t="t" r="r" b="b"/>
            <a:pathLst>
              <a:path w="6878318" h="6878318">
                <a:moveTo>
                  <a:pt x="0" y="0"/>
                </a:moveTo>
                <a:lnTo>
                  <a:pt x="6878317" y="0"/>
                </a:lnTo>
                <a:lnTo>
                  <a:pt x="6878317" y="6878317"/>
                </a:lnTo>
                <a:lnTo>
                  <a:pt x="0" y="6878317"/>
                </a:lnTo>
                <a:lnTo>
                  <a:pt x="0" y="0"/>
                </a:lnTo>
                <a:close/>
              </a:path>
            </a:pathLst>
          </a:custGeom>
          <a:blipFill>
            <a:blip r:embed="rId3">
              <a:alphaModFix amt="90000"/>
              <a:extLst>
                <a:ext uri="{96DAC541-7B7A-43D3-8B79-37D633B846F1}">
                  <asvg:svgBlip xmlns:asvg="http://schemas.microsoft.com/office/drawing/2016/SVG/main" r:embed="rId4"/>
                </a:ext>
              </a:extLst>
            </a:blip>
            <a:stretch>
              <a:fillRect/>
            </a:stretch>
          </a:blipFill>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2000"/>
                                        <p:tgtEl>
                                          <p:spTgt spid="3"/>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2000"/>
                                        <p:tgtEl>
                                          <p:spTgt spid="5"/>
                                        </p:tgtEl>
                                      </p:cBhvr>
                                    </p:animEffect>
                                  </p:childTnLst>
                                </p:cTn>
                              </p:par>
                              <p:par>
                                <p:cTn id="14" presetID="22" presetClass="entr" presetSubtype="8"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467849" y="3711222"/>
            <a:ext cx="5096103" cy="2281555"/>
          </a:xfrm>
          <a:prstGeom prst="rect">
            <a:avLst/>
          </a:prstGeom>
        </p:spPr>
        <p:txBody>
          <a:bodyPr lIns="0" tIns="0" rIns="0" bIns="0" rtlCol="0" anchor="t">
            <a:spAutoFit/>
          </a:bodyPr>
          <a:lstStyle/>
          <a:p>
            <a:pPr marL="0" lvl="0" indent="0" algn="l">
              <a:lnSpc>
                <a:spcPts val="9169"/>
              </a:lnSpc>
              <a:spcBef>
                <a:spcPct val="0"/>
              </a:spcBef>
            </a:pPr>
            <a:r>
              <a:rPr lang="en-US" sz="6549" b="1">
                <a:solidFill>
                  <a:srgbClr val="1836B2"/>
                </a:solidFill>
                <a:latin typeface="Muli Bold"/>
                <a:ea typeface="Muli Bold"/>
                <a:cs typeface="Muli Bold"/>
                <a:sym typeface="Muli Bold"/>
              </a:rPr>
              <a:t>MÔ HÌNH DỮ</a:t>
            </a:r>
            <a:r>
              <a:rPr lang="en-US" sz="6549" b="1" u="none">
                <a:solidFill>
                  <a:srgbClr val="1836B2"/>
                </a:solidFill>
                <a:latin typeface="Muli Bold"/>
                <a:ea typeface="Muli Bold"/>
                <a:cs typeface="Muli Bold"/>
                <a:sym typeface="Muli Bold"/>
              </a:rPr>
              <a:t> LIỆU</a:t>
            </a:r>
          </a:p>
        </p:txBody>
      </p:sp>
      <p:grpSp>
        <p:nvGrpSpPr>
          <p:cNvPr id="3" name="Group 3"/>
          <p:cNvGrpSpPr/>
          <p:nvPr/>
        </p:nvGrpSpPr>
        <p:grpSpPr>
          <a:xfrm>
            <a:off x="680652" y="9515874"/>
            <a:ext cx="16926697" cy="1542251"/>
            <a:chOff x="0" y="0"/>
            <a:chExt cx="58960502" cy="5372100"/>
          </a:xfrm>
        </p:grpSpPr>
        <p:sp>
          <p:nvSpPr>
            <p:cNvPr id="4" name="Freeform 4"/>
            <p:cNvSpPr/>
            <p:nvPr/>
          </p:nvSpPr>
          <p:spPr>
            <a:xfrm>
              <a:off x="0" y="0"/>
              <a:ext cx="58960500" cy="5372100"/>
            </a:xfrm>
            <a:custGeom>
              <a:avLst/>
              <a:gdLst/>
              <a:ahLst/>
              <a:cxnLst/>
              <a:rect l="l" t="t" r="r" b="b"/>
              <a:pathLst>
                <a:path w="58960500" h="5372100">
                  <a:moveTo>
                    <a:pt x="57409829" y="0"/>
                  </a:moveTo>
                  <a:lnTo>
                    <a:pt x="1550670" y="0"/>
                  </a:lnTo>
                  <a:lnTo>
                    <a:pt x="0" y="2686050"/>
                  </a:lnTo>
                  <a:lnTo>
                    <a:pt x="1550670" y="5372100"/>
                  </a:lnTo>
                  <a:lnTo>
                    <a:pt x="57409829" y="5372100"/>
                  </a:lnTo>
                  <a:lnTo>
                    <a:pt x="58960500" y="2686050"/>
                  </a:lnTo>
                  <a:lnTo>
                    <a:pt x="57409829" y="0"/>
                  </a:lnTo>
                  <a:close/>
                </a:path>
              </a:pathLst>
            </a:custGeom>
            <a:solidFill>
              <a:srgbClr val="A066CB"/>
            </a:solidFill>
          </p:spPr>
        </p:sp>
      </p:grpSp>
      <p:sp>
        <p:nvSpPr>
          <p:cNvPr id="5" name="TextBox 5"/>
          <p:cNvSpPr txBox="1"/>
          <p:nvPr/>
        </p:nvSpPr>
        <p:spPr>
          <a:xfrm>
            <a:off x="7553427" y="1283825"/>
            <a:ext cx="8994222" cy="327025"/>
          </a:xfrm>
          <a:prstGeom prst="rect">
            <a:avLst/>
          </a:prstGeom>
        </p:spPr>
        <p:txBody>
          <a:bodyPr lIns="0" tIns="0" rIns="0" bIns="0" rtlCol="0" anchor="t">
            <a:spAutoFit/>
          </a:bodyPr>
          <a:lstStyle/>
          <a:p>
            <a:pPr algn="l">
              <a:lnSpc>
                <a:spcPts val="2600"/>
              </a:lnSpc>
            </a:pPr>
            <a:r>
              <a:rPr lang="en-US" sz="2000" b="1">
                <a:solidFill>
                  <a:srgbClr val="000000"/>
                </a:solidFill>
                <a:latin typeface="Muli Ultra-Bold"/>
                <a:ea typeface="Muli Ultra-Bold"/>
                <a:cs typeface="Muli Ultra-Bold"/>
                <a:sym typeface="Muli Ultra-Bold"/>
              </a:rPr>
              <a:t>KhachHang: Lưu thông tin khách hàng như tên, số liên hệ, email, địa chỉ.</a:t>
            </a:r>
          </a:p>
        </p:txBody>
      </p:sp>
      <p:sp>
        <p:nvSpPr>
          <p:cNvPr id="6" name="TextBox 6"/>
          <p:cNvSpPr txBox="1"/>
          <p:nvPr/>
        </p:nvSpPr>
        <p:spPr>
          <a:xfrm>
            <a:off x="7553395" y="2225322"/>
            <a:ext cx="8994222" cy="650875"/>
          </a:xfrm>
          <a:prstGeom prst="rect">
            <a:avLst/>
          </a:prstGeom>
        </p:spPr>
        <p:txBody>
          <a:bodyPr lIns="0" tIns="0" rIns="0" bIns="0" rtlCol="0" anchor="t">
            <a:spAutoFit/>
          </a:bodyPr>
          <a:lstStyle/>
          <a:p>
            <a:pPr algn="l">
              <a:lnSpc>
                <a:spcPts val="2600"/>
              </a:lnSpc>
            </a:pPr>
            <a:r>
              <a:rPr lang="en-US" sz="2000" b="1">
                <a:solidFill>
                  <a:srgbClr val="000000"/>
                </a:solidFill>
                <a:latin typeface="Muli Ultra-Bold"/>
                <a:ea typeface="Muli Ultra-Bold"/>
                <a:cs typeface="Muli Ultra-Bold"/>
                <a:sym typeface="Muli Ultra-Bold"/>
              </a:rPr>
              <a:t>DonHang: Quản lý đơn hàng bao gồm ngày đặt, tổng tiền, trạng thái, thanh toán.</a:t>
            </a:r>
          </a:p>
        </p:txBody>
      </p:sp>
      <p:sp>
        <p:nvSpPr>
          <p:cNvPr id="7" name="TextBox 7"/>
          <p:cNvSpPr txBox="1"/>
          <p:nvPr/>
        </p:nvSpPr>
        <p:spPr>
          <a:xfrm>
            <a:off x="7553395" y="3495322"/>
            <a:ext cx="8994222" cy="650875"/>
          </a:xfrm>
          <a:prstGeom prst="rect">
            <a:avLst/>
          </a:prstGeom>
        </p:spPr>
        <p:txBody>
          <a:bodyPr lIns="0" tIns="0" rIns="0" bIns="0" rtlCol="0" anchor="t">
            <a:spAutoFit/>
          </a:bodyPr>
          <a:lstStyle/>
          <a:p>
            <a:pPr algn="l">
              <a:lnSpc>
                <a:spcPts val="2600"/>
              </a:lnSpc>
            </a:pPr>
            <a:r>
              <a:rPr lang="en-US" sz="2000" b="1">
                <a:solidFill>
                  <a:srgbClr val="000000"/>
                </a:solidFill>
                <a:latin typeface="Muli Ultra-Bold"/>
                <a:ea typeface="Muli Ultra-Bold"/>
                <a:cs typeface="Muli Ultra-Bold"/>
                <a:sym typeface="Muli Ultra-Bold"/>
              </a:rPr>
              <a:t>ChiTietDonHang: Chứa thông tin chi tiết của từng sản phẩm trong một đơn hàng (số lượng, giá…).</a:t>
            </a:r>
          </a:p>
        </p:txBody>
      </p:sp>
      <p:sp>
        <p:nvSpPr>
          <p:cNvPr id="8" name="TextBox 8"/>
          <p:cNvSpPr txBox="1"/>
          <p:nvPr/>
        </p:nvSpPr>
        <p:spPr>
          <a:xfrm>
            <a:off x="7553395" y="4765322"/>
            <a:ext cx="8994222" cy="650875"/>
          </a:xfrm>
          <a:prstGeom prst="rect">
            <a:avLst/>
          </a:prstGeom>
        </p:spPr>
        <p:txBody>
          <a:bodyPr lIns="0" tIns="0" rIns="0" bIns="0" rtlCol="0" anchor="t">
            <a:spAutoFit/>
          </a:bodyPr>
          <a:lstStyle/>
          <a:p>
            <a:pPr algn="l">
              <a:lnSpc>
                <a:spcPts val="2600"/>
              </a:lnSpc>
            </a:pPr>
            <a:r>
              <a:rPr lang="en-US" sz="2000" b="1">
                <a:solidFill>
                  <a:srgbClr val="000000"/>
                </a:solidFill>
                <a:latin typeface="Muli Ultra-Bold"/>
                <a:ea typeface="Muli Ultra-Bold"/>
                <a:cs typeface="Muli Ultra-Bold"/>
                <a:sym typeface="Muli Ultra-Bold"/>
              </a:rPr>
              <a:t>SanPham: Thông tin sản phẩm (tên, thương hiệu, giá, hình ảnh, đơn vị, danh mục…).</a:t>
            </a:r>
          </a:p>
        </p:txBody>
      </p:sp>
      <p:sp>
        <p:nvSpPr>
          <p:cNvPr id="9" name="TextBox 9"/>
          <p:cNvSpPr txBox="1"/>
          <p:nvPr/>
        </p:nvSpPr>
        <p:spPr>
          <a:xfrm>
            <a:off x="7553438" y="6035322"/>
            <a:ext cx="8994222" cy="650875"/>
          </a:xfrm>
          <a:prstGeom prst="rect">
            <a:avLst/>
          </a:prstGeom>
        </p:spPr>
        <p:txBody>
          <a:bodyPr lIns="0" tIns="0" rIns="0" bIns="0" rtlCol="0" anchor="t">
            <a:spAutoFit/>
          </a:bodyPr>
          <a:lstStyle/>
          <a:p>
            <a:pPr algn="l">
              <a:lnSpc>
                <a:spcPts val="2600"/>
              </a:lnSpc>
            </a:pPr>
            <a:r>
              <a:rPr lang="en-US" sz="2000" b="1">
                <a:solidFill>
                  <a:srgbClr val="000000"/>
                </a:solidFill>
                <a:latin typeface="Muli Ultra-Bold"/>
                <a:ea typeface="Muli Ultra-Bold"/>
                <a:cs typeface="Muli Ultra-Bold"/>
                <a:sym typeface="Muli Ultra-Bold"/>
              </a:rPr>
              <a:t>DanhMuc: Phân loại các sản phẩm theo từng nhóm (ví dụ: quần áo, đồ ăn, đồ chơi…).</a:t>
            </a:r>
          </a:p>
        </p:txBody>
      </p:sp>
      <p:sp>
        <p:nvSpPr>
          <p:cNvPr id="10" name="TextBox 10"/>
          <p:cNvSpPr txBox="1"/>
          <p:nvPr/>
        </p:nvSpPr>
        <p:spPr>
          <a:xfrm>
            <a:off x="7553438" y="7305322"/>
            <a:ext cx="8994222" cy="650875"/>
          </a:xfrm>
          <a:prstGeom prst="rect">
            <a:avLst/>
          </a:prstGeom>
        </p:spPr>
        <p:txBody>
          <a:bodyPr lIns="0" tIns="0" rIns="0" bIns="0" rtlCol="0" anchor="t">
            <a:spAutoFit/>
          </a:bodyPr>
          <a:lstStyle/>
          <a:p>
            <a:pPr algn="l">
              <a:lnSpc>
                <a:spcPts val="2600"/>
              </a:lnSpc>
            </a:pPr>
            <a:r>
              <a:rPr lang="en-US" sz="2000" b="1">
                <a:solidFill>
                  <a:srgbClr val="000000"/>
                </a:solidFill>
                <a:latin typeface="Muli Ultra-Bold"/>
                <a:ea typeface="Muli Ultra-Bold"/>
                <a:cs typeface="Muli Ultra-Bold"/>
                <a:sym typeface="Muli Ultra-Bold"/>
              </a:rPr>
              <a:t>DonVi:Đơn vị tính của sản phẩm (cái, túi, bộ…), có thể cập nhật thời gian sử dụng.</a:t>
            </a:r>
          </a:p>
        </p:txBody>
      </p:sp>
      <p:sp>
        <p:nvSpPr>
          <p:cNvPr id="11" name="AutoShape 11"/>
          <p:cNvSpPr/>
          <p:nvPr/>
        </p:nvSpPr>
        <p:spPr>
          <a:xfrm>
            <a:off x="7553395" y="1930047"/>
            <a:ext cx="8994233" cy="0"/>
          </a:xfrm>
          <a:prstGeom prst="line">
            <a:avLst/>
          </a:prstGeom>
          <a:ln w="76200" cap="rnd">
            <a:solidFill>
              <a:srgbClr val="86C7ED"/>
            </a:solidFill>
            <a:prstDash val="sysDot"/>
            <a:headEnd type="none" w="sm" len="sm"/>
            <a:tailEnd type="none" w="sm" len="sm"/>
          </a:ln>
        </p:spPr>
      </p:sp>
      <p:sp>
        <p:nvSpPr>
          <p:cNvPr id="12" name="AutoShape 12"/>
          <p:cNvSpPr/>
          <p:nvPr/>
        </p:nvSpPr>
        <p:spPr>
          <a:xfrm>
            <a:off x="7553427" y="3200047"/>
            <a:ext cx="8994233" cy="0"/>
          </a:xfrm>
          <a:prstGeom prst="line">
            <a:avLst/>
          </a:prstGeom>
          <a:ln w="76200" cap="rnd">
            <a:solidFill>
              <a:srgbClr val="86C7ED"/>
            </a:solidFill>
            <a:prstDash val="sysDot"/>
            <a:headEnd type="none" w="sm" len="sm"/>
            <a:tailEnd type="none" w="sm" len="sm"/>
          </a:ln>
        </p:spPr>
      </p:sp>
      <p:sp>
        <p:nvSpPr>
          <p:cNvPr id="13" name="AutoShape 13"/>
          <p:cNvSpPr/>
          <p:nvPr/>
        </p:nvSpPr>
        <p:spPr>
          <a:xfrm>
            <a:off x="7553406" y="4470047"/>
            <a:ext cx="8994233" cy="0"/>
          </a:xfrm>
          <a:prstGeom prst="line">
            <a:avLst/>
          </a:prstGeom>
          <a:ln w="76200" cap="rnd">
            <a:solidFill>
              <a:srgbClr val="86C7ED"/>
            </a:solidFill>
            <a:prstDash val="sysDot"/>
            <a:headEnd type="none" w="sm" len="sm"/>
            <a:tailEnd type="none" w="sm" len="sm"/>
          </a:ln>
        </p:spPr>
      </p:sp>
      <p:sp>
        <p:nvSpPr>
          <p:cNvPr id="14" name="AutoShape 14"/>
          <p:cNvSpPr/>
          <p:nvPr/>
        </p:nvSpPr>
        <p:spPr>
          <a:xfrm>
            <a:off x="7553406" y="5740047"/>
            <a:ext cx="8994233" cy="0"/>
          </a:xfrm>
          <a:prstGeom prst="line">
            <a:avLst/>
          </a:prstGeom>
          <a:ln w="76200" cap="rnd">
            <a:solidFill>
              <a:srgbClr val="86C7ED"/>
            </a:solidFill>
            <a:prstDash val="sysDot"/>
            <a:headEnd type="none" w="sm" len="sm"/>
            <a:tailEnd type="none" w="sm" len="sm"/>
          </a:ln>
        </p:spPr>
      </p:sp>
      <p:sp>
        <p:nvSpPr>
          <p:cNvPr id="15" name="AutoShape 15"/>
          <p:cNvSpPr/>
          <p:nvPr/>
        </p:nvSpPr>
        <p:spPr>
          <a:xfrm>
            <a:off x="7553406" y="7010047"/>
            <a:ext cx="8994233" cy="0"/>
          </a:xfrm>
          <a:prstGeom prst="line">
            <a:avLst/>
          </a:prstGeom>
          <a:ln w="76200" cap="rnd">
            <a:solidFill>
              <a:srgbClr val="86C7ED"/>
            </a:solidFill>
            <a:prstDash val="sysDot"/>
            <a:headEnd type="none" w="sm" len="sm"/>
            <a:tailEnd type="none" w="sm" len="sm"/>
          </a:ln>
        </p:spPr>
      </p:sp>
      <p:sp>
        <p:nvSpPr>
          <p:cNvPr id="16" name="AutoShape 16"/>
          <p:cNvSpPr/>
          <p:nvPr/>
        </p:nvSpPr>
        <p:spPr>
          <a:xfrm>
            <a:off x="7553438" y="8280047"/>
            <a:ext cx="8994233" cy="0"/>
          </a:xfrm>
          <a:prstGeom prst="line">
            <a:avLst/>
          </a:prstGeom>
          <a:ln w="76200" cap="rnd">
            <a:solidFill>
              <a:srgbClr val="86C7ED"/>
            </a:solidFill>
            <a:prstDash val="sysDot"/>
            <a:headEnd type="none" w="sm" len="sm"/>
            <a:tailEnd type="none" w="sm" len="sm"/>
          </a:ln>
        </p:spPr>
      </p:sp>
      <p:sp>
        <p:nvSpPr>
          <p:cNvPr id="17" name="TextBox 17"/>
          <p:cNvSpPr txBox="1"/>
          <p:nvPr/>
        </p:nvSpPr>
        <p:spPr>
          <a:xfrm>
            <a:off x="7553406" y="8575322"/>
            <a:ext cx="8994222" cy="650875"/>
          </a:xfrm>
          <a:prstGeom prst="rect">
            <a:avLst/>
          </a:prstGeom>
        </p:spPr>
        <p:txBody>
          <a:bodyPr lIns="0" tIns="0" rIns="0" bIns="0" rtlCol="0" anchor="t">
            <a:spAutoFit/>
          </a:bodyPr>
          <a:lstStyle/>
          <a:p>
            <a:pPr algn="l">
              <a:lnSpc>
                <a:spcPts val="2600"/>
              </a:lnSpc>
            </a:pPr>
            <a:r>
              <a:rPr lang="en-US" sz="2000" b="1">
                <a:solidFill>
                  <a:srgbClr val="000000"/>
                </a:solidFill>
                <a:latin typeface="Muli Ultra-Bold"/>
                <a:ea typeface="Muli Ultra-Bold"/>
                <a:cs typeface="Muli Ultra-Bold"/>
                <a:sym typeface="Muli Ultra-Bold"/>
              </a:rPr>
              <a:t>NguoiDung: Lưu thông tin tài khoản người dùng (quản trị viên), gồm vai trò, mật khẩu, trạng thái.</a:t>
            </a:r>
          </a:p>
        </p:txBody>
      </p:sp>
      <p:sp>
        <p:nvSpPr>
          <p:cNvPr id="18" name="Freeform 18"/>
          <p:cNvSpPr/>
          <p:nvPr/>
        </p:nvSpPr>
        <p:spPr>
          <a:xfrm flipH="1">
            <a:off x="-2229096" y="-632670"/>
            <a:ext cx="5819495" cy="3322741"/>
          </a:xfrm>
          <a:custGeom>
            <a:avLst/>
            <a:gdLst/>
            <a:ahLst/>
            <a:cxnLst/>
            <a:rect l="l" t="t" r="r" b="b"/>
            <a:pathLst>
              <a:path w="5819495" h="3322741">
                <a:moveTo>
                  <a:pt x="5819495" y="0"/>
                </a:moveTo>
                <a:lnTo>
                  <a:pt x="0" y="0"/>
                </a:lnTo>
                <a:lnTo>
                  <a:pt x="0" y="3322740"/>
                </a:lnTo>
                <a:lnTo>
                  <a:pt x="5819495" y="3322740"/>
                </a:lnTo>
                <a:lnTo>
                  <a:pt x="5819495" y="0"/>
                </a:lnTo>
                <a:close/>
              </a:path>
            </a:pathLst>
          </a:custGeom>
          <a:blipFill>
            <a:blip r:embed="rId2">
              <a:extLst>
                <a:ext uri="{96DAC541-7B7A-43D3-8B79-37D633B846F1}">
                  <asvg:svgBlip xmlns:asvg="http://schemas.microsoft.com/office/drawing/2016/SVG/main" r:embed="rId3"/>
                </a:ext>
              </a:extLst>
            </a:blip>
            <a:stretch>
              <a:fillRect t="-51576"/>
            </a:stretch>
          </a:blipFill>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2000"/>
                                        <p:tgtEl>
                                          <p:spTgt spid="3"/>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2000"/>
                                        <p:tgtEl>
                                          <p:spTgt spid="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20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2000"/>
                                        <p:tgtEl>
                                          <p:spTgt spid="7"/>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2000"/>
                                        <p:tgtEl>
                                          <p:spTgt spid="8"/>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2000"/>
                                        <p:tgtEl>
                                          <p:spTgt spid="9"/>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2000"/>
                                        <p:tgtEl>
                                          <p:spTgt spid="10"/>
                                        </p:tgtEl>
                                      </p:cBhvr>
                                    </p:animEffect>
                                  </p:childTnLst>
                                </p:cTn>
                              </p:par>
                              <p:par>
                                <p:cTn id="29" presetID="22" presetClass="entr" presetSubtype="8"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2000"/>
                                        <p:tgtEl>
                                          <p:spTgt spid="11"/>
                                        </p:tgtEl>
                                      </p:cBhvr>
                                    </p:animEffect>
                                  </p:childTnLst>
                                </p:cTn>
                              </p:par>
                              <p:par>
                                <p:cTn id="32" presetID="22" presetClass="entr" presetSubtype="8"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2000"/>
                                        <p:tgtEl>
                                          <p:spTgt spid="12"/>
                                        </p:tgtEl>
                                      </p:cBhvr>
                                    </p:animEffect>
                                  </p:childTnLst>
                                </p:cTn>
                              </p:par>
                              <p:par>
                                <p:cTn id="35" presetID="22" presetClass="entr" presetSubtype="8"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2000"/>
                                        <p:tgtEl>
                                          <p:spTgt spid="13"/>
                                        </p:tgtEl>
                                      </p:cBhvr>
                                    </p:animEffect>
                                  </p:childTnLst>
                                </p:cTn>
                              </p:par>
                              <p:par>
                                <p:cTn id="38" presetID="22" presetClass="entr" presetSubtype="8"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wipe(left)">
                                      <p:cBhvr>
                                        <p:cTn id="40" dur="2000"/>
                                        <p:tgtEl>
                                          <p:spTgt spid="14"/>
                                        </p:tgtEl>
                                      </p:cBhvr>
                                    </p:animEffect>
                                  </p:childTnLst>
                                </p:cTn>
                              </p:par>
                              <p:par>
                                <p:cTn id="41" presetID="22" presetClass="entr" presetSubtype="8"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2000"/>
                                        <p:tgtEl>
                                          <p:spTgt spid="15"/>
                                        </p:tgtEl>
                                      </p:cBhvr>
                                    </p:animEffect>
                                  </p:childTnLst>
                                </p:cTn>
                              </p:par>
                              <p:par>
                                <p:cTn id="44" presetID="22" presetClass="entr" presetSubtype="8" fill="hold"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wipe(left)">
                                      <p:cBhvr>
                                        <p:cTn id="46" dur="2000"/>
                                        <p:tgtEl>
                                          <p:spTgt spid="16"/>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wipe(left)">
                                      <p:cBhvr>
                                        <p:cTn id="49" dur="2000"/>
                                        <p:tgtEl>
                                          <p:spTgt spid="17"/>
                                        </p:tgtEl>
                                      </p:cBhvr>
                                    </p:animEffect>
                                  </p:childTnLst>
                                </p:cTn>
                              </p:par>
                              <p:par>
                                <p:cTn id="50" presetID="22" presetClass="entr" presetSubtype="8" fill="hold"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P spid="8" grpId="0"/>
      <p:bldP spid="9" grpId="0"/>
      <p:bldP spid="10"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9320908" y="2570912"/>
            <a:ext cx="385240" cy="333654"/>
            <a:chOff x="0" y="0"/>
            <a:chExt cx="6202680" cy="5372100"/>
          </a:xfrm>
        </p:grpSpPr>
        <p:sp>
          <p:nvSpPr>
            <p:cNvPr id="3" name="Freeform 3"/>
            <p:cNvSpPr/>
            <p:nvPr/>
          </p:nvSpPr>
          <p:spPr>
            <a:xfrm>
              <a:off x="0" y="0"/>
              <a:ext cx="6202680" cy="5372100"/>
            </a:xfrm>
            <a:custGeom>
              <a:avLst/>
              <a:gdLst/>
              <a:ahLst/>
              <a:cxnLst/>
              <a:rect l="l" t="t" r="r" b="b"/>
              <a:pathLst>
                <a:path w="6202680" h="5372100">
                  <a:moveTo>
                    <a:pt x="4652010" y="0"/>
                  </a:moveTo>
                  <a:lnTo>
                    <a:pt x="1550670" y="0"/>
                  </a:lnTo>
                  <a:lnTo>
                    <a:pt x="0" y="2686050"/>
                  </a:lnTo>
                  <a:lnTo>
                    <a:pt x="1550670" y="5372100"/>
                  </a:lnTo>
                  <a:lnTo>
                    <a:pt x="4652010" y="5372100"/>
                  </a:lnTo>
                  <a:lnTo>
                    <a:pt x="6202680" y="2686050"/>
                  </a:lnTo>
                  <a:lnTo>
                    <a:pt x="4652010" y="0"/>
                  </a:lnTo>
                  <a:close/>
                </a:path>
              </a:pathLst>
            </a:custGeom>
            <a:solidFill>
              <a:srgbClr val="A066CB"/>
            </a:solidFill>
          </p:spPr>
        </p:sp>
      </p:grpSp>
      <p:grpSp>
        <p:nvGrpSpPr>
          <p:cNvPr id="4" name="Group 4"/>
          <p:cNvGrpSpPr/>
          <p:nvPr/>
        </p:nvGrpSpPr>
        <p:grpSpPr>
          <a:xfrm rot="-10800000">
            <a:off x="9320908" y="5628694"/>
            <a:ext cx="385240" cy="333654"/>
            <a:chOff x="0" y="0"/>
            <a:chExt cx="6202680" cy="5372100"/>
          </a:xfrm>
        </p:grpSpPr>
        <p:sp>
          <p:nvSpPr>
            <p:cNvPr id="5" name="Freeform 5"/>
            <p:cNvSpPr/>
            <p:nvPr/>
          </p:nvSpPr>
          <p:spPr>
            <a:xfrm>
              <a:off x="0" y="0"/>
              <a:ext cx="6202680" cy="5372100"/>
            </a:xfrm>
            <a:custGeom>
              <a:avLst/>
              <a:gdLst/>
              <a:ahLst/>
              <a:cxnLst/>
              <a:rect l="l" t="t" r="r" b="b"/>
              <a:pathLst>
                <a:path w="6202680" h="5372100">
                  <a:moveTo>
                    <a:pt x="4652010" y="0"/>
                  </a:moveTo>
                  <a:lnTo>
                    <a:pt x="1550670" y="0"/>
                  </a:lnTo>
                  <a:lnTo>
                    <a:pt x="0" y="2686050"/>
                  </a:lnTo>
                  <a:lnTo>
                    <a:pt x="1550670" y="5372100"/>
                  </a:lnTo>
                  <a:lnTo>
                    <a:pt x="4652010" y="5372100"/>
                  </a:lnTo>
                  <a:lnTo>
                    <a:pt x="6202680" y="2686050"/>
                  </a:lnTo>
                  <a:lnTo>
                    <a:pt x="4652010" y="0"/>
                  </a:lnTo>
                  <a:close/>
                </a:path>
              </a:pathLst>
            </a:custGeom>
            <a:solidFill>
              <a:srgbClr val="A066CB"/>
            </a:solidFill>
          </p:spPr>
        </p:sp>
      </p:grpSp>
      <p:sp>
        <p:nvSpPr>
          <p:cNvPr id="6" name="TextBox 6"/>
          <p:cNvSpPr txBox="1"/>
          <p:nvPr/>
        </p:nvSpPr>
        <p:spPr>
          <a:xfrm>
            <a:off x="1226759" y="2586921"/>
            <a:ext cx="5893311" cy="2787668"/>
          </a:xfrm>
          <a:prstGeom prst="rect">
            <a:avLst/>
          </a:prstGeom>
        </p:spPr>
        <p:txBody>
          <a:bodyPr lIns="0" tIns="0" rIns="0" bIns="0" rtlCol="0" anchor="t">
            <a:spAutoFit/>
          </a:bodyPr>
          <a:lstStyle/>
          <a:p>
            <a:pPr algn="l">
              <a:lnSpc>
                <a:spcPts val="11222"/>
              </a:lnSpc>
              <a:spcBef>
                <a:spcPct val="0"/>
              </a:spcBef>
            </a:pPr>
            <a:r>
              <a:rPr lang="en-US" sz="8015" b="1" spc="-160" dirty="0" err="1">
                <a:solidFill>
                  <a:srgbClr val="1836B2"/>
                </a:solidFill>
                <a:latin typeface="Muli Bold"/>
                <a:ea typeface="Muli Bold"/>
                <a:cs typeface="Muli Bold"/>
                <a:sym typeface="Muli Bold"/>
              </a:rPr>
              <a:t>Cài</a:t>
            </a:r>
            <a:r>
              <a:rPr lang="en-US" sz="8015" b="1" spc="-160" dirty="0">
                <a:solidFill>
                  <a:srgbClr val="1836B2"/>
                </a:solidFill>
                <a:latin typeface="Muli Bold"/>
                <a:ea typeface="Muli Bold"/>
                <a:cs typeface="Muli Bold"/>
                <a:sym typeface="Muli Bold"/>
              </a:rPr>
              <a:t> </a:t>
            </a:r>
            <a:r>
              <a:rPr lang="en-US" sz="8015" b="1" spc="-160" dirty="0" err="1">
                <a:solidFill>
                  <a:srgbClr val="1836B2"/>
                </a:solidFill>
                <a:latin typeface="Muli Bold"/>
                <a:ea typeface="Muli Bold"/>
                <a:cs typeface="Muli Bold"/>
                <a:sym typeface="Muli Bold"/>
              </a:rPr>
              <a:t>đặt</a:t>
            </a:r>
            <a:r>
              <a:rPr lang="en-US" sz="8015" b="1" spc="-160" dirty="0">
                <a:solidFill>
                  <a:srgbClr val="1836B2"/>
                </a:solidFill>
                <a:latin typeface="Muli Bold"/>
                <a:ea typeface="Muli Bold"/>
                <a:cs typeface="Muli Bold"/>
                <a:sym typeface="Muli Bold"/>
              </a:rPr>
              <a:t> </a:t>
            </a:r>
            <a:r>
              <a:rPr lang="en-US" sz="8015" b="1" spc="-160" dirty="0" err="1">
                <a:solidFill>
                  <a:srgbClr val="1836B2"/>
                </a:solidFill>
                <a:latin typeface="Muli Bold"/>
                <a:ea typeface="Muli Bold"/>
                <a:cs typeface="Muli Bold"/>
                <a:sym typeface="Muli Bold"/>
              </a:rPr>
              <a:t>và</a:t>
            </a:r>
            <a:r>
              <a:rPr lang="en-US" sz="8015" b="1" spc="-160" dirty="0">
                <a:solidFill>
                  <a:srgbClr val="1836B2"/>
                </a:solidFill>
                <a:latin typeface="Muli Bold"/>
                <a:ea typeface="Muli Bold"/>
                <a:cs typeface="Muli Bold"/>
                <a:sym typeface="Muli Bold"/>
              </a:rPr>
              <a:t> </a:t>
            </a:r>
            <a:r>
              <a:rPr lang="en-US" sz="8015" b="1" spc="-160" dirty="0" err="1">
                <a:solidFill>
                  <a:srgbClr val="1836B2"/>
                </a:solidFill>
                <a:latin typeface="Muli Bold"/>
                <a:ea typeface="Muli Bold"/>
                <a:cs typeface="Muli Bold"/>
                <a:sym typeface="Muli Bold"/>
              </a:rPr>
              <a:t>thử</a:t>
            </a:r>
            <a:r>
              <a:rPr lang="en-US" sz="8015" b="1" spc="-160" dirty="0">
                <a:solidFill>
                  <a:srgbClr val="1836B2"/>
                </a:solidFill>
                <a:latin typeface="Muli Bold"/>
                <a:ea typeface="Muli Bold"/>
                <a:cs typeface="Muli Bold"/>
                <a:sym typeface="Muli Bold"/>
              </a:rPr>
              <a:t> </a:t>
            </a:r>
            <a:r>
              <a:rPr lang="en-US" sz="8015" b="1" spc="-160" dirty="0" err="1">
                <a:solidFill>
                  <a:srgbClr val="1836B2"/>
                </a:solidFill>
                <a:latin typeface="Muli Bold"/>
                <a:ea typeface="Muli Bold"/>
                <a:cs typeface="Muli Bold"/>
                <a:sym typeface="Muli Bold"/>
              </a:rPr>
              <a:t>nghiệm</a:t>
            </a:r>
            <a:endParaRPr lang="en-US" sz="8015" b="1" spc="-160" dirty="0">
              <a:solidFill>
                <a:srgbClr val="1836B2"/>
              </a:solidFill>
              <a:latin typeface="Muli Bold"/>
              <a:ea typeface="Muli Bold"/>
              <a:cs typeface="Muli Bold"/>
              <a:sym typeface="Muli Bold"/>
            </a:endParaRPr>
          </a:p>
        </p:txBody>
      </p:sp>
      <p:sp>
        <p:nvSpPr>
          <p:cNvPr id="7" name="TextBox 7"/>
          <p:cNvSpPr txBox="1"/>
          <p:nvPr/>
        </p:nvSpPr>
        <p:spPr>
          <a:xfrm>
            <a:off x="10150521" y="2428704"/>
            <a:ext cx="7480772" cy="611710"/>
          </a:xfrm>
          <a:prstGeom prst="rect">
            <a:avLst/>
          </a:prstGeom>
        </p:spPr>
        <p:txBody>
          <a:bodyPr lIns="0" tIns="0" rIns="0" bIns="0" rtlCol="0" anchor="t">
            <a:spAutoFit/>
          </a:bodyPr>
          <a:lstStyle/>
          <a:p>
            <a:pPr algn="l">
              <a:lnSpc>
                <a:spcPts val="4741"/>
              </a:lnSpc>
            </a:pPr>
            <a:r>
              <a:rPr lang="en-US" sz="3951" b="1" spc="118">
                <a:solidFill>
                  <a:srgbClr val="1836B2"/>
                </a:solidFill>
                <a:latin typeface="Muli Ultra-Bold"/>
                <a:ea typeface="Muli Ultra-Bold"/>
                <a:cs typeface="Muli Ultra-Bold"/>
                <a:sym typeface="Muli Ultra-Bold"/>
              </a:rPr>
              <a:t>Môi trường cài đặt</a:t>
            </a:r>
          </a:p>
        </p:txBody>
      </p:sp>
      <p:sp>
        <p:nvSpPr>
          <p:cNvPr id="8" name="TextBox 8"/>
          <p:cNvSpPr txBox="1"/>
          <p:nvPr/>
        </p:nvSpPr>
        <p:spPr>
          <a:xfrm>
            <a:off x="10150521" y="6256050"/>
            <a:ext cx="7480772" cy="1592721"/>
          </a:xfrm>
          <a:prstGeom prst="rect">
            <a:avLst/>
          </a:prstGeom>
        </p:spPr>
        <p:txBody>
          <a:bodyPr lIns="0" tIns="0" rIns="0" bIns="0" rtlCol="0" anchor="t">
            <a:spAutoFit/>
          </a:bodyPr>
          <a:lstStyle/>
          <a:p>
            <a:pPr algn="l">
              <a:lnSpc>
                <a:spcPts val="4267"/>
              </a:lnSpc>
            </a:pPr>
            <a:r>
              <a:rPr lang="en-US" sz="3048" spc="15">
                <a:solidFill>
                  <a:srgbClr val="000000"/>
                </a:solidFill>
                <a:latin typeface="Muli Light"/>
                <a:ea typeface="Muli Light"/>
                <a:cs typeface="Muli Light"/>
                <a:sym typeface="Muli Light"/>
              </a:rPr>
              <a:t>- HTML (HyperText Markup Language)</a:t>
            </a:r>
          </a:p>
          <a:p>
            <a:pPr algn="l">
              <a:lnSpc>
                <a:spcPts val="4267"/>
              </a:lnSpc>
            </a:pPr>
            <a:r>
              <a:rPr lang="en-US" sz="3048" spc="15">
                <a:solidFill>
                  <a:srgbClr val="000000"/>
                </a:solidFill>
                <a:latin typeface="Muli Light"/>
                <a:ea typeface="Muli Light"/>
                <a:cs typeface="Muli Light"/>
                <a:sym typeface="Muli Light"/>
              </a:rPr>
              <a:t>- JavaScript</a:t>
            </a:r>
          </a:p>
          <a:p>
            <a:pPr algn="l">
              <a:lnSpc>
                <a:spcPts val="4267"/>
              </a:lnSpc>
            </a:pPr>
            <a:r>
              <a:rPr lang="en-US" sz="3048" spc="15">
                <a:solidFill>
                  <a:srgbClr val="000000"/>
                </a:solidFill>
                <a:latin typeface="Muli Light"/>
                <a:ea typeface="Muli Light"/>
                <a:cs typeface="Muli Light"/>
                <a:sym typeface="Muli Light"/>
              </a:rPr>
              <a:t>- Asp.net</a:t>
            </a:r>
          </a:p>
        </p:txBody>
      </p:sp>
      <p:sp>
        <p:nvSpPr>
          <p:cNvPr id="9" name="TextBox 9"/>
          <p:cNvSpPr txBox="1"/>
          <p:nvPr/>
        </p:nvSpPr>
        <p:spPr>
          <a:xfrm>
            <a:off x="10150521" y="5486486"/>
            <a:ext cx="7480772" cy="611710"/>
          </a:xfrm>
          <a:prstGeom prst="rect">
            <a:avLst/>
          </a:prstGeom>
        </p:spPr>
        <p:txBody>
          <a:bodyPr lIns="0" tIns="0" rIns="0" bIns="0" rtlCol="0" anchor="t">
            <a:spAutoFit/>
          </a:bodyPr>
          <a:lstStyle/>
          <a:p>
            <a:pPr algn="l">
              <a:lnSpc>
                <a:spcPts val="4741"/>
              </a:lnSpc>
            </a:pPr>
            <a:r>
              <a:rPr lang="en-US" sz="3951" b="1" spc="118">
                <a:solidFill>
                  <a:srgbClr val="1836B2"/>
                </a:solidFill>
                <a:latin typeface="Muli Ultra-Bold"/>
                <a:ea typeface="Muli Ultra-Bold"/>
                <a:cs typeface="Muli Ultra-Bold"/>
                <a:sym typeface="Muli Ultra-Bold"/>
              </a:rPr>
              <a:t>Ngôn ngữ cài đặt</a:t>
            </a:r>
          </a:p>
        </p:txBody>
      </p:sp>
      <p:sp>
        <p:nvSpPr>
          <p:cNvPr id="10" name="TextBox 10"/>
          <p:cNvSpPr txBox="1"/>
          <p:nvPr/>
        </p:nvSpPr>
        <p:spPr>
          <a:xfrm>
            <a:off x="10150521" y="3365625"/>
            <a:ext cx="7480772" cy="2130386"/>
          </a:xfrm>
          <a:prstGeom prst="rect">
            <a:avLst/>
          </a:prstGeom>
        </p:spPr>
        <p:txBody>
          <a:bodyPr lIns="0" tIns="0" rIns="0" bIns="0" rtlCol="0" anchor="t">
            <a:spAutoFit/>
          </a:bodyPr>
          <a:lstStyle/>
          <a:p>
            <a:pPr algn="l">
              <a:lnSpc>
                <a:spcPts val="4267"/>
              </a:lnSpc>
            </a:pPr>
            <a:r>
              <a:rPr lang="en-US" sz="3048" spc="15">
                <a:solidFill>
                  <a:srgbClr val="000000"/>
                </a:solidFill>
                <a:latin typeface="Muli Light"/>
                <a:ea typeface="Muli Light"/>
                <a:cs typeface="Muli Light"/>
                <a:sym typeface="Muli Light"/>
              </a:rPr>
              <a:t>- Visual Studio</a:t>
            </a:r>
          </a:p>
          <a:p>
            <a:pPr algn="l">
              <a:lnSpc>
                <a:spcPts val="4267"/>
              </a:lnSpc>
            </a:pPr>
            <a:r>
              <a:rPr lang="en-US" sz="3048" spc="15">
                <a:solidFill>
                  <a:srgbClr val="000000"/>
                </a:solidFill>
                <a:latin typeface="Muli Light"/>
                <a:ea typeface="Muli Light"/>
                <a:cs typeface="Muli Light"/>
                <a:sym typeface="Muli Light"/>
              </a:rPr>
              <a:t>- Sql server management studio 19 </a:t>
            </a:r>
          </a:p>
          <a:p>
            <a:pPr algn="l">
              <a:lnSpc>
                <a:spcPts val="4267"/>
              </a:lnSpc>
            </a:pPr>
            <a:r>
              <a:rPr lang="en-US" sz="3048" spc="15">
                <a:solidFill>
                  <a:srgbClr val="000000"/>
                </a:solidFill>
                <a:latin typeface="Muli Light"/>
                <a:ea typeface="Muli Light"/>
                <a:cs typeface="Muli Light"/>
                <a:sym typeface="Muli Light"/>
              </a:rPr>
              <a:t>- Window 11</a:t>
            </a:r>
          </a:p>
          <a:p>
            <a:pPr algn="l">
              <a:lnSpc>
                <a:spcPts val="4267"/>
              </a:lnSpc>
            </a:pPr>
            <a:endParaRPr lang="en-US" sz="3048" spc="15">
              <a:solidFill>
                <a:srgbClr val="000000"/>
              </a:solidFill>
              <a:latin typeface="Muli Light"/>
              <a:ea typeface="Muli Light"/>
              <a:cs typeface="Muli Light"/>
              <a:sym typeface="Muli Light"/>
            </a:endParaRPr>
          </a:p>
        </p:txBody>
      </p:sp>
      <p:sp>
        <p:nvSpPr>
          <p:cNvPr id="11" name="Freeform 11"/>
          <p:cNvSpPr/>
          <p:nvPr/>
        </p:nvSpPr>
        <p:spPr>
          <a:xfrm flipH="1">
            <a:off x="-2066688" y="6868687"/>
            <a:ext cx="8370405" cy="4779226"/>
          </a:xfrm>
          <a:custGeom>
            <a:avLst/>
            <a:gdLst/>
            <a:ahLst/>
            <a:cxnLst/>
            <a:rect l="l" t="t" r="r" b="b"/>
            <a:pathLst>
              <a:path w="8370405" h="4779226">
                <a:moveTo>
                  <a:pt x="8370405" y="0"/>
                </a:moveTo>
                <a:lnTo>
                  <a:pt x="0" y="0"/>
                </a:lnTo>
                <a:lnTo>
                  <a:pt x="0" y="4779226"/>
                </a:lnTo>
                <a:lnTo>
                  <a:pt x="8370405" y="4779226"/>
                </a:lnTo>
                <a:lnTo>
                  <a:pt x="8370405" y="0"/>
                </a:lnTo>
                <a:close/>
              </a:path>
            </a:pathLst>
          </a:custGeom>
          <a:blipFill>
            <a:blip r:embed="rId2">
              <a:extLst>
                <a:ext uri="{96DAC541-7B7A-43D3-8B79-37D633B846F1}">
                  <asvg:svgBlip xmlns:asvg="http://schemas.microsoft.com/office/drawing/2016/SVG/main" r:embed="rId3"/>
                </a:ext>
              </a:extLst>
            </a:blip>
            <a:stretch>
              <a:fillRect t="-51576"/>
            </a:stretch>
          </a:blipFill>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20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2000"/>
                                        <p:tgtEl>
                                          <p:spTgt spid="6"/>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2000"/>
                                        <p:tgtEl>
                                          <p:spTgt spid="7"/>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2000"/>
                                        <p:tgtEl>
                                          <p:spTgt spid="8"/>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2000"/>
                                        <p:tgtEl>
                                          <p:spTgt spid="9"/>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2000"/>
                                        <p:tgtEl>
                                          <p:spTgt spid="10"/>
                                        </p:tgtEl>
                                      </p:cBhvr>
                                    </p:animEffect>
                                  </p:childTnLst>
                                </p:cTn>
                              </p:par>
                              <p:par>
                                <p:cTn id="26" presetID="22" presetClass="entr" presetSubtype="8"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0652" y="9515874"/>
            <a:ext cx="16926697" cy="1542251"/>
            <a:chOff x="0" y="0"/>
            <a:chExt cx="58960502" cy="5372100"/>
          </a:xfrm>
        </p:grpSpPr>
        <p:sp>
          <p:nvSpPr>
            <p:cNvPr id="3" name="Freeform 3"/>
            <p:cNvSpPr/>
            <p:nvPr/>
          </p:nvSpPr>
          <p:spPr>
            <a:xfrm>
              <a:off x="0" y="0"/>
              <a:ext cx="58960500" cy="5372100"/>
            </a:xfrm>
            <a:custGeom>
              <a:avLst/>
              <a:gdLst/>
              <a:ahLst/>
              <a:cxnLst/>
              <a:rect l="l" t="t" r="r" b="b"/>
              <a:pathLst>
                <a:path w="58960500" h="5372100">
                  <a:moveTo>
                    <a:pt x="57409829" y="0"/>
                  </a:moveTo>
                  <a:lnTo>
                    <a:pt x="1550670" y="0"/>
                  </a:lnTo>
                  <a:lnTo>
                    <a:pt x="0" y="2686050"/>
                  </a:lnTo>
                  <a:lnTo>
                    <a:pt x="1550670" y="5372100"/>
                  </a:lnTo>
                  <a:lnTo>
                    <a:pt x="57409829" y="5372100"/>
                  </a:lnTo>
                  <a:lnTo>
                    <a:pt x="58960500" y="2686050"/>
                  </a:lnTo>
                  <a:lnTo>
                    <a:pt x="57409829" y="0"/>
                  </a:lnTo>
                  <a:close/>
                </a:path>
              </a:pathLst>
            </a:custGeom>
            <a:solidFill>
              <a:srgbClr val="A066CB"/>
            </a:solidFill>
          </p:spPr>
        </p:sp>
      </p:grpSp>
      <p:sp>
        <p:nvSpPr>
          <p:cNvPr id="4" name="Freeform 4"/>
          <p:cNvSpPr/>
          <p:nvPr/>
        </p:nvSpPr>
        <p:spPr>
          <a:xfrm>
            <a:off x="1736044" y="2116999"/>
            <a:ext cx="5745550" cy="7273390"/>
          </a:xfrm>
          <a:custGeom>
            <a:avLst/>
            <a:gdLst/>
            <a:ahLst/>
            <a:cxnLst/>
            <a:rect l="l" t="t" r="r" b="b"/>
            <a:pathLst>
              <a:path w="5745550" h="7273390">
                <a:moveTo>
                  <a:pt x="0" y="0"/>
                </a:moveTo>
                <a:lnTo>
                  <a:pt x="5745550" y="0"/>
                </a:lnTo>
                <a:lnTo>
                  <a:pt x="5745550" y="7273390"/>
                </a:lnTo>
                <a:lnTo>
                  <a:pt x="0" y="7273390"/>
                </a:lnTo>
                <a:lnTo>
                  <a:pt x="0" y="0"/>
                </a:lnTo>
                <a:close/>
              </a:path>
            </a:pathLst>
          </a:custGeom>
          <a:blipFill>
            <a:blip r:embed="rId2"/>
            <a:stretch>
              <a:fillRect l="-55238" r="-62086"/>
            </a:stretch>
          </a:blipFill>
        </p:spPr>
      </p:sp>
      <p:sp>
        <p:nvSpPr>
          <p:cNvPr id="5" name="TextBox 5"/>
          <p:cNvSpPr txBox="1"/>
          <p:nvPr/>
        </p:nvSpPr>
        <p:spPr>
          <a:xfrm>
            <a:off x="2669458" y="228495"/>
            <a:ext cx="12949083" cy="1044803"/>
          </a:xfrm>
          <a:prstGeom prst="rect">
            <a:avLst/>
          </a:prstGeom>
        </p:spPr>
        <p:txBody>
          <a:bodyPr lIns="0" tIns="0" rIns="0" bIns="0" rtlCol="0" anchor="t">
            <a:spAutoFit/>
          </a:bodyPr>
          <a:lstStyle/>
          <a:p>
            <a:pPr algn="l">
              <a:lnSpc>
                <a:spcPts val="8562"/>
              </a:lnSpc>
              <a:spcBef>
                <a:spcPct val="0"/>
              </a:spcBef>
            </a:pPr>
            <a:r>
              <a:rPr lang="en-US" sz="6116" b="1" spc="-122" dirty="0" err="1">
                <a:solidFill>
                  <a:srgbClr val="1836B2"/>
                </a:solidFill>
                <a:latin typeface="Muli Bold"/>
                <a:ea typeface="Muli Bold"/>
                <a:cs typeface="Muli Bold"/>
                <a:sym typeface="Muli Bold"/>
              </a:rPr>
              <a:t>Thử</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nghiệm</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giao</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diện</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và</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chức</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năng</a:t>
            </a:r>
            <a:endParaRPr lang="en-US" sz="6116" b="1" spc="-122" dirty="0">
              <a:solidFill>
                <a:srgbClr val="1836B2"/>
              </a:solidFill>
              <a:latin typeface="Muli Bold"/>
              <a:ea typeface="Muli Bold"/>
              <a:cs typeface="Muli Bold"/>
              <a:sym typeface="Muli Bold"/>
            </a:endParaRPr>
          </a:p>
        </p:txBody>
      </p:sp>
      <p:sp>
        <p:nvSpPr>
          <p:cNvPr id="6" name="TextBox 6"/>
          <p:cNvSpPr txBox="1"/>
          <p:nvPr/>
        </p:nvSpPr>
        <p:spPr>
          <a:xfrm>
            <a:off x="8800275" y="3791562"/>
            <a:ext cx="7845479" cy="2646726"/>
          </a:xfrm>
          <a:prstGeom prst="rect">
            <a:avLst/>
          </a:prstGeom>
        </p:spPr>
        <p:txBody>
          <a:bodyPr lIns="0" tIns="0" rIns="0" bIns="0" rtlCol="0" anchor="t">
            <a:spAutoFit/>
          </a:bodyPr>
          <a:lstStyle/>
          <a:p>
            <a:pPr algn="just">
              <a:lnSpc>
                <a:spcPts val="4267"/>
              </a:lnSpc>
              <a:spcBef>
                <a:spcPct val="0"/>
              </a:spcBef>
            </a:pPr>
            <a:r>
              <a:rPr lang="en-US" sz="3048" spc="15">
                <a:solidFill>
                  <a:srgbClr val="1836B2"/>
                </a:solidFill>
                <a:latin typeface="Muli Light"/>
                <a:ea typeface="Muli Light"/>
                <a:cs typeface="Muli Light"/>
                <a:sym typeface="Muli Light"/>
              </a:rPr>
              <a:t>Trang đăng nhập cho phép người dùng quản trị viên nhập tài khoản và mật khẩu để truy cập vào hệ thống. Đây là bước đầu tiên để sử dụng các chức năng quản lý trong ứng dụng.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20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2000"/>
                                        <p:tgtEl>
                                          <p:spTgt spid="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0652" y="9515874"/>
            <a:ext cx="16926697" cy="1542251"/>
            <a:chOff x="0" y="0"/>
            <a:chExt cx="58960502" cy="5372100"/>
          </a:xfrm>
        </p:grpSpPr>
        <p:sp>
          <p:nvSpPr>
            <p:cNvPr id="3" name="Freeform 3"/>
            <p:cNvSpPr/>
            <p:nvPr/>
          </p:nvSpPr>
          <p:spPr>
            <a:xfrm>
              <a:off x="0" y="0"/>
              <a:ext cx="58960500" cy="5372100"/>
            </a:xfrm>
            <a:custGeom>
              <a:avLst/>
              <a:gdLst/>
              <a:ahLst/>
              <a:cxnLst/>
              <a:rect l="l" t="t" r="r" b="b"/>
              <a:pathLst>
                <a:path w="58960500" h="5372100">
                  <a:moveTo>
                    <a:pt x="57409829" y="0"/>
                  </a:moveTo>
                  <a:lnTo>
                    <a:pt x="1550670" y="0"/>
                  </a:lnTo>
                  <a:lnTo>
                    <a:pt x="0" y="2686050"/>
                  </a:lnTo>
                  <a:lnTo>
                    <a:pt x="1550670" y="5372100"/>
                  </a:lnTo>
                  <a:lnTo>
                    <a:pt x="57409829" y="5372100"/>
                  </a:lnTo>
                  <a:lnTo>
                    <a:pt x="58960500" y="2686050"/>
                  </a:lnTo>
                  <a:lnTo>
                    <a:pt x="57409829" y="0"/>
                  </a:lnTo>
                  <a:close/>
                </a:path>
              </a:pathLst>
            </a:custGeom>
            <a:solidFill>
              <a:srgbClr val="A066CB"/>
            </a:solidFill>
          </p:spPr>
        </p:sp>
      </p:grpSp>
      <p:sp>
        <p:nvSpPr>
          <p:cNvPr id="4" name="Freeform 4"/>
          <p:cNvSpPr/>
          <p:nvPr/>
        </p:nvSpPr>
        <p:spPr>
          <a:xfrm>
            <a:off x="2231351" y="1639887"/>
            <a:ext cx="13825298" cy="6446045"/>
          </a:xfrm>
          <a:custGeom>
            <a:avLst/>
            <a:gdLst/>
            <a:ahLst/>
            <a:cxnLst/>
            <a:rect l="l" t="t" r="r" b="b"/>
            <a:pathLst>
              <a:path w="13825298" h="6446045">
                <a:moveTo>
                  <a:pt x="0" y="0"/>
                </a:moveTo>
                <a:lnTo>
                  <a:pt x="13825298" y="0"/>
                </a:lnTo>
                <a:lnTo>
                  <a:pt x="13825298" y="6446046"/>
                </a:lnTo>
                <a:lnTo>
                  <a:pt x="0" y="6446046"/>
                </a:lnTo>
                <a:lnTo>
                  <a:pt x="0" y="0"/>
                </a:lnTo>
                <a:close/>
              </a:path>
            </a:pathLst>
          </a:custGeom>
          <a:blipFill>
            <a:blip r:embed="rId2"/>
            <a:stretch>
              <a:fillRect/>
            </a:stretch>
          </a:blipFill>
        </p:spPr>
      </p:sp>
      <p:sp>
        <p:nvSpPr>
          <p:cNvPr id="5" name="TextBox 5"/>
          <p:cNvSpPr txBox="1"/>
          <p:nvPr/>
        </p:nvSpPr>
        <p:spPr>
          <a:xfrm>
            <a:off x="2669458" y="228495"/>
            <a:ext cx="12949083" cy="1044803"/>
          </a:xfrm>
          <a:prstGeom prst="rect">
            <a:avLst/>
          </a:prstGeom>
        </p:spPr>
        <p:txBody>
          <a:bodyPr lIns="0" tIns="0" rIns="0" bIns="0" rtlCol="0" anchor="t">
            <a:spAutoFit/>
          </a:bodyPr>
          <a:lstStyle/>
          <a:p>
            <a:pPr algn="l">
              <a:lnSpc>
                <a:spcPts val="8562"/>
              </a:lnSpc>
              <a:spcBef>
                <a:spcPct val="0"/>
              </a:spcBef>
            </a:pPr>
            <a:r>
              <a:rPr lang="en-US" sz="6116" b="1" spc="-122">
                <a:solidFill>
                  <a:srgbClr val="1836B2"/>
                </a:solidFill>
                <a:latin typeface="Muli Bold"/>
                <a:ea typeface="Muli Bold"/>
                <a:cs typeface="Muli Bold"/>
                <a:sym typeface="Muli Bold"/>
              </a:rPr>
              <a:t>Thử nghiệm giao diện và chức năng</a:t>
            </a:r>
          </a:p>
        </p:txBody>
      </p:sp>
      <p:sp>
        <p:nvSpPr>
          <p:cNvPr id="6" name="TextBox 6"/>
          <p:cNvSpPr txBox="1"/>
          <p:nvPr/>
        </p:nvSpPr>
        <p:spPr>
          <a:xfrm>
            <a:off x="1493333" y="8211774"/>
            <a:ext cx="16114015" cy="1046526"/>
          </a:xfrm>
          <a:prstGeom prst="rect">
            <a:avLst/>
          </a:prstGeom>
        </p:spPr>
        <p:txBody>
          <a:bodyPr lIns="0" tIns="0" rIns="0" bIns="0" rtlCol="0" anchor="t">
            <a:spAutoFit/>
          </a:bodyPr>
          <a:lstStyle/>
          <a:p>
            <a:pPr algn="just">
              <a:lnSpc>
                <a:spcPts val="4267"/>
              </a:lnSpc>
              <a:spcBef>
                <a:spcPct val="0"/>
              </a:spcBef>
            </a:pPr>
            <a:r>
              <a:rPr lang="en-US" sz="3048" spc="15">
                <a:solidFill>
                  <a:srgbClr val="1836B2"/>
                </a:solidFill>
                <a:latin typeface="Muli Light"/>
                <a:ea typeface="Muli Light"/>
                <a:cs typeface="Muli Light"/>
                <a:sym typeface="Muli Light"/>
              </a:rPr>
              <a:t>Cho phép quản trị viên nhập thông tin sản phẩm mới (tên, giá, số lượng, danh mục, hình ảnh...) và lưu vào hệ thống để quản lý và hiển thị trên website.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20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2000"/>
                                        <p:tgtEl>
                                          <p:spTgt spid="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0652" y="9515874"/>
            <a:ext cx="16926697" cy="1542251"/>
            <a:chOff x="0" y="0"/>
            <a:chExt cx="58960502" cy="5372100"/>
          </a:xfrm>
        </p:grpSpPr>
        <p:sp>
          <p:nvSpPr>
            <p:cNvPr id="3" name="Freeform 3"/>
            <p:cNvSpPr/>
            <p:nvPr/>
          </p:nvSpPr>
          <p:spPr>
            <a:xfrm>
              <a:off x="0" y="0"/>
              <a:ext cx="58960500" cy="5372100"/>
            </a:xfrm>
            <a:custGeom>
              <a:avLst/>
              <a:gdLst/>
              <a:ahLst/>
              <a:cxnLst/>
              <a:rect l="l" t="t" r="r" b="b"/>
              <a:pathLst>
                <a:path w="58960500" h="5372100">
                  <a:moveTo>
                    <a:pt x="57409829" y="0"/>
                  </a:moveTo>
                  <a:lnTo>
                    <a:pt x="1550670" y="0"/>
                  </a:lnTo>
                  <a:lnTo>
                    <a:pt x="0" y="2686050"/>
                  </a:lnTo>
                  <a:lnTo>
                    <a:pt x="1550670" y="5372100"/>
                  </a:lnTo>
                  <a:lnTo>
                    <a:pt x="57409829" y="5372100"/>
                  </a:lnTo>
                  <a:lnTo>
                    <a:pt x="58960500" y="2686050"/>
                  </a:lnTo>
                  <a:lnTo>
                    <a:pt x="57409829" y="0"/>
                  </a:lnTo>
                  <a:close/>
                </a:path>
              </a:pathLst>
            </a:custGeom>
            <a:solidFill>
              <a:srgbClr val="A066CB"/>
            </a:solidFill>
          </p:spPr>
        </p:sp>
      </p:grpSp>
      <p:sp>
        <p:nvSpPr>
          <p:cNvPr id="4" name="Freeform 4"/>
          <p:cNvSpPr/>
          <p:nvPr/>
        </p:nvSpPr>
        <p:spPr>
          <a:xfrm>
            <a:off x="2412550" y="1642559"/>
            <a:ext cx="13462900" cy="6260249"/>
          </a:xfrm>
          <a:custGeom>
            <a:avLst/>
            <a:gdLst/>
            <a:ahLst/>
            <a:cxnLst/>
            <a:rect l="l" t="t" r="r" b="b"/>
            <a:pathLst>
              <a:path w="13462900" h="6260249">
                <a:moveTo>
                  <a:pt x="0" y="0"/>
                </a:moveTo>
                <a:lnTo>
                  <a:pt x="13462900" y="0"/>
                </a:lnTo>
                <a:lnTo>
                  <a:pt x="13462900" y="6260248"/>
                </a:lnTo>
                <a:lnTo>
                  <a:pt x="0" y="6260248"/>
                </a:lnTo>
                <a:lnTo>
                  <a:pt x="0" y="0"/>
                </a:lnTo>
                <a:close/>
              </a:path>
            </a:pathLst>
          </a:custGeom>
          <a:blipFill>
            <a:blip r:embed="rId2"/>
            <a:stretch>
              <a:fillRect/>
            </a:stretch>
          </a:blipFill>
        </p:spPr>
      </p:sp>
      <p:sp>
        <p:nvSpPr>
          <p:cNvPr id="5" name="TextBox 5"/>
          <p:cNvSpPr txBox="1"/>
          <p:nvPr/>
        </p:nvSpPr>
        <p:spPr>
          <a:xfrm>
            <a:off x="2669458" y="228495"/>
            <a:ext cx="12949083" cy="1044803"/>
          </a:xfrm>
          <a:prstGeom prst="rect">
            <a:avLst/>
          </a:prstGeom>
        </p:spPr>
        <p:txBody>
          <a:bodyPr lIns="0" tIns="0" rIns="0" bIns="0" rtlCol="0" anchor="t">
            <a:spAutoFit/>
          </a:bodyPr>
          <a:lstStyle/>
          <a:p>
            <a:pPr algn="l">
              <a:lnSpc>
                <a:spcPts val="8562"/>
              </a:lnSpc>
              <a:spcBef>
                <a:spcPct val="0"/>
              </a:spcBef>
            </a:pPr>
            <a:r>
              <a:rPr lang="en-US" sz="6116" b="1" spc="-122" dirty="0" err="1">
                <a:solidFill>
                  <a:srgbClr val="1836B2"/>
                </a:solidFill>
                <a:latin typeface="Muli Bold"/>
                <a:ea typeface="Muli Bold"/>
                <a:cs typeface="Muli Bold"/>
                <a:sym typeface="Muli Bold"/>
              </a:rPr>
              <a:t>Thử</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nghiệm</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giao</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diện</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và</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chức</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năng</a:t>
            </a:r>
            <a:endParaRPr lang="en-US" sz="6116" b="1" spc="-122" dirty="0">
              <a:solidFill>
                <a:srgbClr val="1836B2"/>
              </a:solidFill>
              <a:latin typeface="Muli Bold"/>
              <a:ea typeface="Muli Bold"/>
              <a:cs typeface="Muli Bold"/>
              <a:sym typeface="Muli Bold"/>
            </a:endParaRPr>
          </a:p>
        </p:txBody>
      </p:sp>
      <p:sp>
        <p:nvSpPr>
          <p:cNvPr id="6" name="TextBox 6"/>
          <p:cNvSpPr txBox="1"/>
          <p:nvPr/>
        </p:nvSpPr>
        <p:spPr>
          <a:xfrm>
            <a:off x="1492363" y="7916898"/>
            <a:ext cx="15561824" cy="1579926"/>
          </a:xfrm>
          <a:prstGeom prst="rect">
            <a:avLst/>
          </a:prstGeom>
        </p:spPr>
        <p:txBody>
          <a:bodyPr lIns="0" tIns="0" rIns="0" bIns="0" rtlCol="0" anchor="t">
            <a:spAutoFit/>
          </a:bodyPr>
          <a:lstStyle/>
          <a:p>
            <a:pPr algn="just">
              <a:lnSpc>
                <a:spcPts val="4267"/>
              </a:lnSpc>
              <a:spcBef>
                <a:spcPct val="0"/>
              </a:spcBef>
            </a:pPr>
            <a:r>
              <a:rPr lang="en-US" sz="3048" spc="15">
                <a:solidFill>
                  <a:srgbClr val="1836B2"/>
                </a:solidFill>
                <a:latin typeface="Muli Light"/>
                <a:ea typeface="Muli Light"/>
                <a:cs typeface="Muli Light"/>
                <a:sym typeface="Muli Light"/>
              </a:rPr>
              <a:t>Trang này cho phép quản trị viên (admin) chỉnh sửa thông tin chi tiết của một sản phẩm phụ kiện thú cưng đã có trong hệ thống, giúp cập nhật dữ liệu sản phẩm một cách chính xác và nhanh chóng.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20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2000"/>
                                        <p:tgtEl>
                                          <p:spTgt spid="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0652" y="9515874"/>
            <a:ext cx="16926697" cy="1542251"/>
            <a:chOff x="0" y="0"/>
            <a:chExt cx="58960502" cy="5372100"/>
          </a:xfrm>
        </p:grpSpPr>
        <p:sp>
          <p:nvSpPr>
            <p:cNvPr id="3" name="Freeform 3"/>
            <p:cNvSpPr/>
            <p:nvPr/>
          </p:nvSpPr>
          <p:spPr>
            <a:xfrm>
              <a:off x="0" y="0"/>
              <a:ext cx="58960500" cy="5372100"/>
            </a:xfrm>
            <a:custGeom>
              <a:avLst/>
              <a:gdLst/>
              <a:ahLst/>
              <a:cxnLst/>
              <a:rect l="l" t="t" r="r" b="b"/>
              <a:pathLst>
                <a:path w="58960500" h="5372100">
                  <a:moveTo>
                    <a:pt x="57409829" y="0"/>
                  </a:moveTo>
                  <a:lnTo>
                    <a:pt x="1550670" y="0"/>
                  </a:lnTo>
                  <a:lnTo>
                    <a:pt x="0" y="2686050"/>
                  </a:lnTo>
                  <a:lnTo>
                    <a:pt x="1550670" y="5372100"/>
                  </a:lnTo>
                  <a:lnTo>
                    <a:pt x="57409829" y="5372100"/>
                  </a:lnTo>
                  <a:lnTo>
                    <a:pt x="58960500" y="2686050"/>
                  </a:lnTo>
                  <a:lnTo>
                    <a:pt x="57409829" y="0"/>
                  </a:lnTo>
                  <a:close/>
                </a:path>
              </a:pathLst>
            </a:custGeom>
            <a:solidFill>
              <a:srgbClr val="A066CB"/>
            </a:solidFill>
          </p:spPr>
        </p:sp>
      </p:grpSp>
      <p:sp>
        <p:nvSpPr>
          <p:cNvPr id="4" name="Freeform 4"/>
          <p:cNvSpPr/>
          <p:nvPr/>
        </p:nvSpPr>
        <p:spPr>
          <a:xfrm>
            <a:off x="2422842" y="1507974"/>
            <a:ext cx="13442317" cy="6284283"/>
          </a:xfrm>
          <a:custGeom>
            <a:avLst/>
            <a:gdLst/>
            <a:ahLst/>
            <a:cxnLst/>
            <a:rect l="l" t="t" r="r" b="b"/>
            <a:pathLst>
              <a:path w="13442317" h="6284283">
                <a:moveTo>
                  <a:pt x="0" y="0"/>
                </a:moveTo>
                <a:lnTo>
                  <a:pt x="13442316" y="0"/>
                </a:lnTo>
                <a:lnTo>
                  <a:pt x="13442316" y="6284283"/>
                </a:lnTo>
                <a:lnTo>
                  <a:pt x="0" y="6284283"/>
                </a:lnTo>
                <a:lnTo>
                  <a:pt x="0" y="0"/>
                </a:lnTo>
                <a:close/>
              </a:path>
            </a:pathLst>
          </a:custGeom>
          <a:blipFill>
            <a:blip r:embed="rId2"/>
            <a:stretch>
              <a:fillRect/>
            </a:stretch>
          </a:blipFill>
        </p:spPr>
      </p:sp>
      <p:sp>
        <p:nvSpPr>
          <p:cNvPr id="5" name="TextBox 5"/>
          <p:cNvSpPr txBox="1"/>
          <p:nvPr/>
        </p:nvSpPr>
        <p:spPr>
          <a:xfrm>
            <a:off x="2669458" y="228495"/>
            <a:ext cx="12949083" cy="1044803"/>
          </a:xfrm>
          <a:prstGeom prst="rect">
            <a:avLst/>
          </a:prstGeom>
        </p:spPr>
        <p:txBody>
          <a:bodyPr lIns="0" tIns="0" rIns="0" bIns="0" rtlCol="0" anchor="t">
            <a:spAutoFit/>
          </a:bodyPr>
          <a:lstStyle/>
          <a:p>
            <a:pPr algn="l">
              <a:lnSpc>
                <a:spcPts val="8562"/>
              </a:lnSpc>
              <a:spcBef>
                <a:spcPct val="0"/>
              </a:spcBef>
            </a:pPr>
            <a:r>
              <a:rPr lang="en-US" sz="6116" b="1" spc="-122">
                <a:solidFill>
                  <a:srgbClr val="1836B2"/>
                </a:solidFill>
                <a:latin typeface="Muli Bold"/>
                <a:ea typeface="Muli Bold"/>
                <a:cs typeface="Muli Bold"/>
                <a:sym typeface="Muli Bold"/>
              </a:rPr>
              <a:t>Thử nghiệm giao diện và chức năng</a:t>
            </a:r>
          </a:p>
        </p:txBody>
      </p:sp>
      <p:sp>
        <p:nvSpPr>
          <p:cNvPr id="6" name="TextBox 6"/>
          <p:cNvSpPr txBox="1"/>
          <p:nvPr/>
        </p:nvSpPr>
        <p:spPr>
          <a:xfrm>
            <a:off x="1345698" y="7916898"/>
            <a:ext cx="15596603" cy="1579926"/>
          </a:xfrm>
          <a:prstGeom prst="rect">
            <a:avLst/>
          </a:prstGeom>
        </p:spPr>
        <p:txBody>
          <a:bodyPr lIns="0" tIns="0" rIns="0" bIns="0" rtlCol="0" anchor="t">
            <a:spAutoFit/>
          </a:bodyPr>
          <a:lstStyle/>
          <a:p>
            <a:pPr algn="just">
              <a:lnSpc>
                <a:spcPts val="4267"/>
              </a:lnSpc>
              <a:spcBef>
                <a:spcPct val="0"/>
              </a:spcBef>
            </a:pPr>
            <a:r>
              <a:rPr lang="en-US" sz="3048" spc="15">
                <a:solidFill>
                  <a:srgbClr val="1836B2"/>
                </a:solidFill>
                <a:latin typeface="Muli Light"/>
                <a:ea typeface="Muli Light"/>
                <a:cs typeface="Muli Light"/>
                <a:sym typeface="Muli Light"/>
              </a:rPr>
              <a:t>Trang xóa sản phẩm cho phép quản trị viên (admin) quản lý và xóa các sản phẩm không còn kinh doanh hoặc cần loại bỏ khỏi hệ thống quản lý cửa hàng phụ kiện thú cưng.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20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2000"/>
                                        <p:tgtEl>
                                          <p:spTgt spid="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0652" y="9515874"/>
            <a:ext cx="16926697" cy="1542251"/>
            <a:chOff x="0" y="0"/>
            <a:chExt cx="58960502" cy="5372100"/>
          </a:xfrm>
        </p:grpSpPr>
        <p:sp>
          <p:nvSpPr>
            <p:cNvPr id="3" name="Freeform 3"/>
            <p:cNvSpPr/>
            <p:nvPr/>
          </p:nvSpPr>
          <p:spPr>
            <a:xfrm>
              <a:off x="0" y="0"/>
              <a:ext cx="58960500" cy="5372100"/>
            </a:xfrm>
            <a:custGeom>
              <a:avLst/>
              <a:gdLst/>
              <a:ahLst/>
              <a:cxnLst/>
              <a:rect l="l" t="t" r="r" b="b"/>
              <a:pathLst>
                <a:path w="58960500" h="5372100">
                  <a:moveTo>
                    <a:pt x="57409829" y="0"/>
                  </a:moveTo>
                  <a:lnTo>
                    <a:pt x="1550670" y="0"/>
                  </a:lnTo>
                  <a:lnTo>
                    <a:pt x="0" y="2686050"/>
                  </a:lnTo>
                  <a:lnTo>
                    <a:pt x="1550670" y="5372100"/>
                  </a:lnTo>
                  <a:lnTo>
                    <a:pt x="57409829" y="5372100"/>
                  </a:lnTo>
                  <a:lnTo>
                    <a:pt x="58960500" y="2686050"/>
                  </a:lnTo>
                  <a:lnTo>
                    <a:pt x="57409829" y="0"/>
                  </a:lnTo>
                  <a:close/>
                </a:path>
              </a:pathLst>
            </a:custGeom>
            <a:solidFill>
              <a:srgbClr val="A066CB"/>
            </a:solidFill>
          </p:spPr>
        </p:sp>
      </p:grpSp>
      <p:sp>
        <p:nvSpPr>
          <p:cNvPr id="4" name="Freeform 4"/>
          <p:cNvSpPr/>
          <p:nvPr/>
        </p:nvSpPr>
        <p:spPr>
          <a:xfrm>
            <a:off x="2288671" y="1729064"/>
            <a:ext cx="13710659" cy="6358318"/>
          </a:xfrm>
          <a:custGeom>
            <a:avLst/>
            <a:gdLst/>
            <a:ahLst/>
            <a:cxnLst/>
            <a:rect l="l" t="t" r="r" b="b"/>
            <a:pathLst>
              <a:path w="13710659" h="6358318">
                <a:moveTo>
                  <a:pt x="0" y="0"/>
                </a:moveTo>
                <a:lnTo>
                  <a:pt x="13710658" y="0"/>
                </a:lnTo>
                <a:lnTo>
                  <a:pt x="13710658" y="6358317"/>
                </a:lnTo>
                <a:lnTo>
                  <a:pt x="0" y="6358317"/>
                </a:lnTo>
                <a:lnTo>
                  <a:pt x="0" y="0"/>
                </a:lnTo>
                <a:close/>
              </a:path>
            </a:pathLst>
          </a:custGeom>
          <a:blipFill>
            <a:blip r:embed="rId2"/>
            <a:stretch>
              <a:fillRect/>
            </a:stretch>
          </a:blipFill>
        </p:spPr>
      </p:sp>
      <p:sp>
        <p:nvSpPr>
          <p:cNvPr id="5" name="TextBox 5"/>
          <p:cNvSpPr txBox="1"/>
          <p:nvPr/>
        </p:nvSpPr>
        <p:spPr>
          <a:xfrm>
            <a:off x="2669458" y="228495"/>
            <a:ext cx="12949083" cy="1044803"/>
          </a:xfrm>
          <a:prstGeom prst="rect">
            <a:avLst/>
          </a:prstGeom>
        </p:spPr>
        <p:txBody>
          <a:bodyPr lIns="0" tIns="0" rIns="0" bIns="0" rtlCol="0" anchor="t">
            <a:spAutoFit/>
          </a:bodyPr>
          <a:lstStyle/>
          <a:p>
            <a:pPr algn="l">
              <a:lnSpc>
                <a:spcPts val="8562"/>
              </a:lnSpc>
              <a:spcBef>
                <a:spcPct val="0"/>
              </a:spcBef>
            </a:pPr>
            <a:r>
              <a:rPr lang="en-US" sz="6116" b="1" spc="-122" dirty="0" err="1">
                <a:solidFill>
                  <a:srgbClr val="1836B2"/>
                </a:solidFill>
                <a:latin typeface="Muli Bold"/>
                <a:ea typeface="Muli Bold"/>
                <a:cs typeface="Muli Bold"/>
                <a:sym typeface="Muli Bold"/>
              </a:rPr>
              <a:t>Thử</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nghiệm</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giao</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diện</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và</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chức</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năng</a:t>
            </a:r>
            <a:endParaRPr lang="en-US" sz="6116" b="1" spc="-122" dirty="0">
              <a:solidFill>
                <a:srgbClr val="1836B2"/>
              </a:solidFill>
              <a:latin typeface="Muli Bold"/>
              <a:ea typeface="Muli Bold"/>
              <a:cs typeface="Muli Bold"/>
              <a:sym typeface="Muli Bold"/>
            </a:endParaRPr>
          </a:p>
        </p:txBody>
      </p:sp>
      <p:sp>
        <p:nvSpPr>
          <p:cNvPr id="6" name="TextBox 6"/>
          <p:cNvSpPr txBox="1"/>
          <p:nvPr/>
        </p:nvSpPr>
        <p:spPr>
          <a:xfrm>
            <a:off x="1656573" y="8211820"/>
            <a:ext cx="15302079" cy="1046480"/>
          </a:xfrm>
          <a:prstGeom prst="rect">
            <a:avLst/>
          </a:prstGeom>
        </p:spPr>
        <p:txBody>
          <a:bodyPr lIns="0" tIns="0" rIns="0" bIns="0" rtlCol="0" anchor="t">
            <a:spAutoFit/>
          </a:bodyPr>
          <a:lstStyle/>
          <a:p>
            <a:pPr algn="just">
              <a:lnSpc>
                <a:spcPts val="4270"/>
              </a:lnSpc>
              <a:spcBef>
                <a:spcPct val="0"/>
              </a:spcBef>
            </a:pPr>
            <a:r>
              <a:rPr lang="en-US" sz="3050" spc="-61">
                <a:solidFill>
                  <a:srgbClr val="1836B2"/>
                </a:solidFill>
                <a:latin typeface="Muli"/>
                <a:ea typeface="Muli"/>
                <a:cs typeface="Muli"/>
                <a:sym typeface="Muli"/>
              </a:rPr>
              <a:t>Trang danh sách sản phẩm cho admin hiển thị các sản phẩm với thông tin cơ bản và cho phép thêm, sửa, xóa, tìm kiếm để quản lý dễ dàng.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20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2000"/>
                                        <p:tgtEl>
                                          <p:spTgt spid="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6427822" cy="10372897"/>
            <a:chOff x="0" y="0"/>
            <a:chExt cx="8570429" cy="13830529"/>
          </a:xfrm>
        </p:grpSpPr>
        <p:sp>
          <p:nvSpPr>
            <p:cNvPr id="3" name="Freeform 3"/>
            <p:cNvSpPr/>
            <p:nvPr/>
          </p:nvSpPr>
          <p:spPr>
            <a:xfrm>
              <a:off x="0" y="0"/>
              <a:ext cx="8570429" cy="3953110"/>
            </a:xfrm>
            <a:custGeom>
              <a:avLst/>
              <a:gdLst/>
              <a:ahLst/>
              <a:cxnLst/>
              <a:rect l="l" t="t" r="r" b="b"/>
              <a:pathLst>
                <a:path w="8570429" h="3953110">
                  <a:moveTo>
                    <a:pt x="0" y="0"/>
                  </a:moveTo>
                  <a:lnTo>
                    <a:pt x="8570429" y="0"/>
                  </a:lnTo>
                  <a:lnTo>
                    <a:pt x="8570429" y="3953110"/>
                  </a:lnTo>
                  <a:lnTo>
                    <a:pt x="0" y="3953110"/>
                  </a:lnTo>
                  <a:lnTo>
                    <a:pt x="0" y="0"/>
                  </a:lnTo>
                  <a:close/>
                </a:path>
              </a:pathLst>
            </a:custGeom>
            <a:blipFill>
              <a:blip r:embed="rId2"/>
              <a:stretch>
                <a:fillRect/>
              </a:stretch>
            </a:blipFill>
          </p:spPr>
        </p:sp>
        <p:sp>
          <p:nvSpPr>
            <p:cNvPr id="4" name="Freeform 4"/>
            <p:cNvSpPr/>
            <p:nvPr/>
          </p:nvSpPr>
          <p:spPr>
            <a:xfrm>
              <a:off x="0" y="3953110"/>
              <a:ext cx="8570429" cy="3406745"/>
            </a:xfrm>
            <a:custGeom>
              <a:avLst/>
              <a:gdLst/>
              <a:ahLst/>
              <a:cxnLst/>
              <a:rect l="l" t="t" r="r" b="b"/>
              <a:pathLst>
                <a:path w="8570429" h="3406745">
                  <a:moveTo>
                    <a:pt x="0" y="0"/>
                  </a:moveTo>
                  <a:lnTo>
                    <a:pt x="8570429" y="0"/>
                  </a:lnTo>
                  <a:lnTo>
                    <a:pt x="8570429" y="3406746"/>
                  </a:lnTo>
                  <a:lnTo>
                    <a:pt x="0" y="3406746"/>
                  </a:lnTo>
                  <a:lnTo>
                    <a:pt x="0" y="0"/>
                  </a:lnTo>
                  <a:close/>
                </a:path>
              </a:pathLst>
            </a:custGeom>
            <a:blipFill>
              <a:blip r:embed="rId3"/>
              <a:stretch>
                <a:fillRect/>
              </a:stretch>
            </a:blipFill>
          </p:spPr>
        </p:sp>
        <p:sp>
          <p:nvSpPr>
            <p:cNvPr id="5" name="Freeform 5"/>
            <p:cNvSpPr/>
            <p:nvPr/>
          </p:nvSpPr>
          <p:spPr>
            <a:xfrm>
              <a:off x="0" y="9866706"/>
              <a:ext cx="8570429" cy="3963823"/>
            </a:xfrm>
            <a:custGeom>
              <a:avLst/>
              <a:gdLst/>
              <a:ahLst/>
              <a:cxnLst/>
              <a:rect l="l" t="t" r="r" b="b"/>
              <a:pathLst>
                <a:path w="8570429" h="3963823">
                  <a:moveTo>
                    <a:pt x="0" y="0"/>
                  </a:moveTo>
                  <a:lnTo>
                    <a:pt x="8570429" y="0"/>
                  </a:lnTo>
                  <a:lnTo>
                    <a:pt x="8570429" y="3963823"/>
                  </a:lnTo>
                  <a:lnTo>
                    <a:pt x="0" y="3963823"/>
                  </a:lnTo>
                  <a:lnTo>
                    <a:pt x="0" y="0"/>
                  </a:lnTo>
                  <a:close/>
                </a:path>
              </a:pathLst>
            </a:custGeom>
            <a:blipFill>
              <a:blip r:embed="rId4"/>
              <a:stretch>
                <a:fillRect/>
              </a:stretch>
            </a:blipFill>
          </p:spPr>
        </p:sp>
        <p:sp>
          <p:nvSpPr>
            <p:cNvPr id="6" name="Freeform 6"/>
            <p:cNvSpPr/>
            <p:nvPr/>
          </p:nvSpPr>
          <p:spPr>
            <a:xfrm>
              <a:off x="0" y="7359856"/>
              <a:ext cx="8570429" cy="2506850"/>
            </a:xfrm>
            <a:custGeom>
              <a:avLst/>
              <a:gdLst/>
              <a:ahLst/>
              <a:cxnLst/>
              <a:rect l="l" t="t" r="r" b="b"/>
              <a:pathLst>
                <a:path w="8570429" h="2506850">
                  <a:moveTo>
                    <a:pt x="0" y="0"/>
                  </a:moveTo>
                  <a:lnTo>
                    <a:pt x="8570429" y="0"/>
                  </a:lnTo>
                  <a:lnTo>
                    <a:pt x="8570429" y="2506850"/>
                  </a:lnTo>
                  <a:lnTo>
                    <a:pt x="0" y="2506850"/>
                  </a:lnTo>
                  <a:lnTo>
                    <a:pt x="0" y="0"/>
                  </a:lnTo>
                  <a:close/>
                </a:path>
              </a:pathLst>
            </a:custGeom>
            <a:blipFill>
              <a:blip r:embed="rId5"/>
              <a:stretch>
                <a:fillRect/>
              </a:stretch>
            </a:blipFill>
          </p:spPr>
        </p:sp>
      </p:grpSp>
      <p:sp>
        <p:nvSpPr>
          <p:cNvPr id="7" name="TextBox 7"/>
          <p:cNvSpPr txBox="1"/>
          <p:nvPr/>
        </p:nvSpPr>
        <p:spPr>
          <a:xfrm>
            <a:off x="7997614" y="596623"/>
            <a:ext cx="9881356" cy="2130653"/>
          </a:xfrm>
          <a:prstGeom prst="rect">
            <a:avLst/>
          </a:prstGeom>
        </p:spPr>
        <p:txBody>
          <a:bodyPr lIns="0" tIns="0" rIns="0" bIns="0" rtlCol="0" anchor="t">
            <a:spAutoFit/>
          </a:bodyPr>
          <a:lstStyle/>
          <a:p>
            <a:pPr algn="ctr">
              <a:lnSpc>
                <a:spcPts val="8562"/>
              </a:lnSpc>
              <a:spcBef>
                <a:spcPct val="0"/>
              </a:spcBef>
            </a:pPr>
            <a:r>
              <a:rPr lang="en-US" sz="6116" b="1" spc="-122" dirty="0" err="1">
                <a:solidFill>
                  <a:srgbClr val="1836B2"/>
                </a:solidFill>
                <a:latin typeface="Muli Bold"/>
                <a:ea typeface="Muli Bold"/>
                <a:cs typeface="Muli Bold"/>
                <a:sym typeface="Muli Bold"/>
              </a:rPr>
              <a:t>Thử</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nghiệm</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giao</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diện</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và</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chức</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năng</a:t>
            </a:r>
            <a:endParaRPr lang="en-US" sz="6116" b="1" spc="-122" dirty="0">
              <a:solidFill>
                <a:srgbClr val="1836B2"/>
              </a:solidFill>
              <a:latin typeface="Muli Bold"/>
              <a:ea typeface="Muli Bold"/>
              <a:cs typeface="Muli Bold"/>
              <a:sym typeface="Muli Bold"/>
            </a:endParaRPr>
          </a:p>
        </p:txBody>
      </p:sp>
      <p:sp>
        <p:nvSpPr>
          <p:cNvPr id="8" name="TextBox 8"/>
          <p:cNvSpPr txBox="1"/>
          <p:nvPr/>
        </p:nvSpPr>
        <p:spPr>
          <a:xfrm>
            <a:off x="8228169" y="3294025"/>
            <a:ext cx="9420246" cy="5313680"/>
          </a:xfrm>
          <a:prstGeom prst="rect">
            <a:avLst/>
          </a:prstGeom>
        </p:spPr>
        <p:txBody>
          <a:bodyPr lIns="0" tIns="0" rIns="0" bIns="0" rtlCol="0" anchor="t">
            <a:spAutoFit/>
          </a:bodyPr>
          <a:lstStyle/>
          <a:p>
            <a:pPr algn="just">
              <a:lnSpc>
                <a:spcPts val="4270"/>
              </a:lnSpc>
              <a:spcBef>
                <a:spcPct val="0"/>
              </a:spcBef>
            </a:pPr>
            <a:r>
              <a:rPr lang="en-US" sz="3050" spc="-61">
                <a:solidFill>
                  <a:srgbClr val="1836B2"/>
                </a:solidFill>
                <a:latin typeface="Muli"/>
                <a:ea typeface="Muli"/>
                <a:cs typeface="Muli"/>
                <a:sym typeface="Muli"/>
              </a:rPr>
              <a:t>Trang landing mua hàng dành cho khách hàng của website quản lý cửa hàng phụ kiện thú cưng là giao diện chính giới thiệu các sản phẩm nổi bật như đồ chơi, thức ăn,... với hình ảnh rõ nét, giá cả và nút “Thêm vào giỏ”. Trang có thanh tìm kiếm nhanh, danh mục sản phẩm được phân loại rõ ràng, giúp khách hàng dễ dàng tìm kiếm và lựa chọn phụ kiện phù hợp cho thú cưng. Giao diện thân thiện, trực quan, hỗ trợ trên cả điện thoại và máy tính, tạo trải nghiệm mua sắm thuận tiện và nhanh chóng.</a:t>
            </a:r>
          </a:p>
        </p:txBody>
      </p:sp>
      <p:sp>
        <p:nvSpPr>
          <p:cNvPr id="9" name="Freeform 9"/>
          <p:cNvSpPr/>
          <p:nvPr/>
        </p:nvSpPr>
        <p:spPr>
          <a:xfrm flipH="1">
            <a:off x="17000788" y="-3750526"/>
            <a:ext cx="8370405" cy="4779226"/>
          </a:xfrm>
          <a:custGeom>
            <a:avLst/>
            <a:gdLst/>
            <a:ahLst/>
            <a:cxnLst/>
            <a:rect l="l" t="t" r="r" b="b"/>
            <a:pathLst>
              <a:path w="8370405" h="4779226">
                <a:moveTo>
                  <a:pt x="8370405" y="0"/>
                </a:moveTo>
                <a:lnTo>
                  <a:pt x="0" y="0"/>
                </a:lnTo>
                <a:lnTo>
                  <a:pt x="0" y="4779226"/>
                </a:lnTo>
                <a:lnTo>
                  <a:pt x="8370405" y="4779226"/>
                </a:lnTo>
                <a:lnTo>
                  <a:pt x="8370405" y="0"/>
                </a:lnTo>
                <a:close/>
              </a:path>
            </a:pathLst>
          </a:custGeom>
          <a:blipFill>
            <a:blip r:embed="rId6">
              <a:extLst>
                <a:ext uri="{96DAC541-7B7A-43D3-8B79-37D633B846F1}">
                  <asvg:svgBlip xmlns:asvg="http://schemas.microsoft.com/office/drawing/2016/SVG/main" r:embed="rId7"/>
                </a:ext>
              </a:extLst>
            </a:blip>
            <a:stretch>
              <a:fillRect t="-51576"/>
            </a:stretch>
          </a:blipFill>
        </p:spPr>
      </p:sp>
      <p:sp>
        <p:nvSpPr>
          <p:cNvPr id="10" name="Freeform 10"/>
          <p:cNvSpPr/>
          <p:nvPr/>
        </p:nvSpPr>
        <p:spPr>
          <a:xfrm flipH="1">
            <a:off x="13463212" y="9258300"/>
            <a:ext cx="8370405" cy="4779226"/>
          </a:xfrm>
          <a:custGeom>
            <a:avLst/>
            <a:gdLst/>
            <a:ahLst/>
            <a:cxnLst/>
            <a:rect l="l" t="t" r="r" b="b"/>
            <a:pathLst>
              <a:path w="8370405" h="4779226">
                <a:moveTo>
                  <a:pt x="8370405" y="0"/>
                </a:moveTo>
                <a:lnTo>
                  <a:pt x="0" y="0"/>
                </a:lnTo>
                <a:lnTo>
                  <a:pt x="0" y="4779226"/>
                </a:lnTo>
                <a:lnTo>
                  <a:pt x="8370405" y="4779226"/>
                </a:lnTo>
                <a:lnTo>
                  <a:pt x="8370405" y="0"/>
                </a:lnTo>
                <a:close/>
              </a:path>
            </a:pathLst>
          </a:custGeom>
          <a:blipFill>
            <a:blip r:embed="rId6">
              <a:extLst>
                <a:ext uri="{96DAC541-7B7A-43D3-8B79-37D633B846F1}">
                  <asvg:svgBlip xmlns:asvg="http://schemas.microsoft.com/office/drawing/2016/SVG/main" r:embed="rId7"/>
                </a:ext>
              </a:extLst>
            </a:blip>
            <a:stretch>
              <a:fillRect t="-51576"/>
            </a:stretch>
          </a:blipFill>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2000"/>
                                        <p:tgtEl>
                                          <p:spTgt spid="7"/>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left)">
                                      <p:cBhvr>
                                        <p:cTn id="13" dur="2000"/>
                                        <p:tgtEl>
                                          <p:spTgt spid="8"/>
                                        </p:tgtEl>
                                      </p:cBhvr>
                                    </p:animEffect>
                                  </p:childTnLst>
                                </p:cTn>
                              </p:par>
                              <p:par>
                                <p:cTn id="14" presetID="22" presetClass="entr" presetSubtype="8"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2000"/>
                                        <p:tgtEl>
                                          <p:spTgt spid="9"/>
                                        </p:tgtEl>
                                      </p:cBhvr>
                                    </p:animEffect>
                                  </p:childTnLst>
                                </p:cTn>
                              </p:par>
                              <p:par>
                                <p:cTn id="17" presetID="22" presetClass="entr" presetSubtype="8"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left)">
                                      <p:cBhvr>
                                        <p:cTn id="19"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19132" y="914400"/>
            <a:ext cx="9881356" cy="2130653"/>
          </a:xfrm>
          <a:prstGeom prst="rect">
            <a:avLst/>
          </a:prstGeom>
        </p:spPr>
        <p:txBody>
          <a:bodyPr lIns="0" tIns="0" rIns="0" bIns="0" rtlCol="0" anchor="t">
            <a:spAutoFit/>
          </a:bodyPr>
          <a:lstStyle/>
          <a:p>
            <a:pPr algn="l">
              <a:lnSpc>
                <a:spcPts val="8562"/>
              </a:lnSpc>
              <a:spcBef>
                <a:spcPct val="0"/>
              </a:spcBef>
            </a:pPr>
            <a:r>
              <a:rPr lang="en-US" sz="6116" b="1" spc="-122" dirty="0" err="1">
                <a:solidFill>
                  <a:srgbClr val="1836B2"/>
                </a:solidFill>
                <a:latin typeface="Muli Bold"/>
                <a:ea typeface="Muli Bold"/>
                <a:cs typeface="Muli Bold"/>
                <a:sym typeface="Muli Bold"/>
              </a:rPr>
              <a:t>Thử</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nghiệm</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giao</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diện</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và</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chức</a:t>
            </a:r>
            <a:r>
              <a:rPr lang="en-US" sz="6116" b="1" spc="-122" dirty="0">
                <a:solidFill>
                  <a:srgbClr val="1836B2"/>
                </a:solidFill>
                <a:latin typeface="Muli Bold"/>
                <a:ea typeface="Muli Bold"/>
                <a:cs typeface="Muli Bold"/>
                <a:sym typeface="Muli Bold"/>
              </a:rPr>
              <a:t> </a:t>
            </a:r>
            <a:r>
              <a:rPr lang="en-US" sz="6116" b="1" spc="-122" dirty="0" err="1">
                <a:solidFill>
                  <a:srgbClr val="1836B2"/>
                </a:solidFill>
                <a:latin typeface="Muli Bold"/>
                <a:ea typeface="Muli Bold"/>
                <a:cs typeface="Muli Bold"/>
                <a:sym typeface="Muli Bold"/>
              </a:rPr>
              <a:t>năng</a:t>
            </a:r>
            <a:endParaRPr lang="en-US" sz="6116" b="1" spc="-122" dirty="0">
              <a:solidFill>
                <a:srgbClr val="1836B2"/>
              </a:solidFill>
              <a:latin typeface="Muli Bold"/>
              <a:ea typeface="Muli Bold"/>
              <a:cs typeface="Muli Bold"/>
              <a:sym typeface="Muli Bold"/>
            </a:endParaRPr>
          </a:p>
        </p:txBody>
      </p:sp>
      <p:sp>
        <p:nvSpPr>
          <p:cNvPr id="3" name="Freeform 3"/>
          <p:cNvSpPr/>
          <p:nvPr/>
        </p:nvSpPr>
        <p:spPr>
          <a:xfrm flipH="1">
            <a:off x="-7341705" y="-3198336"/>
            <a:ext cx="8370405" cy="4779226"/>
          </a:xfrm>
          <a:custGeom>
            <a:avLst/>
            <a:gdLst/>
            <a:ahLst/>
            <a:cxnLst/>
            <a:rect l="l" t="t" r="r" b="b"/>
            <a:pathLst>
              <a:path w="8370405" h="4779226">
                <a:moveTo>
                  <a:pt x="8370405" y="0"/>
                </a:moveTo>
                <a:lnTo>
                  <a:pt x="0" y="0"/>
                </a:lnTo>
                <a:lnTo>
                  <a:pt x="0" y="4779227"/>
                </a:lnTo>
                <a:lnTo>
                  <a:pt x="8370405" y="4779227"/>
                </a:lnTo>
                <a:lnTo>
                  <a:pt x="8370405" y="0"/>
                </a:lnTo>
                <a:close/>
              </a:path>
            </a:pathLst>
          </a:custGeom>
          <a:blipFill>
            <a:blip r:embed="rId2">
              <a:extLst>
                <a:ext uri="{96DAC541-7B7A-43D3-8B79-37D633B846F1}">
                  <asvg:svgBlip xmlns:asvg="http://schemas.microsoft.com/office/drawing/2016/SVG/main" r:embed="rId3"/>
                </a:ext>
              </a:extLst>
            </a:blip>
            <a:stretch>
              <a:fillRect t="-51576"/>
            </a:stretch>
          </a:blipFill>
        </p:spPr>
      </p:sp>
      <p:sp>
        <p:nvSpPr>
          <p:cNvPr id="4" name="Freeform 4"/>
          <p:cNvSpPr/>
          <p:nvPr/>
        </p:nvSpPr>
        <p:spPr>
          <a:xfrm flipH="1">
            <a:off x="-3156502" y="7057239"/>
            <a:ext cx="8370405" cy="4779226"/>
          </a:xfrm>
          <a:custGeom>
            <a:avLst/>
            <a:gdLst/>
            <a:ahLst/>
            <a:cxnLst/>
            <a:rect l="l" t="t" r="r" b="b"/>
            <a:pathLst>
              <a:path w="8370405" h="4779226">
                <a:moveTo>
                  <a:pt x="8370404" y="0"/>
                </a:moveTo>
                <a:lnTo>
                  <a:pt x="0" y="0"/>
                </a:lnTo>
                <a:lnTo>
                  <a:pt x="0" y="4779226"/>
                </a:lnTo>
                <a:lnTo>
                  <a:pt x="8370404" y="4779226"/>
                </a:lnTo>
                <a:lnTo>
                  <a:pt x="8370404" y="0"/>
                </a:lnTo>
                <a:close/>
              </a:path>
            </a:pathLst>
          </a:custGeom>
          <a:blipFill>
            <a:blip r:embed="rId2">
              <a:extLst>
                <a:ext uri="{96DAC541-7B7A-43D3-8B79-37D633B846F1}">
                  <asvg:svgBlip xmlns:asvg="http://schemas.microsoft.com/office/drawing/2016/SVG/main" r:embed="rId3"/>
                </a:ext>
              </a:extLst>
            </a:blip>
            <a:stretch>
              <a:fillRect t="-51576"/>
            </a:stretch>
          </a:blipFill>
        </p:spPr>
      </p:sp>
      <p:sp>
        <p:nvSpPr>
          <p:cNvPr id="5" name="Freeform 5"/>
          <p:cNvSpPr/>
          <p:nvPr/>
        </p:nvSpPr>
        <p:spPr>
          <a:xfrm>
            <a:off x="12038648" y="0"/>
            <a:ext cx="6249352" cy="10287000"/>
          </a:xfrm>
          <a:custGeom>
            <a:avLst/>
            <a:gdLst/>
            <a:ahLst/>
            <a:cxnLst/>
            <a:rect l="l" t="t" r="r" b="b"/>
            <a:pathLst>
              <a:path w="6249352" h="10287000">
                <a:moveTo>
                  <a:pt x="0" y="0"/>
                </a:moveTo>
                <a:lnTo>
                  <a:pt x="6249352" y="0"/>
                </a:lnTo>
                <a:lnTo>
                  <a:pt x="6249352" y="10287000"/>
                </a:lnTo>
                <a:lnTo>
                  <a:pt x="0" y="10287000"/>
                </a:lnTo>
                <a:lnTo>
                  <a:pt x="0" y="0"/>
                </a:lnTo>
                <a:close/>
              </a:path>
            </a:pathLst>
          </a:custGeom>
          <a:blipFill>
            <a:blip r:embed="rId4"/>
            <a:stretch>
              <a:fillRect/>
            </a:stretch>
          </a:blipFill>
        </p:spPr>
      </p:sp>
      <p:sp>
        <p:nvSpPr>
          <p:cNvPr id="6" name="TextBox 6"/>
          <p:cNvSpPr txBox="1"/>
          <p:nvPr/>
        </p:nvSpPr>
        <p:spPr>
          <a:xfrm>
            <a:off x="1280242" y="3267559"/>
            <a:ext cx="9420246" cy="3713480"/>
          </a:xfrm>
          <a:prstGeom prst="rect">
            <a:avLst/>
          </a:prstGeom>
        </p:spPr>
        <p:txBody>
          <a:bodyPr lIns="0" tIns="0" rIns="0" bIns="0" rtlCol="0" anchor="t">
            <a:spAutoFit/>
          </a:bodyPr>
          <a:lstStyle/>
          <a:p>
            <a:pPr algn="just">
              <a:lnSpc>
                <a:spcPts val="4270"/>
              </a:lnSpc>
              <a:spcBef>
                <a:spcPct val="0"/>
              </a:spcBef>
            </a:pPr>
            <a:r>
              <a:rPr lang="en-US" sz="3050" spc="-61">
                <a:solidFill>
                  <a:srgbClr val="1836B2"/>
                </a:solidFill>
                <a:latin typeface="Muli"/>
                <a:ea typeface="Muli"/>
                <a:cs typeface="Muli"/>
                <a:sym typeface="Muli"/>
              </a:rPr>
              <a:t>Trang giỏ hàng cho phép người dùng xem danh sách sản phẩm đã chọn, thay đổi số lượng từng mặt hàng và xóa sản phẩm không muốn mua. Người dùng điền thông tin cá nhân để đặt hàng, sau khi đó đơn hàng sẽ được lưu lại để xử lý đơn hàng. Giao diện đơn giản, dễ sử dụng, giúp khách hàng hoàn tất mua sắm nhanh chóng.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2000"/>
                                        <p:tgtEl>
                                          <p:spTgt spid="3"/>
                                        </p:tgtEl>
                                      </p:cBhvr>
                                    </p:animEffect>
                                  </p:childTnLst>
                                </p:cTn>
                              </p:par>
                              <p:par>
                                <p:cTn id="11" presetID="22" presetClass="entr" presetSubtype="8"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2000"/>
                                        <p:tgtEl>
                                          <p:spTgt spid="4"/>
                                        </p:tgtEl>
                                      </p:cBhvr>
                                    </p:animEffect>
                                  </p:childTnLst>
                                </p:cTn>
                              </p:par>
                              <p:par>
                                <p:cTn id="14" presetID="22" presetClass="entr" presetSubtype="8"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2000"/>
                                        <p:tgtEl>
                                          <p:spTgt spid="5"/>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CFCFD"/>
        </a:solidFill>
        <a:effectLst/>
      </p:bgPr>
    </p:bg>
    <p:spTree>
      <p:nvGrpSpPr>
        <p:cNvPr id="1" name=""/>
        <p:cNvGrpSpPr/>
        <p:nvPr/>
      </p:nvGrpSpPr>
      <p:grpSpPr>
        <a:xfrm>
          <a:off x="0" y="0"/>
          <a:ext cx="0" cy="0"/>
          <a:chOff x="0" y="0"/>
          <a:chExt cx="0" cy="0"/>
        </a:xfrm>
      </p:grpSpPr>
      <p:sp>
        <p:nvSpPr>
          <p:cNvPr id="2" name="Freeform 2"/>
          <p:cNvSpPr/>
          <p:nvPr/>
        </p:nvSpPr>
        <p:spPr>
          <a:xfrm rot="-8668180" flipH="1" flipV="1">
            <a:off x="3149855" y="4275429"/>
            <a:ext cx="12276905" cy="12276905"/>
          </a:xfrm>
          <a:custGeom>
            <a:avLst/>
            <a:gdLst/>
            <a:ahLst/>
            <a:cxnLst/>
            <a:rect l="l" t="t" r="r" b="b"/>
            <a:pathLst>
              <a:path w="12276905" h="12276905">
                <a:moveTo>
                  <a:pt x="12276904" y="12276904"/>
                </a:moveTo>
                <a:lnTo>
                  <a:pt x="0" y="12276904"/>
                </a:lnTo>
                <a:lnTo>
                  <a:pt x="0" y="0"/>
                </a:lnTo>
                <a:lnTo>
                  <a:pt x="12276904" y="0"/>
                </a:lnTo>
                <a:lnTo>
                  <a:pt x="12276904" y="12276904"/>
                </a:lnTo>
                <a:close/>
              </a:path>
            </a:pathLst>
          </a:custGeom>
          <a:blipFill>
            <a:blip r:embed="rId2">
              <a:alphaModFix amt="90000"/>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0701513" y="2874149"/>
            <a:ext cx="6188270" cy="6003151"/>
            <a:chOff x="0" y="0"/>
            <a:chExt cx="5943600" cy="5765800"/>
          </a:xfrm>
        </p:grpSpPr>
        <p:sp>
          <p:nvSpPr>
            <p:cNvPr id="4" name="Freeform 4"/>
            <p:cNvSpPr/>
            <p:nvPr/>
          </p:nvSpPr>
          <p:spPr>
            <a:xfrm>
              <a:off x="0" y="0"/>
              <a:ext cx="5943600" cy="5765800"/>
            </a:xfrm>
            <a:custGeom>
              <a:avLst/>
              <a:gdLst/>
              <a:ahLst/>
              <a:cxnLst/>
              <a:rect l="l" t="t" r="r" b="b"/>
              <a:pathLst>
                <a:path w="5943600" h="5765800">
                  <a:moveTo>
                    <a:pt x="4222750" y="5765800"/>
                  </a:moveTo>
                  <a:cubicBezTo>
                    <a:pt x="3751580" y="5765800"/>
                    <a:pt x="3295650" y="5568950"/>
                    <a:pt x="2971800" y="5226050"/>
                  </a:cubicBezTo>
                  <a:cubicBezTo>
                    <a:pt x="2647950" y="5568950"/>
                    <a:pt x="2192020" y="5765800"/>
                    <a:pt x="1720850" y="5765800"/>
                  </a:cubicBezTo>
                  <a:cubicBezTo>
                    <a:pt x="772160" y="5765800"/>
                    <a:pt x="0" y="4993640"/>
                    <a:pt x="0" y="4044950"/>
                  </a:cubicBezTo>
                  <a:cubicBezTo>
                    <a:pt x="0" y="3613150"/>
                    <a:pt x="160020" y="3200400"/>
                    <a:pt x="452120" y="2882900"/>
                  </a:cubicBezTo>
                  <a:cubicBezTo>
                    <a:pt x="160020" y="2565400"/>
                    <a:pt x="0" y="2152650"/>
                    <a:pt x="0" y="1720850"/>
                  </a:cubicBezTo>
                  <a:cubicBezTo>
                    <a:pt x="0" y="772160"/>
                    <a:pt x="772160" y="0"/>
                    <a:pt x="1720850" y="0"/>
                  </a:cubicBezTo>
                  <a:cubicBezTo>
                    <a:pt x="2192020" y="0"/>
                    <a:pt x="2647950" y="196850"/>
                    <a:pt x="2971800" y="539750"/>
                  </a:cubicBezTo>
                  <a:cubicBezTo>
                    <a:pt x="3295650" y="196850"/>
                    <a:pt x="3751580" y="0"/>
                    <a:pt x="4222750" y="0"/>
                  </a:cubicBezTo>
                  <a:cubicBezTo>
                    <a:pt x="5171440" y="0"/>
                    <a:pt x="5943600" y="772160"/>
                    <a:pt x="5943600" y="1720850"/>
                  </a:cubicBezTo>
                  <a:cubicBezTo>
                    <a:pt x="5943600" y="2152650"/>
                    <a:pt x="5783580" y="2565400"/>
                    <a:pt x="5491480" y="2882900"/>
                  </a:cubicBezTo>
                  <a:cubicBezTo>
                    <a:pt x="5782310" y="3200400"/>
                    <a:pt x="5943600" y="3613150"/>
                    <a:pt x="5943600" y="4044950"/>
                  </a:cubicBezTo>
                  <a:cubicBezTo>
                    <a:pt x="5943600" y="4993640"/>
                    <a:pt x="5171440" y="5765800"/>
                    <a:pt x="4222750" y="5765800"/>
                  </a:cubicBezTo>
                  <a:close/>
                </a:path>
              </a:pathLst>
            </a:custGeom>
            <a:blipFill>
              <a:blip r:embed="rId4"/>
              <a:stretch>
                <a:fillRect t="-1367" b="-1367"/>
              </a:stretch>
            </a:blipFill>
          </p:spPr>
        </p:sp>
      </p:grpSp>
      <p:grpSp>
        <p:nvGrpSpPr>
          <p:cNvPr id="5" name="Group 5"/>
          <p:cNvGrpSpPr/>
          <p:nvPr/>
        </p:nvGrpSpPr>
        <p:grpSpPr>
          <a:xfrm>
            <a:off x="1028700" y="8496300"/>
            <a:ext cx="2256817" cy="762000"/>
            <a:chOff x="0" y="0"/>
            <a:chExt cx="3009090" cy="1016000"/>
          </a:xfrm>
        </p:grpSpPr>
        <p:sp>
          <p:nvSpPr>
            <p:cNvPr id="6" name="TextBox 6"/>
            <p:cNvSpPr txBox="1"/>
            <p:nvPr/>
          </p:nvSpPr>
          <p:spPr>
            <a:xfrm>
              <a:off x="829819" y="204152"/>
              <a:ext cx="2179271" cy="645795"/>
            </a:xfrm>
            <a:prstGeom prst="rect">
              <a:avLst/>
            </a:prstGeom>
          </p:spPr>
          <p:txBody>
            <a:bodyPr lIns="0" tIns="0" rIns="0" bIns="0" rtlCol="0" anchor="t">
              <a:spAutoFit/>
            </a:bodyPr>
            <a:lstStyle/>
            <a:p>
              <a:pPr algn="l">
                <a:lnSpc>
                  <a:spcPts val="3596"/>
                </a:lnSpc>
              </a:pPr>
              <a:r>
                <a:rPr lang="en-US" sz="3425" spc="-102">
                  <a:solidFill>
                    <a:srgbClr val="5F62FF"/>
                  </a:solidFill>
                  <a:latin typeface="Public Sans"/>
                  <a:ea typeface="Public Sans"/>
                  <a:cs typeface="Public Sans"/>
                  <a:sym typeface="Public Sans"/>
                </a:rPr>
                <a:t>Lux Pet</a:t>
              </a:r>
            </a:p>
          </p:txBody>
        </p:sp>
        <p:sp>
          <p:nvSpPr>
            <p:cNvPr id="7" name="Freeform 7"/>
            <p:cNvSpPr/>
            <p:nvPr/>
          </p:nvSpPr>
          <p:spPr>
            <a:xfrm>
              <a:off x="0" y="370803"/>
              <a:ext cx="654631" cy="374659"/>
            </a:xfrm>
            <a:custGeom>
              <a:avLst/>
              <a:gdLst/>
              <a:ahLst/>
              <a:cxnLst/>
              <a:rect l="l" t="t" r="r" b="b"/>
              <a:pathLst>
                <a:path w="654631" h="374659">
                  <a:moveTo>
                    <a:pt x="0" y="0"/>
                  </a:moveTo>
                  <a:lnTo>
                    <a:pt x="654631" y="0"/>
                  </a:lnTo>
                  <a:lnTo>
                    <a:pt x="654631" y="374659"/>
                  </a:lnTo>
                  <a:lnTo>
                    <a:pt x="0" y="37465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sp>
        <p:nvSpPr>
          <p:cNvPr id="8" name="TextBox 8"/>
          <p:cNvSpPr txBox="1"/>
          <p:nvPr/>
        </p:nvSpPr>
        <p:spPr>
          <a:xfrm>
            <a:off x="1028700" y="1276350"/>
            <a:ext cx="9672813" cy="3398520"/>
          </a:xfrm>
          <a:prstGeom prst="rect">
            <a:avLst/>
          </a:prstGeom>
        </p:spPr>
        <p:txBody>
          <a:bodyPr lIns="0" tIns="0" rIns="0" bIns="0" rtlCol="0" anchor="t">
            <a:spAutoFit/>
          </a:bodyPr>
          <a:lstStyle/>
          <a:p>
            <a:pPr algn="l">
              <a:lnSpc>
                <a:spcPts val="13050"/>
              </a:lnSpc>
            </a:pPr>
            <a:r>
              <a:rPr lang="en-US" sz="13050" dirty="0">
                <a:solidFill>
                  <a:srgbClr val="5F62FF"/>
                </a:solidFill>
                <a:latin typeface="Muli"/>
                <a:ea typeface="Muli"/>
                <a:cs typeface="Muli"/>
                <a:sym typeface="Muli"/>
              </a:rPr>
              <a:t>THANK’S YOU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2000"/>
                                        <p:tgtEl>
                                          <p:spTgt spid="3"/>
                                        </p:tgtEl>
                                      </p:cBhvr>
                                    </p:animEffect>
                                  </p:childTnLst>
                                </p:cTn>
                              </p:par>
                              <p:par>
                                <p:cTn id="11" presetID="22" presetClass="entr" presetSubtype="8"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2000"/>
                                        <p:tgtEl>
                                          <p:spTgt spid="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1039</Words>
  <Application>Microsoft Office PowerPoint</Application>
  <PresentationFormat>Custom</PresentationFormat>
  <Paragraphs>70</Paragraphs>
  <Slides>15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Muli Light</vt:lpstr>
      <vt:lpstr>Calibri</vt:lpstr>
      <vt:lpstr>Lato Bold</vt:lpstr>
      <vt:lpstr>Public Sans</vt:lpstr>
      <vt:lpstr>Muli</vt:lpstr>
      <vt:lpstr>Arial</vt:lpstr>
      <vt:lpstr>Muli Ultra-Bold</vt:lpstr>
      <vt:lpstr>Public Sans Bold</vt:lpstr>
      <vt:lpstr>Muli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01</dc:title>
  <cp:lastModifiedBy>Thái Nguyễn</cp:lastModifiedBy>
  <cp:revision>3</cp:revision>
  <dcterms:created xsi:type="dcterms:W3CDTF">2006-08-16T00:00:00Z</dcterms:created>
  <dcterms:modified xsi:type="dcterms:W3CDTF">2025-05-25T08:30:28Z</dcterms:modified>
  <dc:identifier>DAGoa0DA97w</dc:identifier>
</cp:coreProperties>
</file>